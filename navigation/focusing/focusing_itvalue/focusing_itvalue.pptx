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3"/>
    <p:sldId id="470" r:id="rId4"/>
    <p:sldId id="471" r:id="rId5"/>
    <p:sldId id="422" r:id="rId6"/>
    <p:sldId id="469" r:id="rId7"/>
    <p:sldId id="474" r:id="rId8"/>
    <p:sldId id="479" r:id="rId9"/>
    <p:sldId id="478" r:id="rId10"/>
    <p:sldId id="477" r:id="rId11"/>
    <p:sldId id="476" r:id="rId12"/>
    <p:sldId id="473" r:id="rId13"/>
    <p:sldId id="464" r:id="rId14"/>
    <p:sldId id="449" r:id="rId15"/>
    <p:sldId id="482" r:id="rId16"/>
    <p:sldId id="481" r:id="rId17"/>
    <p:sldId id="480" r:id="rId18"/>
    <p:sldId id="450" r:id="rId19"/>
    <p:sldId id="486" r:id="rId20"/>
    <p:sldId id="485" r:id="rId21"/>
    <p:sldId id="484" r:id="rId22"/>
    <p:sldId id="483" r:id="rId23"/>
    <p:sldId id="461" r:id="rId24"/>
    <p:sldId id="489" r:id="rId25"/>
    <p:sldId id="488" r:id="rId26"/>
    <p:sldId id="487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3"/>
        <p:guide pos="377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869315"/>
            <a:ext cx="10515600" cy="861695"/>
          </a:xfrm>
        </p:spPr>
        <p:txBody>
          <a:bodyPr/>
          <a:p>
            <a:pPr algn="ctr"/>
            <a:r>
              <a:rPr lang="zh-CN" altLang="en-US" sz="3600">
                <a:solidFill>
                  <a:srgbClr val="00B050"/>
                </a:solidFill>
              </a:rPr>
              <a:t>关注</a:t>
            </a:r>
            <a:r>
              <a:rPr lang="en-US" altLang="zh-CN" sz="3600">
                <a:solidFill>
                  <a:srgbClr val="00B050"/>
                </a:solidFill>
              </a:rPr>
              <a:t>IT</a:t>
            </a:r>
            <a:r>
              <a:rPr lang="zh-CN" altLang="en-US" sz="3600">
                <a:solidFill>
                  <a:srgbClr val="00B050"/>
                </a:solidFill>
              </a:rPr>
              <a:t>价值</a:t>
            </a:r>
            <a:endParaRPr lang="zh-CN" altLang="en-US" sz="3600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2482850"/>
            <a:ext cx="10515600" cy="3220085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基本描述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通用体系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sz="2800" b="1">
                <a:solidFill>
                  <a:srgbClr val="00B050"/>
                </a:solidFill>
                <a:sym typeface="+mn-ea"/>
              </a:rPr>
              <a:t>I T </a:t>
            </a:r>
            <a:r>
              <a:rPr lang="zh-CN" altLang="en-US" sz="2800" b="1">
                <a:solidFill>
                  <a:srgbClr val="00B050"/>
                </a:solidFill>
                <a:sym typeface="+mn-ea"/>
              </a:rPr>
              <a:t>赋能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</a:rPr>
              <a:t>个体面对</a:t>
            </a:r>
            <a:endParaRPr lang="zh-CN" altLang="en-US" sz="2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</a:rPr>
              <a:t>以人为本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09370"/>
            <a:ext cx="11724640" cy="5328285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分类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09370"/>
            <a:ext cx="11724640" cy="5328285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社会：文明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平台</a:t>
            </a:r>
            <a:r>
              <a:rPr lang="en-US" altLang="zh-CN" b="1">
                <a:solidFill>
                  <a:srgbClr val="00B050"/>
                </a:solidFill>
              </a:rPr>
              <a:t>) + </a:t>
            </a:r>
            <a:r>
              <a:rPr lang="zh-CN" altLang="en-US" b="1">
                <a:solidFill>
                  <a:srgbClr val="00B050"/>
                </a:solidFill>
              </a:rPr>
              <a:t>角色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) + </a:t>
            </a:r>
            <a:r>
              <a:rPr lang="zh-CN" altLang="en-US" b="1">
                <a:solidFill>
                  <a:srgbClr val="00B050"/>
                </a:solidFill>
              </a:rPr>
              <a:t>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方法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文明：精神(计算) + 物质(存储) + 教育(传输)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角色：基础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(个体) + 局部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(合作) + 全局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(治理)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活动：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投资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 + 生产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 + 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消费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分类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09370"/>
            <a:ext cx="11724640" cy="5328285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社会：文明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平台</a:t>
            </a:r>
            <a:r>
              <a:rPr lang="en-US" altLang="zh-CN" b="1">
                <a:solidFill>
                  <a:srgbClr val="00B050"/>
                </a:solidFill>
              </a:rPr>
              <a:t>) + </a:t>
            </a:r>
            <a:r>
              <a:rPr lang="zh-CN" altLang="en-US" b="1">
                <a:solidFill>
                  <a:srgbClr val="00B050"/>
                </a:solidFill>
              </a:rPr>
              <a:t>角色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) + </a:t>
            </a:r>
            <a:r>
              <a:rPr lang="zh-CN" altLang="en-US" b="1">
                <a:solidFill>
                  <a:srgbClr val="00B050"/>
                </a:solidFill>
              </a:rPr>
              <a:t>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方法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文明：精神(计算) + 物质(存储) + 教育(传输)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角色：基础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(个体) + 局部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(合作) + 全局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(治理)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活动：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投资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 + 生产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 + 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消费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价值：是社会中各角色在全部活动中，所产生的、可被感知、可被传递、可被反馈的效用与意义。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业务流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价值：属于价值的一部分，与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技术相关的一切价值，全部属于信息类型的价值。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分类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基本描述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09370"/>
            <a:ext cx="11724640" cy="5328285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社会：文明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平台</a:t>
            </a:r>
            <a:r>
              <a:rPr lang="en-US" altLang="zh-CN" b="1">
                <a:solidFill>
                  <a:srgbClr val="00B050"/>
                </a:solidFill>
              </a:rPr>
              <a:t>) + </a:t>
            </a:r>
            <a:r>
              <a:rPr lang="zh-CN" altLang="en-US" b="1">
                <a:solidFill>
                  <a:srgbClr val="00B050"/>
                </a:solidFill>
              </a:rPr>
              <a:t>角色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) + </a:t>
            </a:r>
            <a:r>
              <a:rPr lang="zh-CN" altLang="en-US" b="1">
                <a:solidFill>
                  <a:srgbClr val="00B050"/>
                </a:solidFill>
              </a:rPr>
              <a:t>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方法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文明：精神(计算) + 物质(存储) + 教育(传输)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角色：基础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(个体) + 局部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(合作) + 全局</a:t>
            </a:r>
            <a:r>
              <a:rPr lang="zh-CN" altLang="en-US" b="1">
                <a:solidFill>
                  <a:srgbClr val="00B050"/>
                </a:solidFill>
              </a:rPr>
              <a:t>对象</a:t>
            </a:r>
            <a:r>
              <a:rPr lang="en-US" altLang="zh-CN" b="1">
                <a:solidFill>
                  <a:srgbClr val="00B050"/>
                </a:solidFill>
              </a:rPr>
              <a:t>(治理)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活动：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投资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 + 生产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 + 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消费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价值：是社会中各角色在全部活动中，所产生的、可被感知、可被传递、可被反馈的效用与意义。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业务流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价值：属于价值的一部分，与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技术相关的一切价值，全部属于信息类型的价值。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分类</a:t>
            </a:r>
            <a:r>
              <a:rPr lang="zh-CN" altLang="en-US" sz="1800" b="1">
                <a:solidFill>
                  <a:srgbClr val="00B050"/>
                </a:solidFill>
              </a:rPr>
              <a:t>（从文明出发，基于信息属性）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精神视角：正价值，负价值，净价值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核心目标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物质视角：透明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空间覆盖能力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，精简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空间拓扑结构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，效率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空间结合时间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教育视角：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关联物质：教育本质就是信息处理，在纯物质层面与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全面重合，因此会逐步全面替代化</a:t>
            </a:r>
            <a:r>
              <a:rPr lang="en-US" altLang="zh-CN" b="1">
                <a:solidFill>
                  <a:srgbClr val="00B050"/>
                </a:solidFill>
              </a:rPr>
              <a:t>(AI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；正价值巨大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关联精神：大幅度增加个人自我管理负担，明显放大影响效果；目前来看以负价值为主，后继需要更有效地治理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独立存在：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更有效地协助培养创新型人才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正向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负向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，其中在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领域，此类人才是</a:t>
            </a:r>
            <a:r>
              <a:rPr lang="zh-CN" altLang="en-US" b="1">
                <a:solidFill>
                  <a:srgbClr val="00B050"/>
                </a:solidFill>
              </a:rPr>
              <a:t>黑客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含正向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负向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0680065" y="4893310"/>
            <a:ext cx="1490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平台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文明平台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s 34"/>
          <p:cNvSpPr/>
          <p:nvPr/>
        </p:nvSpPr>
        <p:spPr>
          <a:xfrm>
            <a:off x="770255" y="3724910"/>
            <a:ext cx="1125855" cy="920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123950" y="4531360"/>
            <a:ext cx="9147810" cy="415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按人分配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（机会均等，文明调度）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 .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23315" y="3417570"/>
            <a:ext cx="7849235" cy="42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按劳分配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（多劳多得，资本调度）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167495" y="369760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>
                    <a:lumMod val="65000"/>
                  </a:schemeClr>
                </a:solidFill>
              </a:rPr>
              <a:t>投资</a:t>
            </a:r>
            <a:endParaRPr lang="zh-CN" altLang="en-US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5666105" y="3834130"/>
            <a:ext cx="2940685" cy="690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2318385" y="3844290"/>
            <a:ext cx="2894330" cy="677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1123950" y="4869180"/>
            <a:ext cx="914781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49" idx="3"/>
            <a:endCxn id="48" idx="1"/>
          </p:cNvCxnSpPr>
          <p:nvPr/>
        </p:nvCxnSpPr>
        <p:spPr>
          <a:xfrm flipV="1">
            <a:off x="5212715" y="4179570"/>
            <a:ext cx="453390" cy="381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5" idx="3"/>
            <a:endCxn id="49" idx="1"/>
          </p:cNvCxnSpPr>
          <p:nvPr/>
        </p:nvCxnSpPr>
        <p:spPr>
          <a:xfrm flipV="1">
            <a:off x="1896110" y="4183380"/>
            <a:ext cx="422275" cy="19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0680065" y="4893310"/>
            <a:ext cx="1490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平台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文明平台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836275" y="381127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调度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781050" y="2510790"/>
            <a:ext cx="1113155" cy="9486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770255" y="3724910"/>
            <a:ext cx="1125855" cy="920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123950" y="4531360"/>
            <a:ext cx="9147810" cy="415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按人分配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（机会均等，文明调度）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 .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23315" y="3417570"/>
            <a:ext cx="7849235" cy="42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按劳分配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（多劳多得，资本调度）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318385" y="2611755"/>
            <a:ext cx="2894965" cy="7410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57850" y="2611755"/>
            <a:ext cx="2948940" cy="740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129395" y="2832100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生产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167495" y="369760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>
                    <a:lumMod val="65000"/>
                  </a:schemeClr>
                </a:solidFill>
              </a:rPr>
              <a:t>投资</a:t>
            </a:r>
            <a:endParaRPr lang="zh-CN" altLang="en-US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5666105" y="3834130"/>
            <a:ext cx="2940685" cy="690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2318385" y="3844290"/>
            <a:ext cx="2894330" cy="677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s 4"/>
          <p:cNvSpPr/>
          <p:nvPr/>
        </p:nvSpPr>
        <p:spPr>
          <a:xfrm>
            <a:off x="1123950" y="3356610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123950" y="4869180"/>
            <a:ext cx="914781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5" idx="3"/>
            <a:endCxn id="6" idx="1"/>
          </p:cNvCxnSpPr>
          <p:nvPr/>
        </p:nvCxnSpPr>
        <p:spPr>
          <a:xfrm flipV="1">
            <a:off x="1894205" y="2982595"/>
            <a:ext cx="424180" cy="254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1" idx="1"/>
          </p:cNvCxnSpPr>
          <p:nvPr/>
        </p:nvCxnSpPr>
        <p:spPr>
          <a:xfrm flipV="1">
            <a:off x="5213350" y="2981960"/>
            <a:ext cx="444500" cy="635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9" idx="3"/>
            <a:endCxn id="48" idx="1"/>
          </p:cNvCxnSpPr>
          <p:nvPr/>
        </p:nvCxnSpPr>
        <p:spPr>
          <a:xfrm flipV="1">
            <a:off x="5212715" y="4179570"/>
            <a:ext cx="453390" cy="381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5" idx="3"/>
            <a:endCxn id="49" idx="1"/>
          </p:cNvCxnSpPr>
          <p:nvPr/>
        </p:nvCxnSpPr>
        <p:spPr>
          <a:xfrm flipV="1">
            <a:off x="1896110" y="4183380"/>
            <a:ext cx="422275" cy="19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0680065" y="4893310"/>
            <a:ext cx="1490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平台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文明平台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836275" y="381127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调度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714990" y="2686050"/>
            <a:ext cx="147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实例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生产平台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accent6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0" name="Straight Connector 9"/>
          <p:cNvCxnSpPr/>
          <p:nvPr/>
        </p:nvCxnSpPr>
        <p:spPr>
          <a:xfrm flipH="1">
            <a:off x="8971915" y="2537460"/>
            <a:ext cx="1221740" cy="952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781050" y="2510790"/>
            <a:ext cx="1113155" cy="9486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770255" y="3724910"/>
            <a:ext cx="1125855" cy="920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123950" y="4531360"/>
            <a:ext cx="9147810" cy="415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按人分配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（机会均等，文明调度）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 .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23315" y="3417570"/>
            <a:ext cx="7849235" cy="42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按劳分配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（多劳多得，资本调度）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123315" y="1988185"/>
            <a:ext cx="7848600" cy="521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按需分配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（生活支出，个体调度）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318385" y="2611755"/>
            <a:ext cx="2894965" cy="7410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57850" y="2611755"/>
            <a:ext cx="2948940" cy="740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28760" y="205803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消费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129395" y="2832100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生产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167495" y="369760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>
                    <a:lumMod val="65000"/>
                  </a:schemeClr>
                </a:solidFill>
              </a:rPr>
              <a:t>投资</a:t>
            </a:r>
            <a:endParaRPr lang="zh-CN" altLang="en-US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5666105" y="3834130"/>
            <a:ext cx="2940685" cy="690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2318385" y="3844290"/>
            <a:ext cx="2894330" cy="677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s 63"/>
          <p:cNvSpPr/>
          <p:nvPr/>
        </p:nvSpPr>
        <p:spPr>
          <a:xfrm>
            <a:off x="1123315" y="2492375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10175240" y="2537460"/>
            <a:ext cx="7620" cy="2003425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s 4"/>
          <p:cNvSpPr/>
          <p:nvPr/>
        </p:nvSpPr>
        <p:spPr>
          <a:xfrm>
            <a:off x="1123950" y="3356610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123950" y="4869180"/>
            <a:ext cx="914781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5" idx="3"/>
            <a:endCxn id="6" idx="1"/>
          </p:cNvCxnSpPr>
          <p:nvPr/>
        </p:nvCxnSpPr>
        <p:spPr>
          <a:xfrm flipV="1">
            <a:off x="1894205" y="2982595"/>
            <a:ext cx="424180" cy="254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1" idx="1"/>
          </p:cNvCxnSpPr>
          <p:nvPr/>
        </p:nvCxnSpPr>
        <p:spPr>
          <a:xfrm flipV="1">
            <a:off x="5213350" y="2981960"/>
            <a:ext cx="444500" cy="635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9" idx="3"/>
            <a:endCxn id="48" idx="1"/>
          </p:cNvCxnSpPr>
          <p:nvPr/>
        </p:nvCxnSpPr>
        <p:spPr>
          <a:xfrm flipV="1">
            <a:off x="5212715" y="4179570"/>
            <a:ext cx="453390" cy="381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5" idx="3"/>
            <a:endCxn id="49" idx="1"/>
          </p:cNvCxnSpPr>
          <p:nvPr/>
        </p:nvCxnSpPr>
        <p:spPr>
          <a:xfrm flipV="1">
            <a:off x="1896110" y="4183380"/>
            <a:ext cx="422275" cy="19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0680065" y="4893310"/>
            <a:ext cx="1490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平台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文明平台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836275" y="381127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调度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714990" y="2686050"/>
            <a:ext cx="147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实例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生产平台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0820400" y="197104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使用层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cxnSp>
        <p:nvCxnSpPr>
          <p:cNvPr id="21" name="Elbow Connector 20"/>
          <p:cNvCxnSpPr>
            <a:stCxn id="64" idx="3"/>
            <a:endCxn id="28" idx="3"/>
          </p:cNvCxnSpPr>
          <p:nvPr/>
        </p:nvCxnSpPr>
        <p:spPr>
          <a:xfrm>
            <a:off x="8971915" y="2546985"/>
            <a:ext cx="3175" cy="1083310"/>
          </a:xfrm>
          <a:prstGeom prst="bentConnector3">
            <a:avLst>
              <a:gd name="adj1" fmla="val 32160000"/>
            </a:avLst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>
          <a:xfrm>
            <a:off x="8971915" y="2540635"/>
            <a:ext cx="3175" cy="870585"/>
          </a:xfrm>
          <a:prstGeom prst="bentConnector3">
            <a:avLst>
              <a:gd name="adj1" fmla="val 26720000"/>
            </a:avLst>
          </a:prstGeom>
          <a:ln w="2222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0" name="Straight Connector 9"/>
          <p:cNvCxnSpPr/>
          <p:nvPr/>
        </p:nvCxnSpPr>
        <p:spPr>
          <a:xfrm flipH="1">
            <a:off x="8971915" y="2537460"/>
            <a:ext cx="1221740" cy="952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781050" y="2510790"/>
            <a:ext cx="1113155" cy="9486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770255" y="3724910"/>
            <a:ext cx="1125855" cy="920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123950" y="4531360"/>
            <a:ext cx="9147810" cy="415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按人分配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（机会均等，文明调度）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 .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23315" y="3417570"/>
            <a:ext cx="7849235" cy="42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按劳分配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（多劳多得，资本调度）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123315" y="1988185"/>
            <a:ext cx="7848600" cy="521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按需分配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（生活支出，个体调度）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318385" y="2611755"/>
            <a:ext cx="2894965" cy="7410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57850" y="2611755"/>
            <a:ext cx="2948940" cy="740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81685" y="1538605"/>
            <a:ext cx="9464675" cy="461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个体</a:t>
            </a:r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生活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28760" y="205803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消费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129395" y="2832100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生产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167495" y="369760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>
                    <a:lumMod val="65000"/>
                  </a:schemeClr>
                </a:solidFill>
              </a:rPr>
              <a:t>投资</a:t>
            </a:r>
            <a:endParaRPr lang="zh-CN" altLang="en-US" b="1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5" name="Elbow Connector 44"/>
          <p:cNvCxnSpPr>
            <a:stCxn id="25" idx="3"/>
            <a:endCxn id="4" idx="2"/>
          </p:cNvCxnSpPr>
          <p:nvPr/>
        </p:nvCxnSpPr>
        <p:spPr>
          <a:xfrm flipH="1">
            <a:off x="8544560" y="1769110"/>
            <a:ext cx="1701800" cy="3803650"/>
          </a:xfrm>
          <a:prstGeom prst="bentConnector4">
            <a:avLst>
              <a:gd name="adj1" fmla="val -15522"/>
              <a:gd name="adj2" fmla="val 106260"/>
            </a:avLst>
          </a:prstGeom>
          <a:ln w="2222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s 47"/>
          <p:cNvSpPr/>
          <p:nvPr/>
        </p:nvSpPr>
        <p:spPr>
          <a:xfrm>
            <a:off x="5666105" y="3834130"/>
            <a:ext cx="2940685" cy="690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2318385" y="3844290"/>
            <a:ext cx="2894330" cy="677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s 63"/>
          <p:cNvSpPr/>
          <p:nvPr/>
        </p:nvSpPr>
        <p:spPr>
          <a:xfrm>
            <a:off x="1123315" y="2492375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10175240" y="2537460"/>
            <a:ext cx="7620" cy="2003425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s 4"/>
          <p:cNvSpPr/>
          <p:nvPr/>
        </p:nvSpPr>
        <p:spPr>
          <a:xfrm>
            <a:off x="1123950" y="3356610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123950" y="4869180"/>
            <a:ext cx="914781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5" idx="3"/>
            <a:endCxn id="6" idx="1"/>
          </p:cNvCxnSpPr>
          <p:nvPr/>
        </p:nvCxnSpPr>
        <p:spPr>
          <a:xfrm flipV="1">
            <a:off x="1894205" y="2982595"/>
            <a:ext cx="424180" cy="254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1" idx="1"/>
          </p:cNvCxnSpPr>
          <p:nvPr/>
        </p:nvCxnSpPr>
        <p:spPr>
          <a:xfrm flipV="1">
            <a:off x="5213350" y="2981960"/>
            <a:ext cx="444500" cy="635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9" idx="3"/>
            <a:endCxn id="48" idx="1"/>
          </p:cNvCxnSpPr>
          <p:nvPr/>
        </p:nvCxnSpPr>
        <p:spPr>
          <a:xfrm flipV="1">
            <a:off x="5212715" y="4179570"/>
            <a:ext cx="453390" cy="381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5" idx="3"/>
            <a:endCxn id="49" idx="1"/>
          </p:cNvCxnSpPr>
          <p:nvPr/>
        </p:nvCxnSpPr>
        <p:spPr>
          <a:xfrm flipV="1">
            <a:off x="1896110" y="4183380"/>
            <a:ext cx="422275" cy="19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0680065" y="4893310"/>
            <a:ext cx="1490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平台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文明平台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836275" y="381127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调度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714990" y="2686050"/>
            <a:ext cx="147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实例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生产平台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0820400" y="197104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使用层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cxnSp>
        <p:nvCxnSpPr>
          <p:cNvPr id="21" name="Elbow Connector 20"/>
          <p:cNvCxnSpPr>
            <a:stCxn id="64" idx="3"/>
            <a:endCxn id="28" idx="3"/>
          </p:cNvCxnSpPr>
          <p:nvPr/>
        </p:nvCxnSpPr>
        <p:spPr>
          <a:xfrm>
            <a:off x="8971915" y="2546985"/>
            <a:ext cx="3175" cy="1083310"/>
          </a:xfrm>
          <a:prstGeom prst="bentConnector3">
            <a:avLst>
              <a:gd name="adj1" fmla="val 32160000"/>
            </a:avLst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>
          <a:xfrm>
            <a:off x="8971915" y="2540635"/>
            <a:ext cx="3175" cy="870585"/>
          </a:xfrm>
          <a:prstGeom prst="bentConnector3">
            <a:avLst>
              <a:gd name="adj1" fmla="val 26720000"/>
            </a:avLst>
          </a:prstGeom>
          <a:ln w="2222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0" name="Straight Connector 9"/>
          <p:cNvCxnSpPr/>
          <p:nvPr/>
        </p:nvCxnSpPr>
        <p:spPr>
          <a:xfrm flipH="1">
            <a:off x="8971915" y="2537460"/>
            <a:ext cx="1221740" cy="952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781050" y="2510790"/>
            <a:ext cx="1113155" cy="9486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770255" y="3724910"/>
            <a:ext cx="1125855" cy="920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123950" y="4531360"/>
            <a:ext cx="9147810" cy="415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按人分配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（机会均等，文明调度）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 .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23315" y="3417570"/>
            <a:ext cx="7849235" cy="42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按劳分配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（多劳多得，资本调度）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123315" y="1988185"/>
            <a:ext cx="7848600" cy="521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按需分配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（生活支出，个体调度）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318385" y="2611755"/>
            <a:ext cx="2894965" cy="7410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57850" y="2611755"/>
            <a:ext cx="2948940" cy="740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81685" y="1538605"/>
            <a:ext cx="9464675" cy="461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个体</a:t>
            </a:r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生活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28760" y="205803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消费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129395" y="2832100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生产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9167495" y="3697605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>
                    <a:lumMod val="65000"/>
                  </a:schemeClr>
                </a:solidFill>
              </a:rPr>
              <a:t>投资</a:t>
            </a:r>
            <a:endParaRPr lang="zh-CN" altLang="en-US" b="1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5" name="Elbow Connector 44"/>
          <p:cNvCxnSpPr>
            <a:stCxn id="25" idx="3"/>
            <a:endCxn id="4" idx="2"/>
          </p:cNvCxnSpPr>
          <p:nvPr/>
        </p:nvCxnSpPr>
        <p:spPr>
          <a:xfrm flipH="1">
            <a:off x="8544560" y="1769110"/>
            <a:ext cx="1701800" cy="3803650"/>
          </a:xfrm>
          <a:prstGeom prst="bentConnector4">
            <a:avLst>
              <a:gd name="adj1" fmla="val -15522"/>
              <a:gd name="adj2" fmla="val 106260"/>
            </a:avLst>
          </a:prstGeom>
          <a:ln w="2222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s 47"/>
          <p:cNvSpPr/>
          <p:nvPr/>
        </p:nvSpPr>
        <p:spPr>
          <a:xfrm>
            <a:off x="5666105" y="3834130"/>
            <a:ext cx="2940685" cy="690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2318385" y="3844290"/>
            <a:ext cx="2894330" cy="677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354330" y="1537970"/>
            <a:ext cx="421005" cy="403479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accent6"/>
                </a:solidFill>
              </a:rPr>
              <a:t>人</a:t>
            </a:r>
            <a:endParaRPr lang="zh-CN" b="1">
              <a:solidFill>
                <a:schemeClr val="accent6"/>
              </a:solidFill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56" idx="2"/>
            <a:endCxn id="3" idx="2"/>
          </p:cNvCxnSpPr>
          <p:nvPr/>
        </p:nvCxnSpPr>
        <p:spPr>
          <a:xfrm rot="5400000" flipV="1">
            <a:off x="2945130" y="3192780"/>
            <a:ext cx="3175" cy="4759960"/>
          </a:xfrm>
          <a:prstGeom prst="bentConnector3">
            <a:avLst>
              <a:gd name="adj1" fmla="val 7550000"/>
            </a:avLst>
          </a:prstGeom>
          <a:ln w="28575" cmpd="sng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s 63"/>
          <p:cNvSpPr/>
          <p:nvPr/>
        </p:nvSpPr>
        <p:spPr>
          <a:xfrm>
            <a:off x="1123315" y="2492375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10175240" y="2537460"/>
            <a:ext cx="7620" cy="2003425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s 4"/>
          <p:cNvSpPr/>
          <p:nvPr/>
        </p:nvSpPr>
        <p:spPr>
          <a:xfrm>
            <a:off x="1123950" y="3356610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123950" y="4869180"/>
            <a:ext cx="914781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5" idx="3"/>
            <a:endCxn id="6" idx="1"/>
          </p:cNvCxnSpPr>
          <p:nvPr/>
        </p:nvCxnSpPr>
        <p:spPr>
          <a:xfrm flipV="1">
            <a:off x="1894205" y="2982595"/>
            <a:ext cx="424180" cy="254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1" idx="1"/>
          </p:cNvCxnSpPr>
          <p:nvPr/>
        </p:nvCxnSpPr>
        <p:spPr>
          <a:xfrm flipV="1">
            <a:off x="5213350" y="2981960"/>
            <a:ext cx="444500" cy="635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9" idx="3"/>
            <a:endCxn id="48" idx="1"/>
          </p:cNvCxnSpPr>
          <p:nvPr/>
        </p:nvCxnSpPr>
        <p:spPr>
          <a:xfrm flipV="1">
            <a:off x="5212715" y="4179570"/>
            <a:ext cx="453390" cy="381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5" idx="3"/>
            <a:endCxn id="49" idx="1"/>
          </p:cNvCxnSpPr>
          <p:nvPr/>
        </p:nvCxnSpPr>
        <p:spPr>
          <a:xfrm flipV="1">
            <a:off x="1896110" y="4183380"/>
            <a:ext cx="422275" cy="19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0680065" y="4893310"/>
            <a:ext cx="14903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平台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文明平台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836275" y="381127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调度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714990" y="2686050"/>
            <a:ext cx="147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实例</a:t>
            </a:r>
            <a:r>
              <a:rPr lang="zh-CN" altLang="en-US" sz="2400" b="1">
                <a:solidFill>
                  <a:schemeClr val="accent6"/>
                </a:solidFill>
                <a:sym typeface="+mn-ea"/>
              </a:rPr>
              <a:t>层</a:t>
            </a:r>
            <a:endParaRPr lang="zh-CN" altLang="en-US" sz="2400" b="1">
              <a:solidFill>
                <a:schemeClr val="accent6"/>
              </a:solidFill>
              <a:sym typeface="+mn-ea"/>
            </a:endParaRPr>
          </a:p>
          <a:p>
            <a:pPr algn="ctr"/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accent6"/>
                </a:solidFill>
                <a:sym typeface="+mn-ea"/>
              </a:rPr>
              <a:t>生产平台</a:t>
            </a:r>
            <a:r>
              <a:rPr lang="en-US" altLang="zh-CN" sz="2000" b="1">
                <a:solidFill>
                  <a:schemeClr val="accent6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0820400" y="1971040"/>
            <a:ext cx="1224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6"/>
                </a:solidFill>
              </a:rPr>
              <a:t>使用层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cxnSp>
        <p:nvCxnSpPr>
          <p:cNvPr id="21" name="Elbow Connector 20"/>
          <p:cNvCxnSpPr>
            <a:stCxn id="64" idx="3"/>
            <a:endCxn id="28" idx="3"/>
          </p:cNvCxnSpPr>
          <p:nvPr/>
        </p:nvCxnSpPr>
        <p:spPr>
          <a:xfrm>
            <a:off x="8971915" y="2546985"/>
            <a:ext cx="3175" cy="1083310"/>
          </a:xfrm>
          <a:prstGeom prst="bentConnector3">
            <a:avLst>
              <a:gd name="adj1" fmla="val 32160000"/>
            </a:avLst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>
          <a:xfrm>
            <a:off x="8971915" y="2540635"/>
            <a:ext cx="3175" cy="870585"/>
          </a:xfrm>
          <a:prstGeom prst="bentConnector3">
            <a:avLst>
              <a:gd name="adj1" fmla="val 26720000"/>
            </a:avLst>
          </a:prstGeom>
          <a:ln w="2222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0" name="Straight Connector 9"/>
          <p:cNvCxnSpPr/>
          <p:nvPr/>
        </p:nvCxnSpPr>
        <p:spPr>
          <a:xfrm flipH="1">
            <a:off x="8971915" y="2537460"/>
            <a:ext cx="1221740" cy="952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781050" y="2510790"/>
            <a:ext cx="1113155" cy="9486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770255" y="3724910"/>
            <a:ext cx="1125855" cy="920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个体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123950" y="4531360"/>
            <a:ext cx="9147810" cy="415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按人分配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 .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123315" y="3417570"/>
            <a:ext cx="7849235" cy="42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按劳分配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123315" y="1988185"/>
            <a:ext cx="7848600" cy="521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按需分配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78510" y="4949190"/>
            <a:ext cx="3011170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精神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（计算）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301490" y="4949190"/>
            <a:ext cx="20466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教育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（传输）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816090" y="4949190"/>
            <a:ext cx="3456305" cy="623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物质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（存储）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318385" y="2611755"/>
            <a:ext cx="2894965" cy="7410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57850" y="2611755"/>
            <a:ext cx="2948940" cy="7404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产出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354330" y="1538605"/>
            <a:ext cx="9892030" cy="434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个体</a:t>
            </a:r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生活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5" name="Elbow Connector 44"/>
          <p:cNvCxnSpPr>
            <a:stCxn id="25" idx="3"/>
            <a:endCxn id="4" idx="2"/>
          </p:cNvCxnSpPr>
          <p:nvPr/>
        </p:nvCxnSpPr>
        <p:spPr>
          <a:xfrm flipH="1">
            <a:off x="8544560" y="1756410"/>
            <a:ext cx="1701800" cy="3816350"/>
          </a:xfrm>
          <a:prstGeom prst="bentConnector4">
            <a:avLst>
              <a:gd name="adj1" fmla="val -15522"/>
              <a:gd name="adj2" fmla="val 106240"/>
            </a:avLst>
          </a:prstGeom>
          <a:ln w="2222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s 47"/>
          <p:cNvSpPr/>
          <p:nvPr/>
        </p:nvSpPr>
        <p:spPr>
          <a:xfrm>
            <a:off x="5666105" y="3834130"/>
            <a:ext cx="2940685" cy="690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治理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2318385" y="3844290"/>
            <a:ext cx="2894330" cy="677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合作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资本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354330" y="1537970"/>
            <a:ext cx="421005" cy="403479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accent6"/>
                </a:solidFill>
              </a:rPr>
              <a:t>人</a:t>
            </a:r>
            <a:endParaRPr lang="zh-CN" b="1">
              <a:solidFill>
                <a:schemeClr val="accent6"/>
              </a:solidFill>
            </a:endParaRPr>
          </a:p>
        </p:txBody>
      </p:sp>
      <p:cxnSp>
        <p:nvCxnSpPr>
          <p:cNvPr id="60" name="Straight Arrow Connector 59"/>
          <p:cNvCxnSpPr>
            <a:stCxn id="3" idx="3"/>
            <a:endCxn id="4" idx="1"/>
          </p:cNvCxnSpPr>
          <p:nvPr/>
        </p:nvCxnSpPr>
        <p:spPr>
          <a:xfrm>
            <a:off x="6348095" y="5260975"/>
            <a:ext cx="467995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2" idx="3"/>
            <a:endCxn id="3" idx="1"/>
          </p:cNvCxnSpPr>
          <p:nvPr/>
        </p:nvCxnSpPr>
        <p:spPr>
          <a:xfrm>
            <a:off x="3789680" y="5260975"/>
            <a:ext cx="51181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56" idx="2"/>
            <a:endCxn id="3" idx="2"/>
          </p:cNvCxnSpPr>
          <p:nvPr/>
        </p:nvCxnSpPr>
        <p:spPr>
          <a:xfrm rot="5400000" flipV="1">
            <a:off x="2945130" y="3192780"/>
            <a:ext cx="3175" cy="4759960"/>
          </a:xfrm>
          <a:prstGeom prst="bentConnector3">
            <a:avLst>
              <a:gd name="adj1" fmla="val 7550000"/>
            </a:avLst>
          </a:prstGeom>
          <a:ln w="28575" cmpd="sng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s 63"/>
          <p:cNvSpPr/>
          <p:nvPr/>
        </p:nvSpPr>
        <p:spPr>
          <a:xfrm>
            <a:off x="1123315" y="2492375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10175240" y="2537460"/>
            <a:ext cx="7620" cy="2003425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s 4"/>
          <p:cNvSpPr/>
          <p:nvPr/>
        </p:nvSpPr>
        <p:spPr>
          <a:xfrm>
            <a:off x="1123950" y="3356610"/>
            <a:ext cx="7848600" cy="1085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123950" y="4869180"/>
            <a:ext cx="914781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5" idx="3"/>
            <a:endCxn id="6" idx="1"/>
          </p:cNvCxnSpPr>
          <p:nvPr/>
        </p:nvCxnSpPr>
        <p:spPr>
          <a:xfrm flipV="1">
            <a:off x="1894205" y="2982595"/>
            <a:ext cx="424180" cy="2540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1" idx="1"/>
          </p:cNvCxnSpPr>
          <p:nvPr/>
        </p:nvCxnSpPr>
        <p:spPr>
          <a:xfrm flipV="1">
            <a:off x="5213350" y="2981960"/>
            <a:ext cx="444500" cy="635"/>
          </a:xfrm>
          <a:prstGeom prst="straightConnector1">
            <a:avLst/>
          </a:prstGeom>
          <a:ln w="254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9" idx="3"/>
            <a:endCxn id="48" idx="1"/>
          </p:cNvCxnSpPr>
          <p:nvPr/>
        </p:nvCxnSpPr>
        <p:spPr>
          <a:xfrm flipV="1">
            <a:off x="5212715" y="4179570"/>
            <a:ext cx="453390" cy="381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5" idx="3"/>
            <a:endCxn id="49" idx="1"/>
          </p:cNvCxnSpPr>
          <p:nvPr/>
        </p:nvCxnSpPr>
        <p:spPr>
          <a:xfrm flipV="1">
            <a:off x="1896110" y="4183380"/>
            <a:ext cx="422275" cy="19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64" idx="3"/>
            <a:endCxn id="28" idx="3"/>
          </p:cNvCxnSpPr>
          <p:nvPr/>
        </p:nvCxnSpPr>
        <p:spPr>
          <a:xfrm>
            <a:off x="8971915" y="2546985"/>
            <a:ext cx="3175" cy="1083310"/>
          </a:xfrm>
          <a:prstGeom prst="bentConnector3">
            <a:avLst>
              <a:gd name="adj1" fmla="val 32500000"/>
            </a:avLst>
          </a:prstGeom>
          <a:ln w="222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>
          <a:xfrm>
            <a:off x="8971915" y="2540635"/>
            <a:ext cx="3175" cy="870585"/>
          </a:xfrm>
          <a:prstGeom prst="bentConnector3">
            <a:avLst>
              <a:gd name="adj1" fmla="val 26720000"/>
            </a:avLst>
          </a:prstGeom>
          <a:ln w="2222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3972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-IT</a:t>
            </a:r>
            <a:r>
              <a:rPr lang="zh-CN" altLang="en-US">
                <a:solidFill>
                  <a:srgbClr val="00B050"/>
                </a:solidFill>
              </a:rPr>
              <a:t>赋能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84935"/>
            <a:ext cx="11861165" cy="5187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平台层</a:t>
            </a:r>
            <a:r>
              <a:rPr lang="zh-CN" altLang="en-US" sz="1800" b="1">
                <a:solidFill>
                  <a:srgbClr val="00B050"/>
                </a:solidFill>
              </a:rPr>
              <a:t>（总揽，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价值三个视角的类型内容，后继的全部内容至少都具备物质类促进的属性：效率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精简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透明）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调度层</a:t>
            </a:r>
            <a:r>
              <a:rPr lang="zh-CN" altLang="en-US" sz="1800" b="1">
                <a:solidFill>
                  <a:srgbClr val="00B050"/>
                </a:solidFill>
              </a:rPr>
              <a:t>（投资）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实例层</a:t>
            </a:r>
            <a:r>
              <a:rPr lang="zh-CN" altLang="en-US" sz="1800" b="1">
                <a:solidFill>
                  <a:srgbClr val="00B050"/>
                </a:solidFill>
              </a:rPr>
              <a:t>（生产）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使用层</a:t>
            </a:r>
            <a:r>
              <a:rPr lang="zh-CN" altLang="en-US" sz="1800" b="1">
                <a:solidFill>
                  <a:srgbClr val="00B050"/>
                </a:solidFill>
              </a:rPr>
              <a:t>（消费）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3972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-IT</a:t>
            </a:r>
            <a:r>
              <a:rPr lang="zh-CN" altLang="en-US">
                <a:solidFill>
                  <a:srgbClr val="00B050"/>
                </a:solidFill>
              </a:rPr>
              <a:t>赋能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84935"/>
            <a:ext cx="11861165" cy="5187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平台层</a:t>
            </a:r>
            <a:r>
              <a:rPr lang="zh-CN" altLang="en-US" sz="1800" b="1">
                <a:solidFill>
                  <a:srgbClr val="00B050"/>
                </a:solidFill>
              </a:rPr>
              <a:t>（总揽，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价值三个视角的类型内容，后继的全部内容至少都具备物质类促进的属性：效率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精简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透明）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调度层</a:t>
            </a:r>
            <a:r>
              <a:rPr lang="zh-CN" altLang="en-US" sz="1800" b="1">
                <a:solidFill>
                  <a:srgbClr val="00B050"/>
                </a:solidFill>
              </a:rPr>
              <a:t>（投资）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按人分配：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与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普惠性强，天然促进机会均等，助力按人分配目标达成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个体资本：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本身增加个体资本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学习使用</a:t>
            </a:r>
            <a:r>
              <a:rPr lang="en-US" altLang="zh-CN" sz="1800" b="1">
                <a:solidFill>
                  <a:srgbClr val="00B050"/>
                </a:solidFill>
              </a:rPr>
              <a:t>IT)</a:t>
            </a:r>
            <a:r>
              <a:rPr lang="zh-CN" altLang="en-US" sz="1800" b="1">
                <a:solidFill>
                  <a:srgbClr val="00B050"/>
                </a:solidFill>
              </a:rPr>
              <a:t>，但与其他组合后对身体健康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视力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腰背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和思想认知有负价值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合作资本：降低合作门槛，投资机会增多；容易被误导或者自己主动误导外部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治理资本：管理负担大幅度增加，不断面对产业结构调整，来调度按人分配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例如培训再就业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保证生存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按劳分配：放大技能溢价与贫富差距，同时加速产业结构升级与要素流动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实例层</a:t>
            </a:r>
            <a:r>
              <a:rPr lang="zh-CN" altLang="en-US" sz="1800" b="1">
                <a:solidFill>
                  <a:srgbClr val="00B050"/>
                </a:solidFill>
              </a:rPr>
              <a:t>（生产）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使用层</a:t>
            </a:r>
            <a:r>
              <a:rPr lang="zh-CN" altLang="en-US" sz="1800" b="1">
                <a:solidFill>
                  <a:srgbClr val="00B050"/>
                </a:solidFill>
              </a:rPr>
              <a:t>（消费）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3972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-IT</a:t>
            </a:r>
            <a:r>
              <a:rPr lang="zh-CN" altLang="en-US">
                <a:solidFill>
                  <a:srgbClr val="00B050"/>
                </a:solidFill>
              </a:rPr>
              <a:t>赋能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84935"/>
            <a:ext cx="11861165" cy="5187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平台层</a:t>
            </a:r>
            <a:r>
              <a:rPr lang="zh-CN" altLang="en-US" sz="1800" b="1">
                <a:solidFill>
                  <a:srgbClr val="00B050"/>
                </a:solidFill>
              </a:rPr>
              <a:t>（总揽，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价值三个视角的类型内容，后继的全部内容至少都具备物质类促进的属性：效率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精简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透明）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调度层</a:t>
            </a:r>
            <a:r>
              <a:rPr lang="zh-CN" altLang="en-US" sz="1800" b="1">
                <a:solidFill>
                  <a:srgbClr val="00B050"/>
                </a:solidFill>
              </a:rPr>
              <a:t>（投资）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按人分配：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与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普惠性强，天然促进机会均等，助力按人分配目标达成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个体资本：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本身增加个体资本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学习使用</a:t>
            </a:r>
            <a:r>
              <a:rPr lang="en-US" altLang="zh-CN" sz="1800" b="1">
                <a:solidFill>
                  <a:srgbClr val="00B050"/>
                </a:solidFill>
              </a:rPr>
              <a:t>IT)</a:t>
            </a:r>
            <a:r>
              <a:rPr lang="zh-CN" altLang="en-US" sz="1800" b="1">
                <a:solidFill>
                  <a:srgbClr val="00B050"/>
                </a:solidFill>
              </a:rPr>
              <a:t>，但与其他组合后对身体健康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视力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腰背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和思想认知有负价值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合作资本：降低合作门槛，投资机会增多；容易被误导或者自己主动误导外部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治理资本：管理负担大幅度增加，不断面对产业结构调整，来调度按人分配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例如培训再就业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保证生存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按劳分配：放大技能溢价与贫富差距，同时加速产业结构升级与要素流动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实例层</a:t>
            </a:r>
            <a:r>
              <a:rPr lang="zh-CN" altLang="en-US" sz="1800" b="1">
                <a:solidFill>
                  <a:srgbClr val="00B050"/>
                </a:solidFill>
              </a:rPr>
              <a:t>（生产）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个体产出：大幅度提升个体产出效率；工作时长天数成下降趋势；更容易失业，同时新增新工作机会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合作产出：更容易倒闭（不分大小企业），也更容易新兴（不分大小企业）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治理产出：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管理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波动和复杂度提升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，需持续应对产业结构调整，动态调节按需、按劳和按人三类分配关系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使用层</a:t>
            </a:r>
            <a:r>
              <a:rPr lang="zh-CN" altLang="en-US" sz="1800" b="1">
                <a:solidFill>
                  <a:srgbClr val="00B050"/>
                </a:solidFill>
              </a:rPr>
              <a:t>（消费）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3972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-IT</a:t>
            </a:r>
            <a:r>
              <a:rPr lang="zh-CN" altLang="en-US">
                <a:solidFill>
                  <a:srgbClr val="00B050"/>
                </a:solidFill>
              </a:rPr>
              <a:t>赋能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384935"/>
            <a:ext cx="11861165" cy="5187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平台层</a:t>
            </a:r>
            <a:r>
              <a:rPr lang="zh-CN" altLang="en-US" sz="1800" b="1">
                <a:solidFill>
                  <a:srgbClr val="00B050"/>
                </a:solidFill>
              </a:rPr>
              <a:t>（总揽，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价值三个视角的类型内容，后继的全部内容至少都具备物质类促进的属性：效率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精简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透明）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调度层</a:t>
            </a:r>
            <a:r>
              <a:rPr lang="zh-CN" altLang="en-US" sz="1800" b="1">
                <a:solidFill>
                  <a:srgbClr val="00B050"/>
                </a:solidFill>
              </a:rPr>
              <a:t>（投资）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按人分配：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与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普惠性强，天然促进机会均等，助力按人分配目标达成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个体资本：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本身增加个体资本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学习使用</a:t>
            </a:r>
            <a:r>
              <a:rPr lang="en-US" altLang="zh-CN" sz="1800" b="1">
                <a:solidFill>
                  <a:srgbClr val="00B050"/>
                </a:solidFill>
              </a:rPr>
              <a:t>IT)</a:t>
            </a:r>
            <a:r>
              <a:rPr lang="zh-CN" altLang="en-US" sz="1800" b="1">
                <a:solidFill>
                  <a:srgbClr val="00B050"/>
                </a:solidFill>
              </a:rPr>
              <a:t>，但与其他组合后对身体健康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视力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腰背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和思想认知有负价值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合作资本：降低合作门槛，投资机会增多；容易被误导或者自己主动误导外部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治理资本：管理负担大幅度增加，不断面对产业结构调整，来调度按人分配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例如培训再就业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保证生存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按劳分配：放大技能溢价与贫富差距，同时加速产业结构升级与要素流动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实例层</a:t>
            </a:r>
            <a:r>
              <a:rPr lang="zh-CN" altLang="en-US" sz="1800" b="1">
                <a:solidFill>
                  <a:srgbClr val="00B050"/>
                </a:solidFill>
              </a:rPr>
              <a:t>（生产）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个体产出：大幅度提升个体产出效率；工作时长天数成下降趋势；更容易失业，同时新增新工作机会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合作产出：更容易倒闭（不分大小企业），也更容易新兴（不分大小企业）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治理产出：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管理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波动和复杂度提升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，需持续应对产业结构调整，动态调节按需、按劳和按人三类分配关系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使用层</a:t>
            </a:r>
            <a:r>
              <a:rPr lang="zh-CN" altLang="en-US" sz="1800" b="1">
                <a:solidFill>
                  <a:srgbClr val="00B050"/>
                </a:solidFill>
              </a:rPr>
              <a:t>（消费）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按需分配：大幅拓展需求边界（集中在二级消费），不扰动一级消费，同时抑制重构三级消费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个体生活：明显丰富个体生活，但个体容易被误导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34620"/>
            <a:ext cx="10613390" cy="6254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个体面对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812800"/>
            <a:ext cx="11860530" cy="595503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精神：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教育：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物质：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34620"/>
            <a:ext cx="10613390" cy="6254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个体面对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812800"/>
            <a:ext cx="11860530" cy="595503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精神：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尊重人的本体，理解人在社会中的核心位置；建立自信并尊重他人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排除误解，只有价值判断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承担责任才是真正的精神，其他的意识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情绪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偏好等都不是精神内容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没有精神，这是</a:t>
            </a:r>
            <a:r>
              <a:rPr lang="en-US" altLang="zh-CN" b="1">
                <a:solidFill>
                  <a:srgbClr val="00B050"/>
                </a:solidFill>
              </a:rPr>
              <a:t>AI/IT</a:t>
            </a:r>
            <a:r>
              <a:rPr lang="zh-CN" altLang="en-US" b="1">
                <a:solidFill>
                  <a:srgbClr val="00B050"/>
                </a:solidFill>
              </a:rPr>
              <a:t>的外层边界（即使日后的非图灵机，虽然可能有意识，但依旧没有精神）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教育：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物质：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34620"/>
            <a:ext cx="10613390" cy="6254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个体面对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812800"/>
            <a:ext cx="11860530" cy="595503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精神：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尊重人的本体，理解人在社会中的核心位置；建立自信并尊重他人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排除误解，只有价值判断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承担责任才是真正的精神，其他的意识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情绪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偏好等都不是精神内容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没有精神，这是</a:t>
            </a:r>
            <a:r>
              <a:rPr lang="en-US" altLang="zh-CN" b="1">
                <a:solidFill>
                  <a:srgbClr val="00B050"/>
                </a:solidFill>
              </a:rPr>
              <a:t>AI/IT</a:t>
            </a:r>
            <a:r>
              <a:rPr lang="zh-CN" altLang="en-US" b="1">
                <a:solidFill>
                  <a:srgbClr val="00B050"/>
                </a:solidFill>
              </a:rPr>
              <a:t>的外层边界（即使日后的非图灵机，虽然可能有意识，但依旧没有精神）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教育：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尊重现有学科体系，知道各个学科的价值定位，清楚学习这些内容的必要性，但学习形式和侧重点完全不同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sz="1800" b="1">
                <a:solidFill>
                  <a:srgbClr val="00B050"/>
                </a:solidFill>
              </a:rPr>
              <a:t>确认学习</a:t>
            </a:r>
            <a:r>
              <a:rPr lang="en-US" altLang="zh-CN" sz="1800" b="1">
                <a:solidFill>
                  <a:srgbClr val="00B050"/>
                </a:solidFill>
              </a:rPr>
              <a:t>IT(</a:t>
            </a:r>
            <a:r>
              <a:rPr lang="zh-CN" altLang="en-US" sz="1800" b="1">
                <a:solidFill>
                  <a:srgbClr val="00B050"/>
                </a:solidFill>
              </a:rPr>
              <a:t>至少是科普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的必要性，与三大主科并列；后继一定要学习</a:t>
            </a:r>
            <a:r>
              <a:rPr lang="en-US" altLang="zh-CN" sz="1800" b="1">
                <a:solidFill>
                  <a:srgbClr val="00B050"/>
                </a:solidFill>
              </a:rPr>
              <a:t>IT(</a:t>
            </a:r>
            <a:r>
              <a:rPr lang="zh-CN" altLang="en-US" sz="1800" b="1">
                <a:solidFill>
                  <a:srgbClr val="00B050"/>
                </a:solidFill>
              </a:rPr>
              <a:t>至少有足够的了解，预防被误导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强调自主学习，教育的核心是提升自我管理能力，需要终身学习，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会大幅度放大这方面的作用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物质：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34620"/>
            <a:ext cx="10613390" cy="6254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个体面对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812800"/>
            <a:ext cx="11860530" cy="595503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精神：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尊重人的本体，理解人在社会中的核心位置；建立自信并尊重他人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排除误解，只有价值判断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承担责任才是真正的精神，其他的意识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情绪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偏好等都不是精神内容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没有精神，这是</a:t>
            </a:r>
            <a:r>
              <a:rPr lang="en-US" altLang="zh-CN" b="1">
                <a:solidFill>
                  <a:srgbClr val="00B050"/>
                </a:solidFill>
              </a:rPr>
              <a:t>AI/IT</a:t>
            </a:r>
            <a:r>
              <a:rPr lang="zh-CN" altLang="en-US" b="1">
                <a:solidFill>
                  <a:srgbClr val="00B050"/>
                </a:solidFill>
              </a:rPr>
              <a:t>的外层边界（即使日后的非图灵机，虽然可能有意识，但依旧没有精神）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教育：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尊重现有学科体系，知道各个学科的价值定位，清楚学习这些内容的必要性，但学习形式和侧重点完全不同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sz="1800" b="1">
                <a:solidFill>
                  <a:srgbClr val="00B050"/>
                </a:solidFill>
              </a:rPr>
              <a:t>确认学习</a:t>
            </a:r>
            <a:r>
              <a:rPr lang="en-US" altLang="zh-CN" sz="1800" b="1">
                <a:solidFill>
                  <a:srgbClr val="00B050"/>
                </a:solidFill>
              </a:rPr>
              <a:t>IT(</a:t>
            </a:r>
            <a:r>
              <a:rPr lang="zh-CN" altLang="en-US" sz="1800" b="1">
                <a:solidFill>
                  <a:srgbClr val="00B050"/>
                </a:solidFill>
              </a:rPr>
              <a:t>至少是科普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的必要性，与三大主科并列；后继一定要学习</a:t>
            </a:r>
            <a:r>
              <a:rPr lang="en-US" altLang="zh-CN" sz="1800" b="1">
                <a:solidFill>
                  <a:srgbClr val="00B050"/>
                </a:solidFill>
              </a:rPr>
              <a:t>IT(</a:t>
            </a:r>
            <a:r>
              <a:rPr lang="zh-CN" altLang="en-US" sz="1800" b="1">
                <a:solidFill>
                  <a:srgbClr val="00B050"/>
                </a:solidFill>
              </a:rPr>
              <a:t>至少有足够的了解，预防被误导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强调自主学习，教育的核心是提升自我管理能力，需要终身学习，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会大幅度放大这方面的作用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物质：</a:t>
            </a:r>
            <a:r>
              <a:rPr lang="en-US" altLang="zh-CN" sz="1800" b="1">
                <a:solidFill>
                  <a:srgbClr val="00B050"/>
                </a:solidFill>
              </a:rPr>
              <a:t>AI/IT</a:t>
            </a:r>
            <a:r>
              <a:rPr lang="zh-CN" altLang="en-US" sz="1800" b="1">
                <a:solidFill>
                  <a:srgbClr val="00B050"/>
                </a:solidFill>
              </a:rPr>
              <a:t>内层边界是需求表达体系，使用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的通用核心能力是语文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物理，专业能力则同各行业专业技术相关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34620"/>
            <a:ext cx="10613390" cy="6254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个体面对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812800"/>
            <a:ext cx="11860530" cy="595503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精神：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尊重人的本体，理解人在社会中的核心位置；建立自信并尊重他人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排除误解，只有价值判断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承担责任才是真正的精神，其他的意识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情绪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偏好等都不是精神内容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没有精神，这是</a:t>
            </a:r>
            <a:r>
              <a:rPr lang="en-US" altLang="zh-CN" b="1">
                <a:solidFill>
                  <a:srgbClr val="00B050"/>
                </a:solidFill>
              </a:rPr>
              <a:t>AI/IT</a:t>
            </a:r>
            <a:r>
              <a:rPr lang="zh-CN" altLang="en-US" b="1">
                <a:solidFill>
                  <a:srgbClr val="00B050"/>
                </a:solidFill>
              </a:rPr>
              <a:t>的外层边界（即使日后的非图灵机，虽然可能有意识，但依旧没有精神）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教育：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尊重现有学科体系，知道各个学科的价值定位，清楚学习这些内容的必要性，但学习形式和侧重点完全不同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sz="1800" b="1">
                <a:solidFill>
                  <a:srgbClr val="00B050"/>
                </a:solidFill>
              </a:rPr>
              <a:t>确认学习</a:t>
            </a:r>
            <a:r>
              <a:rPr lang="en-US" altLang="zh-CN" sz="1800" b="1">
                <a:solidFill>
                  <a:srgbClr val="00B050"/>
                </a:solidFill>
              </a:rPr>
              <a:t>IT(</a:t>
            </a:r>
            <a:r>
              <a:rPr lang="zh-CN" altLang="en-US" sz="1800" b="1">
                <a:solidFill>
                  <a:srgbClr val="00B050"/>
                </a:solidFill>
              </a:rPr>
              <a:t>至少是科普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的必要性，与三大主科并列；后继一定要学习</a:t>
            </a:r>
            <a:r>
              <a:rPr lang="en-US" altLang="zh-CN" sz="1800" b="1">
                <a:solidFill>
                  <a:srgbClr val="00B050"/>
                </a:solidFill>
              </a:rPr>
              <a:t>IT(</a:t>
            </a:r>
            <a:r>
              <a:rPr lang="zh-CN" altLang="en-US" sz="1800" b="1">
                <a:solidFill>
                  <a:srgbClr val="00B050"/>
                </a:solidFill>
              </a:rPr>
              <a:t>至少有足够的了解，预防被误导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强调自主学习，教育的核心是提升自我管理能力，需要终身学习，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会大幅度放大这方面的作用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物质：</a:t>
            </a:r>
            <a:r>
              <a:rPr lang="en-US" altLang="zh-CN" sz="1800" b="1">
                <a:solidFill>
                  <a:srgbClr val="00B050"/>
                </a:solidFill>
              </a:rPr>
              <a:t>AI/IT</a:t>
            </a:r>
            <a:r>
              <a:rPr lang="zh-CN" altLang="en-US" sz="1800" b="1">
                <a:solidFill>
                  <a:srgbClr val="00B050"/>
                </a:solidFill>
              </a:rPr>
              <a:t>内层边界是需求表达体系，使用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的通用核心能力是语文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物理，专业能力则同各行业专业技术相关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个体资本：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有效使用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AI(IT+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机械化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传感器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的能力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自我管理能力成为通用核心能力，在个人资本中的比重未来会不断增加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个人信用在未来的合作中越发重要，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会放大个人信用的作用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已经大幅度促进按人分配和按劳分配的目标，后继会进一步促进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个体产出：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最大限度地使用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从事各行业生产，个人生产能力大幅度提升。通常情况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996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不再，趋势为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954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和自由职业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个体户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短期有可能被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替代，暂时退出合作产出环境；但相信对按需分配和按劳分配的治理，中长期依旧有自己的价值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注重价值产出，一切活动都是为对外部的价值产出服务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个体生活：尽量预防被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产出的效果所误导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</a:t>
            </a:r>
            <a:r>
              <a:rPr lang="zh-CN" altLang="en-US" b="1">
                <a:solidFill>
                  <a:srgbClr val="00B050"/>
                </a:solidFill>
              </a:rPr>
              <a:t>意识到教育的重要性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理性消费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1813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以人为本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697355"/>
            <a:ext cx="11530965" cy="48437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整体：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对内：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1813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以人为本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697355"/>
            <a:ext cx="11530965" cy="48437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整体：</a:t>
            </a:r>
            <a:r>
              <a:rPr lang="zh-CN" altLang="en-US" sz="1800" b="1">
                <a:solidFill>
                  <a:srgbClr val="00B050"/>
                </a:solidFill>
              </a:rPr>
              <a:t>人生是一个有限阶段，参考老子道法自然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精神：输入接口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输出接口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，人之初性本正</a:t>
            </a:r>
            <a:r>
              <a:rPr lang="zh-CN" altLang="en-US" b="1">
                <a:solidFill>
                  <a:srgbClr val="00B050"/>
                </a:solidFill>
              </a:rPr>
              <a:t>，判断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责任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物质：人生阶段的核心载体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教育：连接物质与精神，塑造自我管理能力，影响最终接口输出；终身教育，贯穿人生始终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对内：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1813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以人为本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697355"/>
            <a:ext cx="11530965" cy="48437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整体：</a:t>
            </a:r>
            <a:r>
              <a:rPr lang="zh-CN" altLang="en-US" sz="1800" b="1">
                <a:solidFill>
                  <a:srgbClr val="00B050"/>
                </a:solidFill>
              </a:rPr>
              <a:t>人生是一个有限阶段，参考老子道法自然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精神：输入接口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输出接口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，人之初性本正</a:t>
            </a:r>
            <a:r>
              <a:rPr lang="zh-CN" altLang="en-US" b="1">
                <a:solidFill>
                  <a:srgbClr val="00B050"/>
                </a:solidFill>
              </a:rPr>
              <a:t>，判断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责任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物质：人生阶段的核心载体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教育：连接物质与精神，塑造自我管理能力，影响最终接口输出；终身教育，贯穿人生始终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对内：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不以物喜，不以己悲</a:t>
            </a:r>
            <a:r>
              <a:rPr lang="en-US" altLang="zh-CN" sz="1800" b="1">
                <a:solidFill>
                  <a:srgbClr val="00B050"/>
                </a:solidFill>
              </a:rPr>
              <a:t>    --  </a:t>
            </a:r>
            <a:r>
              <a:rPr lang="zh-CN" altLang="en-US" sz="1800" b="1">
                <a:solidFill>
                  <a:srgbClr val="00B050"/>
                </a:solidFill>
              </a:rPr>
              <a:t>不忘初心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穷则独善其身，达则兼济天下</a:t>
            </a:r>
            <a:r>
              <a:rPr lang="en-US" altLang="zh-CN" sz="1800" b="1">
                <a:solidFill>
                  <a:srgbClr val="00B050"/>
                </a:solidFill>
              </a:rPr>
              <a:t>    -- </a:t>
            </a:r>
            <a:r>
              <a:rPr lang="zh-CN" altLang="en-US" sz="1800" b="1">
                <a:solidFill>
                  <a:srgbClr val="00B050"/>
                </a:solidFill>
              </a:rPr>
              <a:t>牢记使命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1813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价值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以人为本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697355"/>
            <a:ext cx="11530965" cy="48437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整体：</a:t>
            </a:r>
            <a:r>
              <a:rPr lang="zh-CN" altLang="en-US" sz="1800" b="1">
                <a:solidFill>
                  <a:srgbClr val="00B050"/>
                </a:solidFill>
              </a:rPr>
              <a:t>人生是一个有限阶段，参考老子道法自然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精神：输入接口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输出接口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，人之初性本正</a:t>
            </a:r>
            <a:r>
              <a:rPr lang="zh-CN" altLang="en-US" b="1">
                <a:solidFill>
                  <a:srgbClr val="00B050"/>
                </a:solidFill>
              </a:rPr>
              <a:t>，判断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责任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物质：人生阶段的核心载体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教育：连接物质与精神，塑造自我管理能力，影响最终接口输出；终身教育，贯穿人生始终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对内：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不以物喜，不以己悲</a:t>
            </a:r>
            <a:r>
              <a:rPr lang="en-US" altLang="zh-CN" sz="1800" b="1">
                <a:solidFill>
                  <a:srgbClr val="00B050"/>
                </a:solidFill>
              </a:rPr>
              <a:t>    --  </a:t>
            </a:r>
            <a:r>
              <a:rPr lang="zh-CN" altLang="en-US" sz="1800" b="1">
                <a:solidFill>
                  <a:srgbClr val="00B050"/>
                </a:solidFill>
              </a:rPr>
              <a:t>不忘初心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穷则独善其身，达则兼济天下</a:t>
            </a:r>
            <a:r>
              <a:rPr lang="en-US" altLang="zh-CN" sz="1800" b="1">
                <a:solidFill>
                  <a:srgbClr val="00B050"/>
                </a:solidFill>
              </a:rPr>
              <a:t>    -- </a:t>
            </a:r>
            <a:r>
              <a:rPr lang="zh-CN" altLang="en-US" sz="1800" b="1">
                <a:solidFill>
                  <a:srgbClr val="00B050"/>
                </a:solidFill>
              </a:rPr>
              <a:t>牢记使命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对外：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积极与科技交互沟通，乐于同自然和谐相处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专业与通俗</a:t>
            </a:r>
            <a:r>
              <a:rPr lang="zh-CN" altLang="en-US" b="1">
                <a:solidFill>
                  <a:srgbClr val="00B050"/>
                </a:solidFill>
              </a:rPr>
              <a:t>相辅相成，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深入同浅出</a:t>
            </a:r>
            <a:r>
              <a:rPr lang="zh-CN" altLang="en-US" b="1">
                <a:solidFill>
                  <a:srgbClr val="00B050"/>
                </a:solidFill>
              </a:rPr>
              <a:t>完美互补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尊重，理解，开放，</a:t>
            </a:r>
            <a:r>
              <a:rPr lang="en-US" altLang="zh-CN" b="1">
                <a:solidFill>
                  <a:srgbClr val="00B050"/>
                </a:solidFill>
              </a:rPr>
              <a:t>   </a:t>
            </a:r>
            <a:r>
              <a:rPr lang="zh-CN" altLang="en-US" b="1">
                <a:solidFill>
                  <a:srgbClr val="00B050"/>
                </a:solidFill>
              </a:rPr>
              <a:t>促进社会价值产出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4856</Words>
  <Application>WPS Presentation</Application>
  <PresentationFormat>宽屏</PresentationFormat>
  <Paragraphs>485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关注IT价值</vt:lpstr>
      <vt:lpstr>关注IT价值-基本描述</vt:lpstr>
      <vt:lpstr>关注IT价值-基本描述</vt:lpstr>
      <vt:lpstr>关注IT价值-主体理论-基本描述</vt:lpstr>
      <vt:lpstr>关注IT价值-基本描述</vt:lpstr>
      <vt:lpstr>关注IT价值-通用体系</vt:lpstr>
      <vt:lpstr>关注IT价值-通用体系</vt:lpstr>
      <vt:lpstr>关注IT价值-通用体系</vt:lpstr>
      <vt:lpstr>关注IT价值-通用体系</vt:lpstr>
      <vt:lpstr>关注IT价值-通用体系</vt:lpstr>
      <vt:lpstr>关注IT价值-通用体系</vt:lpstr>
      <vt:lpstr>关注IT价值-主体理论-通用体系</vt:lpstr>
      <vt:lpstr>关注IT价值-主体理论-IT赋能</vt:lpstr>
      <vt:lpstr>关注IT价值-IT赋能</vt:lpstr>
      <vt:lpstr>关注IT价值-IT赋能</vt:lpstr>
      <vt:lpstr>关注IT价值-IT赋能</vt:lpstr>
      <vt:lpstr>关注IT价值-个体面对</vt:lpstr>
      <vt:lpstr>关注IT价值-个体面对</vt:lpstr>
      <vt:lpstr>关注IT价值-个体面对</vt:lpstr>
      <vt:lpstr>关注IT价值-个体面对</vt:lpstr>
      <vt:lpstr>关注IT价值-个体面对</vt:lpstr>
      <vt:lpstr>关注IT价值-以人为本</vt:lpstr>
      <vt:lpstr>关注IT价值-以人为本</vt:lpstr>
      <vt:lpstr>关注IT价值-以人为本</vt:lpstr>
      <vt:lpstr>关注IT价值-以人为本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936</cp:revision>
  <dcterms:created xsi:type="dcterms:W3CDTF">2026-02-08T02:02:10Z</dcterms:created>
  <dcterms:modified xsi:type="dcterms:W3CDTF">2026-02-08T02:02:10Z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