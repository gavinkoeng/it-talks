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3"/>
    <p:sldId id="359" r:id="rId4"/>
    <p:sldId id="428" r:id="rId5"/>
    <p:sldId id="427" r:id="rId6"/>
    <p:sldId id="426" r:id="rId7"/>
    <p:sldId id="422" r:id="rId8"/>
    <p:sldId id="433" r:id="rId9"/>
    <p:sldId id="432" r:id="rId10"/>
    <p:sldId id="431" r:id="rId11"/>
    <p:sldId id="430" r:id="rId12"/>
    <p:sldId id="429" r:id="rId13"/>
    <p:sldId id="419" r:id="rId14"/>
    <p:sldId id="416" r:id="rId15"/>
    <p:sldId id="435" r:id="rId16"/>
    <p:sldId id="434" r:id="rId17"/>
    <p:sldId id="417" r:id="rId18"/>
    <p:sldId id="438" r:id="rId19"/>
    <p:sldId id="437" r:id="rId20"/>
    <p:sldId id="436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04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320675"/>
            <a:ext cx="10515600" cy="861695"/>
          </a:xfrm>
        </p:spPr>
        <p:txBody>
          <a:bodyPr/>
          <a:p>
            <a:pPr algn="ctr"/>
            <a:r>
              <a:rPr lang="zh-CN" altLang="en-US" sz="4000">
                <a:solidFill>
                  <a:srgbClr val="00B050"/>
                </a:solidFill>
              </a:rPr>
              <a:t>关注</a:t>
            </a:r>
            <a:r>
              <a:rPr lang="en-US" altLang="zh-CN" sz="4000">
                <a:solidFill>
                  <a:srgbClr val="00B050"/>
                </a:solidFill>
              </a:rPr>
              <a:t>IT</a:t>
            </a:r>
            <a:r>
              <a:rPr lang="zh-CN" altLang="en-US" sz="4000">
                <a:solidFill>
                  <a:srgbClr val="00B050"/>
                </a:solidFill>
              </a:rPr>
              <a:t>发展</a:t>
            </a:r>
            <a:endParaRPr lang="zh-CN" altLang="en-US" sz="40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71575"/>
            <a:ext cx="10515600" cy="5473700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历史与现状</a:t>
            </a:r>
            <a:endParaRPr lang="zh-CN" altLang="en-US" sz="324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  <a:sym typeface="+mn-ea"/>
              </a:rPr>
              <a:t>开发使用</a:t>
            </a:r>
            <a:endParaRPr lang="zh-CN" altLang="en-US" sz="24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  <a:sym typeface="+mn-ea"/>
              </a:rPr>
              <a:t>关键原理</a:t>
            </a:r>
            <a:endParaRPr lang="zh-CN" altLang="en-US" sz="24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  <a:sym typeface="+mn-ea"/>
              </a:rPr>
              <a:t>参考内容</a:t>
            </a:r>
            <a:endParaRPr lang="zh-CN" altLang="en-US" sz="24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趋势与未来</a:t>
            </a:r>
            <a:endParaRPr lang="zh-CN" altLang="en-US" sz="324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理论层面</a:t>
            </a:r>
            <a:endParaRPr lang="zh-CN" altLang="en-US" sz="240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实践层面</a:t>
            </a:r>
            <a:endParaRPr lang="zh-CN" altLang="en-US" sz="240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参考内容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3240" b="1">
                <a:solidFill>
                  <a:srgbClr val="00B050"/>
                </a:solidFill>
                <a:sym typeface="+mn-ea"/>
              </a:rPr>
              <a:t>脚下与远方</a:t>
            </a:r>
            <a:endParaRPr lang="zh-CN" altLang="en-US" sz="324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研发人员</a:t>
            </a:r>
            <a:endParaRPr lang="zh-CN" altLang="en-US" sz="240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普通用户</a:t>
            </a:r>
            <a:endParaRPr lang="zh-CN" altLang="en-US" sz="2400" b="1">
              <a:solidFill>
                <a:srgbClr val="00B050"/>
              </a:solidFill>
            </a:endParaRPr>
          </a:p>
          <a:p>
            <a:pPr lvl="4" algn="ctr"/>
            <a:r>
              <a:rPr lang="zh-CN" altLang="en-US" sz="2400" b="1">
                <a:solidFill>
                  <a:srgbClr val="00B050"/>
                </a:solidFill>
              </a:rPr>
              <a:t>参考内容</a:t>
            </a:r>
            <a:endParaRPr lang="zh-CN" altLang="en-US" sz="24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开发使用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23545" y="1883410"/>
            <a:ext cx="1659890" cy="1370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62350" y="188341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098675" y="1883410"/>
            <a:ext cx="144907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9796780" y="202755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3552190" y="374269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机器图形界面</a:t>
            </a:r>
            <a:r>
              <a:rPr lang="en-US" altLang="zh-CN" b="1">
                <a:solidFill>
                  <a:schemeClr val="tx1"/>
                </a:solidFill>
              </a:rPr>
              <a:t>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机器命令界面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23545" y="3742690"/>
            <a:ext cx="311404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9786620" y="388683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开发使用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23545" y="1883410"/>
            <a:ext cx="1659890" cy="1370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62350" y="188341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3562350" y="202755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098675" y="1883410"/>
            <a:ext cx="144907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9796780" y="202755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3552190" y="374269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机器图形界面</a:t>
            </a:r>
            <a:r>
              <a:rPr lang="en-US" altLang="zh-CN" b="1">
                <a:solidFill>
                  <a:schemeClr val="tx1"/>
                </a:solidFill>
              </a:rPr>
              <a:t>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机器命令界面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552190" y="374459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系统图形界面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系统命令界面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23545" y="3742690"/>
            <a:ext cx="311404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9786620" y="388683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开发使用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23545" y="1883410"/>
            <a:ext cx="1659890" cy="1370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62350" y="188341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3562350" y="202755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562350" y="2296795"/>
            <a:ext cx="190754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高级语言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098675" y="1883410"/>
            <a:ext cx="144907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9796780" y="202755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3552190" y="374269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机器图形界面</a:t>
            </a:r>
            <a:r>
              <a:rPr lang="en-US" altLang="zh-CN" b="1">
                <a:solidFill>
                  <a:schemeClr val="tx1"/>
                </a:solidFill>
              </a:rPr>
              <a:t>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机器命令界面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552190" y="374459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系统图形界面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系统命令界面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552190" y="3740150"/>
            <a:ext cx="190754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应用图形界面</a:t>
            </a:r>
            <a:endParaRPr lang="zh-CN" b="1">
              <a:solidFill>
                <a:schemeClr val="tx1"/>
              </a:solidFill>
            </a:endParaRPr>
          </a:p>
          <a:p>
            <a:pPr algn="ctr"/>
            <a:r>
              <a:rPr lang="zh-CN" b="1">
                <a:solidFill>
                  <a:schemeClr val="tx1"/>
                </a:solidFill>
              </a:rPr>
              <a:t>应用命令界面</a:t>
            </a:r>
            <a:endParaRPr lang="zh-CN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23545" y="3742690"/>
            <a:ext cx="311404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9786620" y="388683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2291080" y="3242945"/>
            <a:ext cx="7976870" cy="512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多模态语言处理（</a:t>
            </a:r>
            <a:r>
              <a:rPr lang="zh-CN" altLang="en-US" sz="1600" b="1">
                <a:solidFill>
                  <a:schemeClr val="tx1"/>
                </a:solidFill>
              </a:rPr>
              <a:t>含自然语言处理</a:t>
            </a:r>
            <a:r>
              <a:rPr lang="en-US" altLang="zh-CN" sz="1600" b="1">
                <a:solidFill>
                  <a:schemeClr val="tx1"/>
                </a:solidFill>
              </a:rPr>
              <a:t>NLP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开发使用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23545" y="1883410"/>
            <a:ext cx="1659890" cy="1370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62350" y="188341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3562350" y="202755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3562350" y="2296795"/>
            <a:ext cx="190754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高级语言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098675" y="1883410"/>
            <a:ext cx="144907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9796780" y="202755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3552190" y="3742690"/>
            <a:ext cx="7927340" cy="1359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机器图形界面</a:t>
            </a:r>
            <a:r>
              <a:rPr lang="en-US" altLang="zh-CN" b="1">
                <a:solidFill>
                  <a:schemeClr val="tx1"/>
                </a:solidFill>
              </a:rPr>
              <a:t>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</a:t>
            </a:r>
            <a:r>
              <a:rPr lang="zh-CN" altLang="en-US" b="1">
                <a:solidFill>
                  <a:schemeClr val="tx1"/>
                </a:solidFill>
              </a:rPr>
              <a:t>机器命令界面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552190" y="3744595"/>
            <a:ext cx="4193540" cy="1216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系统图形界面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</a:t>
            </a:r>
            <a:r>
              <a:rPr lang="zh-CN" altLang="en-US" b="1">
                <a:solidFill>
                  <a:schemeClr val="tx1"/>
                </a:solidFill>
              </a:rPr>
              <a:t>系统命令界面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552190" y="3740150"/>
            <a:ext cx="190754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b="1">
                <a:solidFill>
                  <a:schemeClr val="tx1"/>
                </a:solidFill>
              </a:rPr>
              <a:t>应用图形界面</a:t>
            </a:r>
            <a:endParaRPr lang="zh-CN" b="1">
              <a:solidFill>
                <a:schemeClr val="tx1"/>
              </a:solidFill>
            </a:endParaRPr>
          </a:p>
          <a:p>
            <a:pPr algn="ctr"/>
            <a:r>
              <a:rPr lang="zh-CN" b="1">
                <a:solidFill>
                  <a:schemeClr val="tx1"/>
                </a:solidFill>
              </a:rPr>
              <a:t>应用命令界面</a:t>
            </a:r>
            <a:endParaRPr lang="zh-CN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23545" y="3742690"/>
            <a:ext cx="3114040" cy="1360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普通人</a:t>
            </a:r>
            <a:r>
              <a:rPr lang="en-US" altLang="zh-CN" b="1">
                <a:solidFill>
                  <a:schemeClr val="tx1"/>
                </a:solidFill>
              </a:rPr>
              <a:t>B/C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程序员</a:t>
            </a:r>
            <a:r>
              <a:rPr lang="en-US" altLang="zh-CN" b="1">
                <a:solidFill>
                  <a:schemeClr val="tx1"/>
                </a:solidFill>
              </a:rPr>
              <a:t>B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9786620" y="3886835"/>
            <a:ext cx="1475740" cy="1107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图灵机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计算机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rgbClr val="00B050"/>
                </a:solidFill>
              </a:rPr>
              <a:t>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定义了计算的可行性，一定意义上算是定义了通用语言（重点是定义了机器语言）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的能力边界（基于可计算性），可计算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可量化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可操作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表面上做到，不代表它自己真的具备了相关的里子，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后继的突破必须要脱离图灵机，才能突破局限性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rgbClr val="00B050"/>
                </a:solidFill>
              </a:rPr>
              <a:t>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定义了计算的可行性，一定意义上算是定义了通用语言（重点是定义了机器语言）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的能力边界（基于可计算性），可计算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可量化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可操作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表面上做到，不代表它自己真的具备了相关的里子，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后继的突破必须要脱离图灵机，才能突破局限性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类人智能：输入传感器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多模态语言处理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输出执行体；多模态语言处理是核心；受限图灵机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rgbClr val="00B050"/>
                </a:solidFill>
              </a:rPr>
              <a:t>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定义了计算的可行性，一定意义上算是定义了通用语言（重点是定义了机器语言）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的能力边界（基于可计算性），可计算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可量化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可操作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表面上做到，不代表它自己真的具备了相关的里子，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后继的突破必须要脱离图灵机，才能突破局限性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类人智能：输入传感器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多模态语言处理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输出执行体；多模态语言处理是核心；受限图灵机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多模态语言处理：不仅包含自然语言处理</a:t>
            </a:r>
            <a:r>
              <a:rPr lang="en-US" altLang="zh-CN" b="1">
                <a:solidFill>
                  <a:srgbClr val="00B050"/>
                </a:solidFill>
              </a:rPr>
              <a:t>(NLP)</a:t>
            </a:r>
            <a:r>
              <a:rPr lang="zh-CN" altLang="en-US" b="1">
                <a:solidFill>
                  <a:srgbClr val="00B050"/>
                </a:solidFill>
              </a:rPr>
              <a:t>，更是包含其他各类形式的语言（例如视觉语言）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2291080" y="2938145"/>
            <a:ext cx="7976870" cy="512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多模态语言处理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506345" y="3447415"/>
            <a:ext cx="7375525" cy="22517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多模态大语言模型</a:t>
            </a:r>
            <a:r>
              <a:rPr lang="en-US" altLang="zh-CN" b="1">
                <a:solidFill>
                  <a:schemeClr val="tx1"/>
                </a:solidFill>
              </a:rPr>
              <a:t>MLLM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基于</a:t>
            </a:r>
            <a:r>
              <a:rPr lang="en-US" altLang="zh-CN" sz="1600" b="1">
                <a:solidFill>
                  <a:schemeClr val="tx1"/>
                </a:solidFill>
              </a:rPr>
              <a:t>Transformer</a:t>
            </a:r>
            <a:r>
              <a:rPr lang="zh-CN" altLang="en-US" sz="1600" b="1">
                <a:solidFill>
                  <a:schemeClr val="tx1"/>
                </a:solidFill>
              </a:rPr>
              <a:t>框架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291080" y="612584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386830" y="612584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2858135" y="570547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rgbClr val="00B050"/>
                </a:solidFill>
              </a:rPr>
              <a:t>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定义了计算的可行性，一定意义上算是定义了通用语言（重点是定义了机器语言）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的能力边界（基于可计算性），可计算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可量化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可操作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表面上做到，不代表它自己真的具备了相关的里子，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后继的突破必须要脱离图灵机，才能突破局限性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类人智能：输入传感器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多模态语言处理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输出执行体；多模态语言处理是核心；受限图灵机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多模态语言处理：不仅包含自然语言处理</a:t>
            </a:r>
            <a:r>
              <a:rPr lang="en-US" altLang="zh-CN" b="1">
                <a:solidFill>
                  <a:srgbClr val="00B050"/>
                </a:solidFill>
              </a:rPr>
              <a:t>(NLP)</a:t>
            </a:r>
            <a:r>
              <a:rPr lang="zh-CN" altLang="en-US" b="1">
                <a:solidFill>
                  <a:srgbClr val="00B050"/>
                </a:solidFill>
              </a:rPr>
              <a:t>，更是包含其他各类形式的语言（例如视觉语言）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/>
          <p:nvPr/>
        </p:nvSpPr>
        <p:spPr>
          <a:xfrm>
            <a:off x="2291080" y="2938145"/>
            <a:ext cx="7976870" cy="512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多模态语言处理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关键原理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506345" y="3447415"/>
            <a:ext cx="7375525" cy="22517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多模态大语言模型</a:t>
            </a:r>
            <a:r>
              <a:rPr lang="en-US" altLang="zh-CN" b="1">
                <a:solidFill>
                  <a:schemeClr val="tx1"/>
                </a:solidFill>
              </a:rPr>
              <a:t>MLLM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基于</a:t>
            </a:r>
            <a:r>
              <a:rPr lang="en-US" altLang="zh-CN" sz="1600" b="1">
                <a:solidFill>
                  <a:schemeClr val="tx1"/>
                </a:solidFill>
              </a:rPr>
              <a:t>Transformer</a:t>
            </a:r>
            <a:r>
              <a:rPr lang="zh-CN" altLang="en-US" sz="1600" b="1">
                <a:solidFill>
                  <a:schemeClr val="tx1"/>
                </a:solidFill>
              </a:rPr>
              <a:t>框架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291080" y="6125845"/>
            <a:ext cx="409511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并行计算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57420" y="4460875"/>
            <a:ext cx="3286760" cy="8235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自注意力（模仿阅读谋局）</a:t>
            </a:r>
            <a:endParaRPr lang="zh-CN" altLang="en-US" sz="16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阅读与写作都基于阅读理解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并行扫描</a:t>
            </a:r>
            <a:r>
              <a:rPr lang="en-US" altLang="zh-CN" sz="1400" b="1">
                <a:solidFill>
                  <a:schemeClr val="tx1"/>
                </a:solidFill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全局关联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确定重点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386830" y="6125845"/>
            <a:ext cx="3881120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海量存储（主要是内存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智能卡内存）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2857500" y="404050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144260" y="404050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  <a:sym typeface="+mn-ea"/>
              </a:rPr>
              <a:t>解码器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2858135" y="5705475"/>
            <a:ext cx="6572885" cy="420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训练（训练模仿）与推理（简单推理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复杂推理）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772025" y="5285105"/>
            <a:ext cx="3286760" cy="420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前馈神经网络（模仿推理做事）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974090"/>
            <a:ext cx="11530965" cy="204660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rgbClr val="00B050"/>
                </a:solidFill>
              </a:rPr>
              <a:t>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定义了计算的可行性，一定意义上算是定义了通用语言（重点是定义了机器语言）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定义了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的能力边界（基于可计算性），可计算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可量化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可操作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表面上做到，不代表它自己真的具备了相关的里子，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后继的突破必须要脱离图灵机，才能突破局限性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类人智能：输入传感器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多模态语言处理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输出执行体；多模态语言处理是核心；受限图灵机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多模态语言处理：不仅包含自然语言处理</a:t>
            </a:r>
            <a:r>
              <a:rPr lang="en-US" altLang="zh-CN" b="1">
                <a:solidFill>
                  <a:srgbClr val="00B050"/>
                </a:solidFill>
              </a:rPr>
              <a:t>(NLP)</a:t>
            </a:r>
            <a:r>
              <a:rPr lang="zh-CN" altLang="en-US" b="1">
                <a:solidFill>
                  <a:srgbClr val="00B050"/>
                </a:solidFill>
              </a:rPr>
              <a:t>，更是包含其他各类形式的语言（例如视觉语言）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历史与现状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参考内容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35" y="1695450"/>
            <a:ext cx="11530965" cy="3609975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辅助：千问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豆包</a:t>
            </a:r>
            <a:r>
              <a:rPr lang="en-US" altLang="zh-CN" b="1">
                <a:solidFill>
                  <a:srgbClr val="00B050"/>
                </a:solidFill>
              </a:rPr>
              <a:t>+deepseek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科普：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电脑的硬件模型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电脑的软硬接口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电脑的软件模型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趋势与未来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1685"/>
            <a:ext cx="12081510" cy="60769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理论层面：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趋势与未来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1685"/>
            <a:ext cx="12081510" cy="60769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理论层面：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突破图灵机：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模拟计算机（不是在算答案，而是在模拟答案）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生物计算机（生物的生化反应来计算）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突触电阻器电路（不区分存储和计算，记忆和计算融为一体，类比大脑突触的处理方式）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图灵机新秀：量子计算机，三进制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编程语言：自然语言（人类语言）直接进行编程，无需翻译成其他编程语言。广义程序员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化：分布式系统融合（云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端）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深度绑定（全面绑定云边端各个位置）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</a:t>
            </a:r>
            <a:r>
              <a:rPr lang="en-US" altLang="zh-CN" b="1">
                <a:solidFill>
                  <a:srgbClr val="00B050"/>
                </a:solidFill>
              </a:rPr>
              <a:t>AI agent</a:t>
            </a:r>
            <a:r>
              <a:rPr lang="zh-CN" altLang="en-US" b="1">
                <a:solidFill>
                  <a:srgbClr val="00B050"/>
                </a:solidFill>
              </a:rPr>
              <a:t>（智能体），吴恩达目前主力宣传的内容。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界面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化：三维视图场景感知，机器人视觉感知；李飞飞目前主力宣传的内容。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趋势与未来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1685"/>
            <a:ext cx="12081510" cy="6076950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理论层面：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突破图灵机：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模拟计算机（不是在算答案，而是在模拟答案）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生物计算机（生物的生化反应来计算）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突触电阻器电路（不区分存储和计算，记忆和计算融为一体，类比大脑突触的处理方式）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图灵机新秀：量子计算机，三进制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编程语言：自然语言（人类语言）直接进行编程，无需翻译成其他编程语言。广义程序员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化：分布式系统融合（云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边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端）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深度绑定（全面绑定云边端各个位置）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</a:t>
            </a:r>
            <a:r>
              <a:rPr lang="en-US" altLang="zh-CN" b="1">
                <a:solidFill>
                  <a:srgbClr val="00B050"/>
                </a:solidFill>
              </a:rPr>
              <a:t>AI agent</a:t>
            </a:r>
            <a:r>
              <a:rPr lang="zh-CN" altLang="en-US" b="1">
                <a:solidFill>
                  <a:srgbClr val="00B050"/>
                </a:solidFill>
              </a:rPr>
              <a:t>（智能体），吴恩达目前主力宣传的内容。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界面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化：三维视图场景感知，机器人视觉感知；李飞飞目前主力宣传的内容。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实践层面：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328930" y="4081780"/>
          <a:ext cx="115227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1626870"/>
                <a:gridCol w="1886585"/>
                <a:gridCol w="1239520"/>
                <a:gridCol w="1184910"/>
                <a:gridCol w="1217295"/>
                <a:gridCol w="1844040"/>
                <a:gridCol w="17691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厂商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硬件核心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端核心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边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云核心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/>
                        <a:t>AI</a:t>
                      </a:r>
                      <a:r>
                        <a:rPr lang="zh-CN" altLang="en-US" sz="1600"/>
                        <a:t>落地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特色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生存环境</a:t>
                      </a:r>
                      <a:endParaRPr lang="zh-CN" altLang="en-US" sz="16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华为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昇腾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鲲鹏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鸿蒙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路由器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基站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欧拉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盘古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2B</a:t>
                      </a:r>
                      <a:endParaRPr lang="en-US" altLang="zh-CN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垂直闭环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各点齐全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国内力挺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国际限制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阿里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平头哥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AliOS(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车载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+IoT</a:t>
                      </a: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边缘网关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飞天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千问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2B2C</a:t>
                      </a:r>
                      <a:endParaRPr lang="en-US" altLang="zh-CN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横向生态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终端较弱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国内助力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国际竞争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谷歌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TPU/Axion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安卓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/Chrome/Fuchsia</a:t>
                      </a:r>
                      <a:endParaRPr lang="en-US" altLang="zh-CN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云网一体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GOOS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Gemini2B2C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理论最强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松散度高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国内受限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国际竞争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亚马逊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Trainium/Graviton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VegaOS/FireOS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  <a:sym typeface="+mn-ea"/>
                        </a:rPr>
                        <a:t>混合多样</a:t>
                      </a:r>
                      <a:endParaRPr lang="zh-CN" altLang="en-US" sz="140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亚马逊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Linux</a:t>
                      </a:r>
                      <a:endParaRPr lang="en-US" altLang="zh-CN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Nova2B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注重商业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技术偏弱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国内受限</a:t>
                      </a:r>
                      <a:r>
                        <a:rPr lang="en-US" altLang="zh-CN" sz="140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400">
                          <a:solidFill>
                            <a:schemeClr val="bg1"/>
                          </a:solidFill>
                        </a:rPr>
                        <a:t>国际竞争</a:t>
                      </a:r>
                      <a:endParaRPr lang="zh-CN" altLang="en-US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脚下与远方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690" y="1750695"/>
            <a:ext cx="1176782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研发人员：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普通用户：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脚下与远方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690" y="1750695"/>
            <a:ext cx="1176782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研发人员：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工作：尽可能使用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来辅助解决问题和编写程序，涉及到设计、编码和调试全阶段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学习：冷静理解各类流行名词，通过看科普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辅助，来明晰各类概念和意义，避免被误导，把握学习重点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核心：立足当下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明晰人与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的边界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相互紧密协作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定位前方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界面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</a:rPr>
              <a:t>编程语言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普通用户：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脚下与远方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690" y="1750695"/>
            <a:ext cx="1176782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研发人员：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工作：尽可能使用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来辅助解决问题和编写程序，涉及到设计、编码和调试全阶段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学习：冷静理解各类流行名词，通过看科普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辅助，来明晰各类概念和意义，避免被误导，把握学习重点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核心：立足当下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明晰人与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的边界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相互紧密协作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定位前方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界面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</a:rPr>
              <a:t>编程语言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普通用户：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ToB</a:t>
            </a:r>
            <a:r>
              <a:rPr lang="zh-CN" altLang="en-US" b="1">
                <a:solidFill>
                  <a:srgbClr val="00B050"/>
                </a:solidFill>
              </a:rPr>
              <a:t>：尽可能使用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来配合学习，查找资料，辅助办公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做</a:t>
            </a:r>
            <a:r>
              <a:rPr lang="en-US" altLang="zh-CN" b="1">
                <a:solidFill>
                  <a:srgbClr val="00B050"/>
                </a:solidFill>
              </a:rPr>
              <a:t>PPT/</a:t>
            </a:r>
            <a:r>
              <a:rPr lang="zh-CN" altLang="en-US" b="1">
                <a:solidFill>
                  <a:srgbClr val="00B050"/>
                </a:solidFill>
              </a:rPr>
              <a:t>文档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表格，分析表格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文字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图片内容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ToC</a:t>
            </a:r>
            <a:r>
              <a:rPr lang="zh-CN" altLang="en-US" b="1">
                <a:solidFill>
                  <a:srgbClr val="00B050"/>
                </a:solidFill>
              </a:rPr>
              <a:t>：越来越方便，越来越讨人喜欢；注意保护视力，管理好生活习惯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核心：立足当下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明晰人与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的边界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无需焦虑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；定位前方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成为广义程序员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更有效地使用</a:t>
            </a:r>
            <a:r>
              <a:rPr lang="en-US" altLang="zh-CN" b="1">
                <a:solidFill>
                  <a:srgbClr val="00B050"/>
                </a:solidFill>
              </a:rPr>
              <a:t>AI)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54991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关注</a:t>
            </a:r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发展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脚下与远方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690" y="1750695"/>
            <a:ext cx="1176782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研发人员：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工作：尽可能使用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来辅助解决问题和编写程序，涉及到设计、编码和调试全阶段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学习：冷静理解各类流行名词，通过看科普</a:t>
            </a:r>
            <a:r>
              <a:rPr lang="en-US" altLang="zh-CN" b="1">
                <a:solidFill>
                  <a:srgbClr val="00B050"/>
                </a:solidFill>
              </a:rPr>
              <a:t>+AI</a:t>
            </a:r>
            <a:r>
              <a:rPr lang="zh-CN" altLang="en-US" b="1">
                <a:solidFill>
                  <a:srgbClr val="00B050"/>
                </a:solidFill>
              </a:rPr>
              <a:t>辅助，来明晰各类概念和意义，避免被误导，把握学习重点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核心：立足当下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明晰人与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的边界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相互紧密协作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定位前方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应用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界面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r>
              <a:rPr lang="en-US" altLang="zh-CN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</a:rPr>
              <a:t>编程语言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普通用户：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ToB</a:t>
            </a:r>
            <a:r>
              <a:rPr lang="zh-CN" altLang="en-US" b="1">
                <a:solidFill>
                  <a:srgbClr val="00B050"/>
                </a:solidFill>
              </a:rPr>
              <a:t>：尽可能使用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来配合学习，查找资料，辅助办公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做</a:t>
            </a:r>
            <a:r>
              <a:rPr lang="en-US" altLang="zh-CN" b="1">
                <a:solidFill>
                  <a:srgbClr val="00B050"/>
                </a:solidFill>
              </a:rPr>
              <a:t>PPT/</a:t>
            </a:r>
            <a:r>
              <a:rPr lang="zh-CN" altLang="en-US" b="1">
                <a:solidFill>
                  <a:srgbClr val="00B050"/>
                </a:solidFill>
              </a:rPr>
              <a:t>文档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表格，分析表格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文字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图片内容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ToC</a:t>
            </a:r>
            <a:r>
              <a:rPr lang="zh-CN" altLang="en-US" b="1">
                <a:solidFill>
                  <a:srgbClr val="00B050"/>
                </a:solidFill>
              </a:rPr>
              <a:t>：越来越方便，越来越讨人喜欢；注意保护视力，管理好生活习惯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核心：立足当下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明晰人与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的边界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无需焦虑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；定位前方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成为广义程序员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更有效地使用</a:t>
            </a:r>
            <a:r>
              <a:rPr lang="en-US" altLang="zh-CN" b="1">
                <a:solidFill>
                  <a:srgbClr val="00B050"/>
                </a:solidFill>
              </a:rPr>
              <a:t>AI)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</a:t>
            </a:r>
            <a:r>
              <a:rPr lang="en-US" altLang="zh-CN" b="1">
                <a:solidFill>
                  <a:srgbClr val="00B050"/>
                </a:solidFill>
              </a:rPr>
              <a:t>AI/</a:t>
            </a:r>
            <a:r>
              <a:rPr lang="zh-CN" altLang="en-US" b="1">
                <a:solidFill>
                  <a:srgbClr val="00B050"/>
                </a:solidFill>
              </a:rPr>
              <a:t>程序员与职业规划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的价值产出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程序员看行业产业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程序员看社会治理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4275</Words>
  <Application>WPS Presentation</Application>
  <PresentationFormat>宽屏</PresentationFormat>
  <Paragraphs>454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关注IT发展</vt:lpstr>
      <vt:lpstr>关注IT发展-历史与现状-开发使用</vt:lpstr>
      <vt:lpstr>关注IT发展-历史与现状-开发使用</vt:lpstr>
      <vt:lpstr>关注IT发展-历史与现状-开发使用</vt:lpstr>
      <vt:lpstr>关注IT发展-历史与现状-开发使用</vt:lpstr>
      <vt:lpstr>关注IT发展-历史与现状-关键原理</vt:lpstr>
      <vt:lpstr>关注IT发展-历史与现状-关键原理</vt:lpstr>
      <vt:lpstr>关注IT发展-历史与现状-关键原理</vt:lpstr>
      <vt:lpstr>关注IT发展-历史与现状-关键原理</vt:lpstr>
      <vt:lpstr>关注IT发展-历史与现状-关键原理</vt:lpstr>
      <vt:lpstr>关注IT发展-历史与现状-关键原理</vt:lpstr>
      <vt:lpstr>关注IT发展-历史与现状-参考内容</vt:lpstr>
      <vt:lpstr>关注IT发展-趋势与未来</vt:lpstr>
      <vt:lpstr>关注IT发展-趋势与未来</vt:lpstr>
      <vt:lpstr>关注IT发展-趋势与未来</vt:lpstr>
      <vt:lpstr>关注IT发展-脚下与远方</vt:lpstr>
      <vt:lpstr>关注IT发展-脚下与远方</vt:lpstr>
      <vt:lpstr>关注IT发展-脚下与远方</vt:lpstr>
      <vt:lpstr>关注IT发展-脚下与远方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683</cp:revision>
  <dcterms:created xsi:type="dcterms:W3CDTF">2026-01-17T04:51:29Z</dcterms:created>
  <dcterms:modified xsi:type="dcterms:W3CDTF">2026-01-17T04:51:29Z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