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7"/>
  </p:notesMasterIdLst>
  <p:handoutMasterIdLst>
    <p:handoutMasterId r:id="rId28"/>
  </p:handoutMasterIdLst>
  <p:sldIdLst>
    <p:sldId id="257" r:id="rId3"/>
    <p:sldId id="470" r:id="rId4"/>
    <p:sldId id="507" r:id="rId5"/>
    <p:sldId id="506" r:id="rId6"/>
    <p:sldId id="505" r:id="rId7"/>
    <p:sldId id="504" r:id="rId8"/>
    <p:sldId id="498" r:id="rId9"/>
    <p:sldId id="509" r:id="rId10"/>
    <p:sldId id="508" r:id="rId11"/>
    <p:sldId id="501" r:id="rId12"/>
    <p:sldId id="513" r:id="rId13"/>
    <p:sldId id="511" r:id="rId14"/>
    <p:sldId id="510" r:id="rId15"/>
    <p:sldId id="502" r:id="rId16"/>
    <p:sldId id="519" r:id="rId17"/>
    <p:sldId id="518" r:id="rId18"/>
    <p:sldId id="517" r:id="rId19"/>
    <p:sldId id="516" r:id="rId20"/>
    <p:sldId id="515" r:id="rId21"/>
    <p:sldId id="514" r:id="rId22"/>
    <p:sldId id="503" r:id="rId23"/>
    <p:sldId id="522" r:id="rId24"/>
    <p:sldId id="521" r:id="rId25"/>
    <p:sldId id="520" r:id="rId26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28"/>
        <p:guide pos="37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" Target="slides/slide1.xml"/><Relationship Id="rId29" Type="http://schemas.openxmlformats.org/officeDocument/2006/relationships/presProps" Target="presProps.xml"/><Relationship Id="rId28" Type="http://schemas.openxmlformats.org/officeDocument/2006/relationships/handoutMaster" Target="handoutMasters/handoutMaster1.xml"/><Relationship Id="rId27" Type="http://schemas.openxmlformats.org/officeDocument/2006/relationships/notesMaster" Target="notesMasters/notesMaster1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Click to edit Master subtitle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8088" cy="811530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Click to edit Master text styles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直接连接符 7" hidden="1"/>
          <p:cNvCxnSpPr/>
          <p:nvPr userDrawn="1"/>
        </p:nvCxnSpPr>
        <p:spPr>
          <a:xfrm>
            <a:off x="742950" y="434340"/>
            <a:ext cx="0" cy="13912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1840" y="869315"/>
            <a:ext cx="10515600" cy="861695"/>
          </a:xfrm>
        </p:spPr>
        <p:txBody>
          <a:bodyPr/>
          <a:p>
            <a:pPr algn="ctr"/>
            <a:r>
              <a:rPr lang="zh-CN" altLang="en-US" sz="3600">
                <a:solidFill>
                  <a:srgbClr val="00B050"/>
                </a:solidFill>
              </a:rPr>
              <a:t>关注</a:t>
            </a:r>
            <a:r>
              <a:rPr lang="en-US" altLang="zh-CN" sz="3600">
                <a:solidFill>
                  <a:srgbClr val="00B050"/>
                </a:solidFill>
              </a:rPr>
              <a:t>IT</a:t>
            </a:r>
            <a:r>
              <a:rPr lang="zh-CN" altLang="en-US" sz="3600">
                <a:solidFill>
                  <a:srgbClr val="00B050"/>
                </a:solidFill>
              </a:rPr>
              <a:t>教育</a:t>
            </a:r>
            <a:endParaRPr lang="zh-CN" altLang="en-US" sz="3600">
              <a:solidFill>
                <a:srgbClr val="00B050"/>
              </a:solidFill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304800" y="2482850"/>
            <a:ext cx="10515600" cy="3220085"/>
          </a:xfrm>
        </p:spPr>
        <p:txBody>
          <a:bodyPr/>
          <a:p>
            <a:pPr marL="457200" lvl="1" indent="0" algn="ctr">
              <a:buNone/>
            </a:pPr>
            <a:endParaRPr lang="zh-CN" altLang="en-US" sz="800" b="1">
              <a:solidFill>
                <a:srgbClr val="00B050"/>
              </a:solidFill>
            </a:endParaRPr>
          </a:p>
          <a:p>
            <a:pPr lvl="1" algn="ctr"/>
            <a:r>
              <a:rPr lang="zh-CN" altLang="en-US" sz="2800" b="1">
                <a:solidFill>
                  <a:srgbClr val="00B050"/>
                </a:solidFill>
                <a:sym typeface="+mn-ea"/>
              </a:rPr>
              <a:t>定位定义</a:t>
            </a:r>
            <a:endParaRPr lang="zh-CN" altLang="en-US" sz="2800" b="1">
              <a:solidFill>
                <a:srgbClr val="00B050"/>
              </a:solidFill>
              <a:sym typeface="+mn-ea"/>
            </a:endParaRPr>
          </a:p>
          <a:p>
            <a:pPr lvl="1" algn="ctr"/>
            <a:r>
              <a:rPr lang="zh-CN" altLang="en-US" sz="2800" b="1">
                <a:solidFill>
                  <a:srgbClr val="00B050"/>
                </a:solidFill>
                <a:sym typeface="+mn-ea"/>
              </a:rPr>
              <a:t>基础体系</a:t>
            </a:r>
            <a:endParaRPr lang="zh-CN" altLang="en-US" sz="2800" b="1">
              <a:solidFill>
                <a:srgbClr val="00B050"/>
              </a:solidFill>
              <a:sym typeface="+mn-ea"/>
            </a:endParaRPr>
          </a:p>
          <a:p>
            <a:pPr lvl="1" algn="ctr"/>
            <a:r>
              <a:rPr lang="zh-CN" altLang="en-US" sz="2800" b="1">
                <a:solidFill>
                  <a:srgbClr val="00B050"/>
                </a:solidFill>
                <a:sym typeface="+mn-ea"/>
              </a:rPr>
              <a:t>现状描述</a:t>
            </a:r>
            <a:endParaRPr lang="zh-CN" altLang="en-US" sz="2800" b="1">
              <a:solidFill>
                <a:srgbClr val="00B050"/>
              </a:solidFill>
              <a:sym typeface="+mn-ea"/>
            </a:endParaRPr>
          </a:p>
          <a:p>
            <a:pPr lvl="1" algn="ctr"/>
            <a:r>
              <a:rPr lang="zh-CN" altLang="en-US" sz="2800" b="1">
                <a:solidFill>
                  <a:srgbClr val="00B050"/>
                </a:solidFill>
              </a:rPr>
              <a:t>发展趋势</a:t>
            </a:r>
            <a:endParaRPr lang="zh-CN" altLang="en-US" sz="2800" b="1">
              <a:solidFill>
                <a:srgbClr val="00B050"/>
              </a:solidFill>
            </a:endParaRPr>
          </a:p>
          <a:p>
            <a:pPr lvl="1" algn="ctr"/>
            <a:r>
              <a:rPr lang="zh-CN" altLang="en-US" sz="2800" b="1">
                <a:solidFill>
                  <a:srgbClr val="00B050"/>
                </a:solidFill>
              </a:rPr>
              <a:t>个人尝试</a:t>
            </a:r>
            <a:endParaRPr lang="zh-CN" altLang="en-US" sz="2800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59055"/>
            <a:ext cx="10613390" cy="67881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关注</a:t>
            </a:r>
            <a:r>
              <a:rPr lang="en-US" altLang="zh-CN">
                <a:solidFill>
                  <a:srgbClr val="00B050"/>
                </a:solidFill>
              </a:rPr>
              <a:t>IT</a:t>
            </a:r>
            <a:r>
              <a:rPr lang="zh-CN" altLang="en-US">
                <a:solidFill>
                  <a:srgbClr val="00B050"/>
                </a:solidFill>
              </a:rPr>
              <a:t>教育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定位定义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93115"/>
            <a:ext cx="12191365" cy="5930900"/>
          </a:xfrm>
        </p:spPr>
        <p:txBody>
          <a:bodyPr>
            <a:normAutofit lnSpcReduction="10000"/>
          </a:bodyPr>
          <a:p>
            <a:r>
              <a:rPr lang="zh-CN" altLang="en-US" b="1">
                <a:solidFill>
                  <a:srgbClr val="00B050"/>
                </a:solidFill>
              </a:rPr>
              <a:t>背景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en-US" altLang="zh-CN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  <a:sym typeface="+mn-ea"/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定义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场景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  <a:sym typeface="+mn-ea"/>
            </a:endParaRPr>
          </a:p>
          <a:p>
            <a:pPr lvl="1"/>
            <a:endParaRPr lang="zh-CN" altLang="en-US" b="1">
              <a:solidFill>
                <a:srgbClr val="00B050"/>
              </a:solidFill>
              <a:sym typeface="+mn-ea"/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参考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59055"/>
            <a:ext cx="10613390" cy="67881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关注</a:t>
            </a:r>
            <a:r>
              <a:rPr lang="en-US" altLang="zh-CN">
                <a:solidFill>
                  <a:srgbClr val="00B050"/>
                </a:solidFill>
              </a:rPr>
              <a:t>IT</a:t>
            </a:r>
            <a:r>
              <a:rPr lang="zh-CN" altLang="en-US">
                <a:solidFill>
                  <a:srgbClr val="00B050"/>
                </a:solidFill>
              </a:rPr>
              <a:t>教育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定位定义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93115"/>
            <a:ext cx="12191365" cy="5930900"/>
          </a:xfrm>
        </p:spPr>
        <p:txBody>
          <a:bodyPr>
            <a:normAutofit lnSpcReduction="10000"/>
          </a:bodyPr>
          <a:p>
            <a:r>
              <a:rPr lang="zh-CN" altLang="en-US" b="1">
                <a:solidFill>
                  <a:srgbClr val="00B050"/>
                </a:solidFill>
              </a:rPr>
              <a:t>背景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FF0000"/>
                </a:solidFill>
                <a:sym typeface="+mn-ea"/>
              </a:rPr>
              <a:t>严重误读：</a:t>
            </a:r>
            <a:r>
              <a:rPr lang="zh-CN" altLang="en-US" b="1">
                <a:solidFill>
                  <a:srgbClr val="00B050"/>
                </a:solidFill>
              </a:rPr>
              <a:t>”物竞天择，适者生存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”，核心是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‘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天择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’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的误读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(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理解成“弱肉强食，丛林法则”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)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FF0000"/>
                </a:solidFill>
                <a:sym typeface="+mn-ea"/>
              </a:rPr>
              <a:t>严重误读：</a:t>
            </a:r>
            <a:r>
              <a:rPr lang="zh-CN" altLang="en-US" b="1">
                <a:solidFill>
                  <a:srgbClr val="00B050"/>
                </a:solidFill>
              </a:rPr>
              <a:t>“弱肉强食，丛林法则”，大象犀牛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老虎狮子，弱肉强食只是个具体方法，远不能代表丛林法则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FF0000"/>
                </a:solidFill>
              </a:rPr>
              <a:t>误解意识：</a:t>
            </a:r>
            <a:r>
              <a:rPr lang="zh-CN" altLang="en-US" b="1">
                <a:solidFill>
                  <a:srgbClr val="00B050"/>
                </a:solidFill>
              </a:rPr>
              <a:t>意识属于物质，七情六欲属于物质，无需过度重视，说明不了实质问题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人与动物：本质区别是精神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善恶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选择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负责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，公共的精神内容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例如罪義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endParaRPr lang="en-US" altLang="zh-CN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  <a:sym typeface="+mn-ea"/>
              </a:rPr>
              <a:t>人两面性：人天然有局限性和求进性；人的局限性需要得到理解和尊重，人的求进性需要得到鼓励和引导</a:t>
            </a:r>
            <a:endParaRPr lang="zh-CN" altLang="en-US" b="1">
              <a:solidFill>
                <a:srgbClr val="00B050"/>
              </a:solidFill>
              <a:sym typeface="+mn-ea"/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价值产出：体现人两面性，人的一切行为活动，本质上都是价值产出活动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协作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作战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，正价值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负价值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人生意义：所有哲学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宗教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文明的共识：人之初，性本正；人离世时，物质无意义，精神有意义。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定义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场景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  <a:sym typeface="+mn-ea"/>
            </a:endParaRPr>
          </a:p>
          <a:p>
            <a:pPr lvl="1"/>
            <a:endParaRPr lang="zh-CN" altLang="en-US" b="1">
              <a:solidFill>
                <a:srgbClr val="00B050"/>
              </a:solidFill>
              <a:sym typeface="+mn-ea"/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参考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59055"/>
            <a:ext cx="10613390" cy="67881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关注</a:t>
            </a:r>
            <a:r>
              <a:rPr lang="en-US" altLang="zh-CN">
                <a:solidFill>
                  <a:srgbClr val="00B050"/>
                </a:solidFill>
              </a:rPr>
              <a:t>IT</a:t>
            </a:r>
            <a:r>
              <a:rPr lang="zh-CN" altLang="en-US">
                <a:solidFill>
                  <a:srgbClr val="00B050"/>
                </a:solidFill>
              </a:rPr>
              <a:t>教育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定位定义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93115"/>
            <a:ext cx="12191365" cy="5930900"/>
          </a:xfrm>
        </p:spPr>
        <p:txBody>
          <a:bodyPr>
            <a:normAutofit lnSpcReduction="10000"/>
          </a:bodyPr>
          <a:p>
            <a:r>
              <a:rPr lang="zh-CN" altLang="en-US" b="1">
                <a:solidFill>
                  <a:srgbClr val="00B050"/>
                </a:solidFill>
              </a:rPr>
              <a:t>背景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FF0000"/>
                </a:solidFill>
                <a:sym typeface="+mn-ea"/>
              </a:rPr>
              <a:t>严重误读：</a:t>
            </a:r>
            <a:r>
              <a:rPr lang="zh-CN" altLang="en-US" b="1">
                <a:solidFill>
                  <a:srgbClr val="00B050"/>
                </a:solidFill>
              </a:rPr>
              <a:t>”物竞天择，适者生存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”，核心是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‘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天择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’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的误读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(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理解成“弱肉强食，丛林法则”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)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FF0000"/>
                </a:solidFill>
                <a:sym typeface="+mn-ea"/>
              </a:rPr>
              <a:t>严重误读：</a:t>
            </a:r>
            <a:r>
              <a:rPr lang="zh-CN" altLang="en-US" b="1">
                <a:solidFill>
                  <a:srgbClr val="00B050"/>
                </a:solidFill>
              </a:rPr>
              <a:t>“弱肉强食，丛林法则”，大象犀牛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老虎狮子，弱肉强食只是个具体方法，远不能代表丛林法则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FF0000"/>
                </a:solidFill>
              </a:rPr>
              <a:t>误解意识：</a:t>
            </a:r>
            <a:r>
              <a:rPr lang="zh-CN" altLang="en-US" b="1">
                <a:solidFill>
                  <a:srgbClr val="00B050"/>
                </a:solidFill>
              </a:rPr>
              <a:t>意识属于物质，七情六欲属于物质，无需过度重视，说明不了实质问题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人与动物：本质区别是精神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善恶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选择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负责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，公共的精神内容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例如罪義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endParaRPr lang="en-US" altLang="zh-CN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  <a:sym typeface="+mn-ea"/>
              </a:rPr>
              <a:t>人两面性：人天然有局限性和求进性；人的局限性需要得到理解和尊重，人的求进性需要得到鼓励和引导</a:t>
            </a:r>
            <a:endParaRPr lang="zh-CN" altLang="en-US" b="1">
              <a:solidFill>
                <a:srgbClr val="00B050"/>
              </a:solidFill>
              <a:sym typeface="+mn-ea"/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价值产出：体现人两面性，人的一切行为活动，本质上都是价值产出活动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协作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作战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，正价值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负价值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人生意义：所有哲学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宗教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文明的共识：人之初，性本正；人离世时，物质无意义，精神有意义。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定义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广义教育：贯穿人的一生，是人整个生命历程中的生存、成长、修行、价值实现与精神提升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狭义教育：包括学校教育、IT专业教育等，只是广义教育的一个缩影和具体实践场景，一般来说涉及生存较多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en-US" altLang="zh-CN" b="1">
                <a:solidFill>
                  <a:srgbClr val="00B050"/>
                </a:solidFill>
              </a:rPr>
              <a:t>IT</a:t>
            </a:r>
            <a:r>
              <a:rPr lang="zh-CN" altLang="en-US" b="1">
                <a:solidFill>
                  <a:srgbClr val="00B050"/>
                </a:solidFill>
              </a:rPr>
              <a:t>教育：</a:t>
            </a:r>
            <a:r>
              <a:rPr lang="en-US" altLang="zh-CN" b="1">
                <a:solidFill>
                  <a:srgbClr val="00B050"/>
                </a:solidFill>
              </a:rPr>
              <a:t>   </a:t>
            </a:r>
            <a:r>
              <a:rPr lang="zh-CN" altLang="en-US" b="1">
                <a:solidFill>
                  <a:srgbClr val="00B050"/>
                </a:solidFill>
              </a:rPr>
              <a:t>基于</a:t>
            </a:r>
            <a:r>
              <a:rPr lang="en-US" altLang="zh-CN" b="1">
                <a:solidFill>
                  <a:srgbClr val="00B050"/>
                </a:solidFill>
              </a:rPr>
              <a:t>IT</a:t>
            </a:r>
            <a:r>
              <a:rPr lang="zh-CN" altLang="en-US" b="1">
                <a:solidFill>
                  <a:srgbClr val="00B050"/>
                </a:solidFill>
              </a:rPr>
              <a:t>行业的广义教育或狭义教育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场景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  <a:sym typeface="+mn-ea"/>
            </a:endParaRPr>
          </a:p>
          <a:p>
            <a:pPr lvl="1"/>
            <a:endParaRPr lang="zh-CN" altLang="en-US" b="1">
              <a:solidFill>
                <a:srgbClr val="00B050"/>
              </a:solidFill>
              <a:sym typeface="+mn-ea"/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参考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59055"/>
            <a:ext cx="10613390" cy="67881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关注</a:t>
            </a:r>
            <a:r>
              <a:rPr lang="en-US" altLang="zh-CN">
                <a:solidFill>
                  <a:srgbClr val="00B050"/>
                </a:solidFill>
              </a:rPr>
              <a:t>IT</a:t>
            </a:r>
            <a:r>
              <a:rPr lang="zh-CN" altLang="en-US">
                <a:solidFill>
                  <a:srgbClr val="00B050"/>
                </a:solidFill>
              </a:rPr>
              <a:t>教育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定位定义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93115"/>
            <a:ext cx="12191365" cy="5930900"/>
          </a:xfrm>
        </p:spPr>
        <p:txBody>
          <a:bodyPr>
            <a:normAutofit lnSpcReduction="10000"/>
          </a:bodyPr>
          <a:p>
            <a:r>
              <a:rPr lang="zh-CN" altLang="en-US" b="1">
                <a:solidFill>
                  <a:srgbClr val="00B050"/>
                </a:solidFill>
              </a:rPr>
              <a:t>背景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FF0000"/>
                </a:solidFill>
                <a:sym typeface="+mn-ea"/>
              </a:rPr>
              <a:t>严重误读：</a:t>
            </a:r>
            <a:r>
              <a:rPr lang="zh-CN" altLang="en-US" b="1">
                <a:solidFill>
                  <a:srgbClr val="00B050"/>
                </a:solidFill>
              </a:rPr>
              <a:t>”物竞天择，适者生存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”，核心是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‘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天择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’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的误读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(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理解成“弱肉强食，丛林法则”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)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FF0000"/>
                </a:solidFill>
                <a:sym typeface="+mn-ea"/>
              </a:rPr>
              <a:t>严重误读：</a:t>
            </a:r>
            <a:r>
              <a:rPr lang="zh-CN" altLang="en-US" b="1">
                <a:solidFill>
                  <a:srgbClr val="00B050"/>
                </a:solidFill>
              </a:rPr>
              <a:t>“弱肉强食，丛林法则”，大象犀牛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老虎狮子，弱肉强食只是个具体方法，远不能代表丛林法则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FF0000"/>
                </a:solidFill>
              </a:rPr>
              <a:t>误解意识：</a:t>
            </a:r>
            <a:r>
              <a:rPr lang="zh-CN" altLang="en-US" b="1">
                <a:solidFill>
                  <a:srgbClr val="00B050"/>
                </a:solidFill>
              </a:rPr>
              <a:t>意识属于物质，七情六欲属于物质，无需过度重视，说明不了实质问题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人与动物：本质区别是精神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善恶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选择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负责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，公共的精神内容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例如罪義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endParaRPr lang="en-US" altLang="zh-CN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  <a:sym typeface="+mn-ea"/>
              </a:rPr>
              <a:t>人两面性：人天然有局限性和求进性；人的局限性需要得到理解和尊重，人的求进性需要得到鼓励和引导</a:t>
            </a:r>
            <a:endParaRPr lang="zh-CN" altLang="en-US" b="1">
              <a:solidFill>
                <a:srgbClr val="00B050"/>
              </a:solidFill>
              <a:sym typeface="+mn-ea"/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价值产出：体现人两面性，人的一切行为活动，本质上都是价值产出活动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协作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作战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，正价值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负价值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人生意义：所有哲学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宗教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文明的共识：人之初，性本正；人离世时，物质无意义，精神有意义。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定义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广义教育：贯穿人的一生，是人整个生命历程中的生存、成长、修行、价值实现与精神提升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狭义教育：包括学校教育、IT专业教育等，只是广义教育的一个缩影和具体实践场景，一般来说涉及生存较多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en-US" altLang="zh-CN" b="1">
                <a:solidFill>
                  <a:srgbClr val="00B050"/>
                </a:solidFill>
              </a:rPr>
              <a:t>IT</a:t>
            </a:r>
            <a:r>
              <a:rPr lang="zh-CN" altLang="en-US" b="1">
                <a:solidFill>
                  <a:srgbClr val="00B050"/>
                </a:solidFill>
              </a:rPr>
              <a:t>教育：</a:t>
            </a:r>
            <a:r>
              <a:rPr lang="en-US" altLang="zh-CN" b="1">
                <a:solidFill>
                  <a:srgbClr val="00B050"/>
                </a:solidFill>
              </a:rPr>
              <a:t>   </a:t>
            </a:r>
            <a:r>
              <a:rPr lang="zh-CN" altLang="en-US" b="1">
                <a:solidFill>
                  <a:srgbClr val="00B050"/>
                </a:solidFill>
              </a:rPr>
              <a:t>基于</a:t>
            </a:r>
            <a:r>
              <a:rPr lang="en-US" altLang="zh-CN" b="1">
                <a:solidFill>
                  <a:srgbClr val="00B050"/>
                </a:solidFill>
              </a:rPr>
              <a:t>IT</a:t>
            </a:r>
            <a:r>
              <a:rPr lang="zh-CN" altLang="en-US" b="1">
                <a:solidFill>
                  <a:srgbClr val="00B050"/>
                </a:solidFill>
              </a:rPr>
              <a:t>行业的广义教育或狭义教育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场景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  <a:sym typeface="+mn-ea"/>
              </a:rPr>
              <a:t>学习：学生多样性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状态不同；面对不理想的现实环境，营造正向氛围，让每个学生都基于自身来逐步成长进步</a:t>
            </a:r>
            <a:endParaRPr lang="zh-CN" altLang="en-US" b="1">
              <a:solidFill>
                <a:srgbClr val="00B050"/>
              </a:solidFill>
              <a:sym typeface="+mn-ea"/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  <a:sym typeface="+mn-ea"/>
              </a:rPr>
              <a:t>工作：理解人性，坚守正向；理解投机的存在，但不参与；理解对抗的出现，但追求止戈为武；对外产出正价值</a:t>
            </a:r>
            <a:endParaRPr lang="zh-CN" altLang="en-US" b="1">
              <a:solidFill>
                <a:srgbClr val="00B050"/>
              </a:solidFill>
              <a:sym typeface="+mn-ea"/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  <a:sym typeface="+mn-ea"/>
              </a:rPr>
              <a:t>总结：理解人的两面性、多样性与动态变化性是核心；分析价值产出就是分析需求的本质，这是各类需求的源头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参考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59055"/>
            <a:ext cx="10613390" cy="67881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关注</a:t>
            </a:r>
            <a:r>
              <a:rPr lang="en-US" altLang="zh-CN">
                <a:solidFill>
                  <a:srgbClr val="00B050"/>
                </a:solidFill>
              </a:rPr>
              <a:t>IT</a:t>
            </a:r>
            <a:r>
              <a:rPr lang="zh-CN" altLang="en-US">
                <a:solidFill>
                  <a:srgbClr val="00B050"/>
                </a:solidFill>
              </a:rPr>
              <a:t>教育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定位定义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93115"/>
            <a:ext cx="12191365" cy="5930900"/>
          </a:xfrm>
        </p:spPr>
        <p:txBody>
          <a:bodyPr>
            <a:normAutofit lnSpcReduction="10000"/>
          </a:bodyPr>
          <a:p>
            <a:r>
              <a:rPr lang="zh-CN" altLang="en-US" b="1">
                <a:solidFill>
                  <a:srgbClr val="00B050"/>
                </a:solidFill>
              </a:rPr>
              <a:t>背景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FF0000"/>
                </a:solidFill>
                <a:sym typeface="+mn-ea"/>
              </a:rPr>
              <a:t>严重误读：</a:t>
            </a:r>
            <a:r>
              <a:rPr lang="zh-CN" altLang="en-US" b="1">
                <a:solidFill>
                  <a:srgbClr val="00B050"/>
                </a:solidFill>
              </a:rPr>
              <a:t>”物竞天择，适者生存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”，核心是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‘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天择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’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的误读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(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理解成“弱肉强食，丛林法则”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)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FF0000"/>
                </a:solidFill>
                <a:sym typeface="+mn-ea"/>
              </a:rPr>
              <a:t>严重误读：</a:t>
            </a:r>
            <a:r>
              <a:rPr lang="zh-CN" altLang="en-US" b="1">
                <a:solidFill>
                  <a:srgbClr val="00B050"/>
                </a:solidFill>
              </a:rPr>
              <a:t>“弱肉强食，丛林法则”，大象犀牛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老虎狮子，弱肉强食只是个具体方法，远不能代表丛林法则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FF0000"/>
                </a:solidFill>
              </a:rPr>
              <a:t>误解意识：</a:t>
            </a:r>
            <a:r>
              <a:rPr lang="zh-CN" altLang="en-US" b="1">
                <a:solidFill>
                  <a:srgbClr val="00B050"/>
                </a:solidFill>
              </a:rPr>
              <a:t>意识属于物质，七情六欲属于物质，无需过度重视，说明不了实质问题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人与动物：本质区别是精神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善恶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选择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负责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，公共的精神内容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例如罪義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endParaRPr lang="en-US" altLang="zh-CN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  <a:sym typeface="+mn-ea"/>
              </a:rPr>
              <a:t>人两面性：人天然有局限性和求进性；人的局限性需要得到理解和尊重，人的求进性需要得到鼓励和引导</a:t>
            </a:r>
            <a:endParaRPr lang="zh-CN" altLang="en-US" b="1">
              <a:solidFill>
                <a:srgbClr val="00B050"/>
              </a:solidFill>
              <a:sym typeface="+mn-ea"/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价值产出：体现人两面性，人的一切行为活动，本质上都是价值产出活动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协作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作战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，正价值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负价值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人生意义：所有哲学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宗教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文明的共识：人之初，性本正；人离世时，物质无意义，精神有意义。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定义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广义教育：贯穿人的一生，是人整个生命历程中的生存、成长、修行、价值实现与精神提升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狭义教育：包括学校教育、IT专业教育等，只是广义教育的一个缩影和具体实践场景，一般来说涉及生存较多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en-US" altLang="zh-CN" b="1">
                <a:solidFill>
                  <a:srgbClr val="00B050"/>
                </a:solidFill>
              </a:rPr>
              <a:t>IT</a:t>
            </a:r>
            <a:r>
              <a:rPr lang="zh-CN" altLang="en-US" b="1">
                <a:solidFill>
                  <a:srgbClr val="00B050"/>
                </a:solidFill>
              </a:rPr>
              <a:t>教育：</a:t>
            </a:r>
            <a:r>
              <a:rPr lang="en-US" altLang="zh-CN" b="1">
                <a:solidFill>
                  <a:srgbClr val="00B050"/>
                </a:solidFill>
              </a:rPr>
              <a:t>   </a:t>
            </a:r>
            <a:r>
              <a:rPr lang="zh-CN" altLang="en-US" b="1">
                <a:solidFill>
                  <a:srgbClr val="00B050"/>
                </a:solidFill>
              </a:rPr>
              <a:t>基于</a:t>
            </a:r>
            <a:r>
              <a:rPr lang="en-US" altLang="zh-CN" b="1">
                <a:solidFill>
                  <a:srgbClr val="00B050"/>
                </a:solidFill>
              </a:rPr>
              <a:t>IT</a:t>
            </a:r>
            <a:r>
              <a:rPr lang="zh-CN" altLang="en-US" b="1">
                <a:solidFill>
                  <a:srgbClr val="00B050"/>
                </a:solidFill>
              </a:rPr>
              <a:t>行业的广义教育或狭义教育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场景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  <a:sym typeface="+mn-ea"/>
              </a:rPr>
              <a:t>学习：学生多样性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状态不同；面对不理想的现实环境，营造正向氛围，让每个学生都基于自身来逐步成长进步</a:t>
            </a:r>
            <a:endParaRPr lang="zh-CN" altLang="en-US" b="1">
              <a:solidFill>
                <a:srgbClr val="00B050"/>
              </a:solidFill>
              <a:sym typeface="+mn-ea"/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  <a:sym typeface="+mn-ea"/>
              </a:rPr>
              <a:t>工作：理解人性，坚守正向；理解投机的存在，但不参与；理解对抗的出现，但追求止戈为武；对外产出正价值</a:t>
            </a:r>
            <a:endParaRPr lang="zh-CN" altLang="en-US" b="1">
              <a:solidFill>
                <a:srgbClr val="00B050"/>
              </a:solidFill>
              <a:sym typeface="+mn-ea"/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  <a:sym typeface="+mn-ea"/>
              </a:rPr>
              <a:t>总结：理解人的两面性、多样性与动态变化性是核心；分析价值产出就是分析需求的本质，这是各类需求的源头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参考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关注</a:t>
            </a:r>
            <a:r>
              <a:rPr lang="en-US" altLang="zh-CN" b="1">
                <a:solidFill>
                  <a:srgbClr val="00B050"/>
                </a:solidFill>
              </a:rPr>
              <a:t>IT</a:t>
            </a:r>
            <a:r>
              <a:rPr lang="zh-CN" altLang="en-US" b="1">
                <a:solidFill>
                  <a:srgbClr val="00B050"/>
                </a:solidFill>
              </a:rPr>
              <a:t>价值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理解软件工程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关注</a:t>
            </a:r>
            <a:r>
              <a:rPr lang="en-US" altLang="zh-CN" b="1">
                <a:solidFill>
                  <a:srgbClr val="00B050"/>
                </a:solidFill>
              </a:rPr>
              <a:t>IT</a:t>
            </a:r>
            <a:r>
              <a:rPr lang="zh-CN" altLang="en-US" b="1">
                <a:solidFill>
                  <a:srgbClr val="00B050"/>
                </a:solidFill>
              </a:rPr>
              <a:t>发展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学习黑客技能</a:t>
            </a:r>
            <a:r>
              <a:rPr lang="en-US" altLang="zh-CN" b="1">
                <a:solidFill>
                  <a:srgbClr val="00B050"/>
                </a:solidFill>
              </a:rPr>
              <a:t>/IT</a:t>
            </a:r>
            <a:r>
              <a:rPr lang="zh-CN" altLang="en-US" b="1">
                <a:solidFill>
                  <a:srgbClr val="00B050"/>
                </a:solidFill>
              </a:rPr>
              <a:t>地图导航</a:t>
            </a:r>
            <a:endParaRPr lang="zh-CN" altLang="en-US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113030"/>
            <a:ext cx="10613390" cy="71564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关注</a:t>
            </a:r>
            <a:r>
              <a:rPr lang="en-US" altLang="zh-CN">
                <a:solidFill>
                  <a:srgbClr val="00B050"/>
                </a:solidFill>
              </a:rPr>
              <a:t>IT</a:t>
            </a:r>
            <a:r>
              <a:rPr lang="zh-CN" altLang="en-US">
                <a:solidFill>
                  <a:srgbClr val="00B050"/>
                </a:solidFill>
              </a:rPr>
              <a:t>教育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基础体系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22" name="Rectangles 21"/>
          <p:cNvSpPr/>
          <p:nvPr/>
        </p:nvSpPr>
        <p:spPr>
          <a:xfrm>
            <a:off x="497840" y="5186680"/>
            <a:ext cx="5266055" cy="720725"/>
          </a:xfrm>
          <a:prstGeom prst="rect">
            <a:avLst/>
          </a:prstGeom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b="1">
                <a:solidFill>
                  <a:schemeClr val="tx1"/>
                </a:solidFill>
              </a:rPr>
              <a:t>立身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（实践）</a:t>
            </a:r>
            <a:endParaRPr lang="zh-CN" altLang="en-US" sz="1600" b="1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  <p:sp>
        <p:nvSpPr>
          <p:cNvPr id="3" name="Rectangles 2"/>
          <p:cNvSpPr/>
          <p:nvPr/>
        </p:nvSpPr>
        <p:spPr>
          <a:xfrm>
            <a:off x="5764530" y="5186680"/>
            <a:ext cx="2843530" cy="720725"/>
          </a:xfrm>
          <a:prstGeom prst="rect">
            <a:avLst/>
          </a:prstGeom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b="1">
                <a:solidFill>
                  <a:schemeClr val="tx1"/>
                </a:solidFill>
              </a:rPr>
              <a:t>启智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（理论）</a:t>
            </a:r>
            <a:endParaRPr lang="zh-CN" altLang="en-US" sz="1600" b="1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  <p:sp>
        <p:nvSpPr>
          <p:cNvPr id="4" name="Rectangles 3"/>
          <p:cNvSpPr/>
          <p:nvPr/>
        </p:nvSpPr>
        <p:spPr>
          <a:xfrm>
            <a:off x="8608695" y="5186680"/>
            <a:ext cx="1804035" cy="720725"/>
          </a:xfrm>
          <a:prstGeom prst="rect">
            <a:avLst/>
          </a:prstGeom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b="1">
                <a:solidFill>
                  <a:schemeClr val="tx1"/>
                </a:solidFill>
              </a:rPr>
              <a:t>明道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（精神）</a:t>
            </a:r>
            <a:endParaRPr lang="zh-CN" altLang="en-US" sz="1600" b="1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  <p:sp>
        <p:nvSpPr>
          <p:cNvPr id="17" name="Text Box 16"/>
          <p:cNvSpPr txBox="1"/>
          <p:nvPr/>
        </p:nvSpPr>
        <p:spPr>
          <a:xfrm>
            <a:off x="10626090" y="5206365"/>
            <a:ext cx="149034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chemeClr val="accent6"/>
                </a:solidFill>
              </a:rPr>
              <a:t>内容层</a:t>
            </a:r>
            <a:endParaRPr lang="zh-CN" altLang="en-US" sz="2000" b="1">
              <a:solidFill>
                <a:schemeClr val="accent6"/>
              </a:solidFill>
            </a:endParaRPr>
          </a:p>
        </p:txBody>
      </p:sp>
      <p:sp>
        <p:nvSpPr>
          <p:cNvPr id="16" name="Rectangles 15"/>
          <p:cNvSpPr/>
          <p:nvPr/>
        </p:nvSpPr>
        <p:spPr>
          <a:xfrm>
            <a:off x="497840" y="5036820"/>
            <a:ext cx="9915525" cy="14922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600" b="1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113030"/>
            <a:ext cx="10613390" cy="71564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关注</a:t>
            </a:r>
            <a:r>
              <a:rPr lang="en-US" altLang="zh-CN">
                <a:solidFill>
                  <a:srgbClr val="00B050"/>
                </a:solidFill>
              </a:rPr>
              <a:t>IT</a:t>
            </a:r>
            <a:r>
              <a:rPr lang="zh-CN" altLang="en-US">
                <a:solidFill>
                  <a:srgbClr val="00B050"/>
                </a:solidFill>
              </a:rPr>
              <a:t>教育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基础体系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22" name="Rectangles 21"/>
          <p:cNvSpPr/>
          <p:nvPr/>
        </p:nvSpPr>
        <p:spPr>
          <a:xfrm>
            <a:off x="497840" y="5186680"/>
            <a:ext cx="5266055" cy="720725"/>
          </a:xfrm>
          <a:prstGeom prst="rect">
            <a:avLst/>
          </a:prstGeom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b="1">
                <a:solidFill>
                  <a:schemeClr val="tx1"/>
                </a:solidFill>
              </a:rPr>
              <a:t>立身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（实践）</a:t>
            </a:r>
            <a:endParaRPr lang="zh-CN" altLang="en-US" sz="1600" b="1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  <p:sp>
        <p:nvSpPr>
          <p:cNvPr id="3" name="Rectangles 2"/>
          <p:cNvSpPr/>
          <p:nvPr/>
        </p:nvSpPr>
        <p:spPr>
          <a:xfrm>
            <a:off x="5764530" y="5186680"/>
            <a:ext cx="2843530" cy="720725"/>
          </a:xfrm>
          <a:prstGeom prst="rect">
            <a:avLst/>
          </a:prstGeom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b="1">
                <a:solidFill>
                  <a:schemeClr val="tx1"/>
                </a:solidFill>
              </a:rPr>
              <a:t>启智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（理论）</a:t>
            </a:r>
            <a:endParaRPr lang="zh-CN" altLang="en-US" sz="1600" b="1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  <p:sp>
        <p:nvSpPr>
          <p:cNvPr id="4" name="Rectangles 3"/>
          <p:cNvSpPr/>
          <p:nvPr/>
        </p:nvSpPr>
        <p:spPr>
          <a:xfrm>
            <a:off x="8608695" y="5186680"/>
            <a:ext cx="1804035" cy="720725"/>
          </a:xfrm>
          <a:prstGeom prst="rect">
            <a:avLst/>
          </a:prstGeom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b="1">
                <a:solidFill>
                  <a:schemeClr val="tx1"/>
                </a:solidFill>
              </a:rPr>
              <a:t>明道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（精神）</a:t>
            </a:r>
            <a:endParaRPr lang="zh-CN" altLang="en-US" sz="1600" b="1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  <p:sp>
        <p:nvSpPr>
          <p:cNvPr id="17" name="Text Box 16"/>
          <p:cNvSpPr txBox="1"/>
          <p:nvPr/>
        </p:nvSpPr>
        <p:spPr>
          <a:xfrm>
            <a:off x="10626090" y="5206365"/>
            <a:ext cx="149034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chemeClr val="accent6"/>
                </a:solidFill>
              </a:rPr>
              <a:t>内容层</a:t>
            </a:r>
            <a:endParaRPr lang="zh-CN" altLang="en-US" sz="2000" b="1">
              <a:solidFill>
                <a:schemeClr val="accent6"/>
              </a:solidFill>
            </a:endParaRPr>
          </a:p>
        </p:txBody>
      </p:sp>
      <p:sp>
        <p:nvSpPr>
          <p:cNvPr id="11" name="Rectangles 10"/>
          <p:cNvSpPr/>
          <p:nvPr/>
        </p:nvSpPr>
        <p:spPr>
          <a:xfrm>
            <a:off x="497205" y="3418840"/>
            <a:ext cx="3026410" cy="740410"/>
          </a:xfrm>
          <a:prstGeom prst="rect">
            <a:avLst/>
          </a:prstGeom>
          <a:ln w="25400"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义务培养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（通用）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" name="Rectangles 4"/>
          <p:cNvSpPr/>
          <p:nvPr/>
        </p:nvSpPr>
        <p:spPr>
          <a:xfrm>
            <a:off x="3523615" y="3427095"/>
            <a:ext cx="4482465" cy="740410"/>
          </a:xfrm>
          <a:prstGeom prst="rect">
            <a:avLst/>
          </a:prstGeom>
          <a:ln w="25400"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社会历练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（专用）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" name="Rectangles 5"/>
          <p:cNvSpPr/>
          <p:nvPr/>
        </p:nvSpPr>
        <p:spPr>
          <a:xfrm>
            <a:off x="8006080" y="3421380"/>
            <a:ext cx="2407285" cy="740410"/>
          </a:xfrm>
          <a:prstGeom prst="rect">
            <a:avLst/>
          </a:prstGeom>
          <a:ln w="25400"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科普</a:t>
            </a:r>
            <a:r>
              <a:rPr lang="en-US" altLang="zh-CN" b="1">
                <a:solidFill>
                  <a:schemeClr val="tx1"/>
                </a:solidFill>
              </a:rPr>
              <a:t>+AI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（辅助）</a:t>
            </a:r>
            <a:endParaRPr lang="en-US" altLang="zh-CN" sz="1600" b="1">
              <a:solidFill>
                <a:schemeClr val="tx1"/>
              </a:solidFill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10626090" y="3646170"/>
            <a:ext cx="149034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chemeClr val="accent6"/>
                </a:solidFill>
              </a:rPr>
              <a:t>行为层</a:t>
            </a:r>
            <a:endParaRPr lang="zh-CN" altLang="en-US" sz="2000" b="1">
              <a:solidFill>
                <a:schemeClr val="accent6"/>
              </a:solidFill>
            </a:endParaRPr>
          </a:p>
        </p:txBody>
      </p:sp>
      <p:sp>
        <p:nvSpPr>
          <p:cNvPr id="15" name="Rectangles 14"/>
          <p:cNvSpPr/>
          <p:nvPr/>
        </p:nvSpPr>
        <p:spPr>
          <a:xfrm>
            <a:off x="497840" y="3256915"/>
            <a:ext cx="9914890" cy="16446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6" name="Rectangles 15"/>
          <p:cNvSpPr/>
          <p:nvPr/>
        </p:nvSpPr>
        <p:spPr>
          <a:xfrm>
            <a:off x="497840" y="5036820"/>
            <a:ext cx="9915525" cy="14922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600" b="1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  <p:sp>
        <p:nvSpPr>
          <p:cNvPr id="27" name="Rectangles 26"/>
          <p:cNvSpPr/>
          <p:nvPr/>
        </p:nvSpPr>
        <p:spPr>
          <a:xfrm>
            <a:off x="497205" y="4172585"/>
            <a:ext cx="9914890" cy="15494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28" name="Straight Arrow Connector 27"/>
          <p:cNvCxnSpPr/>
          <p:nvPr/>
        </p:nvCxnSpPr>
        <p:spPr>
          <a:xfrm flipV="1">
            <a:off x="5670550" y="4346575"/>
            <a:ext cx="10795" cy="680085"/>
          </a:xfrm>
          <a:prstGeom prst="straightConnector1">
            <a:avLst/>
          </a:prstGeom>
          <a:ln w="41275">
            <a:solidFill>
              <a:schemeClr val="bg1">
                <a:lumMod val="85000"/>
                <a:alpha val="99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" name="Rectangles 25"/>
          <p:cNvSpPr/>
          <p:nvPr/>
        </p:nvSpPr>
        <p:spPr>
          <a:xfrm>
            <a:off x="497840" y="2366010"/>
            <a:ext cx="9914890" cy="193040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6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113030"/>
            <a:ext cx="10613390" cy="71564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关注</a:t>
            </a:r>
            <a:r>
              <a:rPr lang="en-US" altLang="zh-CN">
                <a:solidFill>
                  <a:srgbClr val="00B050"/>
                </a:solidFill>
              </a:rPr>
              <a:t>IT</a:t>
            </a:r>
            <a:r>
              <a:rPr lang="zh-CN" altLang="en-US">
                <a:solidFill>
                  <a:srgbClr val="00B050"/>
                </a:solidFill>
              </a:rPr>
              <a:t>教育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基础体系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22" name="Rectangles 21"/>
          <p:cNvSpPr/>
          <p:nvPr/>
        </p:nvSpPr>
        <p:spPr>
          <a:xfrm>
            <a:off x="497840" y="5186680"/>
            <a:ext cx="5266055" cy="720725"/>
          </a:xfrm>
          <a:prstGeom prst="rect">
            <a:avLst/>
          </a:prstGeom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b="1">
                <a:solidFill>
                  <a:schemeClr val="tx1"/>
                </a:solidFill>
              </a:rPr>
              <a:t>立身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（实践）</a:t>
            </a:r>
            <a:endParaRPr lang="zh-CN" altLang="en-US" sz="1600" b="1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  <p:sp>
        <p:nvSpPr>
          <p:cNvPr id="3" name="Rectangles 2"/>
          <p:cNvSpPr/>
          <p:nvPr/>
        </p:nvSpPr>
        <p:spPr>
          <a:xfrm>
            <a:off x="5764530" y="5186680"/>
            <a:ext cx="2843530" cy="720725"/>
          </a:xfrm>
          <a:prstGeom prst="rect">
            <a:avLst/>
          </a:prstGeom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b="1">
                <a:solidFill>
                  <a:schemeClr val="tx1"/>
                </a:solidFill>
              </a:rPr>
              <a:t>启智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（理论）</a:t>
            </a:r>
            <a:endParaRPr lang="zh-CN" altLang="en-US" sz="1600" b="1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  <p:sp>
        <p:nvSpPr>
          <p:cNvPr id="4" name="Rectangles 3"/>
          <p:cNvSpPr/>
          <p:nvPr/>
        </p:nvSpPr>
        <p:spPr>
          <a:xfrm>
            <a:off x="8608695" y="5186680"/>
            <a:ext cx="1804035" cy="720725"/>
          </a:xfrm>
          <a:prstGeom prst="rect">
            <a:avLst/>
          </a:prstGeom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b="1">
                <a:solidFill>
                  <a:schemeClr val="tx1"/>
                </a:solidFill>
              </a:rPr>
              <a:t>明道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（精神）</a:t>
            </a:r>
            <a:endParaRPr lang="zh-CN" altLang="en-US" sz="1600" b="1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  <p:sp>
        <p:nvSpPr>
          <p:cNvPr id="17" name="Text Box 16"/>
          <p:cNvSpPr txBox="1"/>
          <p:nvPr/>
        </p:nvSpPr>
        <p:spPr>
          <a:xfrm>
            <a:off x="10626090" y="5206365"/>
            <a:ext cx="149034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chemeClr val="accent6"/>
                </a:solidFill>
              </a:rPr>
              <a:t>内容层</a:t>
            </a:r>
            <a:endParaRPr lang="zh-CN" altLang="en-US" sz="2000" b="1">
              <a:solidFill>
                <a:schemeClr val="accent6"/>
              </a:solidFill>
            </a:endParaRPr>
          </a:p>
        </p:txBody>
      </p:sp>
      <p:sp>
        <p:nvSpPr>
          <p:cNvPr id="11" name="Rectangles 10"/>
          <p:cNvSpPr/>
          <p:nvPr/>
        </p:nvSpPr>
        <p:spPr>
          <a:xfrm>
            <a:off x="497205" y="3418840"/>
            <a:ext cx="3026410" cy="740410"/>
          </a:xfrm>
          <a:prstGeom prst="rect">
            <a:avLst/>
          </a:prstGeom>
          <a:ln w="25400"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义务培养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（通用）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" name="Rectangles 4"/>
          <p:cNvSpPr/>
          <p:nvPr/>
        </p:nvSpPr>
        <p:spPr>
          <a:xfrm>
            <a:off x="3523615" y="3427095"/>
            <a:ext cx="4482465" cy="740410"/>
          </a:xfrm>
          <a:prstGeom prst="rect">
            <a:avLst/>
          </a:prstGeom>
          <a:ln w="25400"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社会历练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（专用）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" name="Rectangles 5"/>
          <p:cNvSpPr/>
          <p:nvPr/>
        </p:nvSpPr>
        <p:spPr>
          <a:xfrm>
            <a:off x="8006080" y="3421380"/>
            <a:ext cx="2407285" cy="740410"/>
          </a:xfrm>
          <a:prstGeom prst="rect">
            <a:avLst/>
          </a:prstGeom>
          <a:ln w="25400"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科普</a:t>
            </a:r>
            <a:r>
              <a:rPr lang="en-US" altLang="zh-CN" b="1">
                <a:solidFill>
                  <a:schemeClr val="tx1"/>
                </a:solidFill>
              </a:rPr>
              <a:t>+AI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（辅助）</a:t>
            </a:r>
            <a:endParaRPr lang="en-US" altLang="zh-CN" sz="1600" b="1">
              <a:solidFill>
                <a:schemeClr val="tx1"/>
              </a:solidFill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10626090" y="3646170"/>
            <a:ext cx="149034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chemeClr val="accent6"/>
                </a:solidFill>
              </a:rPr>
              <a:t>行为层</a:t>
            </a:r>
            <a:endParaRPr lang="zh-CN" altLang="en-US" sz="2000" b="1">
              <a:solidFill>
                <a:schemeClr val="accent6"/>
              </a:solidFill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10626090" y="1971675"/>
            <a:ext cx="149034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chemeClr val="accent6"/>
                </a:solidFill>
              </a:rPr>
              <a:t>个体层</a:t>
            </a:r>
            <a:endParaRPr lang="zh-CN" altLang="en-US" sz="2000" b="1">
              <a:solidFill>
                <a:schemeClr val="accent6"/>
              </a:solidFill>
            </a:endParaRPr>
          </a:p>
        </p:txBody>
      </p:sp>
      <p:sp>
        <p:nvSpPr>
          <p:cNvPr id="49" name="Rectangles 48"/>
          <p:cNvSpPr/>
          <p:nvPr/>
        </p:nvSpPr>
        <p:spPr>
          <a:xfrm>
            <a:off x="497205" y="1590040"/>
            <a:ext cx="4181475" cy="784860"/>
          </a:xfrm>
          <a:prstGeom prst="rect">
            <a:avLst/>
          </a:prstGeom>
          <a:ln w="25400"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普通人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（</a:t>
            </a: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90%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）</a:t>
            </a:r>
            <a:endParaRPr lang="zh-CN" altLang="en-US" sz="16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  <p:sp>
        <p:nvSpPr>
          <p:cNvPr id="10" name="Rectangles 9"/>
          <p:cNvSpPr/>
          <p:nvPr/>
        </p:nvSpPr>
        <p:spPr>
          <a:xfrm>
            <a:off x="4678680" y="1592580"/>
            <a:ext cx="2646680" cy="782320"/>
          </a:xfrm>
          <a:prstGeom prst="rect">
            <a:avLst/>
          </a:prstGeom>
          <a:ln w="25400"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普通人才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（</a:t>
            </a: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9.9%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）</a:t>
            </a:r>
            <a:endParaRPr lang="zh-CN" altLang="en-US" sz="16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  <p:sp>
        <p:nvSpPr>
          <p:cNvPr id="13" name="Rectangles 12"/>
          <p:cNvSpPr/>
          <p:nvPr/>
        </p:nvSpPr>
        <p:spPr>
          <a:xfrm>
            <a:off x="7324725" y="1589405"/>
            <a:ext cx="1803400" cy="785495"/>
          </a:xfrm>
          <a:prstGeom prst="rect">
            <a:avLst/>
          </a:prstGeom>
          <a:ln w="25400"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创新型人才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（</a:t>
            </a: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0.099%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）</a:t>
            </a:r>
            <a:endParaRPr lang="zh-CN" altLang="en-US" sz="16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  <p:sp>
        <p:nvSpPr>
          <p:cNvPr id="14" name="Rectangles 13"/>
          <p:cNvSpPr/>
          <p:nvPr/>
        </p:nvSpPr>
        <p:spPr>
          <a:xfrm>
            <a:off x="9126855" y="1590040"/>
            <a:ext cx="1285875" cy="784860"/>
          </a:xfrm>
          <a:prstGeom prst="rect">
            <a:avLst/>
          </a:prstGeom>
          <a:ln w="25400"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引领者</a:t>
            </a:r>
            <a:r>
              <a:rPr lang="en-US" altLang="zh-CN" b="1">
                <a:solidFill>
                  <a:schemeClr val="tx1"/>
                </a:solidFill>
              </a:rPr>
              <a:t>’</a:t>
            </a:r>
            <a:r>
              <a:rPr lang="zh-CN" altLang="en-US" b="1">
                <a:solidFill>
                  <a:schemeClr val="tx1"/>
                </a:solidFill>
              </a:rPr>
              <a:t>家</a:t>
            </a:r>
            <a:r>
              <a:rPr lang="en-US" altLang="zh-CN" b="1">
                <a:solidFill>
                  <a:schemeClr val="tx1"/>
                </a:solidFill>
              </a:rPr>
              <a:t>’</a:t>
            </a:r>
            <a:endParaRPr lang="en-US" altLang="zh-CN" b="1">
              <a:solidFill>
                <a:schemeClr val="tx1"/>
              </a:solidFill>
            </a:endParaRPr>
          </a:p>
          <a:p>
            <a:pPr algn="ctr"/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（</a:t>
            </a: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0.001%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）</a:t>
            </a:r>
            <a:endParaRPr lang="en-US" altLang="zh-CN" sz="1600" b="1">
              <a:solidFill>
                <a:schemeClr val="tx1"/>
              </a:solidFill>
            </a:endParaRPr>
          </a:p>
        </p:txBody>
      </p:sp>
      <p:sp>
        <p:nvSpPr>
          <p:cNvPr id="15" name="Rectangles 14"/>
          <p:cNvSpPr/>
          <p:nvPr/>
        </p:nvSpPr>
        <p:spPr>
          <a:xfrm>
            <a:off x="497840" y="3256915"/>
            <a:ext cx="9914890" cy="16446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6" name="Rectangles 15"/>
          <p:cNvSpPr/>
          <p:nvPr/>
        </p:nvSpPr>
        <p:spPr>
          <a:xfrm>
            <a:off x="497840" y="5036820"/>
            <a:ext cx="9915525" cy="14922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600" b="1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  <p:cxnSp>
        <p:nvCxnSpPr>
          <p:cNvPr id="19" name="Straight Arrow Connector 18"/>
          <p:cNvCxnSpPr/>
          <p:nvPr/>
        </p:nvCxnSpPr>
        <p:spPr>
          <a:xfrm flipV="1">
            <a:off x="5674995" y="2578100"/>
            <a:ext cx="10795" cy="680085"/>
          </a:xfrm>
          <a:prstGeom prst="straightConnector1">
            <a:avLst/>
          </a:prstGeom>
          <a:ln w="44450">
            <a:solidFill>
              <a:schemeClr val="bg1">
                <a:lumMod val="85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s 26"/>
          <p:cNvSpPr/>
          <p:nvPr/>
        </p:nvSpPr>
        <p:spPr>
          <a:xfrm>
            <a:off x="497205" y="4172585"/>
            <a:ext cx="9914890" cy="15494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28" name="Straight Arrow Connector 27"/>
          <p:cNvCxnSpPr/>
          <p:nvPr/>
        </p:nvCxnSpPr>
        <p:spPr>
          <a:xfrm flipV="1">
            <a:off x="5670550" y="4346575"/>
            <a:ext cx="10795" cy="680085"/>
          </a:xfrm>
          <a:prstGeom prst="straightConnector1">
            <a:avLst/>
          </a:prstGeom>
          <a:ln w="41275">
            <a:solidFill>
              <a:schemeClr val="bg1">
                <a:lumMod val="85000"/>
                <a:alpha val="99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307340"/>
            <a:ext cx="10613390" cy="764540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关注</a:t>
            </a:r>
            <a:r>
              <a:rPr lang="en-US" altLang="zh-CN">
                <a:solidFill>
                  <a:srgbClr val="00B050"/>
                </a:solidFill>
              </a:rPr>
              <a:t>IT</a:t>
            </a:r>
            <a:r>
              <a:rPr lang="zh-CN" altLang="en-US">
                <a:solidFill>
                  <a:srgbClr val="00B050"/>
                </a:solidFill>
              </a:rPr>
              <a:t>教育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现状描述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351915"/>
            <a:ext cx="12191365" cy="5220970"/>
          </a:xfrm>
        </p:spPr>
        <p:txBody>
          <a:bodyPr>
            <a:normAutofit/>
          </a:bodyPr>
          <a:p>
            <a:r>
              <a:rPr lang="en-US" altLang="zh-CN" b="1">
                <a:solidFill>
                  <a:srgbClr val="00B050"/>
                </a:solidFill>
              </a:rPr>
              <a:t> </a:t>
            </a:r>
            <a:r>
              <a:rPr lang="zh-CN" altLang="en-US" b="1">
                <a:solidFill>
                  <a:srgbClr val="00B050"/>
                </a:solidFill>
              </a:rPr>
              <a:t>通用内容：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2"/>
            <a:endParaRPr lang="zh-CN" altLang="en-US" sz="1600" b="1">
              <a:solidFill>
                <a:srgbClr val="00B050"/>
              </a:solidFill>
            </a:endParaRPr>
          </a:p>
          <a:p>
            <a:pPr lvl="2"/>
            <a:endParaRPr lang="zh-CN" altLang="en-US" sz="1600" b="1">
              <a:solidFill>
                <a:srgbClr val="00B050"/>
              </a:solidFill>
            </a:endParaRPr>
          </a:p>
          <a:p>
            <a:pPr lvl="2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en-US" altLang="zh-CN" b="1">
                <a:solidFill>
                  <a:srgbClr val="00B050"/>
                </a:solidFill>
              </a:rPr>
              <a:t> </a:t>
            </a:r>
            <a:r>
              <a:rPr lang="zh-CN" altLang="en-US" b="1">
                <a:solidFill>
                  <a:srgbClr val="00B050"/>
                </a:solidFill>
              </a:rPr>
              <a:t>聚焦</a:t>
            </a:r>
            <a:r>
              <a:rPr lang="en-US" altLang="zh-CN" b="1">
                <a:solidFill>
                  <a:srgbClr val="00B050"/>
                </a:solidFill>
              </a:rPr>
              <a:t>IT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en-US" altLang="zh-CN" b="1">
                <a:solidFill>
                  <a:srgbClr val="00B050"/>
                </a:solidFill>
              </a:rPr>
              <a:t> </a:t>
            </a:r>
            <a:r>
              <a:rPr lang="zh-CN" altLang="en-US" b="1">
                <a:solidFill>
                  <a:srgbClr val="00B050"/>
                </a:solidFill>
              </a:rPr>
              <a:t>个人面对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307340"/>
            <a:ext cx="10613390" cy="764540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关注</a:t>
            </a:r>
            <a:r>
              <a:rPr lang="en-US" altLang="zh-CN">
                <a:solidFill>
                  <a:srgbClr val="00B050"/>
                </a:solidFill>
              </a:rPr>
              <a:t>IT</a:t>
            </a:r>
            <a:r>
              <a:rPr lang="zh-CN" altLang="en-US">
                <a:solidFill>
                  <a:srgbClr val="00B050"/>
                </a:solidFill>
              </a:rPr>
              <a:t>教育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现状描述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351915"/>
            <a:ext cx="12191365" cy="5220970"/>
          </a:xfrm>
        </p:spPr>
        <p:txBody>
          <a:bodyPr>
            <a:normAutofit/>
          </a:bodyPr>
          <a:p>
            <a:r>
              <a:rPr lang="en-US" altLang="zh-CN" b="1">
                <a:solidFill>
                  <a:srgbClr val="00B050"/>
                </a:solidFill>
              </a:rPr>
              <a:t> </a:t>
            </a:r>
            <a:r>
              <a:rPr lang="zh-CN" altLang="en-US" b="1">
                <a:solidFill>
                  <a:srgbClr val="00B050"/>
                </a:solidFill>
              </a:rPr>
              <a:t>通用内容：</a:t>
            </a:r>
            <a:r>
              <a:rPr lang="zh-CN" altLang="en-US" sz="1800" b="1">
                <a:solidFill>
                  <a:srgbClr val="00B050"/>
                </a:solidFill>
                <a:sym typeface="+mn-ea"/>
              </a:rPr>
              <a:t>战略要点</a:t>
            </a:r>
            <a:r>
              <a:rPr lang="en-US" altLang="zh-CN" sz="1800" b="1">
                <a:solidFill>
                  <a:srgbClr val="00B050"/>
                </a:solidFill>
                <a:sym typeface="+mn-ea"/>
              </a:rPr>
              <a:t>(</a:t>
            </a:r>
            <a:r>
              <a:rPr lang="zh-CN" altLang="en-US" sz="1800" b="1">
                <a:solidFill>
                  <a:srgbClr val="00B050"/>
                </a:solidFill>
                <a:sym typeface="+mn-ea"/>
              </a:rPr>
              <a:t>锚点</a:t>
            </a:r>
            <a:r>
              <a:rPr lang="en-US" altLang="zh-CN" sz="1800" b="1">
                <a:solidFill>
                  <a:srgbClr val="00B050"/>
                </a:solidFill>
                <a:sym typeface="+mn-ea"/>
              </a:rPr>
              <a:t>)</a:t>
            </a:r>
            <a:r>
              <a:rPr lang="zh-CN" altLang="en-US" sz="1800" b="1">
                <a:solidFill>
                  <a:srgbClr val="00B050"/>
                </a:solidFill>
                <a:sym typeface="+mn-ea"/>
              </a:rPr>
              <a:t>：要锚定人两面性，为正向价值启动的关键战略要点，破局转向的战略转折点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义务培养：</a:t>
            </a:r>
            <a:r>
              <a:rPr lang="zh-CN" altLang="en-US" sz="1600" b="1">
                <a:solidFill>
                  <a:srgbClr val="00B050"/>
                </a:solidFill>
              </a:rPr>
              <a:t>锚点为考试和未来预期</a:t>
            </a:r>
            <a:endParaRPr lang="zh-CN" altLang="en-US" b="1">
              <a:solidFill>
                <a:srgbClr val="00B050"/>
              </a:solidFill>
            </a:endParaRPr>
          </a:p>
          <a:p>
            <a:pPr lvl="2"/>
            <a:r>
              <a:rPr lang="zh-CN" altLang="en-US" sz="1600" b="1">
                <a:solidFill>
                  <a:srgbClr val="00B050"/>
                </a:solidFill>
              </a:rPr>
              <a:t>语数外：主科；语言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(</a:t>
            </a:r>
            <a:r>
              <a:rPr lang="zh-CN" altLang="en-US" sz="1600" b="1">
                <a:solidFill>
                  <a:srgbClr val="00B050"/>
                </a:solidFill>
              </a:rPr>
              <a:t>数学偏物理</a:t>
            </a:r>
            <a:r>
              <a:rPr lang="en-US" altLang="zh-CN" sz="1600" b="1">
                <a:solidFill>
                  <a:srgbClr val="00B050"/>
                </a:solidFill>
              </a:rPr>
              <a:t>)</a:t>
            </a:r>
            <a:r>
              <a:rPr lang="zh-CN" altLang="en-US" sz="1600" b="1">
                <a:solidFill>
                  <a:srgbClr val="00B050"/>
                </a:solidFill>
              </a:rPr>
              <a:t>，阅读吸收</a:t>
            </a:r>
            <a:r>
              <a:rPr lang="en-US" altLang="zh-CN" sz="1600" b="1">
                <a:solidFill>
                  <a:srgbClr val="00B050"/>
                </a:solidFill>
              </a:rPr>
              <a:t>(</a:t>
            </a:r>
            <a:r>
              <a:rPr lang="zh-CN" altLang="en-US" sz="1600" b="1">
                <a:solidFill>
                  <a:srgbClr val="00B050"/>
                </a:solidFill>
              </a:rPr>
              <a:t>速度</a:t>
            </a:r>
            <a:r>
              <a:rPr lang="en-US" altLang="zh-CN" sz="1600" b="1">
                <a:solidFill>
                  <a:srgbClr val="00B050"/>
                </a:solidFill>
              </a:rPr>
              <a:t>/</a:t>
            </a:r>
            <a:r>
              <a:rPr lang="zh-CN" altLang="en-US" sz="1600" b="1">
                <a:solidFill>
                  <a:srgbClr val="00B050"/>
                </a:solidFill>
              </a:rPr>
              <a:t>正确性</a:t>
            </a:r>
            <a:r>
              <a:rPr lang="en-US" altLang="zh-CN" sz="1600" b="1">
                <a:solidFill>
                  <a:srgbClr val="00B050"/>
                </a:solidFill>
              </a:rPr>
              <a:t>/</a:t>
            </a:r>
            <a:r>
              <a:rPr lang="zh-CN" altLang="en-US" sz="1600" b="1">
                <a:solidFill>
                  <a:srgbClr val="00B050"/>
                </a:solidFill>
              </a:rPr>
              <a:t>归纳整理</a:t>
            </a:r>
            <a:r>
              <a:rPr lang="en-US" altLang="zh-CN" sz="1600" b="1">
                <a:solidFill>
                  <a:srgbClr val="00B050"/>
                </a:solidFill>
              </a:rPr>
              <a:t>)+</a:t>
            </a:r>
            <a:r>
              <a:rPr lang="zh-CN" altLang="en-US" sz="1600" b="1">
                <a:solidFill>
                  <a:srgbClr val="00B050"/>
                </a:solidFill>
              </a:rPr>
              <a:t>对外表达</a:t>
            </a:r>
            <a:r>
              <a:rPr lang="en-US" altLang="zh-CN" sz="1600" b="1">
                <a:solidFill>
                  <a:srgbClr val="00B050"/>
                </a:solidFill>
              </a:rPr>
              <a:t>+</a:t>
            </a:r>
            <a:r>
              <a:rPr lang="zh-CN" altLang="en-US" sz="1600" b="1">
                <a:solidFill>
                  <a:srgbClr val="00B050"/>
                </a:solidFill>
              </a:rPr>
              <a:t>抽象处理；主体工具链</a:t>
            </a:r>
            <a:endParaRPr lang="zh-CN" altLang="en-US" sz="1600" b="1">
              <a:solidFill>
                <a:srgbClr val="00B050"/>
              </a:solidFill>
            </a:endParaRPr>
          </a:p>
          <a:p>
            <a:pPr lvl="2"/>
            <a:r>
              <a:rPr lang="zh-CN" altLang="en-US" sz="1600" b="1">
                <a:solidFill>
                  <a:srgbClr val="00B050"/>
                </a:solidFill>
              </a:rPr>
              <a:t>物化生：理科；物质，抽象建模</a:t>
            </a:r>
            <a:r>
              <a:rPr lang="en-US" altLang="zh-CN" sz="1600" b="1">
                <a:solidFill>
                  <a:srgbClr val="00B050"/>
                </a:solidFill>
              </a:rPr>
              <a:t>/</a:t>
            </a:r>
            <a:r>
              <a:rPr lang="zh-CN" altLang="en-US" sz="1600" b="1">
                <a:solidFill>
                  <a:srgbClr val="00B050"/>
                </a:solidFill>
              </a:rPr>
              <a:t>模型转换</a:t>
            </a:r>
            <a:r>
              <a:rPr lang="en-US" altLang="zh-CN" sz="1600" b="1">
                <a:solidFill>
                  <a:srgbClr val="00B050"/>
                </a:solidFill>
              </a:rPr>
              <a:t>/</a:t>
            </a:r>
            <a:r>
              <a:rPr lang="zh-CN" altLang="en-US" sz="1600" b="1">
                <a:solidFill>
                  <a:srgbClr val="00B050"/>
                </a:solidFill>
              </a:rPr>
              <a:t>语言表达</a:t>
            </a:r>
            <a:r>
              <a:rPr lang="en-US" altLang="zh-CN" sz="1600" b="1">
                <a:solidFill>
                  <a:srgbClr val="00B050"/>
                </a:solidFill>
              </a:rPr>
              <a:t>(</a:t>
            </a:r>
            <a:r>
              <a:rPr lang="zh-CN" altLang="en-US" sz="1600" b="1">
                <a:solidFill>
                  <a:srgbClr val="00B050"/>
                </a:solidFill>
              </a:rPr>
              <a:t>数学</a:t>
            </a:r>
            <a:r>
              <a:rPr lang="en-US" altLang="zh-CN" sz="1600" b="1">
                <a:solidFill>
                  <a:srgbClr val="00B050"/>
                </a:solidFill>
              </a:rPr>
              <a:t>/</a:t>
            </a:r>
            <a:r>
              <a:rPr lang="zh-CN" altLang="en-US" sz="1600" b="1">
                <a:solidFill>
                  <a:srgbClr val="00B050"/>
                </a:solidFill>
              </a:rPr>
              <a:t>人语</a:t>
            </a:r>
            <a:r>
              <a:rPr lang="en-US" altLang="zh-CN" sz="1600" b="1">
                <a:solidFill>
                  <a:srgbClr val="00B050"/>
                </a:solidFill>
              </a:rPr>
              <a:t>)</a:t>
            </a:r>
            <a:r>
              <a:rPr lang="zh-CN" altLang="en-US" sz="1600" b="1">
                <a:solidFill>
                  <a:srgbClr val="00B050"/>
                </a:solidFill>
              </a:rPr>
              <a:t>；物</a:t>
            </a:r>
            <a:r>
              <a:rPr lang="en-US" altLang="zh-CN" sz="1600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系统层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+</a:t>
            </a:r>
            <a:r>
              <a:rPr lang="zh-CN" altLang="en-US" sz="1600" b="1">
                <a:solidFill>
                  <a:srgbClr val="00B050"/>
                </a:solidFill>
              </a:rPr>
              <a:t>业务层通用平台</a:t>
            </a:r>
            <a:r>
              <a:rPr lang="en-US" altLang="zh-CN" sz="1600" b="1">
                <a:solidFill>
                  <a:srgbClr val="00B050"/>
                </a:solidFill>
              </a:rPr>
              <a:t>)/</a:t>
            </a:r>
            <a:r>
              <a:rPr lang="zh-CN" altLang="en-US" sz="1600" b="1">
                <a:solidFill>
                  <a:srgbClr val="00B050"/>
                </a:solidFill>
              </a:rPr>
              <a:t>化生</a:t>
            </a:r>
            <a:r>
              <a:rPr lang="en-US" altLang="zh-CN" sz="1600" b="1">
                <a:solidFill>
                  <a:srgbClr val="00B050"/>
                </a:solidFill>
              </a:rPr>
              <a:t>(</a:t>
            </a:r>
            <a:r>
              <a:rPr lang="zh-CN" altLang="en-US" sz="1600" b="1">
                <a:solidFill>
                  <a:srgbClr val="00B050"/>
                </a:solidFill>
              </a:rPr>
              <a:t>业务层专用平台</a:t>
            </a:r>
            <a:r>
              <a:rPr lang="en-US" altLang="zh-CN" sz="1600" b="1">
                <a:solidFill>
                  <a:srgbClr val="00B050"/>
                </a:solidFill>
              </a:rPr>
              <a:t>)</a:t>
            </a:r>
            <a:endParaRPr lang="zh-CN" altLang="en-US" sz="1600" b="1">
              <a:solidFill>
                <a:srgbClr val="00B050"/>
              </a:solidFill>
            </a:endParaRPr>
          </a:p>
          <a:p>
            <a:pPr lvl="2"/>
            <a:r>
              <a:rPr lang="zh-CN" altLang="en-US" sz="1600" b="1">
                <a:solidFill>
                  <a:srgbClr val="00B050"/>
                </a:solidFill>
              </a:rPr>
              <a:t>史地政：文科；精神</a:t>
            </a:r>
            <a:r>
              <a:rPr lang="en-US" altLang="zh-CN" sz="1600" b="1">
                <a:solidFill>
                  <a:srgbClr val="00B050"/>
                </a:solidFill>
              </a:rPr>
              <a:t>+</a:t>
            </a:r>
            <a:r>
              <a:rPr lang="zh-CN" altLang="en-US" sz="1600" b="1">
                <a:solidFill>
                  <a:srgbClr val="00B050"/>
                </a:solidFill>
              </a:rPr>
              <a:t>物质，物质基础</a:t>
            </a:r>
            <a:r>
              <a:rPr lang="en-US" altLang="zh-CN" sz="1600" b="1">
                <a:solidFill>
                  <a:srgbClr val="00B050"/>
                </a:solidFill>
              </a:rPr>
              <a:t>+</a:t>
            </a:r>
            <a:r>
              <a:rPr lang="zh-CN" altLang="en-US" sz="1600" b="1">
                <a:solidFill>
                  <a:srgbClr val="00B050"/>
                </a:solidFill>
              </a:rPr>
              <a:t>精神</a:t>
            </a:r>
            <a:r>
              <a:rPr lang="en-US" altLang="zh-CN" sz="1600" b="1">
                <a:solidFill>
                  <a:srgbClr val="00B050"/>
                </a:solidFill>
              </a:rPr>
              <a:t>(</a:t>
            </a:r>
            <a:r>
              <a:rPr lang="zh-CN" altLang="en-US" sz="1600" b="1">
                <a:solidFill>
                  <a:srgbClr val="00B050"/>
                </a:solidFill>
              </a:rPr>
              <a:t>时间</a:t>
            </a:r>
            <a:r>
              <a:rPr lang="en-US" altLang="zh-CN" sz="1600" b="1">
                <a:solidFill>
                  <a:srgbClr val="00B050"/>
                </a:solidFill>
              </a:rPr>
              <a:t>)+</a:t>
            </a:r>
            <a:r>
              <a:rPr lang="zh-CN" altLang="en-US" sz="1600" b="1">
                <a:solidFill>
                  <a:srgbClr val="00B050"/>
                </a:solidFill>
              </a:rPr>
              <a:t>精神</a:t>
            </a:r>
            <a:r>
              <a:rPr lang="en-US" altLang="zh-CN" sz="1600" b="1">
                <a:solidFill>
                  <a:srgbClr val="00B050"/>
                </a:solidFill>
              </a:rPr>
              <a:t>(</a:t>
            </a:r>
            <a:r>
              <a:rPr lang="zh-CN" altLang="en-US" sz="1600" b="1">
                <a:solidFill>
                  <a:srgbClr val="00B050"/>
                </a:solidFill>
              </a:rPr>
              <a:t>空间</a:t>
            </a:r>
            <a:r>
              <a:rPr lang="en-US" altLang="zh-CN" sz="1600" b="1">
                <a:solidFill>
                  <a:srgbClr val="00B050"/>
                </a:solidFill>
              </a:rPr>
              <a:t>)</a:t>
            </a:r>
            <a:r>
              <a:rPr lang="zh-CN" altLang="en-US" sz="1600" b="1">
                <a:solidFill>
                  <a:srgbClr val="00B050"/>
                </a:solidFill>
              </a:rPr>
              <a:t>；地理</a:t>
            </a:r>
            <a:r>
              <a:rPr lang="en-US" altLang="zh-CN" sz="1600" b="1">
                <a:solidFill>
                  <a:srgbClr val="00B050"/>
                </a:solidFill>
              </a:rPr>
              <a:t>(</a:t>
            </a:r>
            <a:r>
              <a:rPr lang="zh-CN" altLang="en-US" sz="1600" b="1">
                <a:solidFill>
                  <a:srgbClr val="00B050"/>
                </a:solidFill>
              </a:rPr>
              <a:t>偏物质</a:t>
            </a:r>
            <a:r>
              <a:rPr lang="en-US" altLang="zh-CN" sz="1600" b="1">
                <a:solidFill>
                  <a:srgbClr val="00B050"/>
                </a:solidFill>
              </a:rPr>
              <a:t>)/</a:t>
            </a:r>
            <a:r>
              <a:rPr lang="zh-CN" altLang="en-US" sz="1600" b="1">
                <a:solidFill>
                  <a:srgbClr val="00B050"/>
                </a:solidFill>
              </a:rPr>
              <a:t>历史</a:t>
            </a:r>
            <a:r>
              <a:rPr lang="en-US" altLang="zh-CN" sz="1600" b="1">
                <a:solidFill>
                  <a:srgbClr val="00B050"/>
                </a:solidFill>
              </a:rPr>
              <a:t>(</a:t>
            </a:r>
            <a:r>
              <a:rPr lang="zh-CN" altLang="en-US" sz="1600" b="1">
                <a:solidFill>
                  <a:srgbClr val="00B050"/>
                </a:solidFill>
              </a:rPr>
              <a:t>时间</a:t>
            </a:r>
            <a:r>
              <a:rPr lang="en-US" altLang="zh-CN" sz="1600" b="1">
                <a:solidFill>
                  <a:srgbClr val="00B050"/>
                </a:solidFill>
              </a:rPr>
              <a:t>+</a:t>
            </a:r>
            <a:r>
              <a:rPr lang="zh-CN" altLang="en-US" sz="1600" b="1">
                <a:solidFill>
                  <a:srgbClr val="00B050"/>
                </a:solidFill>
              </a:rPr>
              <a:t>空间</a:t>
            </a:r>
            <a:r>
              <a:rPr lang="en-US" altLang="zh-CN" sz="1600" b="1">
                <a:solidFill>
                  <a:srgbClr val="00B050"/>
                </a:solidFill>
              </a:rPr>
              <a:t>)/</a:t>
            </a:r>
            <a:r>
              <a:rPr lang="zh-CN" altLang="en-US" sz="1600" b="1">
                <a:solidFill>
                  <a:srgbClr val="00B050"/>
                </a:solidFill>
              </a:rPr>
              <a:t>政治</a:t>
            </a:r>
            <a:r>
              <a:rPr lang="en-US" altLang="zh-CN" sz="1600" b="1">
                <a:solidFill>
                  <a:srgbClr val="00B050"/>
                </a:solidFill>
              </a:rPr>
              <a:t>(</a:t>
            </a:r>
            <a:r>
              <a:rPr lang="zh-CN" altLang="en-US" sz="1600" b="1">
                <a:solidFill>
                  <a:srgbClr val="00B050"/>
                </a:solidFill>
              </a:rPr>
              <a:t>空间</a:t>
            </a:r>
            <a:r>
              <a:rPr lang="en-US" altLang="zh-CN" sz="1600" b="1">
                <a:solidFill>
                  <a:srgbClr val="00B050"/>
                </a:solidFill>
              </a:rPr>
              <a:t>)</a:t>
            </a:r>
            <a:r>
              <a:rPr lang="zh-CN" altLang="en-US" sz="1600" b="1">
                <a:solidFill>
                  <a:srgbClr val="00B050"/>
                </a:solidFill>
              </a:rPr>
              <a:t>；基础层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社会历练：实习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工作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生活，教育迭代递归，伴随一生；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应用层为主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其他层为辅；</a:t>
            </a:r>
            <a:r>
              <a:rPr lang="zh-CN" altLang="en-US" b="1">
                <a:solidFill>
                  <a:srgbClr val="00B050"/>
                </a:solidFill>
              </a:rPr>
              <a:t>锚点为生存和精神追求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科普</a:t>
            </a:r>
            <a:r>
              <a:rPr lang="en-US" altLang="zh-CN" b="1">
                <a:solidFill>
                  <a:srgbClr val="00B050"/>
                </a:solidFill>
              </a:rPr>
              <a:t>+AI</a:t>
            </a:r>
            <a:r>
              <a:rPr lang="zh-CN" altLang="en-US" b="1">
                <a:solidFill>
                  <a:srgbClr val="00B050"/>
                </a:solidFill>
              </a:rPr>
              <a:t>：</a:t>
            </a:r>
            <a:r>
              <a:rPr lang="en-US" altLang="zh-CN" b="1">
                <a:solidFill>
                  <a:srgbClr val="00B050"/>
                </a:solidFill>
              </a:rPr>
              <a:t>AI</a:t>
            </a:r>
            <a:r>
              <a:rPr lang="zh-CN" altLang="en-US" b="1">
                <a:solidFill>
                  <a:srgbClr val="00B050"/>
                </a:solidFill>
              </a:rPr>
              <a:t>作为工具辅助作用明显，科普正逐步兴起，二者都有两面性；辅助工具链；锚点为合规和价值产出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en-US" altLang="zh-CN" b="1">
                <a:solidFill>
                  <a:srgbClr val="00B050"/>
                </a:solidFill>
              </a:rPr>
              <a:t> </a:t>
            </a:r>
            <a:r>
              <a:rPr lang="zh-CN" altLang="en-US" b="1">
                <a:solidFill>
                  <a:srgbClr val="00B050"/>
                </a:solidFill>
              </a:rPr>
              <a:t>聚焦</a:t>
            </a:r>
            <a:r>
              <a:rPr lang="en-US" altLang="zh-CN" b="1">
                <a:solidFill>
                  <a:srgbClr val="00B050"/>
                </a:solidFill>
              </a:rPr>
              <a:t>IT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en-US" altLang="zh-CN" b="1">
                <a:solidFill>
                  <a:srgbClr val="00B050"/>
                </a:solidFill>
              </a:rPr>
              <a:t> </a:t>
            </a:r>
            <a:r>
              <a:rPr lang="zh-CN" altLang="en-US" b="1">
                <a:solidFill>
                  <a:srgbClr val="00B050"/>
                </a:solidFill>
              </a:rPr>
              <a:t>个人面对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307340"/>
            <a:ext cx="10613390" cy="764540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关注</a:t>
            </a:r>
            <a:r>
              <a:rPr lang="en-US" altLang="zh-CN">
                <a:solidFill>
                  <a:srgbClr val="00B050"/>
                </a:solidFill>
              </a:rPr>
              <a:t>IT</a:t>
            </a:r>
            <a:r>
              <a:rPr lang="zh-CN" altLang="en-US">
                <a:solidFill>
                  <a:srgbClr val="00B050"/>
                </a:solidFill>
              </a:rPr>
              <a:t>教育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现状描述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351915"/>
            <a:ext cx="12191365" cy="5220970"/>
          </a:xfrm>
        </p:spPr>
        <p:txBody>
          <a:bodyPr>
            <a:normAutofit/>
          </a:bodyPr>
          <a:p>
            <a:r>
              <a:rPr lang="en-US" altLang="zh-CN" b="1">
                <a:solidFill>
                  <a:srgbClr val="00B050"/>
                </a:solidFill>
              </a:rPr>
              <a:t> </a:t>
            </a:r>
            <a:r>
              <a:rPr lang="zh-CN" altLang="en-US" b="1">
                <a:solidFill>
                  <a:srgbClr val="00B050"/>
                </a:solidFill>
              </a:rPr>
              <a:t>通用内容：</a:t>
            </a:r>
            <a:r>
              <a:rPr lang="zh-CN" altLang="en-US" sz="1800" b="1">
                <a:solidFill>
                  <a:srgbClr val="00B050"/>
                </a:solidFill>
                <a:sym typeface="+mn-ea"/>
              </a:rPr>
              <a:t>战略要点</a:t>
            </a:r>
            <a:r>
              <a:rPr lang="en-US" altLang="zh-CN" sz="1800" b="1">
                <a:solidFill>
                  <a:srgbClr val="00B050"/>
                </a:solidFill>
                <a:sym typeface="+mn-ea"/>
              </a:rPr>
              <a:t>(</a:t>
            </a:r>
            <a:r>
              <a:rPr lang="zh-CN" altLang="en-US" sz="1800" b="1">
                <a:solidFill>
                  <a:srgbClr val="00B050"/>
                </a:solidFill>
                <a:sym typeface="+mn-ea"/>
              </a:rPr>
              <a:t>锚点</a:t>
            </a:r>
            <a:r>
              <a:rPr lang="en-US" altLang="zh-CN" sz="1800" b="1">
                <a:solidFill>
                  <a:srgbClr val="00B050"/>
                </a:solidFill>
                <a:sym typeface="+mn-ea"/>
              </a:rPr>
              <a:t>)</a:t>
            </a:r>
            <a:r>
              <a:rPr lang="zh-CN" altLang="en-US" sz="1800" b="1">
                <a:solidFill>
                  <a:srgbClr val="00B050"/>
                </a:solidFill>
                <a:sym typeface="+mn-ea"/>
              </a:rPr>
              <a:t>：要锚定人两面性，为正向价值启动的关键战略要点，破局转向的战略转折点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义务培养：</a:t>
            </a:r>
            <a:r>
              <a:rPr lang="zh-CN" altLang="en-US" sz="1600" b="1">
                <a:solidFill>
                  <a:srgbClr val="00B050"/>
                </a:solidFill>
              </a:rPr>
              <a:t>锚点为考试和未来预期</a:t>
            </a:r>
            <a:endParaRPr lang="zh-CN" altLang="en-US" b="1">
              <a:solidFill>
                <a:srgbClr val="00B050"/>
              </a:solidFill>
            </a:endParaRPr>
          </a:p>
          <a:p>
            <a:pPr lvl="2"/>
            <a:r>
              <a:rPr lang="zh-CN" altLang="en-US" sz="1600" b="1">
                <a:solidFill>
                  <a:srgbClr val="00B050"/>
                </a:solidFill>
              </a:rPr>
              <a:t>语数外：主科；语言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(</a:t>
            </a:r>
            <a:r>
              <a:rPr lang="zh-CN" altLang="en-US" sz="1600" b="1">
                <a:solidFill>
                  <a:srgbClr val="00B050"/>
                </a:solidFill>
              </a:rPr>
              <a:t>数学偏物理</a:t>
            </a:r>
            <a:r>
              <a:rPr lang="en-US" altLang="zh-CN" sz="1600" b="1">
                <a:solidFill>
                  <a:srgbClr val="00B050"/>
                </a:solidFill>
              </a:rPr>
              <a:t>)</a:t>
            </a:r>
            <a:r>
              <a:rPr lang="zh-CN" altLang="en-US" sz="1600" b="1">
                <a:solidFill>
                  <a:srgbClr val="00B050"/>
                </a:solidFill>
              </a:rPr>
              <a:t>，阅读吸收</a:t>
            </a:r>
            <a:r>
              <a:rPr lang="en-US" altLang="zh-CN" sz="1600" b="1">
                <a:solidFill>
                  <a:srgbClr val="00B050"/>
                </a:solidFill>
              </a:rPr>
              <a:t>(</a:t>
            </a:r>
            <a:r>
              <a:rPr lang="zh-CN" altLang="en-US" sz="1600" b="1">
                <a:solidFill>
                  <a:srgbClr val="00B050"/>
                </a:solidFill>
              </a:rPr>
              <a:t>速度</a:t>
            </a:r>
            <a:r>
              <a:rPr lang="en-US" altLang="zh-CN" sz="1600" b="1">
                <a:solidFill>
                  <a:srgbClr val="00B050"/>
                </a:solidFill>
              </a:rPr>
              <a:t>/</a:t>
            </a:r>
            <a:r>
              <a:rPr lang="zh-CN" altLang="en-US" sz="1600" b="1">
                <a:solidFill>
                  <a:srgbClr val="00B050"/>
                </a:solidFill>
              </a:rPr>
              <a:t>正确性</a:t>
            </a:r>
            <a:r>
              <a:rPr lang="en-US" altLang="zh-CN" sz="1600" b="1">
                <a:solidFill>
                  <a:srgbClr val="00B050"/>
                </a:solidFill>
              </a:rPr>
              <a:t>/</a:t>
            </a:r>
            <a:r>
              <a:rPr lang="zh-CN" altLang="en-US" sz="1600" b="1">
                <a:solidFill>
                  <a:srgbClr val="00B050"/>
                </a:solidFill>
              </a:rPr>
              <a:t>归纳整理</a:t>
            </a:r>
            <a:r>
              <a:rPr lang="en-US" altLang="zh-CN" sz="1600" b="1">
                <a:solidFill>
                  <a:srgbClr val="00B050"/>
                </a:solidFill>
              </a:rPr>
              <a:t>)+</a:t>
            </a:r>
            <a:r>
              <a:rPr lang="zh-CN" altLang="en-US" sz="1600" b="1">
                <a:solidFill>
                  <a:srgbClr val="00B050"/>
                </a:solidFill>
              </a:rPr>
              <a:t>对外表达</a:t>
            </a:r>
            <a:r>
              <a:rPr lang="en-US" altLang="zh-CN" sz="1600" b="1">
                <a:solidFill>
                  <a:srgbClr val="00B050"/>
                </a:solidFill>
              </a:rPr>
              <a:t>+</a:t>
            </a:r>
            <a:r>
              <a:rPr lang="zh-CN" altLang="en-US" sz="1600" b="1">
                <a:solidFill>
                  <a:srgbClr val="00B050"/>
                </a:solidFill>
              </a:rPr>
              <a:t>抽象处理；主体工具链</a:t>
            </a:r>
            <a:endParaRPr lang="zh-CN" altLang="en-US" sz="1600" b="1">
              <a:solidFill>
                <a:srgbClr val="00B050"/>
              </a:solidFill>
            </a:endParaRPr>
          </a:p>
          <a:p>
            <a:pPr lvl="2"/>
            <a:r>
              <a:rPr lang="zh-CN" altLang="en-US" sz="1600" b="1">
                <a:solidFill>
                  <a:srgbClr val="00B050"/>
                </a:solidFill>
              </a:rPr>
              <a:t>物化生：理科；物质，抽象建模</a:t>
            </a:r>
            <a:r>
              <a:rPr lang="en-US" altLang="zh-CN" sz="1600" b="1">
                <a:solidFill>
                  <a:srgbClr val="00B050"/>
                </a:solidFill>
              </a:rPr>
              <a:t>/</a:t>
            </a:r>
            <a:r>
              <a:rPr lang="zh-CN" altLang="en-US" sz="1600" b="1">
                <a:solidFill>
                  <a:srgbClr val="00B050"/>
                </a:solidFill>
              </a:rPr>
              <a:t>模型转换</a:t>
            </a:r>
            <a:r>
              <a:rPr lang="en-US" altLang="zh-CN" sz="1600" b="1">
                <a:solidFill>
                  <a:srgbClr val="00B050"/>
                </a:solidFill>
              </a:rPr>
              <a:t>/</a:t>
            </a:r>
            <a:r>
              <a:rPr lang="zh-CN" altLang="en-US" sz="1600" b="1">
                <a:solidFill>
                  <a:srgbClr val="00B050"/>
                </a:solidFill>
              </a:rPr>
              <a:t>语言表达</a:t>
            </a:r>
            <a:r>
              <a:rPr lang="en-US" altLang="zh-CN" sz="1600" b="1">
                <a:solidFill>
                  <a:srgbClr val="00B050"/>
                </a:solidFill>
              </a:rPr>
              <a:t>(</a:t>
            </a:r>
            <a:r>
              <a:rPr lang="zh-CN" altLang="en-US" sz="1600" b="1">
                <a:solidFill>
                  <a:srgbClr val="00B050"/>
                </a:solidFill>
              </a:rPr>
              <a:t>数学</a:t>
            </a:r>
            <a:r>
              <a:rPr lang="en-US" altLang="zh-CN" sz="1600" b="1">
                <a:solidFill>
                  <a:srgbClr val="00B050"/>
                </a:solidFill>
              </a:rPr>
              <a:t>/</a:t>
            </a:r>
            <a:r>
              <a:rPr lang="zh-CN" altLang="en-US" sz="1600" b="1">
                <a:solidFill>
                  <a:srgbClr val="00B050"/>
                </a:solidFill>
              </a:rPr>
              <a:t>人语</a:t>
            </a:r>
            <a:r>
              <a:rPr lang="en-US" altLang="zh-CN" sz="1600" b="1">
                <a:solidFill>
                  <a:srgbClr val="00B050"/>
                </a:solidFill>
              </a:rPr>
              <a:t>)</a:t>
            </a:r>
            <a:r>
              <a:rPr lang="zh-CN" altLang="en-US" sz="1600" b="1">
                <a:solidFill>
                  <a:srgbClr val="00B050"/>
                </a:solidFill>
              </a:rPr>
              <a:t>；物</a:t>
            </a:r>
            <a:r>
              <a:rPr lang="en-US" altLang="zh-CN" sz="1600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系统层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+</a:t>
            </a:r>
            <a:r>
              <a:rPr lang="zh-CN" altLang="en-US" sz="1600" b="1">
                <a:solidFill>
                  <a:srgbClr val="00B050"/>
                </a:solidFill>
              </a:rPr>
              <a:t>业务层通用平台</a:t>
            </a:r>
            <a:r>
              <a:rPr lang="en-US" altLang="zh-CN" sz="1600" b="1">
                <a:solidFill>
                  <a:srgbClr val="00B050"/>
                </a:solidFill>
              </a:rPr>
              <a:t>)/</a:t>
            </a:r>
            <a:r>
              <a:rPr lang="zh-CN" altLang="en-US" sz="1600" b="1">
                <a:solidFill>
                  <a:srgbClr val="00B050"/>
                </a:solidFill>
              </a:rPr>
              <a:t>化生</a:t>
            </a:r>
            <a:r>
              <a:rPr lang="en-US" altLang="zh-CN" sz="1600" b="1">
                <a:solidFill>
                  <a:srgbClr val="00B050"/>
                </a:solidFill>
              </a:rPr>
              <a:t>(</a:t>
            </a:r>
            <a:r>
              <a:rPr lang="zh-CN" altLang="en-US" sz="1600" b="1">
                <a:solidFill>
                  <a:srgbClr val="00B050"/>
                </a:solidFill>
              </a:rPr>
              <a:t>业务层专用平台</a:t>
            </a:r>
            <a:r>
              <a:rPr lang="en-US" altLang="zh-CN" sz="1600" b="1">
                <a:solidFill>
                  <a:srgbClr val="00B050"/>
                </a:solidFill>
              </a:rPr>
              <a:t>)</a:t>
            </a:r>
            <a:endParaRPr lang="zh-CN" altLang="en-US" sz="1600" b="1">
              <a:solidFill>
                <a:srgbClr val="00B050"/>
              </a:solidFill>
            </a:endParaRPr>
          </a:p>
          <a:p>
            <a:pPr lvl="2"/>
            <a:r>
              <a:rPr lang="zh-CN" altLang="en-US" sz="1600" b="1">
                <a:solidFill>
                  <a:srgbClr val="00B050"/>
                </a:solidFill>
              </a:rPr>
              <a:t>史地政：文科；精神</a:t>
            </a:r>
            <a:r>
              <a:rPr lang="en-US" altLang="zh-CN" sz="1600" b="1">
                <a:solidFill>
                  <a:srgbClr val="00B050"/>
                </a:solidFill>
              </a:rPr>
              <a:t>+</a:t>
            </a:r>
            <a:r>
              <a:rPr lang="zh-CN" altLang="en-US" sz="1600" b="1">
                <a:solidFill>
                  <a:srgbClr val="00B050"/>
                </a:solidFill>
              </a:rPr>
              <a:t>物质，物质基础</a:t>
            </a:r>
            <a:r>
              <a:rPr lang="en-US" altLang="zh-CN" sz="1600" b="1">
                <a:solidFill>
                  <a:srgbClr val="00B050"/>
                </a:solidFill>
              </a:rPr>
              <a:t>+</a:t>
            </a:r>
            <a:r>
              <a:rPr lang="zh-CN" altLang="en-US" sz="1600" b="1">
                <a:solidFill>
                  <a:srgbClr val="00B050"/>
                </a:solidFill>
              </a:rPr>
              <a:t>精神</a:t>
            </a:r>
            <a:r>
              <a:rPr lang="en-US" altLang="zh-CN" sz="1600" b="1">
                <a:solidFill>
                  <a:srgbClr val="00B050"/>
                </a:solidFill>
              </a:rPr>
              <a:t>(</a:t>
            </a:r>
            <a:r>
              <a:rPr lang="zh-CN" altLang="en-US" sz="1600" b="1">
                <a:solidFill>
                  <a:srgbClr val="00B050"/>
                </a:solidFill>
              </a:rPr>
              <a:t>时间</a:t>
            </a:r>
            <a:r>
              <a:rPr lang="en-US" altLang="zh-CN" sz="1600" b="1">
                <a:solidFill>
                  <a:srgbClr val="00B050"/>
                </a:solidFill>
              </a:rPr>
              <a:t>)+</a:t>
            </a:r>
            <a:r>
              <a:rPr lang="zh-CN" altLang="en-US" sz="1600" b="1">
                <a:solidFill>
                  <a:srgbClr val="00B050"/>
                </a:solidFill>
              </a:rPr>
              <a:t>精神</a:t>
            </a:r>
            <a:r>
              <a:rPr lang="en-US" altLang="zh-CN" sz="1600" b="1">
                <a:solidFill>
                  <a:srgbClr val="00B050"/>
                </a:solidFill>
              </a:rPr>
              <a:t>(</a:t>
            </a:r>
            <a:r>
              <a:rPr lang="zh-CN" altLang="en-US" sz="1600" b="1">
                <a:solidFill>
                  <a:srgbClr val="00B050"/>
                </a:solidFill>
              </a:rPr>
              <a:t>空间</a:t>
            </a:r>
            <a:r>
              <a:rPr lang="en-US" altLang="zh-CN" sz="1600" b="1">
                <a:solidFill>
                  <a:srgbClr val="00B050"/>
                </a:solidFill>
              </a:rPr>
              <a:t>)</a:t>
            </a:r>
            <a:r>
              <a:rPr lang="zh-CN" altLang="en-US" sz="1600" b="1">
                <a:solidFill>
                  <a:srgbClr val="00B050"/>
                </a:solidFill>
              </a:rPr>
              <a:t>；地理</a:t>
            </a:r>
            <a:r>
              <a:rPr lang="en-US" altLang="zh-CN" sz="1600" b="1">
                <a:solidFill>
                  <a:srgbClr val="00B050"/>
                </a:solidFill>
              </a:rPr>
              <a:t>(</a:t>
            </a:r>
            <a:r>
              <a:rPr lang="zh-CN" altLang="en-US" sz="1600" b="1">
                <a:solidFill>
                  <a:srgbClr val="00B050"/>
                </a:solidFill>
              </a:rPr>
              <a:t>偏物质</a:t>
            </a:r>
            <a:r>
              <a:rPr lang="en-US" altLang="zh-CN" sz="1600" b="1">
                <a:solidFill>
                  <a:srgbClr val="00B050"/>
                </a:solidFill>
              </a:rPr>
              <a:t>)/</a:t>
            </a:r>
            <a:r>
              <a:rPr lang="zh-CN" altLang="en-US" sz="1600" b="1">
                <a:solidFill>
                  <a:srgbClr val="00B050"/>
                </a:solidFill>
              </a:rPr>
              <a:t>历史</a:t>
            </a:r>
            <a:r>
              <a:rPr lang="en-US" altLang="zh-CN" sz="1600" b="1">
                <a:solidFill>
                  <a:srgbClr val="00B050"/>
                </a:solidFill>
              </a:rPr>
              <a:t>(</a:t>
            </a:r>
            <a:r>
              <a:rPr lang="zh-CN" altLang="en-US" sz="1600" b="1">
                <a:solidFill>
                  <a:srgbClr val="00B050"/>
                </a:solidFill>
              </a:rPr>
              <a:t>时间</a:t>
            </a:r>
            <a:r>
              <a:rPr lang="en-US" altLang="zh-CN" sz="1600" b="1">
                <a:solidFill>
                  <a:srgbClr val="00B050"/>
                </a:solidFill>
              </a:rPr>
              <a:t>+</a:t>
            </a:r>
            <a:r>
              <a:rPr lang="zh-CN" altLang="en-US" sz="1600" b="1">
                <a:solidFill>
                  <a:srgbClr val="00B050"/>
                </a:solidFill>
              </a:rPr>
              <a:t>空间</a:t>
            </a:r>
            <a:r>
              <a:rPr lang="en-US" altLang="zh-CN" sz="1600" b="1">
                <a:solidFill>
                  <a:srgbClr val="00B050"/>
                </a:solidFill>
              </a:rPr>
              <a:t>)/</a:t>
            </a:r>
            <a:r>
              <a:rPr lang="zh-CN" altLang="en-US" sz="1600" b="1">
                <a:solidFill>
                  <a:srgbClr val="00B050"/>
                </a:solidFill>
              </a:rPr>
              <a:t>政治</a:t>
            </a:r>
            <a:r>
              <a:rPr lang="en-US" altLang="zh-CN" sz="1600" b="1">
                <a:solidFill>
                  <a:srgbClr val="00B050"/>
                </a:solidFill>
              </a:rPr>
              <a:t>(</a:t>
            </a:r>
            <a:r>
              <a:rPr lang="zh-CN" altLang="en-US" sz="1600" b="1">
                <a:solidFill>
                  <a:srgbClr val="00B050"/>
                </a:solidFill>
              </a:rPr>
              <a:t>空间</a:t>
            </a:r>
            <a:r>
              <a:rPr lang="en-US" altLang="zh-CN" sz="1600" b="1">
                <a:solidFill>
                  <a:srgbClr val="00B050"/>
                </a:solidFill>
              </a:rPr>
              <a:t>)</a:t>
            </a:r>
            <a:r>
              <a:rPr lang="zh-CN" altLang="en-US" sz="1600" b="1">
                <a:solidFill>
                  <a:srgbClr val="00B050"/>
                </a:solidFill>
              </a:rPr>
              <a:t>；基础层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社会历练：实习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工作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生活，教育迭代递归，伴随一生；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应用层为主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其他层为辅；</a:t>
            </a:r>
            <a:r>
              <a:rPr lang="zh-CN" altLang="en-US" b="1">
                <a:solidFill>
                  <a:srgbClr val="00B050"/>
                </a:solidFill>
              </a:rPr>
              <a:t>锚点为生存和精神追求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科普</a:t>
            </a:r>
            <a:r>
              <a:rPr lang="en-US" altLang="zh-CN" b="1">
                <a:solidFill>
                  <a:srgbClr val="00B050"/>
                </a:solidFill>
              </a:rPr>
              <a:t>+AI</a:t>
            </a:r>
            <a:r>
              <a:rPr lang="zh-CN" altLang="en-US" b="1">
                <a:solidFill>
                  <a:srgbClr val="00B050"/>
                </a:solidFill>
              </a:rPr>
              <a:t>：</a:t>
            </a:r>
            <a:r>
              <a:rPr lang="en-US" altLang="zh-CN" b="1">
                <a:solidFill>
                  <a:srgbClr val="00B050"/>
                </a:solidFill>
              </a:rPr>
              <a:t>AI</a:t>
            </a:r>
            <a:r>
              <a:rPr lang="zh-CN" altLang="en-US" b="1">
                <a:solidFill>
                  <a:srgbClr val="00B050"/>
                </a:solidFill>
              </a:rPr>
              <a:t>作为工具辅助作用明显，科普正逐步兴起，二者都有两面性；辅助工具链；锚点为合规和价值产出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en-US" altLang="zh-CN" b="1">
                <a:solidFill>
                  <a:srgbClr val="00B050"/>
                </a:solidFill>
              </a:rPr>
              <a:t> </a:t>
            </a:r>
            <a:r>
              <a:rPr lang="zh-CN" altLang="en-US" b="1">
                <a:solidFill>
                  <a:srgbClr val="00B050"/>
                </a:solidFill>
              </a:rPr>
              <a:t>聚焦</a:t>
            </a:r>
            <a:r>
              <a:rPr lang="en-US" altLang="zh-CN" b="1">
                <a:solidFill>
                  <a:srgbClr val="00B050"/>
                </a:solidFill>
              </a:rPr>
              <a:t>IT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义务培养：理论地位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与语数外对等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，实践局限性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中小学逐步普及，但视力和学生自控力是核心问题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社会历练：学习效率高，实践性极强，涉及面很广；教育迭代递归正规化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流程化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科普</a:t>
            </a:r>
            <a:r>
              <a:rPr lang="en-US" altLang="zh-CN" b="1">
                <a:solidFill>
                  <a:srgbClr val="00B050"/>
                </a:solidFill>
              </a:rPr>
              <a:t>+AI</a:t>
            </a:r>
            <a:r>
              <a:rPr lang="zh-CN" altLang="en-US" b="1">
                <a:solidFill>
                  <a:srgbClr val="00B050"/>
                </a:solidFill>
              </a:rPr>
              <a:t>：</a:t>
            </a:r>
            <a:r>
              <a:rPr lang="en-US" altLang="zh-CN" b="1">
                <a:solidFill>
                  <a:srgbClr val="00B050"/>
                </a:solidFill>
              </a:rPr>
              <a:t>AI</a:t>
            </a:r>
            <a:r>
              <a:rPr lang="zh-CN" altLang="en-US" b="1">
                <a:solidFill>
                  <a:srgbClr val="00B050"/>
                </a:solidFill>
              </a:rPr>
              <a:t>深度辅助融合，是</a:t>
            </a:r>
            <a:r>
              <a:rPr lang="en-US" altLang="zh-CN" b="1">
                <a:solidFill>
                  <a:srgbClr val="00B050"/>
                </a:solidFill>
              </a:rPr>
              <a:t>AI</a:t>
            </a:r>
            <a:r>
              <a:rPr lang="zh-CN" altLang="en-US" b="1">
                <a:solidFill>
                  <a:srgbClr val="00B050"/>
                </a:solidFill>
              </a:rPr>
              <a:t>的原生场景；科普目前更偏重于实践培训和个体与企业的宣传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en-US" altLang="zh-CN" b="1">
                <a:solidFill>
                  <a:srgbClr val="00B050"/>
                </a:solidFill>
              </a:rPr>
              <a:t> </a:t>
            </a:r>
            <a:r>
              <a:rPr lang="zh-CN" altLang="en-US" b="1">
                <a:solidFill>
                  <a:srgbClr val="00B050"/>
                </a:solidFill>
              </a:rPr>
              <a:t>个人面对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307340"/>
            <a:ext cx="10613390" cy="764540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关注</a:t>
            </a:r>
            <a:r>
              <a:rPr lang="en-US" altLang="zh-CN">
                <a:solidFill>
                  <a:srgbClr val="00B050"/>
                </a:solidFill>
              </a:rPr>
              <a:t>IT</a:t>
            </a:r>
            <a:r>
              <a:rPr lang="zh-CN" altLang="en-US">
                <a:solidFill>
                  <a:srgbClr val="00B050"/>
                </a:solidFill>
              </a:rPr>
              <a:t>教育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现状描述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351915"/>
            <a:ext cx="12191365" cy="5220970"/>
          </a:xfrm>
        </p:spPr>
        <p:txBody>
          <a:bodyPr>
            <a:normAutofit/>
          </a:bodyPr>
          <a:p>
            <a:r>
              <a:rPr lang="en-US" altLang="zh-CN" b="1">
                <a:solidFill>
                  <a:srgbClr val="00B050"/>
                </a:solidFill>
              </a:rPr>
              <a:t> </a:t>
            </a:r>
            <a:r>
              <a:rPr lang="zh-CN" altLang="en-US" b="1">
                <a:solidFill>
                  <a:srgbClr val="00B050"/>
                </a:solidFill>
              </a:rPr>
              <a:t>通用内容：</a:t>
            </a:r>
            <a:r>
              <a:rPr lang="zh-CN" altLang="en-US" sz="1800" b="1">
                <a:solidFill>
                  <a:srgbClr val="00B050"/>
                </a:solidFill>
                <a:sym typeface="+mn-ea"/>
              </a:rPr>
              <a:t>战略要点</a:t>
            </a:r>
            <a:r>
              <a:rPr lang="en-US" altLang="zh-CN" sz="1800" b="1">
                <a:solidFill>
                  <a:srgbClr val="00B050"/>
                </a:solidFill>
                <a:sym typeface="+mn-ea"/>
              </a:rPr>
              <a:t>(</a:t>
            </a:r>
            <a:r>
              <a:rPr lang="zh-CN" altLang="en-US" sz="1800" b="1">
                <a:solidFill>
                  <a:srgbClr val="00B050"/>
                </a:solidFill>
                <a:sym typeface="+mn-ea"/>
              </a:rPr>
              <a:t>锚点</a:t>
            </a:r>
            <a:r>
              <a:rPr lang="en-US" altLang="zh-CN" sz="1800" b="1">
                <a:solidFill>
                  <a:srgbClr val="00B050"/>
                </a:solidFill>
                <a:sym typeface="+mn-ea"/>
              </a:rPr>
              <a:t>)</a:t>
            </a:r>
            <a:r>
              <a:rPr lang="zh-CN" altLang="en-US" sz="1800" b="1">
                <a:solidFill>
                  <a:srgbClr val="00B050"/>
                </a:solidFill>
                <a:sym typeface="+mn-ea"/>
              </a:rPr>
              <a:t>：要锚定人两面性，为正向价值启动的关键战略要点，破局转向的战略转折点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义务培养：</a:t>
            </a:r>
            <a:r>
              <a:rPr lang="zh-CN" altLang="en-US" sz="1600" b="1">
                <a:solidFill>
                  <a:srgbClr val="00B050"/>
                </a:solidFill>
              </a:rPr>
              <a:t>锚点为考试和未来预期</a:t>
            </a:r>
            <a:endParaRPr lang="zh-CN" altLang="en-US" b="1">
              <a:solidFill>
                <a:srgbClr val="00B050"/>
              </a:solidFill>
            </a:endParaRPr>
          </a:p>
          <a:p>
            <a:pPr lvl="2"/>
            <a:r>
              <a:rPr lang="zh-CN" altLang="en-US" sz="1600" b="1">
                <a:solidFill>
                  <a:srgbClr val="00B050"/>
                </a:solidFill>
              </a:rPr>
              <a:t>语数外：主科；语言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(</a:t>
            </a:r>
            <a:r>
              <a:rPr lang="zh-CN" altLang="en-US" sz="1600" b="1">
                <a:solidFill>
                  <a:srgbClr val="00B050"/>
                </a:solidFill>
              </a:rPr>
              <a:t>数学偏物理</a:t>
            </a:r>
            <a:r>
              <a:rPr lang="en-US" altLang="zh-CN" sz="1600" b="1">
                <a:solidFill>
                  <a:srgbClr val="00B050"/>
                </a:solidFill>
              </a:rPr>
              <a:t>)</a:t>
            </a:r>
            <a:r>
              <a:rPr lang="zh-CN" altLang="en-US" sz="1600" b="1">
                <a:solidFill>
                  <a:srgbClr val="00B050"/>
                </a:solidFill>
              </a:rPr>
              <a:t>，阅读吸收</a:t>
            </a:r>
            <a:r>
              <a:rPr lang="en-US" altLang="zh-CN" sz="1600" b="1">
                <a:solidFill>
                  <a:srgbClr val="00B050"/>
                </a:solidFill>
              </a:rPr>
              <a:t>(</a:t>
            </a:r>
            <a:r>
              <a:rPr lang="zh-CN" altLang="en-US" sz="1600" b="1">
                <a:solidFill>
                  <a:srgbClr val="00B050"/>
                </a:solidFill>
              </a:rPr>
              <a:t>速度</a:t>
            </a:r>
            <a:r>
              <a:rPr lang="en-US" altLang="zh-CN" sz="1600" b="1">
                <a:solidFill>
                  <a:srgbClr val="00B050"/>
                </a:solidFill>
              </a:rPr>
              <a:t>/</a:t>
            </a:r>
            <a:r>
              <a:rPr lang="zh-CN" altLang="en-US" sz="1600" b="1">
                <a:solidFill>
                  <a:srgbClr val="00B050"/>
                </a:solidFill>
              </a:rPr>
              <a:t>正确性</a:t>
            </a:r>
            <a:r>
              <a:rPr lang="en-US" altLang="zh-CN" sz="1600" b="1">
                <a:solidFill>
                  <a:srgbClr val="00B050"/>
                </a:solidFill>
              </a:rPr>
              <a:t>/</a:t>
            </a:r>
            <a:r>
              <a:rPr lang="zh-CN" altLang="en-US" sz="1600" b="1">
                <a:solidFill>
                  <a:srgbClr val="00B050"/>
                </a:solidFill>
              </a:rPr>
              <a:t>归纳整理</a:t>
            </a:r>
            <a:r>
              <a:rPr lang="en-US" altLang="zh-CN" sz="1600" b="1">
                <a:solidFill>
                  <a:srgbClr val="00B050"/>
                </a:solidFill>
              </a:rPr>
              <a:t>)+</a:t>
            </a:r>
            <a:r>
              <a:rPr lang="zh-CN" altLang="en-US" sz="1600" b="1">
                <a:solidFill>
                  <a:srgbClr val="00B050"/>
                </a:solidFill>
              </a:rPr>
              <a:t>对外表达</a:t>
            </a:r>
            <a:r>
              <a:rPr lang="en-US" altLang="zh-CN" sz="1600" b="1">
                <a:solidFill>
                  <a:srgbClr val="00B050"/>
                </a:solidFill>
              </a:rPr>
              <a:t>+</a:t>
            </a:r>
            <a:r>
              <a:rPr lang="zh-CN" altLang="en-US" sz="1600" b="1">
                <a:solidFill>
                  <a:srgbClr val="00B050"/>
                </a:solidFill>
              </a:rPr>
              <a:t>抽象处理；主体工具链</a:t>
            </a:r>
            <a:endParaRPr lang="zh-CN" altLang="en-US" sz="1600" b="1">
              <a:solidFill>
                <a:srgbClr val="00B050"/>
              </a:solidFill>
            </a:endParaRPr>
          </a:p>
          <a:p>
            <a:pPr lvl="2"/>
            <a:r>
              <a:rPr lang="zh-CN" altLang="en-US" sz="1600" b="1">
                <a:solidFill>
                  <a:srgbClr val="00B050"/>
                </a:solidFill>
              </a:rPr>
              <a:t>物化生：理科；物质，抽象建模</a:t>
            </a:r>
            <a:r>
              <a:rPr lang="en-US" altLang="zh-CN" sz="1600" b="1">
                <a:solidFill>
                  <a:srgbClr val="00B050"/>
                </a:solidFill>
              </a:rPr>
              <a:t>/</a:t>
            </a:r>
            <a:r>
              <a:rPr lang="zh-CN" altLang="en-US" sz="1600" b="1">
                <a:solidFill>
                  <a:srgbClr val="00B050"/>
                </a:solidFill>
              </a:rPr>
              <a:t>模型转换</a:t>
            </a:r>
            <a:r>
              <a:rPr lang="en-US" altLang="zh-CN" sz="1600" b="1">
                <a:solidFill>
                  <a:srgbClr val="00B050"/>
                </a:solidFill>
              </a:rPr>
              <a:t>/</a:t>
            </a:r>
            <a:r>
              <a:rPr lang="zh-CN" altLang="en-US" sz="1600" b="1">
                <a:solidFill>
                  <a:srgbClr val="00B050"/>
                </a:solidFill>
              </a:rPr>
              <a:t>语言表达</a:t>
            </a:r>
            <a:r>
              <a:rPr lang="en-US" altLang="zh-CN" sz="1600" b="1">
                <a:solidFill>
                  <a:srgbClr val="00B050"/>
                </a:solidFill>
              </a:rPr>
              <a:t>(</a:t>
            </a:r>
            <a:r>
              <a:rPr lang="zh-CN" altLang="en-US" sz="1600" b="1">
                <a:solidFill>
                  <a:srgbClr val="00B050"/>
                </a:solidFill>
              </a:rPr>
              <a:t>数学</a:t>
            </a:r>
            <a:r>
              <a:rPr lang="en-US" altLang="zh-CN" sz="1600" b="1">
                <a:solidFill>
                  <a:srgbClr val="00B050"/>
                </a:solidFill>
              </a:rPr>
              <a:t>/</a:t>
            </a:r>
            <a:r>
              <a:rPr lang="zh-CN" altLang="en-US" sz="1600" b="1">
                <a:solidFill>
                  <a:srgbClr val="00B050"/>
                </a:solidFill>
              </a:rPr>
              <a:t>人语</a:t>
            </a:r>
            <a:r>
              <a:rPr lang="en-US" altLang="zh-CN" sz="1600" b="1">
                <a:solidFill>
                  <a:srgbClr val="00B050"/>
                </a:solidFill>
              </a:rPr>
              <a:t>)</a:t>
            </a:r>
            <a:r>
              <a:rPr lang="zh-CN" altLang="en-US" sz="1600" b="1">
                <a:solidFill>
                  <a:srgbClr val="00B050"/>
                </a:solidFill>
              </a:rPr>
              <a:t>；物</a:t>
            </a:r>
            <a:r>
              <a:rPr lang="en-US" altLang="zh-CN" sz="1600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系统层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+</a:t>
            </a:r>
            <a:r>
              <a:rPr lang="zh-CN" altLang="en-US" sz="1600" b="1">
                <a:solidFill>
                  <a:srgbClr val="00B050"/>
                </a:solidFill>
              </a:rPr>
              <a:t>业务层通用平台</a:t>
            </a:r>
            <a:r>
              <a:rPr lang="en-US" altLang="zh-CN" sz="1600" b="1">
                <a:solidFill>
                  <a:srgbClr val="00B050"/>
                </a:solidFill>
              </a:rPr>
              <a:t>)/</a:t>
            </a:r>
            <a:r>
              <a:rPr lang="zh-CN" altLang="en-US" sz="1600" b="1">
                <a:solidFill>
                  <a:srgbClr val="00B050"/>
                </a:solidFill>
              </a:rPr>
              <a:t>化生</a:t>
            </a:r>
            <a:r>
              <a:rPr lang="en-US" altLang="zh-CN" sz="1600" b="1">
                <a:solidFill>
                  <a:srgbClr val="00B050"/>
                </a:solidFill>
              </a:rPr>
              <a:t>(</a:t>
            </a:r>
            <a:r>
              <a:rPr lang="zh-CN" altLang="en-US" sz="1600" b="1">
                <a:solidFill>
                  <a:srgbClr val="00B050"/>
                </a:solidFill>
              </a:rPr>
              <a:t>业务层专用平台</a:t>
            </a:r>
            <a:r>
              <a:rPr lang="en-US" altLang="zh-CN" sz="1600" b="1">
                <a:solidFill>
                  <a:srgbClr val="00B050"/>
                </a:solidFill>
              </a:rPr>
              <a:t>)</a:t>
            </a:r>
            <a:endParaRPr lang="zh-CN" altLang="en-US" sz="1600" b="1">
              <a:solidFill>
                <a:srgbClr val="00B050"/>
              </a:solidFill>
            </a:endParaRPr>
          </a:p>
          <a:p>
            <a:pPr lvl="2"/>
            <a:r>
              <a:rPr lang="zh-CN" altLang="en-US" sz="1600" b="1">
                <a:solidFill>
                  <a:srgbClr val="00B050"/>
                </a:solidFill>
              </a:rPr>
              <a:t>史地政：文科；精神</a:t>
            </a:r>
            <a:r>
              <a:rPr lang="en-US" altLang="zh-CN" sz="1600" b="1">
                <a:solidFill>
                  <a:srgbClr val="00B050"/>
                </a:solidFill>
              </a:rPr>
              <a:t>+</a:t>
            </a:r>
            <a:r>
              <a:rPr lang="zh-CN" altLang="en-US" sz="1600" b="1">
                <a:solidFill>
                  <a:srgbClr val="00B050"/>
                </a:solidFill>
              </a:rPr>
              <a:t>物质，物质基础</a:t>
            </a:r>
            <a:r>
              <a:rPr lang="en-US" altLang="zh-CN" sz="1600" b="1">
                <a:solidFill>
                  <a:srgbClr val="00B050"/>
                </a:solidFill>
              </a:rPr>
              <a:t>+</a:t>
            </a:r>
            <a:r>
              <a:rPr lang="zh-CN" altLang="en-US" sz="1600" b="1">
                <a:solidFill>
                  <a:srgbClr val="00B050"/>
                </a:solidFill>
              </a:rPr>
              <a:t>精神</a:t>
            </a:r>
            <a:r>
              <a:rPr lang="en-US" altLang="zh-CN" sz="1600" b="1">
                <a:solidFill>
                  <a:srgbClr val="00B050"/>
                </a:solidFill>
              </a:rPr>
              <a:t>(</a:t>
            </a:r>
            <a:r>
              <a:rPr lang="zh-CN" altLang="en-US" sz="1600" b="1">
                <a:solidFill>
                  <a:srgbClr val="00B050"/>
                </a:solidFill>
              </a:rPr>
              <a:t>时间</a:t>
            </a:r>
            <a:r>
              <a:rPr lang="en-US" altLang="zh-CN" sz="1600" b="1">
                <a:solidFill>
                  <a:srgbClr val="00B050"/>
                </a:solidFill>
              </a:rPr>
              <a:t>)+</a:t>
            </a:r>
            <a:r>
              <a:rPr lang="zh-CN" altLang="en-US" sz="1600" b="1">
                <a:solidFill>
                  <a:srgbClr val="00B050"/>
                </a:solidFill>
              </a:rPr>
              <a:t>精神</a:t>
            </a:r>
            <a:r>
              <a:rPr lang="en-US" altLang="zh-CN" sz="1600" b="1">
                <a:solidFill>
                  <a:srgbClr val="00B050"/>
                </a:solidFill>
              </a:rPr>
              <a:t>(</a:t>
            </a:r>
            <a:r>
              <a:rPr lang="zh-CN" altLang="en-US" sz="1600" b="1">
                <a:solidFill>
                  <a:srgbClr val="00B050"/>
                </a:solidFill>
              </a:rPr>
              <a:t>空间</a:t>
            </a:r>
            <a:r>
              <a:rPr lang="en-US" altLang="zh-CN" sz="1600" b="1">
                <a:solidFill>
                  <a:srgbClr val="00B050"/>
                </a:solidFill>
              </a:rPr>
              <a:t>)</a:t>
            </a:r>
            <a:r>
              <a:rPr lang="zh-CN" altLang="en-US" sz="1600" b="1">
                <a:solidFill>
                  <a:srgbClr val="00B050"/>
                </a:solidFill>
              </a:rPr>
              <a:t>；地理</a:t>
            </a:r>
            <a:r>
              <a:rPr lang="en-US" altLang="zh-CN" sz="1600" b="1">
                <a:solidFill>
                  <a:srgbClr val="00B050"/>
                </a:solidFill>
              </a:rPr>
              <a:t>(</a:t>
            </a:r>
            <a:r>
              <a:rPr lang="zh-CN" altLang="en-US" sz="1600" b="1">
                <a:solidFill>
                  <a:srgbClr val="00B050"/>
                </a:solidFill>
              </a:rPr>
              <a:t>偏物质</a:t>
            </a:r>
            <a:r>
              <a:rPr lang="en-US" altLang="zh-CN" sz="1600" b="1">
                <a:solidFill>
                  <a:srgbClr val="00B050"/>
                </a:solidFill>
              </a:rPr>
              <a:t>)/</a:t>
            </a:r>
            <a:r>
              <a:rPr lang="zh-CN" altLang="en-US" sz="1600" b="1">
                <a:solidFill>
                  <a:srgbClr val="00B050"/>
                </a:solidFill>
              </a:rPr>
              <a:t>历史</a:t>
            </a:r>
            <a:r>
              <a:rPr lang="en-US" altLang="zh-CN" sz="1600" b="1">
                <a:solidFill>
                  <a:srgbClr val="00B050"/>
                </a:solidFill>
              </a:rPr>
              <a:t>(</a:t>
            </a:r>
            <a:r>
              <a:rPr lang="zh-CN" altLang="en-US" sz="1600" b="1">
                <a:solidFill>
                  <a:srgbClr val="00B050"/>
                </a:solidFill>
              </a:rPr>
              <a:t>时间</a:t>
            </a:r>
            <a:r>
              <a:rPr lang="en-US" altLang="zh-CN" sz="1600" b="1">
                <a:solidFill>
                  <a:srgbClr val="00B050"/>
                </a:solidFill>
              </a:rPr>
              <a:t>+</a:t>
            </a:r>
            <a:r>
              <a:rPr lang="zh-CN" altLang="en-US" sz="1600" b="1">
                <a:solidFill>
                  <a:srgbClr val="00B050"/>
                </a:solidFill>
              </a:rPr>
              <a:t>空间</a:t>
            </a:r>
            <a:r>
              <a:rPr lang="en-US" altLang="zh-CN" sz="1600" b="1">
                <a:solidFill>
                  <a:srgbClr val="00B050"/>
                </a:solidFill>
              </a:rPr>
              <a:t>)/</a:t>
            </a:r>
            <a:r>
              <a:rPr lang="zh-CN" altLang="en-US" sz="1600" b="1">
                <a:solidFill>
                  <a:srgbClr val="00B050"/>
                </a:solidFill>
              </a:rPr>
              <a:t>政治</a:t>
            </a:r>
            <a:r>
              <a:rPr lang="en-US" altLang="zh-CN" sz="1600" b="1">
                <a:solidFill>
                  <a:srgbClr val="00B050"/>
                </a:solidFill>
              </a:rPr>
              <a:t>(</a:t>
            </a:r>
            <a:r>
              <a:rPr lang="zh-CN" altLang="en-US" sz="1600" b="1">
                <a:solidFill>
                  <a:srgbClr val="00B050"/>
                </a:solidFill>
              </a:rPr>
              <a:t>空间</a:t>
            </a:r>
            <a:r>
              <a:rPr lang="en-US" altLang="zh-CN" sz="1600" b="1">
                <a:solidFill>
                  <a:srgbClr val="00B050"/>
                </a:solidFill>
              </a:rPr>
              <a:t>)</a:t>
            </a:r>
            <a:r>
              <a:rPr lang="zh-CN" altLang="en-US" sz="1600" b="1">
                <a:solidFill>
                  <a:srgbClr val="00B050"/>
                </a:solidFill>
              </a:rPr>
              <a:t>；基础层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社会历练：实习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工作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生活，教育迭代递归，伴随一生；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应用层为主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其他层为辅；</a:t>
            </a:r>
            <a:r>
              <a:rPr lang="zh-CN" altLang="en-US" b="1">
                <a:solidFill>
                  <a:srgbClr val="00B050"/>
                </a:solidFill>
              </a:rPr>
              <a:t>锚点为生存和精神追求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科普</a:t>
            </a:r>
            <a:r>
              <a:rPr lang="en-US" altLang="zh-CN" b="1">
                <a:solidFill>
                  <a:srgbClr val="00B050"/>
                </a:solidFill>
              </a:rPr>
              <a:t>+AI</a:t>
            </a:r>
            <a:r>
              <a:rPr lang="zh-CN" altLang="en-US" b="1">
                <a:solidFill>
                  <a:srgbClr val="00B050"/>
                </a:solidFill>
              </a:rPr>
              <a:t>：</a:t>
            </a:r>
            <a:r>
              <a:rPr lang="en-US" altLang="zh-CN" b="1">
                <a:solidFill>
                  <a:srgbClr val="00B050"/>
                </a:solidFill>
              </a:rPr>
              <a:t>AI</a:t>
            </a:r>
            <a:r>
              <a:rPr lang="zh-CN" altLang="en-US" b="1">
                <a:solidFill>
                  <a:srgbClr val="00B050"/>
                </a:solidFill>
              </a:rPr>
              <a:t>作为工具辅助作用明显，科普正逐步兴起，二者都有两面性；辅助工具链；锚点为合规和价值产出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en-US" altLang="zh-CN" b="1">
                <a:solidFill>
                  <a:srgbClr val="00B050"/>
                </a:solidFill>
              </a:rPr>
              <a:t> </a:t>
            </a:r>
            <a:r>
              <a:rPr lang="zh-CN" altLang="en-US" b="1">
                <a:solidFill>
                  <a:srgbClr val="00B050"/>
                </a:solidFill>
              </a:rPr>
              <a:t>聚焦</a:t>
            </a:r>
            <a:r>
              <a:rPr lang="en-US" altLang="zh-CN" b="1">
                <a:solidFill>
                  <a:srgbClr val="00B050"/>
                </a:solidFill>
              </a:rPr>
              <a:t>IT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义务培养：理论地位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与语数外对等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，实践局限性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中小学逐步普及，但视力和学生自控力是核心问题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社会历练：学习效率高，实践性极强，涉及面很广；教育迭代递归正规化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流程化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科普</a:t>
            </a:r>
            <a:r>
              <a:rPr lang="en-US" altLang="zh-CN" b="1">
                <a:solidFill>
                  <a:srgbClr val="00B050"/>
                </a:solidFill>
              </a:rPr>
              <a:t>+AI</a:t>
            </a:r>
            <a:r>
              <a:rPr lang="zh-CN" altLang="en-US" b="1">
                <a:solidFill>
                  <a:srgbClr val="00B050"/>
                </a:solidFill>
              </a:rPr>
              <a:t>：</a:t>
            </a:r>
            <a:r>
              <a:rPr lang="en-US" altLang="zh-CN" b="1">
                <a:solidFill>
                  <a:srgbClr val="00B050"/>
                </a:solidFill>
              </a:rPr>
              <a:t>AI</a:t>
            </a:r>
            <a:r>
              <a:rPr lang="zh-CN" altLang="en-US" b="1">
                <a:solidFill>
                  <a:srgbClr val="00B050"/>
                </a:solidFill>
              </a:rPr>
              <a:t>深度辅助融合，是</a:t>
            </a:r>
            <a:r>
              <a:rPr lang="en-US" altLang="zh-CN" b="1">
                <a:solidFill>
                  <a:srgbClr val="00B050"/>
                </a:solidFill>
              </a:rPr>
              <a:t>AI</a:t>
            </a:r>
            <a:r>
              <a:rPr lang="zh-CN" altLang="en-US" b="1">
                <a:solidFill>
                  <a:srgbClr val="00B050"/>
                </a:solidFill>
              </a:rPr>
              <a:t>的原生场景；科普目前更偏重于实践培训和个体与企业的宣传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en-US" altLang="zh-CN" b="1">
                <a:solidFill>
                  <a:srgbClr val="00B050"/>
                </a:solidFill>
              </a:rPr>
              <a:t> </a:t>
            </a:r>
            <a:r>
              <a:rPr lang="zh-CN" altLang="en-US" b="1">
                <a:solidFill>
                  <a:srgbClr val="00B050"/>
                </a:solidFill>
              </a:rPr>
              <a:t>个人面对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义务培养：理解价值；积极面对短期焦虑，从容处理未来预期；</a:t>
            </a:r>
            <a:r>
              <a:rPr lang="en-US" altLang="zh-CN" b="1">
                <a:solidFill>
                  <a:srgbClr val="00B050"/>
                </a:solidFill>
              </a:rPr>
              <a:t>‘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卷</a:t>
            </a:r>
            <a:r>
              <a:rPr lang="en-US" altLang="zh-CN" b="1">
                <a:solidFill>
                  <a:srgbClr val="00B050"/>
                </a:solidFill>
              </a:rPr>
              <a:t>’</a:t>
            </a:r>
            <a:r>
              <a:rPr lang="zh-CN" altLang="en-US" b="1">
                <a:solidFill>
                  <a:srgbClr val="00B050"/>
                </a:solidFill>
              </a:rPr>
              <a:t>是必要的锻炼培养方法之一，但不是全部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社会历练：态度积极，排除误解；以正价值产出为导向；整体规划，不断总结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科普</a:t>
            </a:r>
            <a:r>
              <a:rPr lang="en-US" altLang="zh-CN" b="1">
                <a:solidFill>
                  <a:srgbClr val="00B050"/>
                </a:solidFill>
              </a:rPr>
              <a:t>+AI</a:t>
            </a:r>
            <a:r>
              <a:rPr lang="zh-CN" altLang="en-US" b="1">
                <a:solidFill>
                  <a:srgbClr val="00B050"/>
                </a:solidFill>
              </a:rPr>
              <a:t>：管理自身，端正态度；尽可能使用外部辅助资源；根据需要和具体环境来使用和取舍</a:t>
            </a:r>
            <a:endParaRPr lang="zh-CN" altLang="en-US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123825"/>
            <a:ext cx="10613390" cy="52641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关注</a:t>
            </a:r>
            <a:r>
              <a:rPr lang="en-US" altLang="zh-CN">
                <a:solidFill>
                  <a:srgbClr val="00B050"/>
                </a:solidFill>
              </a:rPr>
              <a:t>IT</a:t>
            </a:r>
            <a:r>
              <a:rPr lang="zh-CN" altLang="en-US">
                <a:solidFill>
                  <a:srgbClr val="00B050"/>
                </a:solidFill>
              </a:rPr>
              <a:t>教育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发展趋势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28015"/>
            <a:ext cx="12191365" cy="6230620"/>
          </a:xfrm>
        </p:spPr>
        <p:txBody>
          <a:bodyPr>
            <a:normAutofit/>
          </a:bodyPr>
          <a:p>
            <a:r>
              <a:rPr lang="zh-CN" altLang="en-US" b="1">
                <a:solidFill>
                  <a:srgbClr val="00B050"/>
                </a:solidFill>
              </a:rPr>
              <a:t>需求：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理解：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根因：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方法：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难点：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尝试：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123825"/>
            <a:ext cx="10613390" cy="52641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关注</a:t>
            </a:r>
            <a:r>
              <a:rPr lang="en-US" altLang="zh-CN">
                <a:solidFill>
                  <a:srgbClr val="00B050"/>
                </a:solidFill>
              </a:rPr>
              <a:t>IT</a:t>
            </a:r>
            <a:r>
              <a:rPr lang="zh-CN" altLang="en-US">
                <a:solidFill>
                  <a:srgbClr val="00B050"/>
                </a:solidFill>
              </a:rPr>
              <a:t>教育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发展趋势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28015"/>
            <a:ext cx="12191365" cy="6230620"/>
          </a:xfrm>
        </p:spPr>
        <p:txBody>
          <a:bodyPr>
            <a:normAutofit/>
          </a:bodyPr>
          <a:p>
            <a:r>
              <a:rPr lang="zh-CN" altLang="en-US" b="1">
                <a:solidFill>
                  <a:srgbClr val="00B050"/>
                </a:solidFill>
              </a:rPr>
              <a:t>需求：</a:t>
            </a:r>
            <a:r>
              <a:rPr lang="zh-CN" altLang="en-US" sz="1800" b="1">
                <a:solidFill>
                  <a:srgbClr val="00B050"/>
                </a:solidFill>
                <a:sym typeface="+mn-ea"/>
              </a:rPr>
              <a:t>行业发展需要更温和、更可持续、低扰动的优化路径；来让</a:t>
            </a:r>
            <a:r>
              <a:rPr lang="en-US" altLang="zh-CN" sz="1800" b="1">
                <a:solidFill>
                  <a:srgbClr val="00B050"/>
                </a:solidFill>
                <a:sym typeface="+mn-ea"/>
              </a:rPr>
              <a:t>IT</a:t>
            </a:r>
            <a:r>
              <a:rPr lang="zh-CN" altLang="en-US" sz="1800" b="1">
                <a:solidFill>
                  <a:srgbClr val="00B050"/>
                </a:solidFill>
                <a:sym typeface="+mn-ea"/>
              </a:rPr>
              <a:t>教育目标能真正持续地面向社会正价值产出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en-US" altLang="zh-CN" b="1">
                <a:solidFill>
                  <a:srgbClr val="00B050"/>
                </a:solidFill>
              </a:rPr>
              <a:t>IT</a:t>
            </a:r>
            <a:r>
              <a:rPr lang="zh-CN" altLang="en-US" b="1">
                <a:solidFill>
                  <a:srgbClr val="00B050"/>
                </a:solidFill>
              </a:rPr>
              <a:t>义务培养阶段与产业需求脱节，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人才供给错配</a:t>
            </a:r>
            <a:r>
              <a:rPr lang="zh-CN" altLang="en-US" b="1">
                <a:solidFill>
                  <a:srgbClr val="00B050"/>
                </a:solidFill>
              </a:rPr>
              <a:t>；学历分数影响人才成长方向，偏离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核心目标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社会正价值产出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全学段 IT 培养链条不连续，启蒙、实践、评价缺乏有效衔接；导致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终身学习过程分散，不成体系；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高质量、体系化的 IT 科普资源不足，大众认知易产生偏差，容易被误导；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理解：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根因：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方法：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难点：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尝试：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123825"/>
            <a:ext cx="10613390" cy="52641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关注</a:t>
            </a:r>
            <a:r>
              <a:rPr lang="en-US" altLang="zh-CN">
                <a:solidFill>
                  <a:srgbClr val="00B050"/>
                </a:solidFill>
              </a:rPr>
              <a:t>IT</a:t>
            </a:r>
            <a:r>
              <a:rPr lang="zh-CN" altLang="en-US">
                <a:solidFill>
                  <a:srgbClr val="00B050"/>
                </a:solidFill>
              </a:rPr>
              <a:t>教育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发展趋势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28015"/>
            <a:ext cx="12191365" cy="6230620"/>
          </a:xfrm>
        </p:spPr>
        <p:txBody>
          <a:bodyPr>
            <a:normAutofit/>
          </a:bodyPr>
          <a:p>
            <a:r>
              <a:rPr lang="zh-CN" altLang="en-US" b="1">
                <a:solidFill>
                  <a:srgbClr val="00B050"/>
                </a:solidFill>
              </a:rPr>
              <a:t>需求：</a:t>
            </a:r>
            <a:r>
              <a:rPr lang="zh-CN" altLang="en-US" sz="1800" b="1">
                <a:solidFill>
                  <a:srgbClr val="00B050"/>
                </a:solidFill>
                <a:sym typeface="+mn-ea"/>
              </a:rPr>
              <a:t>行业发展需要更温和、更可持续、低扰动的优化路径；来让</a:t>
            </a:r>
            <a:r>
              <a:rPr lang="en-US" altLang="zh-CN" sz="1800" b="1">
                <a:solidFill>
                  <a:srgbClr val="00B050"/>
                </a:solidFill>
                <a:sym typeface="+mn-ea"/>
              </a:rPr>
              <a:t>IT</a:t>
            </a:r>
            <a:r>
              <a:rPr lang="zh-CN" altLang="en-US" sz="1800" b="1">
                <a:solidFill>
                  <a:srgbClr val="00B050"/>
                </a:solidFill>
                <a:sym typeface="+mn-ea"/>
              </a:rPr>
              <a:t>教育目标能真正持续地面向社会正价值产出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en-US" altLang="zh-CN" b="1">
                <a:solidFill>
                  <a:srgbClr val="00B050"/>
                </a:solidFill>
              </a:rPr>
              <a:t>IT</a:t>
            </a:r>
            <a:r>
              <a:rPr lang="zh-CN" altLang="en-US" b="1">
                <a:solidFill>
                  <a:srgbClr val="00B050"/>
                </a:solidFill>
              </a:rPr>
              <a:t>义务培养阶段与产业需求脱节，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人才供给错配</a:t>
            </a:r>
            <a:r>
              <a:rPr lang="zh-CN" altLang="en-US" b="1">
                <a:solidFill>
                  <a:srgbClr val="00B050"/>
                </a:solidFill>
              </a:rPr>
              <a:t>；学历分数影响人才成长方向，偏离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核心目标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社会正价值产出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全学段 IT 培养链条不连续，启蒙、实践、评价缺乏有效衔接；导致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终身学习过程分散，不成体系；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高质量、体系化的 IT 科普资源不足，大众认知易产生偏差，容易被误导；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理解：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理论与应用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实践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天然一体：不可分割，互相促进、共同成长；都为价值产出服务，只是视角不同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校园具备自身实践特色：高校和初高中教学、科研、项目均属于实践范畴，只是场景与侧重点不同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学历可参考，但非唯一标准：能力、经验、成果才是 IT 人才的核心判断依据，学历只是参考内容之一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根因：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方法：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难点：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尝试：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123825"/>
            <a:ext cx="10613390" cy="52641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关注</a:t>
            </a:r>
            <a:r>
              <a:rPr lang="en-US" altLang="zh-CN">
                <a:solidFill>
                  <a:srgbClr val="00B050"/>
                </a:solidFill>
              </a:rPr>
              <a:t>IT</a:t>
            </a:r>
            <a:r>
              <a:rPr lang="zh-CN" altLang="en-US">
                <a:solidFill>
                  <a:srgbClr val="00B050"/>
                </a:solidFill>
              </a:rPr>
              <a:t>教育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发展趋势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28015"/>
            <a:ext cx="12191365" cy="6230620"/>
          </a:xfrm>
        </p:spPr>
        <p:txBody>
          <a:bodyPr>
            <a:normAutofit/>
          </a:bodyPr>
          <a:p>
            <a:r>
              <a:rPr lang="zh-CN" altLang="en-US" b="1">
                <a:solidFill>
                  <a:srgbClr val="00B050"/>
                </a:solidFill>
              </a:rPr>
              <a:t>需求：</a:t>
            </a:r>
            <a:r>
              <a:rPr lang="zh-CN" altLang="en-US" sz="1800" b="1">
                <a:solidFill>
                  <a:srgbClr val="00B050"/>
                </a:solidFill>
                <a:sym typeface="+mn-ea"/>
              </a:rPr>
              <a:t>行业发展需要更温和、更可持续、低扰动的优化路径；来让</a:t>
            </a:r>
            <a:r>
              <a:rPr lang="en-US" altLang="zh-CN" sz="1800" b="1">
                <a:solidFill>
                  <a:srgbClr val="00B050"/>
                </a:solidFill>
                <a:sym typeface="+mn-ea"/>
              </a:rPr>
              <a:t>IT</a:t>
            </a:r>
            <a:r>
              <a:rPr lang="zh-CN" altLang="en-US" sz="1800" b="1">
                <a:solidFill>
                  <a:srgbClr val="00B050"/>
                </a:solidFill>
                <a:sym typeface="+mn-ea"/>
              </a:rPr>
              <a:t>教育目标能真正持续地面向社会正价值产出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en-US" altLang="zh-CN" b="1">
                <a:solidFill>
                  <a:srgbClr val="00B050"/>
                </a:solidFill>
              </a:rPr>
              <a:t>IT</a:t>
            </a:r>
            <a:r>
              <a:rPr lang="zh-CN" altLang="en-US" b="1">
                <a:solidFill>
                  <a:srgbClr val="00B050"/>
                </a:solidFill>
              </a:rPr>
              <a:t>义务培养阶段与产业需求脱节，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人才供给错配</a:t>
            </a:r>
            <a:r>
              <a:rPr lang="zh-CN" altLang="en-US" b="1">
                <a:solidFill>
                  <a:srgbClr val="00B050"/>
                </a:solidFill>
              </a:rPr>
              <a:t>；学历分数影响人才成长方向，偏离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核心目标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社会正价值产出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全学段 IT 培养链条不连续，启蒙、实践、评价缺乏有效衔接；导致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终身学习过程分散，不成体系；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高质量、体系化的 IT 科普资源不足，大众认知易产生偏差，容易被误导；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理解：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理论与应用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实践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天然一体：不可分割，互相促进、共同成长；都为价值产出服务，只是视角不同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校园具备自身实践特色：高校和初高中教学、科研、项目均属于实践范畴，只是场景与侧重点不同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学历可参考，但非唯一标准：能力、经验、成果才是 IT 人才的核心判断依据，学历只是参考内容之一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根因：</a:t>
            </a:r>
            <a:r>
              <a:rPr lang="zh-CN" altLang="en-US" sz="1800" b="1">
                <a:solidFill>
                  <a:srgbClr val="00B050"/>
                </a:solidFill>
              </a:rPr>
              <a:t>科普</a:t>
            </a:r>
            <a:r>
              <a:rPr lang="en-US" altLang="zh-CN" sz="1800" b="1">
                <a:solidFill>
                  <a:srgbClr val="00B050"/>
                </a:solidFill>
              </a:rPr>
              <a:t>+AI</a:t>
            </a:r>
            <a:r>
              <a:rPr lang="zh-CN" altLang="en-US" sz="1800" b="1">
                <a:solidFill>
                  <a:srgbClr val="00B050"/>
                </a:solidFill>
              </a:rPr>
              <a:t>过弱，没有与义务培养和社会历练进行紧密结合互动；三者形成互动才能促进三者都良性发展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方法：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难点：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尝试：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123825"/>
            <a:ext cx="10613390" cy="52641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关注</a:t>
            </a:r>
            <a:r>
              <a:rPr lang="en-US" altLang="zh-CN">
                <a:solidFill>
                  <a:srgbClr val="00B050"/>
                </a:solidFill>
              </a:rPr>
              <a:t>IT</a:t>
            </a:r>
            <a:r>
              <a:rPr lang="zh-CN" altLang="en-US">
                <a:solidFill>
                  <a:srgbClr val="00B050"/>
                </a:solidFill>
              </a:rPr>
              <a:t>教育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发展趋势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28015"/>
            <a:ext cx="12191365" cy="6230620"/>
          </a:xfrm>
        </p:spPr>
        <p:txBody>
          <a:bodyPr>
            <a:normAutofit/>
          </a:bodyPr>
          <a:p>
            <a:r>
              <a:rPr lang="zh-CN" altLang="en-US" b="1">
                <a:solidFill>
                  <a:srgbClr val="00B050"/>
                </a:solidFill>
              </a:rPr>
              <a:t>需求：</a:t>
            </a:r>
            <a:r>
              <a:rPr lang="zh-CN" altLang="en-US" sz="1800" b="1">
                <a:solidFill>
                  <a:srgbClr val="00B050"/>
                </a:solidFill>
                <a:sym typeface="+mn-ea"/>
              </a:rPr>
              <a:t>行业发展需要更温和、更可持续、低扰动的优化路径；来让</a:t>
            </a:r>
            <a:r>
              <a:rPr lang="en-US" altLang="zh-CN" sz="1800" b="1">
                <a:solidFill>
                  <a:srgbClr val="00B050"/>
                </a:solidFill>
                <a:sym typeface="+mn-ea"/>
              </a:rPr>
              <a:t>IT</a:t>
            </a:r>
            <a:r>
              <a:rPr lang="zh-CN" altLang="en-US" sz="1800" b="1">
                <a:solidFill>
                  <a:srgbClr val="00B050"/>
                </a:solidFill>
                <a:sym typeface="+mn-ea"/>
              </a:rPr>
              <a:t>教育目标能真正持续地面向社会正价值产出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en-US" altLang="zh-CN" b="1">
                <a:solidFill>
                  <a:srgbClr val="00B050"/>
                </a:solidFill>
              </a:rPr>
              <a:t>IT</a:t>
            </a:r>
            <a:r>
              <a:rPr lang="zh-CN" altLang="en-US" b="1">
                <a:solidFill>
                  <a:srgbClr val="00B050"/>
                </a:solidFill>
              </a:rPr>
              <a:t>义务培养阶段与产业需求脱节，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人才供给错配</a:t>
            </a:r>
            <a:r>
              <a:rPr lang="zh-CN" altLang="en-US" b="1">
                <a:solidFill>
                  <a:srgbClr val="00B050"/>
                </a:solidFill>
              </a:rPr>
              <a:t>；学历分数影响人才成长方向，偏离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核心目标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社会正价值产出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全学段 IT 培养链条不连续，启蒙、实践、评价缺乏有效衔接；导致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终身学习过程分散，不成体系；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高质量、体系化的 IT 科普资源不足，大众认知易产生偏差，容易被误导；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理解：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理论与应用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实践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天然一体：不可分割，互相促进、共同成长；都为价值产出服务，只是视角不同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校园具备自身实践特色：高校和初高中教学、科研、项目均属于实践范畴，只是场景与侧重点不同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学历可参考，但非唯一标准：能力、经验、成果才是 IT 人才的核心判断依据，学历只是参考内容之一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根因：</a:t>
            </a:r>
            <a:r>
              <a:rPr lang="zh-CN" altLang="en-US" sz="1800" b="1">
                <a:solidFill>
                  <a:srgbClr val="00B050"/>
                </a:solidFill>
              </a:rPr>
              <a:t>科普</a:t>
            </a:r>
            <a:r>
              <a:rPr lang="en-US" altLang="zh-CN" sz="1800" b="1">
                <a:solidFill>
                  <a:srgbClr val="00B050"/>
                </a:solidFill>
              </a:rPr>
              <a:t>+AI</a:t>
            </a:r>
            <a:r>
              <a:rPr lang="zh-CN" altLang="en-US" sz="1800" b="1">
                <a:solidFill>
                  <a:srgbClr val="00B050"/>
                </a:solidFill>
              </a:rPr>
              <a:t>过弱，没有与义务培养和社会历练进行紧密结合互动；三者形成互动才能促进三者都良性发展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方法：</a:t>
            </a:r>
            <a:r>
              <a:rPr lang="zh-CN" altLang="en-US" sz="1800" b="1">
                <a:solidFill>
                  <a:srgbClr val="00B050"/>
                </a:solidFill>
              </a:rPr>
              <a:t>参考架构设计中的逐步重构，和多版本迭代升级的思路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en-US" altLang="zh-CN" sz="1800" b="1">
                <a:solidFill>
                  <a:srgbClr val="00B050"/>
                </a:solidFill>
              </a:rPr>
              <a:t>1.0</a:t>
            </a:r>
            <a:r>
              <a:rPr lang="zh-CN" altLang="en-US" sz="1800" b="1">
                <a:solidFill>
                  <a:srgbClr val="00B050"/>
                </a:solidFill>
              </a:rPr>
              <a:t>版，科普先行</a:t>
            </a:r>
            <a:r>
              <a:rPr lang="en-US" altLang="zh-CN" sz="1800" b="1">
                <a:solidFill>
                  <a:srgbClr val="00B050"/>
                </a:solidFill>
              </a:rPr>
              <a:t>+</a:t>
            </a:r>
            <a:r>
              <a:rPr lang="zh-CN" altLang="en-US" sz="1800" b="1">
                <a:solidFill>
                  <a:srgbClr val="00B050"/>
                </a:solidFill>
              </a:rPr>
              <a:t>认知引导：建立审核认证科普内容体系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扶植有效的科普组织和个人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引导规范</a:t>
            </a:r>
            <a:r>
              <a:rPr lang="en-US" altLang="zh-CN" sz="1800" b="1">
                <a:solidFill>
                  <a:srgbClr val="00B050"/>
                </a:solidFill>
              </a:rPr>
              <a:t>IT</a:t>
            </a:r>
            <a:r>
              <a:rPr lang="zh-CN" altLang="en-US" sz="1800" b="1">
                <a:solidFill>
                  <a:srgbClr val="00B050"/>
                </a:solidFill>
              </a:rPr>
              <a:t>培训市场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en-US" altLang="zh-CN" sz="1800" b="1">
                <a:solidFill>
                  <a:srgbClr val="00B050"/>
                </a:solidFill>
              </a:rPr>
              <a:t>2.0</a:t>
            </a:r>
            <a:r>
              <a:rPr lang="zh-CN" altLang="en-US" sz="1800" b="1">
                <a:solidFill>
                  <a:srgbClr val="00B050"/>
                </a:solidFill>
              </a:rPr>
              <a:t>版，教材协同</a:t>
            </a:r>
            <a:r>
              <a:rPr lang="en-US" altLang="zh-CN" sz="1800" b="1">
                <a:solidFill>
                  <a:srgbClr val="00B050"/>
                </a:solidFill>
              </a:rPr>
              <a:t>+</a:t>
            </a:r>
            <a:r>
              <a:rPr lang="zh-CN" altLang="en-US" sz="1800" b="1">
                <a:solidFill>
                  <a:srgbClr val="00B050"/>
                </a:solidFill>
              </a:rPr>
              <a:t>内容优化：科普和</a:t>
            </a:r>
            <a:r>
              <a:rPr lang="en-US" altLang="zh-CN" sz="1800" b="1">
                <a:solidFill>
                  <a:srgbClr val="00B050"/>
                </a:solidFill>
              </a:rPr>
              <a:t>IT</a:t>
            </a:r>
            <a:r>
              <a:rPr lang="zh-CN" altLang="en-US" sz="1800" b="1">
                <a:solidFill>
                  <a:srgbClr val="00B050"/>
                </a:solidFill>
              </a:rPr>
              <a:t>企业参与教材完善更新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注重实践和可迭代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通过教材促教学自然升级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en-US" altLang="zh-CN" sz="1800" b="1">
                <a:solidFill>
                  <a:srgbClr val="00B050"/>
                </a:solidFill>
              </a:rPr>
              <a:t>3.0</a:t>
            </a:r>
            <a:r>
              <a:rPr lang="zh-CN" altLang="en-US" sz="1800" b="1">
                <a:solidFill>
                  <a:srgbClr val="00B050"/>
                </a:solidFill>
              </a:rPr>
              <a:t>版，评价完善</a:t>
            </a:r>
            <a:r>
              <a:rPr lang="en-US" altLang="zh-CN" sz="1800" b="1">
                <a:solidFill>
                  <a:srgbClr val="00B050"/>
                </a:solidFill>
              </a:rPr>
              <a:t>+</a:t>
            </a:r>
            <a:r>
              <a:rPr lang="zh-CN" altLang="en-US" sz="1800" b="1">
                <a:solidFill>
                  <a:srgbClr val="00B050"/>
                </a:solidFill>
              </a:rPr>
              <a:t>长效固化：完善</a:t>
            </a:r>
            <a:r>
              <a:rPr lang="en-US" altLang="zh-CN" sz="1800" b="1">
                <a:solidFill>
                  <a:srgbClr val="00B050"/>
                </a:solidFill>
              </a:rPr>
              <a:t>IT</a:t>
            </a:r>
            <a:r>
              <a:rPr lang="zh-CN" altLang="en-US" sz="1800" b="1">
                <a:solidFill>
                  <a:srgbClr val="00B050"/>
                </a:solidFill>
              </a:rPr>
              <a:t>人才评价制度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学历参考与能力核心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将</a:t>
            </a:r>
            <a:r>
              <a:rPr lang="en-US" altLang="zh-CN" sz="1800" b="1">
                <a:solidFill>
                  <a:srgbClr val="00B050"/>
                </a:solidFill>
              </a:rPr>
              <a:t>1.0</a:t>
            </a:r>
            <a:r>
              <a:rPr lang="zh-CN" altLang="en-US" sz="1800" b="1">
                <a:solidFill>
                  <a:srgbClr val="00B050"/>
                </a:solidFill>
              </a:rPr>
              <a:t>和</a:t>
            </a:r>
            <a:r>
              <a:rPr lang="en-US" altLang="zh-CN" sz="1800" b="1">
                <a:solidFill>
                  <a:srgbClr val="00B050"/>
                </a:solidFill>
              </a:rPr>
              <a:t>2.0</a:t>
            </a:r>
            <a:r>
              <a:rPr lang="zh-CN" altLang="en-US" sz="1800" b="1">
                <a:solidFill>
                  <a:srgbClr val="00B050"/>
                </a:solidFill>
              </a:rPr>
              <a:t>的成熟内容固化为机制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难点：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尝试：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123825"/>
            <a:ext cx="10613390" cy="52641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关注</a:t>
            </a:r>
            <a:r>
              <a:rPr lang="en-US" altLang="zh-CN">
                <a:solidFill>
                  <a:srgbClr val="00B050"/>
                </a:solidFill>
              </a:rPr>
              <a:t>IT</a:t>
            </a:r>
            <a:r>
              <a:rPr lang="zh-CN" altLang="en-US">
                <a:solidFill>
                  <a:srgbClr val="00B050"/>
                </a:solidFill>
              </a:rPr>
              <a:t>教育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发展趋势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28015"/>
            <a:ext cx="12191365" cy="6230620"/>
          </a:xfrm>
        </p:spPr>
        <p:txBody>
          <a:bodyPr>
            <a:normAutofit/>
          </a:bodyPr>
          <a:p>
            <a:r>
              <a:rPr lang="zh-CN" altLang="en-US" b="1">
                <a:solidFill>
                  <a:srgbClr val="00B050"/>
                </a:solidFill>
              </a:rPr>
              <a:t>需求：</a:t>
            </a:r>
            <a:r>
              <a:rPr lang="zh-CN" altLang="en-US" sz="1800" b="1">
                <a:solidFill>
                  <a:srgbClr val="00B050"/>
                </a:solidFill>
                <a:sym typeface="+mn-ea"/>
              </a:rPr>
              <a:t>行业发展需要更温和、更可持续、低扰动的优化路径；来让</a:t>
            </a:r>
            <a:r>
              <a:rPr lang="en-US" altLang="zh-CN" sz="1800" b="1">
                <a:solidFill>
                  <a:srgbClr val="00B050"/>
                </a:solidFill>
                <a:sym typeface="+mn-ea"/>
              </a:rPr>
              <a:t>IT</a:t>
            </a:r>
            <a:r>
              <a:rPr lang="zh-CN" altLang="en-US" sz="1800" b="1">
                <a:solidFill>
                  <a:srgbClr val="00B050"/>
                </a:solidFill>
                <a:sym typeface="+mn-ea"/>
              </a:rPr>
              <a:t>教育目标能真正持续地面向社会正价值产出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en-US" altLang="zh-CN" b="1">
                <a:solidFill>
                  <a:srgbClr val="00B050"/>
                </a:solidFill>
              </a:rPr>
              <a:t>IT</a:t>
            </a:r>
            <a:r>
              <a:rPr lang="zh-CN" altLang="en-US" b="1">
                <a:solidFill>
                  <a:srgbClr val="00B050"/>
                </a:solidFill>
              </a:rPr>
              <a:t>义务培养阶段与产业需求脱节，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人才供给错配</a:t>
            </a:r>
            <a:r>
              <a:rPr lang="zh-CN" altLang="en-US" b="1">
                <a:solidFill>
                  <a:srgbClr val="00B050"/>
                </a:solidFill>
              </a:rPr>
              <a:t>；学历分数影响人才成长方向，偏离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核心目标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社会正价值产出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全学段 IT 培养链条不连续，启蒙、实践、评价缺乏有效衔接；导致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终身学习过程分散，不成体系；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高质量、体系化的 IT 科普资源不足，大众认知易产生偏差，容易被误导；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理解：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理论与应用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实践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天然一体：不可分割，互相促进、共同成长；都为价值产出服务，只是视角不同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校园具备自身实践特色：高校和初高中教学、科研、项目均属于实践范畴，只是场景与侧重点不同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学历可参考，但非唯一标准：能力、经验、成果才是 IT 人才的核心判断依据，学历只是参考内容之一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根因：</a:t>
            </a:r>
            <a:r>
              <a:rPr lang="zh-CN" altLang="en-US" sz="1800" b="1">
                <a:solidFill>
                  <a:srgbClr val="00B050"/>
                </a:solidFill>
              </a:rPr>
              <a:t>科普</a:t>
            </a:r>
            <a:r>
              <a:rPr lang="en-US" altLang="zh-CN" sz="1800" b="1">
                <a:solidFill>
                  <a:srgbClr val="00B050"/>
                </a:solidFill>
              </a:rPr>
              <a:t>+AI</a:t>
            </a:r>
            <a:r>
              <a:rPr lang="zh-CN" altLang="en-US" sz="1800" b="1">
                <a:solidFill>
                  <a:srgbClr val="00B050"/>
                </a:solidFill>
              </a:rPr>
              <a:t>过弱，没有与义务培养和社会历练进行紧密结合互动；三者形成互动才能促进三者都良性发展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方法：</a:t>
            </a:r>
            <a:r>
              <a:rPr lang="zh-CN" altLang="en-US" sz="1800" b="1">
                <a:solidFill>
                  <a:srgbClr val="00B050"/>
                </a:solidFill>
              </a:rPr>
              <a:t>参考架构设计中的逐步重构，和多版本迭代升级的思路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en-US" altLang="zh-CN" sz="1800" b="1">
                <a:solidFill>
                  <a:srgbClr val="00B050"/>
                </a:solidFill>
              </a:rPr>
              <a:t>1.0</a:t>
            </a:r>
            <a:r>
              <a:rPr lang="zh-CN" altLang="en-US" sz="1800" b="1">
                <a:solidFill>
                  <a:srgbClr val="00B050"/>
                </a:solidFill>
              </a:rPr>
              <a:t>版，科普先行</a:t>
            </a:r>
            <a:r>
              <a:rPr lang="en-US" altLang="zh-CN" sz="1800" b="1">
                <a:solidFill>
                  <a:srgbClr val="00B050"/>
                </a:solidFill>
              </a:rPr>
              <a:t>+</a:t>
            </a:r>
            <a:r>
              <a:rPr lang="zh-CN" altLang="en-US" sz="1800" b="1">
                <a:solidFill>
                  <a:srgbClr val="00B050"/>
                </a:solidFill>
              </a:rPr>
              <a:t>认知引导：建立审核认证科普内容体系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扶植有效的科普组织和个人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引导规范</a:t>
            </a:r>
            <a:r>
              <a:rPr lang="en-US" altLang="zh-CN" sz="1800" b="1">
                <a:solidFill>
                  <a:srgbClr val="00B050"/>
                </a:solidFill>
              </a:rPr>
              <a:t>IT</a:t>
            </a:r>
            <a:r>
              <a:rPr lang="zh-CN" altLang="en-US" sz="1800" b="1">
                <a:solidFill>
                  <a:srgbClr val="00B050"/>
                </a:solidFill>
              </a:rPr>
              <a:t>培训市场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en-US" altLang="zh-CN" sz="1800" b="1">
                <a:solidFill>
                  <a:srgbClr val="00B050"/>
                </a:solidFill>
              </a:rPr>
              <a:t>2.0</a:t>
            </a:r>
            <a:r>
              <a:rPr lang="zh-CN" altLang="en-US" sz="1800" b="1">
                <a:solidFill>
                  <a:srgbClr val="00B050"/>
                </a:solidFill>
              </a:rPr>
              <a:t>版，教材协同</a:t>
            </a:r>
            <a:r>
              <a:rPr lang="en-US" altLang="zh-CN" sz="1800" b="1">
                <a:solidFill>
                  <a:srgbClr val="00B050"/>
                </a:solidFill>
              </a:rPr>
              <a:t>+</a:t>
            </a:r>
            <a:r>
              <a:rPr lang="zh-CN" altLang="en-US" sz="1800" b="1">
                <a:solidFill>
                  <a:srgbClr val="00B050"/>
                </a:solidFill>
              </a:rPr>
              <a:t>内容优化：科普和</a:t>
            </a:r>
            <a:r>
              <a:rPr lang="en-US" altLang="zh-CN" sz="1800" b="1">
                <a:solidFill>
                  <a:srgbClr val="00B050"/>
                </a:solidFill>
              </a:rPr>
              <a:t>IT</a:t>
            </a:r>
            <a:r>
              <a:rPr lang="zh-CN" altLang="en-US" sz="1800" b="1">
                <a:solidFill>
                  <a:srgbClr val="00B050"/>
                </a:solidFill>
              </a:rPr>
              <a:t>企业参与教材完善更新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注重实践和可迭代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通过教材促教学自然升级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en-US" altLang="zh-CN" sz="1800" b="1">
                <a:solidFill>
                  <a:srgbClr val="00B050"/>
                </a:solidFill>
              </a:rPr>
              <a:t>3.0</a:t>
            </a:r>
            <a:r>
              <a:rPr lang="zh-CN" altLang="en-US" sz="1800" b="1">
                <a:solidFill>
                  <a:srgbClr val="00B050"/>
                </a:solidFill>
              </a:rPr>
              <a:t>版，评价完善</a:t>
            </a:r>
            <a:r>
              <a:rPr lang="en-US" altLang="zh-CN" sz="1800" b="1">
                <a:solidFill>
                  <a:srgbClr val="00B050"/>
                </a:solidFill>
              </a:rPr>
              <a:t>+</a:t>
            </a:r>
            <a:r>
              <a:rPr lang="zh-CN" altLang="en-US" sz="1800" b="1">
                <a:solidFill>
                  <a:srgbClr val="00B050"/>
                </a:solidFill>
              </a:rPr>
              <a:t>长效固化：完善</a:t>
            </a:r>
            <a:r>
              <a:rPr lang="en-US" altLang="zh-CN" sz="1800" b="1">
                <a:solidFill>
                  <a:srgbClr val="00B050"/>
                </a:solidFill>
              </a:rPr>
              <a:t>IT</a:t>
            </a:r>
            <a:r>
              <a:rPr lang="zh-CN" altLang="en-US" sz="1800" b="1">
                <a:solidFill>
                  <a:srgbClr val="00B050"/>
                </a:solidFill>
              </a:rPr>
              <a:t>人才评价制度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学历参考与能力核心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将</a:t>
            </a:r>
            <a:r>
              <a:rPr lang="en-US" altLang="zh-CN" sz="1800" b="1">
                <a:solidFill>
                  <a:srgbClr val="00B050"/>
                </a:solidFill>
              </a:rPr>
              <a:t>1.0</a:t>
            </a:r>
            <a:r>
              <a:rPr lang="zh-CN" altLang="en-US" sz="1800" b="1">
                <a:solidFill>
                  <a:srgbClr val="00B050"/>
                </a:solidFill>
              </a:rPr>
              <a:t>和</a:t>
            </a:r>
            <a:r>
              <a:rPr lang="en-US" altLang="zh-CN" sz="1800" b="1">
                <a:solidFill>
                  <a:srgbClr val="00B050"/>
                </a:solidFill>
              </a:rPr>
              <a:t>2.0</a:t>
            </a:r>
            <a:r>
              <a:rPr lang="zh-CN" altLang="en-US" sz="1800" b="1">
                <a:solidFill>
                  <a:srgbClr val="00B050"/>
                </a:solidFill>
              </a:rPr>
              <a:t>的成熟内容固化为机制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难点：</a:t>
            </a:r>
            <a:r>
              <a:rPr lang="en-US" altLang="zh-CN" sz="1800" b="1">
                <a:solidFill>
                  <a:srgbClr val="00B050"/>
                </a:solidFill>
              </a:rPr>
              <a:t>1.0</a:t>
            </a:r>
            <a:r>
              <a:rPr lang="zh-CN" altLang="en-US" sz="1800" b="1">
                <a:solidFill>
                  <a:srgbClr val="00B050"/>
                </a:solidFill>
              </a:rPr>
              <a:t>版启动最难</a:t>
            </a:r>
            <a:r>
              <a:rPr lang="en-US" altLang="zh-CN" sz="1800" b="1">
                <a:solidFill>
                  <a:srgbClr val="00B050"/>
                </a:solidFill>
              </a:rPr>
              <a:t>(</a:t>
            </a:r>
            <a:r>
              <a:rPr lang="zh-CN" altLang="en-US" sz="1800" b="1">
                <a:solidFill>
                  <a:srgbClr val="00B050"/>
                </a:solidFill>
              </a:rPr>
              <a:t>见效慢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人才缺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协调难</a:t>
            </a:r>
            <a:r>
              <a:rPr lang="en-US" altLang="zh-CN" sz="1800" b="1">
                <a:solidFill>
                  <a:srgbClr val="00B050"/>
                </a:solidFill>
              </a:rPr>
              <a:t>)</a:t>
            </a:r>
            <a:r>
              <a:rPr lang="zh-CN" altLang="en-US" sz="1800" b="1">
                <a:solidFill>
                  <a:srgbClr val="00B050"/>
                </a:solidFill>
              </a:rPr>
              <a:t>，</a:t>
            </a:r>
            <a:r>
              <a:rPr lang="en-US" altLang="zh-CN" sz="1800" b="1">
                <a:solidFill>
                  <a:srgbClr val="00B050"/>
                </a:solidFill>
              </a:rPr>
              <a:t>2.0</a:t>
            </a:r>
            <a:r>
              <a:rPr lang="zh-CN" altLang="en-US" sz="1800" b="1">
                <a:solidFill>
                  <a:srgbClr val="00B050"/>
                </a:solidFill>
              </a:rPr>
              <a:t>版以协调为主</a:t>
            </a:r>
            <a:r>
              <a:rPr lang="en-US" altLang="zh-CN" sz="1800" b="1">
                <a:solidFill>
                  <a:srgbClr val="00B050"/>
                </a:solidFill>
              </a:rPr>
              <a:t>(</a:t>
            </a:r>
            <a:r>
              <a:rPr lang="zh-CN" altLang="en-US" sz="1800" b="1">
                <a:solidFill>
                  <a:srgbClr val="00B050"/>
                </a:solidFill>
              </a:rPr>
              <a:t>容易非常多</a:t>
            </a:r>
            <a:r>
              <a:rPr lang="en-US" altLang="zh-CN" sz="1800" b="1">
                <a:solidFill>
                  <a:srgbClr val="00B050"/>
                </a:solidFill>
              </a:rPr>
              <a:t>)</a:t>
            </a:r>
            <a:r>
              <a:rPr lang="zh-CN" altLang="en-US" sz="1800" b="1">
                <a:solidFill>
                  <a:srgbClr val="00B050"/>
                </a:solidFill>
              </a:rPr>
              <a:t>，</a:t>
            </a:r>
            <a:r>
              <a:rPr lang="en-US" altLang="zh-CN" sz="1800" b="1">
                <a:solidFill>
                  <a:srgbClr val="00B050"/>
                </a:solidFill>
              </a:rPr>
              <a:t>3.0</a:t>
            </a:r>
            <a:r>
              <a:rPr lang="zh-CN" altLang="en-US" sz="1800" b="1">
                <a:solidFill>
                  <a:srgbClr val="00B050"/>
                </a:solidFill>
              </a:rPr>
              <a:t>版是顺势而为</a:t>
            </a:r>
            <a:r>
              <a:rPr lang="en-US" altLang="zh-CN" sz="1800" b="1">
                <a:solidFill>
                  <a:srgbClr val="00B050"/>
                </a:solidFill>
              </a:rPr>
              <a:t>(</a:t>
            </a:r>
            <a:r>
              <a:rPr lang="zh-CN" altLang="en-US" sz="1800" b="1">
                <a:solidFill>
                  <a:srgbClr val="00B050"/>
                </a:solidFill>
              </a:rPr>
              <a:t>注意节奏</a:t>
            </a:r>
            <a:r>
              <a:rPr lang="en-US" altLang="zh-CN" sz="1800" b="1">
                <a:solidFill>
                  <a:srgbClr val="00B050"/>
                </a:solidFill>
              </a:rPr>
              <a:t>)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尝试：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123825"/>
            <a:ext cx="10613390" cy="52641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关注</a:t>
            </a:r>
            <a:r>
              <a:rPr lang="en-US" altLang="zh-CN">
                <a:solidFill>
                  <a:srgbClr val="00B050"/>
                </a:solidFill>
              </a:rPr>
              <a:t>IT</a:t>
            </a:r>
            <a:r>
              <a:rPr lang="zh-CN" altLang="en-US">
                <a:solidFill>
                  <a:srgbClr val="00B050"/>
                </a:solidFill>
              </a:rPr>
              <a:t>教育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发展趋势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28015"/>
            <a:ext cx="12191365" cy="6230620"/>
          </a:xfrm>
        </p:spPr>
        <p:txBody>
          <a:bodyPr>
            <a:normAutofit/>
          </a:bodyPr>
          <a:p>
            <a:r>
              <a:rPr lang="zh-CN" altLang="en-US" b="1">
                <a:solidFill>
                  <a:srgbClr val="00B050"/>
                </a:solidFill>
              </a:rPr>
              <a:t>需求：</a:t>
            </a:r>
            <a:r>
              <a:rPr lang="zh-CN" altLang="en-US" sz="1800" b="1">
                <a:solidFill>
                  <a:srgbClr val="00B050"/>
                </a:solidFill>
                <a:sym typeface="+mn-ea"/>
              </a:rPr>
              <a:t>行业发展需要更温和、更可持续、低扰动的优化路径；来让</a:t>
            </a:r>
            <a:r>
              <a:rPr lang="en-US" altLang="zh-CN" sz="1800" b="1">
                <a:solidFill>
                  <a:srgbClr val="00B050"/>
                </a:solidFill>
                <a:sym typeface="+mn-ea"/>
              </a:rPr>
              <a:t>IT</a:t>
            </a:r>
            <a:r>
              <a:rPr lang="zh-CN" altLang="en-US" sz="1800" b="1">
                <a:solidFill>
                  <a:srgbClr val="00B050"/>
                </a:solidFill>
                <a:sym typeface="+mn-ea"/>
              </a:rPr>
              <a:t>教育目标能真正持续地面向社会正价值产出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en-US" altLang="zh-CN" b="1">
                <a:solidFill>
                  <a:srgbClr val="00B050"/>
                </a:solidFill>
              </a:rPr>
              <a:t>IT</a:t>
            </a:r>
            <a:r>
              <a:rPr lang="zh-CN" altLang="en-US" b="1">
                <a:solidFill>
                  <a:srgbClr val="00B050"/>
                </a:solidFill>
              </a:rPr>
              <a:t>义务培养阶段与产业需求脱节，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人才供给错配</a:t>
            </a:r>
            <a:r>
              <a:rPr lang="zh-CN" altLang="en-US" b="1">
                <a:solidFill>
                  <a:srgbClr val="00B050"/>
                </a:solidFill>
              </a:rPr>
              <a:t>；学历分数影响人才成长方向，偏离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核心目标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社会正价值产出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全学段 IT 培养链条不连续，启蒙、实践、评价缺乏有效衔接；导致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终身学习过程分散，不成体系；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高质量、体系化的 IT 科普资源不足，大众认知易产生偏差，容易被误导；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理解：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理论与应用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实践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天然一体：不可分割，互相促进、共同成长；都为价值产出服务，只是视角不同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校园具备自身实践特色：高校和初高中教学、科研、项目均属于实践范畴，只是场景与侧重点不同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学历可参考，但非唯一标准：能力、经验、成果才是 IT 人才的核心判断依据，学历只是参考内容之一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根因：</a:t>
            </a:r>
            <a:r>
              <a:rPr lang="zh-CN" altLang="en-US" sz="1800" b="1">
                <a:solidFill>
                  <a:srgbClr val="00B050"/>
                </a:solidFill>
              </a:rPr>
              <a:t>科普</a:t>
            </a:r>
            <a:r>
              <a:rPr lang="en-US" altLang="zh-CN" sz="1800" b="1">
                <a:solidFill>
                  <a:srgbClr val="00B050"/>
                </a:solidFill>
              </a:rPr>
              <a:t>+AI</a:t>
            </a:r>
            <a:r>
              <a:rPr lang="zh-CN" altLang="en-US" sz="1800" b="1">
                <a:solidFill>
                  <a:srgbClr val="00B050"/>
                </a:solidFill>
              </a:rPr>
              <a:t>过弱，没有与义务培养和社会历练进行紧密结合互动；三者形成互动才能促进三者都良性发展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方法：</a:t>
            </a:r>
            <a:r>
              <a:rPr lang="zh-CN" altLang="en-US" sz="1800" b="1">
                <a:solidFill>
                  <a:srgbClr val="00B050"/>
                </a:solidFill>
              </a:rPr>
              <a:t>参考架构设计中的逐步重构，和多版本迭代升级的思路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en-US" altLang="zh-CN" sz="1800" b="1">
                <a:solidFill>
                  <a:srgbClr val="00B050"/>
                </a:solidFill>
              </a:rPr>
              <a:t>1.0</a:t>
            </a:r>
            <a:r>
              <a:rPr lang="zh-CN" altLang="en-US" sz="1800" b="1">
                <a:solidFill>
                  <a:srgbClr val="00B050"/>
                </a:solidFill>
              </a:rPr>
              <a:t>版，科普先行</a:t>
            </a:r>
            <a:r>
              <a:rPr lang="en-US" altLang="zh-CN" sz="1800" b="1">
                <a:solidFill>
                  <a:srgbClr val="00B050"/>
                </a:solidFill>
              </a:rPr>
              <a:t>+</a:t>
            </a:r>
            <a:r>
              <a:rPr lang="zh-CN" altLang="en-US" sz="1800" b="1">
                <a:solidFill>
                  <a:srgbClr val="00B050"/>
                </a:solidFill>
              </a:rPr>
              <a:t>认知引导：建立审核认证科普内容体系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扶植有效的科普组织和个人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引导规范</a:t>
            </a:r>
            <a:r>
              <a:rPr lang="en-US" altLang="zh-CN" sz="1800" b="1">
                <a:solidFill>
                  <a:srgbClr val="00B050"/>
                </a:solidFill>
              </a:rPr>
              <a:t>IT</a:t>
            </a:r>
            <a:r>
              <a:rPr lang="zh-CN" altLang="en-US" sz="1800" b="1">
                <a:solidFill>
                  <a:srgbClr val="00B050"/>
                </a:solidFill>
              </a:rPr>
              <a:t>培训市场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en-US" altLang="zh-CN" sz="1800" b="1">
                <a:solidFill>
                  <a:srgbClr val="00B050"/>
                </a:solidFill>
              </a:rPr>
              <a:t>2.0</a:t>
            </a:r>
            <a:r>
              <a:rPr lang="zh-CN" altLang="en-US" sz="1800" b="1">
                <a:solidFill>
                  <a:srgbClr val="00B050"/>
                </a:solidFill>
              </a:rPr>
              <a:t>版，教材协同</a:t>
            </a:r>
            <a:r>
              <a:rPr lang="en-US" altLang="zh-CN" sz="1800" b="1">
                <a:solidFill>
                  <a:srgbClr val="00B050"/>
                </a:solidFill>
              </a:rPr>
              <a:t>+</a:t>
            </a:r>
            <a:r>
              <a:rPr lang="zh-CN" altLang="en-US" sz="1800" b="1">
                <a:solidFill>
                  <a:srgbClr val="00B050"/>
                </a:solidFill>
              </a:rPr>
              <a:t>内容优化：科普和</a:t>
            </a:r>
            <a:r>
              <a:rPr lang="en-US" altLang="zh-CN" sz="1800" b="1">
                <a:solidFill>
                  <a:srgbClr val="00B050"/>
                </a:solidFill>
              </a:rPr>
              <a:t>IT</a:t>
            </a:r>
            <a:r>
              <a:rPr lang="zh-CN" altLang="en-US" sz="1800" b="1">
                <a:solidFill>
                  <a:srgbClr val="00B050"/>
                </a:solidFill>
              </a:rPr>
              <a:t>企业参与教材完善更新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注重实践和可迭代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通过教材促教学自然升级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en-US" altLang="zh-CN" sz="1800" b="1">
                <a:solidFill>
                  <a:srgbClr val="00B050"/>
                </a:solidFill>
              </a:rPr>
              <a:t>3.0</a:t>
            </a:r>
            <a:r>
              <a:rPr lang="zh-CN" altLang="en-US" sz="1800" b="1">
                <a:solidFill>
                  <a:srgbClr val="00B050"/>
                </a:solidFill>
              </a:rPr>
              <a:t>版，评价完善</a:t>
            </a:r>
            <a:r>
              <a:rPr lang="en-US" altLang="zh-CN" sz="1800" b="1">
                <a:solidFill>
                  <a:srgbClr val="00B050"/>
                </a:solidFill>
              </a:rPr>
              <a:t>+</a:t>
            </a:r>
            <a:r>
              <a:rPr lang="zh-CN" altLang="en-US" sz="1800" b="1">
                <a:solidFill>
                  <a:srgbClr val="00B050"/>
                </a:solidFill>
              </a:rPr>
              <a:t>长效固化：完善</a:t>
            </a:r>
            <a:r>
              <a:rPr lang="en-US" altLang="zh-CN" sz="1800" b="1">
                <a:solidFill>
                  <a:srgbClr val="00B050"/>
                </a:solidFill>
              </a:rPr>
              <a:t>IT</a:t>
            </a:r>
            <a:r>
              <a:rPr lang="zh-CN" altLang="en-US" sz="1800" b="1">
                <a:solidFill>
                  <a:srgbClr val="00B050"/>
                </a:solidFill>
              </a:rPr>
              <a:t>人才评价制度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学历参考与能力核心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将</a:t>
            </a:r>
            <a:r>
              <a:rPr lang="en-US" altLang="zh-CN" sz="1800" b="1">
                <a:solidFill>
                  <a:srgbClr val="00B050"/>
                </a:solidFill>
              </a:rPr>
              <a:t>1.0</a:t>
            </a:r>
            <a:r>
              <a:rPr lang="zh-CN" altLang="en-US" sz="1800" b="1">
                <a:solidFill>
                  <a:srgbClr val="00B050"/>
                </a:solidFill>
              </a:rPr>
              <a:t>和</a:t>
            </a:r>
            <a:r>
              <a:rPr lang="en-US" altLang="zh-CN" sz="1800" b="1">
                <a:solidFill>
                  <a:srgbClr val="00B050"/>
                </a:solidFill>
              </a:rPr>
              <a:t>2.0</a:t>
            </a:r>
            <a:r>
              <a:rPr lang="zh-CN" altLang="en-US" sz="1800" b="1">
                <a:solidFill>
                  <a:srgbClr val="00B050"/>
                </a:solidFill>
              </a:rPr>
              <a:t>的成熟内容固化为机制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难点：</a:t>
            </a:r>
            <a:r>
              <a:rPr lang="en-US" altLang="zh-CN" sz="1800" b="1">
                <a:solidFill>
                  <a:srgbClr val="00B050"/>
                </a:solidFill>
              </a:rPr>
              <a:t>1.0</a:t>
            </a:r>
            <a:r>
              <a:rPr lang="zh-CN" altLang="en-US" sz="1800" b="1">
                <a:solidFill>
                  <a:srgbClr val="00B050"/>
                </a:solidFill>
              </a:rPr>
              <a:t>版启动最难</a:t>
            </a:r>
            <a:r>
              <a:rPr lang="en-US" altLang="zh-CN" sz="1800" b="1">
                <a:solidFill>
                  <a:srgbClr val="00B050"/>
                </a:solidFill>
              </a:rPr>
              <a:t>(</a:t>
            </a:r>
            <a:r>
              <a:rPr lang="zh-CN" altLang="en-US" sz="1800" b="1">
                <a:solidFill>
                  <a:srgbClr val="00B050"/>
                </a:solidFill>
              </a:rPr>
              <a:t>见效慢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人才缺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协调难</a:t>
            </a:r>
            <a:r>
              <a:rPr lang="en-US" altLang="zh-CN" sz="1800" b="1">
                <a:solidFill>
                  <a:srgbClr val="00B050"/>
                </a:solidFill>
              </a:rPr>
              <a:t>)</a:t>
            </a:r>
            <a:r>
              <a:rPr lang="zh-CN" altLang="en-US" sz="1800" b="1">
                <a:solidFill>
                  <a:srgbClr val="00B050"/>
                </a:solidFill>
              </a:rPr>
              <a:t>，</a:t>
            </a:r>
            <a:r>
              <a:rPr lang="en-US" altLang="zh-CN" sz="1800" b="1">
                <a:solidFill>
                  <a:srgbClr val="00B050"/>
                </a:solidFill>
              </a:rPr>
              <a:t>2.0</a:t>
            </a:r>
            <a:r>
              <a:rPr lang="zh-CN" altLang="en-US" sz="1800" b="1">
                <a:solidFill>
                  <a:srgbClr val="00B050"/>
                </a:solidFill>
              </a:rPr>
              <a:t>版以协调为主</a:t>
            </a:r>
            <a:r>
              <a:rPr lang="en-US" altLang="zh-CN" sz="1800" b="1">
                <a:solidFill>
                  <a:srgbClr val="00B050"/>
                </a:solidFill>
              </a:rPr>
              <a:t>(</a:t>
            </a:r>
            <a:r>
              <a:rPr lang="zh-CN" altLang="en-US" sz="1800" b="1">
                <a:solidFill>
                  <a:srgbClr val="00B050"/>
                </a:solidFill>
              </a:rPr>
              <a:t>容易非常多</a:t>
            </a:r>
            <a:r>
              <a:rPr lang="en-US" altLang="zh-CN" sz="1800" b="1">
                <a:solidFill>
                  <a:srgbClr val="00B050"/>
                </a:solidFill>
              </a:rPr>
              <a:t>)</a:t>
            </a:r>
            <a:r>
              <a:rPr lang="zh-CN" altLang="en-US" sz="1800" b="1">
                <a:solidFill>
                  <a:srgbClr val="00B050"/>
                </a:solidFill>
              </a:rPr>
              <a:t>，</a:t>
            </a:r>
            <a:r>
              <a:rPr lang="en-US" altLang="zh-CN" sz="1800" b="1">
                <a:solidFill>
                  <a:srgbClr val="00B050"/>
                </a:solidFill>
              </a:rPr>
              <a:t>3.0</a:t>
            </a:r>
            <a:r>
              <a:rPr lang="zh-CN" altLang="en-US" sz="1800" b="1">
                <a:solidFill>
                  <a:srgbClr val="00B050"/>
                </a:solidFill>
              </a:rPr>
              <a:t>版是顺势而为</a:t>
            </a:r>
            <a:r>
              <a:rPr lang="en-US" altLang="zh-CN" sz="1800" b="1">
                <a:solidFill>
                  <a:srgbClr val="00B050"/>
                </a:solidFill>
              </a:rPr>
              <a:t>(</a:t>
            </a:r>
            <a:r>
              <a:rPr lang="zh-CN" altLang="en-US" sz="1800" b="1">
                <a:solidFill>
                  <a:srgbClr val="00B050"/>
                </a:solidFill>
              </a:rPr>
              <a:t>注意节奏</a:t>
            </a:r>
            <a:r>
              <a:rPr lang="en-US" altLang="zh-CN" sz="1800" b="1">
                <a:solidFill>
                  <a:srgbClr val="00B050"/>
                </a:solidFill>
              </a:rPr>
              <a:t>)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尝试：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个人先行，以内容价值为主，不依赖体制；以科普</a:t>
            </a:r>
            <a:r>
              <a:rPr lang="en-US" altLang="zh-CN" b="1">
                <a:solidFill>
                  <a:srgbClr val="00B050"/>
                </a:solidFill>
              </a:rPr>
              <a:t>IT</a:t>
            </a:r>
            <a:r>
              <a:rPr lang="zh-CN" altLang="en-US" b="1">
                <a:solidFill>
                  <a:srgbClr val="00B050"/>
                </a:solidFill>
              </a:rPr>
              <a:t>谈视频账号为主，为科普体系提供参考样本和经验教训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以视频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直播为主，其他方式为辅；长期传播，可分享、可积累；未来可成为官方补充，也可独立长期输出沉淀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不预设官方对接、不追求试点落地，力所能及、量力而行；以业余方式开展，期待能稳定、高质量、自运行</a:t>
            </a:r>
            <a:endParaRPr lang="zh-CN" altLang="en-US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490855"/>
            <a:ext cx="10613390" cy="764540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关注</a:t>
            </a:r>
            <a:r>
              <a:rPr lang="en-US" altLang="zh-CN">
                <a:solidFill>
                  <a:srgbClr val="00B050"/>
                </a:solidFill>
              </a:rPr>
              <a:t>IT</a:t>
            </a:r>
            <a:r>
              <a:rPr lang="zh-CN" altLang="en-US">
                <a:solidFill>
                  <a:srgbClr val="00B050"/>
                </a:solidFill>
              </a:rPr>
              <a:t>教育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个人尝试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879600"/>
            <a:ext cx="12191365" cy="4650105"/>
          </a:xfrm>
        </p:spPr>
        <p:txBody>
          <a:bodyPr>
            <a:normAutofit lnSpcReduction="10000"/>
          </a:bodyPr>
          <a:p>
            <a:r>
              <a:rPr lang="en-US" altLang="zh-CN" b="1">
                <a:solidFill>
                  <a:srgbClr val="00B050"/>
                </a:solidFill>
              </a:rPr>
              <a:t> </a:t>
            </a:r>
            <a:r>
              <a:rPr lang="zh-CN" altLang="en-US" b="1">
                <a:solidFill>
                  <a:srgbClr val="00B050"/>
                </a:solidFill>
              </a:rPr>
              <a:t>立身</a:t>
            </a:r>
            <a:r>
              <a:rPr lang="en-US" altLang="zh-CN" sz="1800" b="1">
                <a:solidFill>
                  <a:srgbClr val="00B050"/>
                </a:solidFill>
              </a:rPr>
              <a:t>(</a:t>
            </a:r>
            <a:r>
              <a:rPr lang="zh-CN" altLang="en-US" sz="1800" b="1">
                <a:solidFill>
                  <a:srgbClr val="00B050"/>
                </a:solidFill>
              </a:rPr>
              <a:t>实践</a:t>
            </a:r>
            <a:r>
              <a:rPr lang="en-US" altLang="zh-CN" sz="1800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en-US" altLang="zh-CN" b="1">
                <a:solidFill>
                  <a:srgbClr val="00B050"/>
                </a:solidFill>
              </a:rPr>
              <a:t> </a:t>
            </a:r>
            <a:r>
              <a:rPr lang="zh-CN" altLang="en-US" b="1">
                <a:solidFill>
                  <a:srgbClr val="00B050"/>
                </a:solidFill>
              </a:rPr>
              <a:t>启智</a:t>
            </a:r>
            <a:r>
              <a:rPr lang="en-US" altLang="zh-CN" sz="1800" b="1">
                <a:solidFill>
                  <a:srgbClr val="00B050"/>
                </a:solidFill>
              </a:rPr>
              <a:t>(</a:t>
            </a:r>
            <a:r>
              <a:rPr lang="zh-CN" altLang="en-US" sz="1800" b="1">
                <a:solidFill>
                  <a:srgbClr val="00B050"/>
                </a:solidFill>
              </a:rPr>
              <a:t>理论</a:t>
            </a:r>
            <a:r>
              <a:rPr lang="en-US" altLang="zh-CN" sz="1800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en-US" altLang="zh-CN" b="1">
                <a:solidFill>
                  <a:srgbClr val="00B050"/>
                </a:solidFill>
              </a:rPr>
              <a:t> </a:t>
            </a:r>
            <a:r>
              <a:rPr lang="zh-CN" altLang="en-US" b="1">
                <a:solidFill>
                  <a:srgbClr val="00B050"/>
                </a:solidFill>
              </a:rPr>
              <a:t>明道</a:t>
            </a:r>
            <a:r>
              <a:rPr lang="en-US" altLang="zh-CN" sz="1800" b="1">
                <a:solidFill>
                  <a:srgbClr val="00B050"/>
                </a:solidFill>
              </a:rPr>
              <a:t>(</a:t>
            </a:r>
            <a:r>
              <a:rPr lang="zh-CN" altLang="en-US" sz="1800" b="1">
                <a:solidFill>
                  <a:srgbClr val="00B050"/>
                </a:solidFill>
              </a:rPr>
              <a:t>精神</a:t>
            </a:r>
            <a:r>
              <a:rPr lang="en-US" altLang="zh-CN" sz="1800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490855"/>
            <a:ext cx="10613390" cy="764540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关注</a:t>
            </a:r>
            <a:r>
              <a:rPr lang="en-US" altLang="zh-CN">
                <a:solidFill>
                  <a:srgbClr val="00B050"/>
                </a:solidFill>
              </a:rPr>
              <a:t>IT</a:t>
            </a:r>
            <a:r>
              <a:rPr lang="zh-CN" altLang="en-US">
                <a:solidFill>
                  <a:srgbClr val="00B050"/>
                </a:solidFill>
              </a:rPr>
              <a:t>教育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个人尝试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879600"/>
            <a:ext cx="12191365" cy="4650105"/>
          </a:xfrm>
        </p:spPr>
        <p:txBody>
          <a:bodyPr>
            <a:normAutofit lnSpcReduction="10000"/>
          </a:bodyPr>
          <a:p>
            <a:r>
              <a:rPr lang="en-US" altLang="zh-CN" b="1">
                <a:solidFill>
                  <a:srgbClr val="00B050"/>
                </a:solidFill>
              </a:rPr>
              <a:t> </a:t>
            </a:r>
            <a:r>
              <a:rPr lang="zh-CN" altLang="en-US" b="1">
                <a:solidFill>
                  <a:srgbClr val="00B050"/>
                </a:solidFill>
              </a:rPr>
              <a:t>立身</a:t>
            </a:r>
            <a:r>
              <a:rPr lang="en-US" altLang="zh-CN" sz="1800" b="1">
                <a:solidFill>
                  <a:srgbClr val="00B050"/>
                </a:solidFill>
              </a:rPr>
              <a:t>(</a:t>
            </a:r>
            <a:r>
              <a:rPr lang="zh-CN" altLang="en-US" sz="1800" b="1">
                <a:solidFill>
                  <a:srgbClr val="00B050"/>
                </a:solidFill>
              </a:rPr>
              <a:t>实践</a:t>
            </a:r>
            <a:r>
              <a:rPr lang="en-US" altLang="zh-CN" sz="1800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基于网络、电力和</a:t>
            </a:r>
            <a:r>
              <a:rPr lang="en-US" altLang="zh-CN" b="1">
                <a:solidFill>
                  <a:srgbClr val="00B050"/>
                </a:solidFill>
              </a:rPr>
              <a:t>AI</a:t>
            </a:r>
            <a:r>
              <a:rPr lang="zh-CN" altLang="en-US" b="1">
                <a:solidFill>
                  <a:srgbClr val="00B050"/>
                </a:solidFill>
              </a:rPr>
              <a:t>等基础设施红利，为视频科普提供关键基础支撑。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在企业中做兼职人员，由此维持日常生活开销，同时也可始终保持自己对</a:t>
            </a:r>
            <a:r>
              <a:rPr lang="en-US" altLang="zh-CN" b="1">
                <a:solidFill>
                  <a:srgbClr val="00B050"/>
                </a:solidFill>
              </a:rPr>
              <a:t>IT</a:t>
            </a:r>
            <a:r>
              <a:rPr lang="zh-CN" altLang="en-US" b="1">
                <a:solidFill>
                  <a:srgbClr val="00B050"/>
                </a:solidFill>
              </a:rPr>
              <a:t>一线的感知和实践学习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不拒绝科普落地实践，获取一些随缘收入，不拘于形式；但必须保证正价值导向，并确保对各方和整体无副作用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en-US" altLang="zh-CN" b="1">
                <a:solidFill>
                  <a:srgbClr val="00B050"/>
                </a:solidFill>
              </a:rPr>
              <a:t> </a:t>
            </a:r>
            <a:r>
              <a:rPr lang="zh-CN" altLang="en-US" b="1">
                <a:solidFill>
                  <a:srgbClr val="00B050"/>
                </a:solidFill>
              </a:rPr>
              <a:t>启智</a:t>
            </a:r>
            <a:r>
              <a:rPr lang="en-US" altLang="zh-CN" sz="1800" b="1">
                <a:solidFill>
                  <a:srgbClr val="00B050"/>
                </a:solidFill>
              </a:rPr>
              <a:t>(</a:t>
            </a:r>
            <a:r>
              <a:rPr lang="zh-CN" altLang="en-US" sz="1800" b="1">
                <a:solidFill>
                  <a:srgbClr val="00B050"/>
                </a:solidFill>
              </a:rPr>
              <a:t>理论</a:t>
            </a:r>
            <a:r>
              <a:rPr lang="en-US" altLang="zh-CN" sz="1800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en-US" altLang="zh-CN" b="1">
                <a:solidFill>
                  <a:srgbClr val="00B050"/>
                </a:solidFill>
              </a:rPr>
              <a:t> </a:t>
            </a:r>
            <a:r>
              <a:rPr lang="zh-CN" altLang="en-US" b="1">
                <a:solidFill>
                  <a:srgbClr val="00B050"/>
                </a:solidFill>
              </a:rPr>
              <a:t>明道</a:t>
            </a:r>
            <a:r>
              <a:rPr lang="en-US" altLang="zh-CN" sz="1800" b="1">
                <a:solidFill>
                  <a:srgbClr val="00B050"/>
                </a:solidFill>
              </a:rPr>
              <a:t>(</a:t>
            </a:r>
            <a:r>
              <a:rPr lang="zh-CN" altLang="en-US" sz="1800" b="1">
                <a:solidFill>
                  <a:srgbClr val="00B050"/>
                </a:solidFill>
              </a:rPr>
              <a:t>精神</a:t>
            </a:r>
            <a:r>
              <a:rPr lang="en-US" altLang="zh-CN" sz="1800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490855"/>
            <a:ext cx="10613390" cy="764540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关注</a:t>
            </a:r>
            <a:r>
              <a:rPr lang="en-US" altLang="zh-CN">
                <a:solidFill>
                  <a:srgbClr val="00B050"/>
                </a:solidFill>
              </a:rPr>
              <a:t>IT</a:t>
            </a:r>
            <a:r>
              <a:rPr lang="zh-CN" altLang="en-US">
                <a:solidFill>
                  <a:srgbClr val="00B050"/>
                </a:solidFill>
              </a:rPr>
              <a:t>教育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个人尝试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879600"/>
            <a:ext cx="12191365" cy="4650105"/>
          </a:xfrm>
        </p:spPr>
        <p:txBody>
          <a:bodyPr>
            <a:normAutofit lnSpcReduction="10000"/>
          </a:bodyPr>
          <a:p>
            <a:r>
              <a:rPr lang="en-US" altLang="zh-CN" b="1">
                <a:solidFill>
                  <a:srgbClr val="00B050"/>
                </a:solidFill>
              </a:rPr>
              <a:t> </a:t>
            </a:r>
            <a:r>
              <a:rPr lang="zh-CN" altLang="en-US" b="1">
                <a:solidFill>
                  <a:srgbClr val="00B050"/>
                </a:solidFill>
              </a:rPr>
              <a:t>立身</a:t>
            </a:r>
            <a:r>
              <a:rPr lang="en-US" altLang="zh-CN" sz="1800" b="1">
                <a:solidFill>
                  <a:srgbClr val="00B050"/>
                </a:solidFill>
              </a:rPr>
              <a:t>(</a:t>
            </a:r>
            <a:r>
              <a:rPr lang="zh-CN" altLang="en-US" sz="1800" b="1">
                <a:solidFill>
                  <a:srgbClr val="00B050"/>
                </a:solidFill>
              </a:rPr>
              <a:t>实践</a:t>
            </a:r>
            <a:r>
              <a:rPr lang="en-US" altLang="zh-CN" sz="1800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基于网络、电力和</a:t>
            </a:r>
            <a:r>
              <a:rPr lang="en-US" altLang="zh-CN" b="1">
                <a:solidFill>
                  <a:srgbClr val="00B050"/>
                </a:solidFill>
              </a:rPr>
              <a:t>AI</a:t>
            </a:r>
            <a:r>
              <a:rPr lang="zh-CN" altLang="en-US" b="1">
                <a:solidFill>
                  <a:srgbClr val="00B050"/>
                </a:solidFill>
              </a:rPr>
              <a:t>等基础设施红利，为视频科普提供关键基础支撑。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在企业中做兼职人员，由此维持日常生活开销，同时也可始终保持自己对</a:t>
            </a:r>
            <a:r>
              <a:rPr lang="en-US" altLang="zh-CN" b="1">
                <a:solidFill>
                  <a:srgbClr val="00B050"/>
                </a:solidFill>
              </a:rPr>
              <a:t>IT</a:t>
            </a:r>
            <a:r>
              <a:rPr lang="zh-CN" altLang="en-US" b="1">
                <a:solidFill>
                  <a:srgbClr val="00B050"/>
                </a:solidFill>
              </a:rPr>
              <a:t>一线的感知和实践学习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不拒绝科普落地实践，获取一些随缘收入，不拘于形式；但必须保证正价值导向，并确保对各方和整体无副作用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en-US" altLang="zh-CN" b="1">
                <a:solidFill>
                  <a:srgbClr val="00B050"/>
                </a:solidFill>
              </a:rPr>
              <a:t> </a:t>
            </a:r>
            <a:r>
              <a:rPr lang="zh-CN" altLang="en-US" b="1">
                <a:solidFill>
                  <a:srgbClr val="00B050"/>
                </a:solidFill>
              </a:rPr>
              <a:t>启智</a:t>
            </a:r>
            <a:r>
              <a:rPr lang="en-US" altLang="zh-CN" sz="1800" b="1">
                <a:solidFill>
                  <a:srgbClr val="00B050"/>
                </a:solidFill>
              </a:rPr>
              <a:t>(</a:t>
            </a:r>
            <a:r>
              <a:rPr lang="zh-CN" altLang="en-US" sz="1800" b="1">
                <a:solidFill>
                  <a:srgbClr val="00B050"/>
                </a:solidFill>
              </a:rPr>
              <a:t>理论</a:t>
            </a:r>
            <a:r>
              <a:rPr lang="en-US" altLang="zh-CN" sz="1800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主体内容：</a:t>
            </a:r>
            <a:r>
              <a:rPr lang="en-US" altLang="zh-CN" b="1">
                <a:solidFill>
                  <a:srgbClr val="00B050"/>
                </a:solidFill>
              </a:rPr>
              <a:t>IT</a:t>
            </a:r>
            <a:r>
              <a:rPr lang="zh-CN" altLang="en-US" b="1">
                <a:solidFill>
                  <a:srgbClr val="00B050"/>
                </a:solidFill>
              </a:rPr>
              <a:t>地图导航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发展规划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物理通用；整理总结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逐步完善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版本管理；抖音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快手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小红书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视频号</a:t>
            </a:r>
            <a:r>
              <a:rPr lang="en-US" altLang="zh-CN" b="1">
                <a:solidFill>
                  <a:srgbClr val="00B050"/>
                </a:solidFill>
              </a:rPr>
              <a:t>/B</a:t>
            </a:r>
            <a:r>
              <a:rPr lang="zh-CN" altLang="en-US" b="1">
                <a:solidFill>
                  <a:srgbClr val="00B050"/>
                </a:solidFill>
              </a:rPr>
              <a:t>站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交互完善：后继多线上互动，对需求议题进行整理总结，每周抛出对</a:t>
            </a:r>
            <a:r>
              <a:rPr lang="en-US" altLang="zh-CN" b="1">
                <a:solidFill>
                  <a:srgbClr val="00B050"/>
                </a:solidFill>
              </a:rPr>
              <a:t>1-2</a:t>
            </a:r>
            <a:r>
              <a:rPr lang="zh-CN" altLang="en-US" b="1">
                <a:solidFill>
                  <a:srgbClr val="00B050"/>
                </a:solidFill>
              </a:rPr>
              <a:t>个需求点的有一定价值的讨论总结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直播互动：等后继线上交互成熟后，再开启直播，提升线上互动的效率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每周</a:t>
            </a:r>
            <a:r>
              <a:rPr lang="en-US" altLang="zh-CN" b="1">
                <a:solidFill>
                  <a:srgbClr val="00B050"/>
                </a:solidFill>
              </a:rPr>
              <a:t>1-2</a:t>
            </a:r>
            <a:r>
              <a:rPr lang="zh-CN" altLang="en-US" b="1">
                <a:solidFill>
                  <a:srgbClr val="00B050"/>
                </a:solidFill>
              </a:rPr>
              <a:t>次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en-US" altLang="zh-CN" b="1">
                <a:solidFill>
                  <a:srgbClr val="00B050"/>
                </a:solidFill>
              </a:rPr>
              <a:t> </a:t>
            </a:r>
            <a:r>
              <a:rPr lang="zh-CN" altLang="en-US" b="1">
                <a:solidFill>
                  <a:srgbClr val="00B050"/>
                </a:solidFill>
              </a:rPr>
              <a:t>明道</a:t>
            </a:r>
            <a:r>
              <a:rPr lang="en-US" altLang="zh-CN" sz="1800" b="1">
                <a:solidFill>
                  <a:srgbClr val="00B050"/>
                </a:solidFill>
              </a:rPr>
              <a:t>(</a:t>
            </a:r>
            <a:r>
              <a:rPr lang="zh-CN" altLang="en-US" sz="1800" b="1">
                <a:solidFill>
                  <a:srgbClr val="00B050"/>
                </a:solidFill>
              </a:rPr>
              <a:t>精神</a:t>
            </a:r>
            <a:r>
              <a:rPr lang="en-US" altLang="zh-CN" sz="1800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490855"/>
            <a:ext cx="10613390" cy="764540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关注</a:t>
            </a:r>
            <a:r>
              <a:rPr lang="en-US" altLang="zh-CN">
                <a:solidFill>
                  <a:srgbClr val="00B050"/>
                </a:solidFill>
              </a:rPr>
              <a:t>IT</a:t>
            </a:r>
            <a:r>
              <a:rPr lang="zh-CN" altLang="en-US">
                <a:solidFill>
                  <a:srgbClr val="00B050"/>
                </a:solidFill>
              </a:rPr>
              <a:t>教育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个人尝试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879600"/>
            <a:ext cx="12191365" cy="4650105"/>
          </a:xfrm>
        </p:spPr>
        <p:txBody>
          <a:bodyPr>
            <a:normAutofit lnSpcReduction="10000"/>
          </a:bodyPr>
          <a:p>
            <a:r>
              <a:rPr lang="en-US" altLang="zh-CN" b="1">
                <a:solidFill>
                  <a:srgbClr val="00B050"/>
                </a:solidFill>
              </a:rPr>
              <a:t> </a:t>
            </a:r>
            <a:r>
              <a:rPr lang="zh-CN" altLang="en-US" b="1">
                <a:solidFill>
                  <a:srgbClr val="00B050"/>
                </a:solidFill>
              </a:rPr>
              <a:t>立身</a:t>
            </a:r>
            <a:r>
              <a:rPr lang="en-US" altLang="zh-CN" sz="1800" b="1">
                <a:solidFill>
                  <a:srgbClr val="00B050"/>
                </a:solidFill>
              </a:rPr>
              <a:t>(</a:t>
            </a:r>
            <a:r>
              <a:rPr lang="zh-CN" altLang="en-US" sz="1800" b="1">
                <a:solidFill>
                  <a:srgbClr val="00B050"/>
                </a:solidFill>
              </a:rPr>
              <a:t>实践</a:t>
            </a:r>
            <a:r>
              <a:rPr lang="en-US" altLang="zh-CN" sz="1800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基于网络、电力和</a:t>
            </a:r>
            <a:r>
              <a:rPr lang="en-US" altLang="zh-CN" b="1">
                <a:solidFill>
                  <a:srgbClr val="00B050"/>
                </a:solidFill>
              </a:rPr>
              <a:t>AI</a:t>
            </a:r>
            <a:r>
              <a:rPr lang="zh-CN" altLang="en-US" b="1">
                <a:solidFill>
                  <a:srgbClr val="00B050"/>
                </a:solidFill>
              </a:rPr>
              <a:t>等基础设施红利，为视频科普提供关键基础支撑。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在企业中做兼职人员，由此维持日常生活开销，同时也可始终保持自己对</a:t>
            </a:r>
            <a:r>
              <a:rPr lang="en-US" altLang="zh-CN" b="1">
                <a:solidFill>
                  <a:srgbClr val="00B050"/>
                </a:solidFill>
              </a:rPr>
              <a:t>IT</a:t>
            </a:r>
            <a:r>
              <a:rPr lang="zh-CN" altLang="en-US" b="1">
                <a:solidFill>
                  <a:srgbClr val="00B050"/>
                </a:solidFill>
              </a:rPr>
              <a:t>一线的感知和实践学习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不拒绝科普落地实践，获取一些随缘收入，不拘于形式；但必须保证正价值导向，并确保对各方和整体无副作用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en-US" altLang="zh-CN" b="1">
                <a:solidFill>
                  <a:srgbClr val="00B050"/>
                </a:solidFill>
              </a:rPr>
              <a:t> </a:t>
            </a:r>
            <a:r>
              <a:rPr lang="zh-CN" altLang="en-US" b="1">
                <a:solidFill>
                  <a:srgbClr val="00B050"/>
                </a:solidFill>
              </a:rPr>
              <a:t>启智</a:t>
            </a:r>
            <a:r>
              <a:rPr lang="en-US" altLang="zh-CN" sz="1800" b="1">
                <a:solidFill>
                  <a:srgbClr val="00B050"/>
                </a:solidFill>
              </a:rPr>
              <a:t>(</a:t>
            </a:r>
            <a:r>
              <a:rPr lang="zh-CN" altLang="en-US" sz="1800" b="1">
                <a:solidFill>
                  <a:srgbClr val="00B050"/>
                </a:solidFill>
              </a:rPr>
              <a:t>理论</a:t>
            </a:r>
            <a:r>
              <a:rPr lang="en-US" altLang="zh-CN" sz="1800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主体内容：</a:t>
            </a:r>
            <a:r>
              <a:rPr lang="en-US" altLang="zh-CN" b="1">
                <a:solidFill>
                  <a:srgbClr val="00B050"/>
                </a:solidFill>
              </a:rPr>
              <a:t>IT</a:t>
            </a:r>
            <a:r>
              <a:rPr lang="zh-CN" altLang="en-US" b="1">
                <a:solidFill>
                  <a:srgbClr val="00B050"/>
                </a:solidFill>
              </a:rPr>
              <a:t>地图导航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发展规划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物理通用；整理总结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逐步完善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版本管理；抖音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快手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小红书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视频号</a:t>
            </a:r>
            <a:r>
              <a:rPr lang="en-US" altLang="zh-CN" b="1">
                <a:solidFill>
                  <a:srgbClr val="00B050"/>
                </a:solidFill>
              </a:rPr>
              <a:t>/B</a:t>
            </a:r>
            <a:r>
              <a:rPr lang="zh-CN" altLang="en-US" b="1">
                <a:solidFill>
                  <a:srgbClr val="00B050"/>
                </a:solidFill>
              </a:rPr>
              <a:t>站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交互完善：后继多线上互动，对需求议题进行整理总结，每周抛出对</a:t>
            </a:r>
            <a:r>
              <a:rPr lang="en-US" altLang="zh-CN" b="1">
                <a:solidFill>
                  <a:srgbClr val="00B050"/>
                </a:solidFill>
              </a:rPr>
              <a:t>1-2</a:t>
            </a:r>
            <a:r>
              <a:rPr lang="zh-CN" altLang="en-US" b="1">
                <a:solidFill>
                  <a:srgbClr val="00B050"/>
                </a:solidFill>
              </a:rPr>
              <a:t>个需求点的有一定价值的讨论总结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直播互动：等后继线上交互成熟后，再开启直播，提升线上互动的效率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每周</a:t>
            </a:r>
            <a:r>
              <a:rPr lang="en-US" altLang="zh-CN" b="1">
                <a:solidFill>
                  <a:srgbClr val="00B050"/>
                </a:solidFill>
              </a:rPr>
              <a:t>1-2</a:t>
            </a:r>
            <a:r>
              <a:rPr lang="zh-CN" altLang="en-US" b="1">
                <a:solidFill>
                  <a:srgbClr val="00B050"/>
                </a:solidFill>
              </a:rPr>
              <a:t>次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en-US" altLang="zh-CN" b="1">
                <a:solidFill>
                  <a:srgbClr val="00B050"/>
                </a:solidFill>
              </a:rPr>
              <a:t> </a:t>
            </a:r>
            <a:r>
              <a:rPr lang="zh-CN" altLang="en-US" b="1">
                <a:solidFill>
                  <a:srgbClr val="00B050"/>
                </a:solidFill>
              </a:rPr>
              <a:t>明道</a:t>
            </a:r>
            <a:r>
              <a:rPr lang="en-US" altLang="zh-CN" sz="1800" b="1">
                <a:solidFill>
                  <a:srgbClr val="00B050"/>
                </a:solidFill>
              </a:rPr>
              <a:t>(</a:t>
            </a:r>
            <a:r>
              <a:rPr lang="zh-CN" altLang="en-US" sz="1800" b="1">
                <a:solidFill>
                  <a:srgbClr val="00B050"/>
                </a:solidFill>
              </a:rPr>
              <a:t>精神</a:t>
            </a:r>
            <a:r>
              <a:rPr lang="en-US" altLang="zh-CN" sz="1800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政宗科：明确政治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宗教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科学，三者的定位和关系，相互尊重理解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把握方向：对于启智的讨论内容，始终能确保以正价值产出为导向，并尽可能降低副作用。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价值产出：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理解尊重人的两面性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多样性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动态变化；通过分析价值产出来处理需求根源，提供正向解决方案</a:t>
            </a:r>
            <a:endParaRPr lang="zh-CN" altLang="en-US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宋体"/>
        <a:font script="Hant" typeface="新細明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7486</Words>
  <Application>WPS Presentation</Application>
  <PresentationFormat>宽屏</PresentationFormat>
  <Paragraphs>429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5" baseType="lpstr">
      <vt:lpstr>Arial</vt:lpstr>
      <vt:lpstr>宋体</vt:lpstr>
      <vt:lpstr>Wingdings</vt:lpstr>
      <vt:lpstr>DejaVu Sans</vt:lpstr>
      <vt:lpstr>Droid Sans Fallback</vt:lpstr>
      <vt:lpstr>Arial Black</vt:lpstr>
      <vt:lpstr>微软雅黑</vt:lpstr>
      <vt:lpstr>宋体</vt:lpstr>
      <vt:lpstr>Arial Unicode MS</vt:lpstr>
      <vt:lpstr>OpenSymbol</vt:lpstr>
      <vt:lpstr>Office Theme</vt:lpstr>
      <vt:lpstr>关注IT教育</vt:lpstr>
      <vt:lpstr>关注IT教育-定位定义</vt:lpstr>
      <vt:lpstr>关注IT教育-定位定义</vt:lpstr>
      <vt:lpstr>关注IT教育-定位定义</vt:lpstr>
      <vt:lpstr>关注IT教育-定位定义</vt:lpstr>
      <vt:lpstr>关注IT教育-定位定义</vt:lpstr>
      <vt:lpstr>关注IT教育-基础体系</vt:lpstr>
      <vt:lpstr>关注IT教育-基础体系</vt:lpstr>
      <vt:lpstr>关注IT教育-基础体系</vt:lpstr>
      <vt:lpstr>关注IT教育-现状描述</vt:lpstr>
      <vt:lpstr>关注IT教育-现状描述</vt:lpstr>
      <vt:lpstr>关注IT教育-现状描述</vt:lpstr>
      <vt:lpstr>关注IT教育-现状描述</vt:lpstr>
      <vt:lpstr>关注IT教育-发展趋势</vt:lpstr>
      <vt:lpstr>关注IT教育-发展趋势</vt:lpstr>
      <vt:lpstr>关注IT教育-发展趋势</vt:lpstr>
      <vt:lpstr>关注IT教育-发展趋势</vt:lpstr>
      <vt:lpstr>关注IT教育-发展趋势</vt:lpstr>
      <vt:lpstr>关注IT教育-发展趋势</vt:lpstr>
      <vt:lpstr>关注IT教育-发展趋势</vt:lpstr>
      <vt:lpstr>关注IT教育-个人实践</vt:lpstr>
      <vt:lpstr>关注IT教育-个人实践</vt:lpstr>
      <vt:lpstr>关注IT教育-个人实践</vt:lpstr>
      <vt:lpstr>关注IT教育-个人实践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gchen</cp:lastModifiedBy>
  <cp:revision>1102</cp:revision>
  <dcterms:created xsi:type="dcterms:W3CDTF">2026-03-18T15:21:29Z</dcterms:created>
  <dcterms:modified xsi:type="dcterms:W3CDTF">2026-03-18T15:21:29Z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1033-11.1.0.11723</vt:lpwstr>
  </property>
  <property fmtid="{D5CDD505-2E9C-101B-9397-08002B2CF9AE}" pid="3" name="ICV">
    <vt:lpwstr/>
  </property>
</Properties>
</file>