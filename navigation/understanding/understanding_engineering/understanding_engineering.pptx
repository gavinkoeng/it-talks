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6"/>
  </p:handoutMasterIdLst>
  <p:sldIdLst>
    <p:sldId id="257" r:id="rId3"/>
    <p:sldId id="416" r:id="rId4"/>
    <p:sldId id="519" r:id="rId6"/>
    <p:sldId id="518" r:id="rId7"/>
    <p:sldId id="513" r:id="rId8"/>
    <p:sldId id="504" r:id="rId9"/>
    <p:sldId id="523" r:id="rId10"/>
    <p:sldId id="521" r:id="rId11"/>
    <p:sldId id="524" r:id="rId12"/>
    <p:sldId id="520" r:id="rId13"/>
    <p:sldId id="509" r:id="rId14"/>
    <p:sldId id="527" r:id="rId15"/>
    <p:sldId id="526" r:id="rId16"/>
    <p:sldId id="525" r:id="rId17"/>
    <p:sldId id="511" r:id="rId18"/>
    <p:sldId id="530" r:id="rId19"/>
    <p:sldId id="529" r:id="rId20"/>
    <p:sldId id="528" r:id="rId21"/>
    <p:sldId id="512" r:id="rId22"/>
    <p:sldId id="533" r:id="rId23"/>
    <p:sldId id="532" r:id="rId24"/>
    <p:sldId id="531" r:id="rId2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320"/>
        <p:guide pos="380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1055370"/>
            <a:ext cx="10515600" cy="655955"/>
          </a:xfrm>
        </p:spPr>
        <p:txBody>
          <a:bodyPr>
            <a:normAutofit fontScale="90000"/>
          </a:bodyPr>
          <a:p>
            <a:pPr algn="ctr"/>
            <a:r>
              <a:rPr lang="zh-CN" altLang="en-US" sz="4000">
                <a:solidFill>
                  <a:srgbClr val="00B050"/>
                </a:solidFill>
              </a:rPr>
              <a:t>理解软件工程</a:t>
            </a:r>
            <a:endParaRPr lang="en-US" altLang="zh-CN" sz="40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14575"/>
            <a:ext cx="10515600" cy="4338320"/>
          </a:xfrm>
        </p:spPr>
        <p:txBody>
          <a:bodyPr/>
          <a:p>
            <a:pPr marL="457200" lvl="1" indent="0" algn="ctr">
              <a:buNone/>
            </a:pPr>
            <a:endParaRPr lang="zh-CN" altLang="en-US" sz="800" b="1">
              <a:solidFill>
                <a:srgbClr val="00B050"/>
              </a:solidFill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主体理论</a:t>
            </a:r>
            <a:endParaRPr lang="zh-CN" altLang="en-US" sz="324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定位定义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研发框架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4" algn="ctr"/>
            <a:r>
              <a:rPr lang="zh-CN" altLang="en-US" sz="2000" b="1">
                <a:solidFill>
                  <a:srgbClr val="00B050"/>
                </a:solidFill>
                <a:sym typeface="+mn-ea"/>
              </a:rPr>
              <a:t>通用描述</a:t>
            </a:r>
            <a:endParaRPr lang="zh-CN" altLang="en-US" sz="28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具体实践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pPr lvl="1" algn="ctr"/>
            <a:r>
              <a:rPr lang="zh-CN" altLang="en-US" sz="2800" b="1">
                <a:solidFill>
                  <a:srgbClr val="00B050"/>
                </a:solidFill>
                <a:sym typeface="+mn-ea"/>
              </a:rPr>
              <a:t>学习培养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广义工程：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软件工程：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核心特色：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广义工程：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实践：基于显性的共同目标，对多人或者个人在不同时间段的协同，总结归纳协同相关的客观流程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理论：必须基于人的线性体验和执行的约束，来通过树/迭代/递归/存档等，构建体系化的复杂内容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分类：实体工程(至少某些阶段只能人服务于流程)/软件工程(全阶段都是流程服务于人)；作战/协作/育人</a:t>
            </a:r>
            <a:endParaRPr lang="zh-CN" altLang="en-US" sz="1800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软件工程：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核心特色：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广义工程：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实践：基于显性的共同目标，对多人或者个人在不同时间段的协同，总结归纳协同相关的客观流程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理论：必须基于人的线性体验和执行的约束，来通过树/迭代/递归/存档等，构建体系化的复杂内容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分类：实体工程(至少某些阶段只能人服务于流程)/软件工程(全阶段都是流程服务于人)；作战/协作/育人</a:t>
            </a:r>
            <a:endParaRPr lang="zh-CN" altLang="en-US" sz="1800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软件工程：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包含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行业自身的软件研发流程，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行业的很多工程不是软件工程，例如芯片物理制作，笔记本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手机组装等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包含全行业各类流程辅助人的内容，以业务的形式集成进软件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隐形内容显性化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主观能动性流程化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，形成工具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软件研发人员所参与的工程不一定必须是软件工程，也可参与到实体工程的某些阶段中；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的定位</a:t>
            </a:r>
            <a:r>
              <a:rPr lang="en-US" altLang="zh-CN" b="1">
                <a:solidFill>
                  <a:srgbClr val="00B050"/>
                </a:solidFill>
              </a:rPr>
              <a:t>/AI</a:t>
            </a:r>
            <a:r>
              <a:rPr lang="zh-CN" altLang="en-US" b="1">
                <a:solidFill>
                  <a:srgbClr val="00B050"/>
                </a:solidFill>
              </a:rPr>
              <a:t>语言编程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核心特色：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定位定义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广义工程：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实践：基于显性的共同目标，对多人或者个人在不同时间段的协同，总结归纳协同相关的客观流程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理论：必须基于人的线性体验和执行的约束，来通过树/迭代/递归/存档等，构建体系化的复杂内容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分类：实体工程(至少某些阶段只能人服务于流程)/软件工程(全阶段都是流程服务于人)；作战/协作/育人</a:t>
            </a:r>
            <a:endParaRPr lang="zh-CN" altLang="en-US" sz="1800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软件工程：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包含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行业自身的软件研发流程，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行业的很多工程不是软件工程，例如芯片物理制作，笔记本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手机组装等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包含全行业各类流程辅助人的内容，以业务的形式集成进软件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隐形内容显性化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主观能动性流程化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，形成工具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软件研发人员所参与的工程不一定必须是软件工程，也可参与到实体工程的某些阶段中；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的定位</a:t>
            </a:r>
            <a:r>
              <a:rPr lang="en-US" altLang="zh-CN" b="1">
                <a:solidFill>
                  <a:srgbClr val="00B050"/>
                </a:solidFill>
              </a:rPr>
              <a:t>/AI</a:t>
            </a:r>
            <a:r>
              <a:rPr lang="zh-CN" altLang="en-US" b="1">
                <a:solidFill>
                  <a:srgbClr val="00B050"/>
                </a:solidFill>
              </a:rPr>
              <a:t>语言编程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核心特色：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软件工程只有一个，其根基在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行业内，并向全行业拓展；而实体工程则是所有其他的广义工程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数量庞大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软件工程的核心特点就是流程配合辅助人，而不是人配合辅助流程，流程包含工程本身，全行业广义软件研发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过去只有程序员进行软件研发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未来，所有专业人员都进行阶段性地广义软件研发，且可以在本职工作中实时开展，成为阶段性地广义软件研发人员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由此软件工程真正做到只有一个，并基于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向全行业拓展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对于目前实际的现状，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广义软件开发和自动化都还有非常大的差距</a:t>
            </a:r>
            <a:r>
              <a:rPr lang="zh-CN" altLang="en-US" sz="1800" b="1">
                <a:solidFill>
                  <a:srgbClr val="00B050"/>
                </a:solidFill>
              </a:rPr>
              <a:t>，后继会逐步改变</a:t>
            </a:r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30" y="1638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研发框架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759710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需求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759710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设计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730750" y="547941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593205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593205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730750" y="1966595"/>
            <a:ext cx="1126490" cy="5181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维护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30" y="1638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研发框架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759710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需求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759710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设计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730750" y="547941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593205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593205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5" idx="0"/>
            <a:endCxn id="39" idx="2"/>
          </p:cNvCxnSpPr>
          <p:nvPr/>
        </p:nvCxnSpPr>
        <p:spPr>
          <a:xfrm flipV="1">
            <a:off x="3322955" y="3684270"/>
            <a:ext cx="0" cy="69786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5" idx="2"/>
          </p:cNvCxnSpPr>
          <p:nvPr/>
        </p:nvCxnSpPr>
        <p:spPr>
          <a:xfrm flipH="1" flipV="1">
            <a:off x="3322955" y="4900295"/>
            <a:ext cx="1400810" cy="588010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9" idx="2"/>
          </p:cNvCxnSpPr>
          <p:nvPr/>
        </p:nvCxnSpPr>
        <p:spPr>
          <a:xfrm flipV="1">
            <a:off x="5823585" y="4900295"/>
            <a:ext cx="1332865" cy="55562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2"/>
            <a:endCxn id="9" idx="0"/>
          </p:cNvCxnSpPr>
          <p:nvPr/>
        </p:nvCxnSpPr>
        <p:spPr>
          <a:xfrm>
            <a:off x="7156450" y="3684270"/>
            <a:ext cx="0" cy="69786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s 34"/>
          <p:cNvSpPr/>
          <p:nvPr/>
        </p:nvSpPr>
        <p:spPr>
          <a:xfrm>
            <a:off x="1567180" y="1045210"/>
            <a:ext cx="2031365" cy="1098550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4"/>
                </a:solidFill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</a:rPr>
              <a:t>(</a:t>
            </a:r>
            <a:r>
              <a:rPr lang="zh-CN" altLang="en-US" sz="1400" b="1">
                <a:solidFill>
                  <a:schemeClr val="accent4"/>
                </a:solidFill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</a:rPr>
              <a:t>1)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2)</a:t>
            </a:r>
            <a:endParaRPr lang="en-US" altLang="zh-CN" sz="1400" b="1">
              <a:solidFill>
                <a:schemeClr val="accent4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chemeClr val="accent4"/>
                </a:solidFill>
                <a:sym typeface="+mn-ea"/>
              </a:rPr>
              <a:t>- - -</a:t>
            </a:r>
            <a:endParaRPr lang="en-US" altLang="zh-CN" sz="1000" b="1">
              <a:solidFill>
                <a:schemeClr val="accent4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n)</a:t>
            </a:r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可行性分析报告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7" name="Straight Arrow Connector 36"/>
          <p:cNvCxnSpPr>
            <a:stCxn id="10" idx="0"/>
          </p:cNvCxnSpPr>
          <p:nvPr/>
        </p:nvCxnSpPr>
        <p:spPr>
          <a:xfrm flipH="1" flipV="1">
            <a:off x="5855970" y="2460625"/>
            <a:ext cx="1300480" cy="705485"/>
          </a:xfrm>
          <a:prstGeom prst="straightConnector1">
            <a:avLst/>
          </a:prstGeom>
          <a:ln w="2857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9" idx="0"/>
            <a:endCxn id="74" idx="2"/>
          </p:cNvCxnSpPr>
          <p:nvPr/>
        </p:nvCxnSpPr>
        <p:spPr>
          <a:xfrm flipH="1" flipV="1">
            <a:off x="3321050" y="2483485"/>
            <a:ext cx="1905" cy="68262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itle 1"/>
          <p:cNvSpPr>
            <a:spLocks noGrp="1"/>
          </p:cNvSpPr>
          <p:nvPr/>
        </p:nvSpPr>
        <p:spPr>
          <a:xfrm>
            <a:off x="5616575" y="817245"/>
            <a:ext cx="1485265" cy="3714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chemeClr val="accent4"/>
                </a:solidFill>
              </a:rPr>
              <a:t>开发过程</a:t>
            </a:r>
            <a:endParaRPr lang="zh-CN" altLang="en-US" sz="2000">
              <a:solidFill>
                <a:schemeClr val="accent4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3588385" y="1045845"/>
            <a:ext cx="1486535" cy="1097280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4"/>
                </a:solidFill>
              </a:rPr>
              <a:t>上层向下递归</a:t>
            </a:r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立项说明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输出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1566545" y="2122170"/>
            <a:ext cx="3508375" cy="361315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立项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730750" y="1966595"/>
            <a:ext cx="1126490" cy="5181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维护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" name="Rectangles 74"/>
          <p:cNvSpPr/>
          <p:nvPr/>
        </p:nvSpPr>
        <p:spPr>
          <a:xfrm>
            <a:off x="3320415" y="5928360"/>
            <a:ext cx="1774825" cy="6007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模块分包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319645" y="3604260"/>
            <a:ext cx="1877060" cy="539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工具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环境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7319645" y="4815840"/>
            <a:ext cx="1873250" cy="5346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工具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环境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30" y="1638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研发框架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759710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需求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759710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设计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730750" y="547941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593205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593205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5" idx="0"/>
            <a:endCxn id="39" idx="2"/>
          </p:cNvCxnSpPr>
          <p:nvPr/>
        </p:nvCxnSpPr>
        <p:spPr>
          <a:xfrm flipV="1">
            <a:off x="3322955" y="3684270"/>
            <a:ext cx="0" cy="69786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5" idx="2"/>
          </p:cNvCxnSpPr>
          <p:nvPr/>
        </p:nvCxnSpPr>
        <p:spPr>
          <a:xfrm flipH="1" flipV="1">
            <a:off x="3322955" y="4900295"/>
            <a:ext cx="1400810" cy="588010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9" idx="2"/>
          </p:cNvCxnSpPr>
          <p:nvPr/>
        </p:nvCxnSpPr>
        <p:spPr>
          <a:xfrm flipV="1">
            <a:off x="5823585" y="4900295"/>
            <a:ext cx="1332865" cy="55562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2"/>
            <a:endCxn id="9" idx="0"/>
          </p:cNvCxnSpPr>
          <p:nvPr/>
        </p:nvCxnSpPr>
        <p:spPr>
          <a:xfrm>
            <a:off x="7156450" y="3684270"/>
            <a:ext cx="0" cy="69786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s 34"/>
          <p:cNvSpPr/>
          <p:nvPr/>
        </p:nvSpPr>
        <p:spPr>
          <a:xfrm>
            <a:off x="1567180" y="1045210"/>
            <a:ext cx="2031365" cy="1098550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4"/>
                </a:solidFill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</a:rPr>
              <a:t>(</a:t>
            </a:r>
            <a:r>
              <a:rPr lang="zh-CN" altLang="en-US" sz="1400" b="1">
                <a:solidFill>
                  <a:schemeClr val="accent4"/>
                </a:solidFill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</a:rPr>
              <a:t>1)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2)</a:t>
            </a:r>
            <a:endParaRPr lang="en-US" altLang="zh-CN" sz="1400" b="1">
              <a:solidFill>
                <a:schemeClr val="accent4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chemeClr val="accent4"/>
                </a:solidFill>
                <a:sym typeface="+mn-ea"/>
              </a:rPr>
              <a:t>- - -</a:t>
            </a:r>
            <a:endParaRPr lang="en-US" altLang="zh-CN" sz="1000" b="1">
              <a:solidFill>
                <a:schemeClr val="accent4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n)</a:t>
            </a:r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可行性分析报告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7" name="Straight Arrow Connector 36"/>
          <p:cNvCxnSpPr>
            <a:stCxn id="10" idx="0"/>
          </p:cNvCxnSpPr>
          <p:nvPr/>
        </p:nvCxnSpPr>
        <p:spPr>
          <a:xfrm flipH="1" flipV="1">
            <a:off x="5855970" y="2460625"/>
            <a:ext cx="1300480" cy="705485"/>
          </a:xfrm>
          <a:prstGeom prst="straightConnector1">
            <a:avLst/>
          </a:prstGeom>
          <a:ln w="2857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9" idx="0"/>
            <a:endCxn id="74" idx="2"/>
          </p:cNvCxnSpPr>
          <p:nvPr/>
        </p:nvCxnSpPr>
        <p:spPr>
          <a:xfrm flipH="1" flipV="1">
            <a:off x="3321050" y="2483485"/>
            <a:ext cx="1905" cy="68262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itle 1"/>
          <p:cNvSpPr>
            <a:spLocks noGrp="1"/>
          </p:cNvSpPr>
          <p:nvPr/>
        </p:nvSpPr>
        <p:spPr>
          <a:xfrm>
            <a:off x="5616575" y="817245"/>
            <a:ext cx="1485265" cy="3714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chemeClr val="accent4"/>
                </a:solidFill>
              </a:rPr>
              <a:t>开发过程</a:t>
            </a:r>
            <a:endParaRPr lang="zh-CN" altLang="en-US" sz="2000">
              <a:solidFill>
                <a:schemeClr val="accent4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3588385" y="1045845"/>
            <a:ext cx="1486535" cy="1097280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4"/>
                </a:solidFill>
              </a:rPr>
              <a:t>上层向下递归</a:t>
            </a:r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立项说明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输出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1566545" y="2122170"/>
            <a:ext cx="3508375" cy="361315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立项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730750" y="1966595"/>
            <a:ext cx="1126490" cy="5181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维护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" name="Rectangles 74"/>
          <p:cNvSpPr/>
          <p:nvPr/>
        </p:nvSpPr>
        <p:spPr>
          <a:xfrm>
            <a:off x="3320415" y="5928360"/>
            <a:ext cx="1774825" cy="6007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模块分包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319645" y="3604260"/>
            <a:ext cx="1877060" cy="539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工具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环境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7319645" y="4815840"/>
            <a:ext cx="1873250" cy="5346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工具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环境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30" y="1638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研发框架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759710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需求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759710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设计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730750" y="547941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593205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593205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5" idx="0"/>
            <a:endCxn id="39" idx="2"/>
          </p:cNvCxnSpPr>
          <p:nvPr/>
        </p:nvCxnSpPr>
        <p:spPr>
          <a:xfrm flipV="1">
            <a:off x="3322955" y="3684270"/>
            <a:ext cx="0" cy="69786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5" idx="2"/>
          </p:cNvCxnSpPr>
          <p:nvPr/>
        </p:nvCxnSpPr>
        <p:spPr>
          <a:xfrm flipH="1" flipV="1">
            <a:off x="3322955" y="4900295"/>
            <a:ext cx="1400810" cy="588010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9" idx="2"/>
          </p:cNvCxnSpPr>
          <p:nvPr/>
        </p:nvCxnSpPr>
        <p:spPr>
          <a:xfrm flipV="1">
            <a:off x="5823585" y="4900295"/>
            <a:ext cx="1332865" cy="55562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2"/>
            <a:endCxn id="9" idx="0"/>
          </p:cNvCxnSpPr>
          <p:nvPr/>
        </p:nvCxnSpPr>
        <p:spPr>
          <a:xfrm>
            <a:off x="7156450" y="3684270"/>
            <a:ext cx="0" cy="69786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1"/>
            <a:endCxn id="5" idx="3"/>
          </p:cNvCxnSpPr>
          <p:nvPr/>
        </p:nvCxnSpPr>
        <p:spPr>
          <a:xfrm flipH="1">
            <a:off x="3886200" y="4641215"/>
            <a:ext cx="2707005" cy="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8" idx="0"/>
            <a:endCxn id="11" idx="2"/>
          </p:cNvCxnSpPr>
          <p:nvPr/>
        </p:nvCxnSpPr>
        <p:spPr>
          <a:xfrm flipV="1">
            <a:off x="5293995" y="2484755"/>
            <a:ext cx="0" cy="299466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s 34"/>
          <p:cNvSpPr/>
          <p:nvPr/>
        </p:nvSpPr>
        <p:spPr>
          <a:xfrm>
            <a:off x="1567180" y="1045210"/>
            <a:ext cx="2031365" cy="1098550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4"/>
                </a:solidFill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</a:rPr>
              <a:t>(</a:t>
            </a:r>
            <a:r>
              <a:rPr lang="zh-CN" altLang="en-US" sz="1400" b="1">
                <a:solidFill>
                  <a:schemeClr val="accent4"/>
                </a:solidFill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</a:rPr>
              <a:t>1)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2)</a:t>
            </a:r>
            <a:endParaRPr lang="en-US" altLang="zh-CN" sz="1400" b="1">
              <a:solidFill>
                <a:schemeClr val="accent4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chemeClr val="accent4"/>
                </a:solidFill>
                <a:sym typeface="+mn-ea"/>
              </a:rPr>
              <a:t>- - -</a:t>
            </a:r>
            <a:endParaRPr lang="en-US" altLang="zh-CN" sz="1000" b="1">
              <a:solidFill>
                <a:schemeClr val="accent4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n)</a:t>
            </a:r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可行性分析报告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7" name="Straight Arrow Connector 36"/>
          <p:cNvCxnSpPr>
            <a:stCxn id="10" idx="0"/>
          </p:cNvCxnSpPr>
          <p:nvPr/>
        </p:nvCxnSpPr>
        <p:spPr>
          <a:xfrm flipH="1" flipV="1">
            <a:off x="5855970" y="2460625"/>
            <a:ext cx="1300480" cy="705485"/>
          </a:xfrm>
          <a:prstGeom prst="straightConnector1">
            <a:avLst/>
          </a:prstGeom>
          <a:ln w="2857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  <a:endCxn id="39" idx="3"/>
          </p:cNvCxnSpPr>
          <p:nvPr/>
        </p:nvCxnSpPr>
        <p:spPr>
          <a:xfrm flipH="1">
            <a:off x="3886200" y="3425190"/>
            <a:ext cx="2707005" cy="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9" idx="0"/>
            <a:endCxn id="74" idx="2"/>
          </p:cNvCxnSpPr>
          <p:nvPr/>
        </p:nvCxnSpPr>
        <p:spPr>
          <a:xfrm flipH="1" flipV="1">
            <a:off x="3321050" y="2483485"/>
            <a:ext cx="1905" cy="68262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itle 1"/>
          <p:cNvSpPr>
            <a:spLocks noGrp="1"/>
          </p:cNvSpPr>
          <p:nvPr/>
        </p:nvSpPr>
        <p:spPr>
          <a:xfrm>
            <a:off x="5616575" y="817245"/>
            <a:ext cx="1485265" cy="3714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chemeClr val="accent4"/>
                </a:solidFill>
              </a:rPr>
              <a:t>开发过程</a:t>
            </a:r>
            <a:endParaRPr lang="zh-CN" altLang="en-US" sz="2000">
              <a:solidFill>
                <a:schemeClr val="accent4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3588385" y="1045845"/>
            <a:ext cx="1486535" cy="1097280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4"/>
                </a:solidFill>
              </a:rPr>
              <a:t>上层向下递归</a:t>
            </a:r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立项说明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输出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1566545" y="2122170"/>
            <a:ext cx="3508375" cy="361315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立项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730750" y="1966595"/>
            <a:ext cx="1126490" cy="5181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维护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5" name="Rectangles 74"/>
          <p:cNvSpPr/>
          <p:nvPr/>
        </p:nvSpPr>
        <p:spPr>
          <a:xfrm>
            <a:off x="3320415" y="5928360"/>
            <a:ext cx="1774825" cy="6007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模块分包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71" name="Rectangles 70"/>
          <p:cNvSpPr/>
          <p:nvPr/>
        </p:nvSpPr>
        <p:spPr>
          <a:xfrm>
            <a:off x="7595235" y="2755265"/>
            <a:ext cx="2983230" cy="74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用户使用说明基础版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迭代版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外部版本交付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产品说明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输出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6812280" y="1859280"/>
            <a:ext cx="2315210" cy="74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FAQ/</a:t>
            </a:r>
            <a:r>
              <a:rPr lang="zh-CN" altLang="en-US" sz="1400" b="1">
                <a:solidFill>
                  <a:schemeClr val="tx1"/>
                </a:solidFill>
              </a:rPr>
              <a:t>辅助资源整理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需求反馈整理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现场环境说明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5721350" y="5684520"/>
            <a:ext cx="3260090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详细设计说明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边界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核心资产交付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验证资产</a:t>
            </a:r>
            <a:r>
              <a:rPr lang="zh-CN" altLang="en-US" sz="1400" b="1">
                <a:solidFill>
                  <a:schemeClr val="tx1"/>
                </a:solidFill>
              </a:rPr>
              <a:t>交付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单元测试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输出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辅助资产</a:t>
            </a:r>
            <a:r>
              <a:rPr lang="zh-CN" altLang="en-US" sz="1400" b="1">
                <a:solidFill>
                  <a:schemeClr val="tx1"/>
                </a:solidFill>
              </a:rPr>
              <a:t>内容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FAQ/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辅助资源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输出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319645" y="3604260"/>
            <a:ext cx="1877060" cy="5397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工具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环境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7319645" y="4815840"/>
            <a:ext cx="1873250" cy="5346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下层研发递归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工具</a:t>
            </a:r>
            <a:r>
              <a:rPr lang="en-US" altLang="zh-CN" sz="1400" b="1">
                <a:solidFill>
                  <a:schemeClr val="tx1"/>
                </a:solidFill>
              </a:rPr>
              <a:t>/</a:t>
            </a:r>
            <a:r>
              <a:rPr lang="zh-CN" altLang="en-US" sz="1400" b="1">
                <a:solidFill>
                  <a:schemeClr val="tx1"/>
                </a:solidFill>
              </a:rPr>
              <a:t>环境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430" y="163830"/>
            <a:ext cx="10613390" cy="37147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研发框架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759710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需求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759710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设计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730750" y="547941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593205" y="4382135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测试</a:t>
            </a:r>
            <a:r>
              <a:rPr lang="en-US" altLang="zh-CN" sz="1000" b="1">
                <a:solidFill>
                  <a:schemeClr val="accent5"/>
                </a:solidFill>
              </a:rPr>
              <a:t>AI</a:t>
            </a:r>
            <a:endParaRPr lang="en-US" altLang="zh-CN" sz="1000" b="1">
              <a:solidFill>
                <a:schemeClr val="accent5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593205" y="3166110"/>
            <a:ext cx="1126490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发布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5" idx="0"/>
            <a:endCxn id="39" idx="2"/>
          </p:cNvCxnSpPr>
          <p:nvPr/>
        </p:nvCxnSpPr>
        <p:spPr>
          <a:xfrm flipV="1">
            <a:off x="3322955" y="3684270"/>
            <a:ext cx="0" cy="69786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5" idx="2"/>
          </p:cNvCxnSpPr>
          <p:nvPr/>
        </p:nvCxnSpPr>
        <p:spPr>
          <a:xfrm flipH="1" flipV="1">
            <a:off x="3322955" y="4900295"/>
            <a:ext cx="1400810" cy="588010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9" idx="2"/>
          </p:cNvCxnSpPr>
          <p:nvPr/>
        </p:nvCxnSpPr>
        <p:spPr>
          <a:xfrm flipV="1">
            <a:off x="5823585" y="4900295"/>
            <a:ext cx="1332865" cy="55562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2"/>
            <a:endCxn id="9" idx="0"/>
          </p:cNvCxnSpPr>
          <p:nvPr/>
        </p:nvCxnSpPr>
        <p:spPr>
          <a:xfrm>
            <a:off x="7156450" y="3684270"/>
            <a:ext cx="0" cy="69786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1"/>
            <a:endCxn id="5" idx="3"/>
          </p:cNvCxnSpPr>
          <p:nvPr/>
        </p:nvCxnSpPr>
        <p:spPr>
          <a:xfrm flipH="1">
            <a:off x="3886200" y="4641215"/>
            <a:ext cx="2707005" cy="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8" idx="0"/>
            <a:endCxn id="11" idx="2"/>
          </p:cNvCxnSpPr>
          <p:nvPr/>
        </p:nvCxnSpPr>
        <p:spPr>
          <a:xfrm flipV="1">
            <a:off x="5293995" y="2484755"/>
            <a:ext cx="0" cy="299466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s 34"/>
          <p:cNvSpPr/>
          <p:nvPr/>
        </p:nvSpPr>
        <p:spPr>
          <a:xfrm>
            <a:off x="1567180" y="1045210"/>
            <a:ext cx="2031365" cy="1098550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4"/>
                </a:solidFill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</a:rPr>
              <a:t>(</a:t>
            </a:r>
            <a:r>
              <a:rPr lang="zh-CN" altLang="en-US" sz="1400" b="1">
                <a:solidFill>
                  <a:schemeClr val="accent4"/>
                </a:solidFill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</a:rPr>
              <a:t>1)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2)</a:t>
            </a:r>
            <a:endParaRPr lang="en-US" altLang="zh-CN" sz="1400" b="1">
              <a:solidFill>
                <a:schemeClr val="accent4"/>
              </a:solidFill>
              <a:sym typeface="+mn-ea"/>
            </a:endParaRPr>
          </a:p>
          <a:p>
            <a:pPr algn="ctr"/>
            <a:r>
              <a:rPr lang="en-US" altLang="zh-CN" sz="1000" b="1">
                <a:solidFill>
                  <a:schemeClr val="accent4"/>
                </a:solidFill>
                <a:sym typeface="+mn-ea"/>
              </a:rPr>
              <a:t>- - -</a:t>
            </a:r>
            <a:endParaRPr lang="en-US" altLang="zh-CN" sz="1000" b="1">
              <a:solidFill>
                <a:schemeClr val="accent4"/>
              </a:solidFill>
              <a:sym typeface="+mn-ea"/>
            </a:endParaRPr>
          </a:p>
          <a:p>
            <a:pPr algn="ctr"/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同层迭代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accent4"/>
                </a:solidFill>
                <a:sym typeface="+mn-ea"/>
              </a:rPr>
              <a:t>研究过程</a:t>
            </a:r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n)</a:t>
            </a:r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可行性分析报告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37" name="Straight Arrow Connector 36"/>
          <p:cNvCxnSpPr>
            <a:stCxn id="10" idx="0"/>
          </p:cNvCxnSpPr>
          <p:nvPr/>
        </p:nvCxnSpPr>
        <p:spPr>
          <a:xfrm flipH="1" flipV="1">
            <a:off x="5855970" y="2460625"/>
            <a:ext cx="1300480" cy="705485"/>
          </a:xfrm>
          <a:prstGeom prst="straightConnector1">
            <a:avLst/>
          </a:prstGeom>
          <a:ln w="28575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10" idx="1"/>
            <a:endCxn id="39" idx="3"/>
          </p:cNvCxnSpPr>
          <p:nvPr/>
        </p:nvCxnSpPr>
        <p:spPr>
          <a:xfrm flipH="1">
            <a:off x="3886200" y="3425190"/>
            <a:ext cx="2707005" cy="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9" idx="0"/>
            <a:endCxn id="74" idx="2"/>
          </p:cNvCxnSpPr>
          <p:nvPr/>
        </p:nvCxnSpPr>
        <p:spPr>
          <a:xfrm flipH="1" flipV="1">
            <a:off x="3321050" y="2483485"/>
            <a:ext cx="1905" cy="682625"/>
          </a:xfrm>
          <a:prstGeom prst="straightConnector1">
            <a:avLst/>
          </a:prstGeom>
          <a:ln w="31750">
            <a:solidFill>
              <a:schemeClr val="accent4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itle 1"/>
          <p:cNvSpPr>
            <a:spLocks noGrp="1"/>
          </p:cNvSpPr>
          <p:nvPr/>
        </p:nvSpPr>
        <p:spPr>
          <a:xfrm>
            <a:off x="5616575" y="817245"/>
            <a:ext cx="1485265" cy="37147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>
                <a:solidFill>
                  <a:schemeClr val="accent4"/>
                </a:solidFill>
              </a:rPr>
              <a:t>开发过程</a:t>
            </a:r>
            <a:endParaRPr lang="zh-CN" altLang="en-US" sz="2000">
              <a:solidFill>
                <a:schemeClr val="accent4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415290" y="3045460"/>
            <a:ext cx="1819910" cy="7416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产品说明模板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功能需求说明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使用场景说明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cxnSp>
        <p:nvCxnSpPr>
          <p:cNvPr id="63" name="Straight Connector 62"/>
          <p:cNvCxnSpPr>
            <a:stCxn id="62" idx="3"/>
            <a:endCxn id="39" idx="1"/>
          </p:cNvCxnSpPr>
          <p:nvPr/>
        </p:nvCxnSpPr>
        <p:spPr>
          <a:xfrm>
            <a:off x="2235200" y="3416300"/>
            <a:ext cx="524510" cy="88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s 63"/>
          <p:cNvSpPr/>
          <p:nvPr/>
        </p:nvSpPr>
        <p:spPr>
          <a:xfrm>
            <a:off x="415290" y="4167505"/>
            <a:ext cx="1819910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需求分析说明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边界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用户使用模板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测试方案说明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概要设计说明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cxnSp>
        <p:nvCxnSpPr>
          <p:cNvPr id="65" name="Straight Connector 64"/>
          <p:cNvCxnSpPr>
            <a:stCxn id="64" idx="3"/>
            <a:endCxn id="5" idx="1"/>
          </p:cNvCxnSpPr>
          <p:nvPr/>
        </p:nvCxnSpPr>
        <p:spPr>
          <a:xfrm>
            <a:off x="2235200" y="4640580"/>
            <a:ext cx="524510" cy="63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s 67"/>
          <p:cNvSpPr/>
          <p:nvPr/>
        </p:nvSpPr>
        <p:spPr>
          <a:xfrm>
            <a:off x="9399270" y="4168140"/>
            <a:ext cx="2359660" cy="946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整体测试用例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边界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各类测试报告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内部版本交付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输出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用户使用说明基础版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输出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cxnSp>
        <p:nvCxnSpPr>
          <p:cNvPr id="69" name="Straight Connector 68"/>
          <p:cNvCxnSpPr>
            <a:stCxn id="9" idx="3"/>
            <a:endCxn id="68" idx="1"/>
          </p:cNvCxnSpPr>
          <p:nvPr/>
        </p:nvCxnSpPr>
        <p:spPr>
          <a:xfrm>
            <a:off x="7719695" y="4641215"/>
            <a:ext cx="167957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s 71"/>
          <p:cNvSpPr/>
          <p:nvPr/>
        </p:nvSpPr>
        <p:spPr>
          <a:xfrm>
            <a:off x="3588385" y="1045845"/>
            <a:ext cx="1486535" cy="1097280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4"/>
                </a:solidFill>
              </a:rPr>
              <a:t>上层向下递归</a:t>
            </a:r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endParaRPr lang="zh-CN" altLang="en-US" sz="1400" b="1">
              <a:solidFill>
                <a:schemeClr val="accent4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立项说明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输出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3" name="Straight Connector 72"/>
          <p:cNvCxnSpPr>
            <a:stCxn id="11" idx="3"/>
            <a:endCxn id="70" idx="1"/>
          </p:cNvCxnSpPr>
          <p:nvPr/>
        </p:nvCxnSpPr>
        <p:spPr>
          <a:xfrm>
            <a:off x="5857240" y="2225675"/>
            <a:ext cx="955040" cy="444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s 73"/>
          <p:cNvSpPr/>
          <p:nvPr/>
        </p:nvSpPr>
        <p:spPr>
          <a:xfrm>
            <a:off x="1566545" y="2122170"/>
            <a:ext cx="3508375" cy="361315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(</a:t>
            </a:r>
            <a:r>
              <a:rPr lang="zh-CN" altLang="en-US" sz="1600" b="1">
                <a:solidFill>
                  <a:schemeClr val="tx1"/>
                </a:solidFill>
              </a:rPr>
              <a:t>立项</a:t>
            </a:r>
            <a:r>
              <a:rPr lang="en-US" altLang="zh-CN" sz="1600" b="1">
                <a:solidFill>
                  <a:schemeClr val="tx1"/>
                </a:solidFill>
              </a:rPr>
              <a:t>)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730750" y="1966595"/>
            <a:ext cx="1126490" cy="51816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维护</a:t>
            </a:r>
            <a:endParaRPr lang="en-US" altLang="zh-CN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作战工程：</a:t>
            </a:r>
            <a:r>
              <a:rPr lang="zh-CN" altLang="en-US" sz="1800" b="1">
                <a:solidFill>
                  <a:srgbClr val="00B050"/>
                </a:solidFill>
              </a:rPr>
              <a:t>生于忧患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孟子说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，对外敌对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协作工程：</a:t>
            </a:r>
            <a:r>
              <a:rPr lang="zh-CN" altLang="en-US" sz="1800" b="1">
                <a:solidFill>
                  <a:srgbClr val="00B050"/>
                </a:solidFill>
              </a:rPr>
              <a:t>死于安乐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孟子说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，对外合作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育人工程：</a:t>
            </a:r>
            <a:r>
              <a:rPr lang="zh-CN" altLang="en-US" sz="1800" b="1">
                <a:solidFill>
                  <a:srgbClr val="00B050"/>
                </a:solidFill>
              </a:rPr>
              <a:t>生于忧患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死于安乐</a:t>
            </a:r>
            <a:r>
              <a:rPr lang="en-US" altLang="zh-CN" sz="1800" b="1">
                <a:solidFill>
                  <a:srgbClr val="00B050"/>
                </a:solidFill>
              </a:rPr>
              <a:t>+...</a:t>
            </a:r>
            <a:r>
              <a:rPr lang="zh-CN" altLang="en-US" sz="1800" b="1">
                <a:solidFill>
                  <a:srgbClr val="00B050"/>
                </a:solidFill>
              </a:rPr>
              <a:t>，孟子没好意思继续说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作战工程：</a:t>
            </a:r>
            <a:r>
              <a:rPr lang="zh-CN" altLang="en-US" sz="1800" b="1">
                <a:solidFill>
                  <a:srgbClr val="00B050"/>
                </a:solidFill>
              </a:rPr>
              <a:t>生于忧患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孟子说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，对外敌对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极限：阿波罗登月，抗美援朝前期，孙子兵法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顶级：经常性地以寡敌众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岳飞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普通：其他所有内容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包含投机，不展开细分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协作工程：</a:t>
            </a:r>
            <a:r>
              <a:rPr lang="zh-CN" altLang="en-US" sz="1800" b="1">
                <a:solidFill>
                  <a:srgbClr val="00B050"/>
                </a:solidFill>
              </a:rPr>
              <a:t>死于安乐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孟子说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，对外合作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育人工程：</a:t>
            </a:r>
            <a:r>
              <a:rPr lang="zh-CN" altLang="en-US" sz="1800" b="1">
                <a:solidFill>
                  <a:srgbClr val="00B050"/>
                </a:solidFill>
              </a:rPr>
              <a:t>生于忧患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死于安乐</a:t>
            </a:r>
            <a:r>
              <a:rPr lang="en-US" altLang="zh-CN" sz="1800" b="1">
                <a:solidFill>
                  <a:srgbClr val="00B050"/>
                </a:solidFill>
              </a:rPr>
              <a:t>+...</a:t>
            </a:r>
            <a:r>
              <a:rPr lang="zh-CN" altLang="en-US" sz="1800" b="1">
                <a:solidFill>
                  <a:srgbClr val="00B050"/>
                </a:solidFill>
              </a:rPr>
              <a:t>，孟子没好意思继续说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作战工程：</a:t>
            </a:r>
            <a:r>
              <a:rPr lang="zh-CN" altLang="en-US" sz="1800" b="1">
                <a:solidFill>
                  <a:srgbClr val="00B050"/>
                </a:solidFill>
              </a:rPr>
              <a:t>生于忧患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孟子说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，对外敌对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极限：阿波罗登月，抗美援朝前期，孙子兵法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顶级：经常性地以寡敌众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岳飞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普通：其他所有内容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包含投机，不展开细分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协作工程：</a:t>
            </a:r>
            <a:r>
              <a:rPr lang="zh-CN" altLang="en-US" sz="1800" b="1">
                <a:solidFill>
                  <a:srgbClr val="00B050"/>
                </a:solidFill>
              </a:rPr>
              <a:t>死于安乐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孟子说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，对外合作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生存：维系生存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事业：企业家精神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公共：交通、电力、水利、通讯、能源等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育人工程：</a:t>
            </a:r>
            <a:r>
              <a:rPr lang="zh-CN" altLang="en-US" sz="1800" b="1">
                <a:solidFill>
                  <a:srgbClr val="00B050"/>
                </a:solidFill>
              </a:rPr>
              <a:t>生于忧患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死于安乐</a:t>
            </a:r>
            <a:r>
              <a:rPr lang="en-US" altLang="zh-CN" sz="1800" b="1">
                <a:solidFill>
                  <a:srgbClr val="00B050"/>
                </a:solidFill>
              </a:rPr>
              <a:t>+...</a:t>
            </a:r>
            <a:r>
              <a:rPr lang="zh-CN" altLang="en-US" sz="1800" b="1">
                <a:solidFill>
                  <a:srgbClr val="00B050"/>
                </a:solidFill>
              </a:rPr>
              <a:t>，孟子没好意思继续说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主体理论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通用描述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作战工程：</a:t>
            </a:r>
            <a:r>
              <a:rPr lang="zh-CN" altLang="en-US" sz="1800" b="1">
                <a:solidFill>
                  <a:srgbClr val="00B050"/>
                </a:solidFill>
              </a:rPr>
              <a:t>生于忧患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孟子说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，对外敌对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极限：阿波罗登月，抗美援朝前期，孙子兵法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顶级：经常性地以寡敌众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岳飞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普通：其他所有内容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包含投机，不展开细分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协作工程：</a:t>
            </a:r>
            <a:r>
              <a:rPr lang="zh-CN" altLang="en-US" sz="1800" b="1">
                <a:solidFill>
                  <a:srgbClr val="00B050"/>
                </a:solidFill>
              </a:rPr>
              <a:t>死于安乐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孟子说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，对外合作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生存：维系生存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事业：企业家精神</a:t>
            </a:r>
            <a:endParaRPr lang="en-US" altLang="zh-CN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公共：交通、电力、水利、通讯、能源等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育人工程：</a:t>
            </a:r>
            <a:r>
              <a:rPr lang="zh-CN" altLang="en-US" sz="1800" b="1">
                <a:solidFill>
                  <a:srgbClr val="00B050"/>
                </a:solidFill>
              </a:rPr>
              <a:t>生于忧患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死于安乐</a:t>
            </a:r>
            <a:r>
              <a:rPr lang="en-US" altLang="zh-CN" sz="1800" b="1">
                <a:solidFill>
                  <a:srgbClr val="00B050"/>
                </a:solidFill>
              </a:rPr>
              <a:t>+...</a:t>
            </a:r>
            <a:r>
              <a:rPr lang="zh-CN" altLang="en-US" sz="1800" b="1">
                <a:solidFill>
                  <a:srgbClr val="00B050"/>
                </a:solidFill>
              </a:rPr>
              <a:t>，孟子没好意思继续说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立身：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空天同学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9)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，公立教育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2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8)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独夫之心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7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3)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，张雪峰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立</a:t>
            </a:r>
            <a:r>
              <a:rPr lang="en-US" altLang="zh-CN" sz="1800" b="1">
                <a:solidFill>
                  <a:srgbClr val="00B050"/>
                </a:solidFill>
              </a:rPr>
              <a:t>9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1)</a:t>
            </a:r>
            <a:r>
              <a:rPr lang="zh-CN" altLang="en-US" sz="1800" b="1">
                <a:solidFill>
                  <a:srgbClr val="00B050"/>
                </a:solidFill>
              </a:rPr>
              <a:t>，七哥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五间大瓦房</a:t>
            </a:r>
            <a:r>
              <a:rPr lang="en-US" altLang="zh-CN" sz="1800" b="1">
                <a:solidFill>
                  <a:srgbClr val="00B050"/>
                </a:solidFill>
              </a:rPr>
              <a:t>...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启智：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庄子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4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6)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</a:t>
            </a:r>
            <a:r>
              <a:rPr lang="zh-CN" altLang="en-US" sz="1800" b="1">
                <a:solidFill>
                  <a:srgbClr val="00B050"/>
                </a:solidFill>
              </a:rPr>
              <a:t>鲍鹏山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道</a:t>
            </a:r>
            <a:r>
              <a:rPr lang="en-US" altLang="zh-CN" sz="1800" b="1">
                <a:solidFill>
                  <a:srgbClr val="00B050"/>
                </a:solidFill>
              </a:rPr>
              <a:t>3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7)</a:t>
            </a:r>
            <a:r>
              <a:rPr lang="zh-CN" altLang="en-US" sz="1800" b="1">
                <a:solidFill>
                  <a:srgbClr val="00B050"/>
                </a:solidFill>
              </a:rPr>
              <a:t>，马克思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道</a:t>
            </a:r>
            <a:r>
              <a:rPr lang="en-US" altLang="zh-CN" sz="1800" b="1">
                <a:solidFill>
                  <a:srgbClr val="00B050"/>
                </a:solidFill>
              </a:rPr>
              <a:t>2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8)</a:t>
            </a:r>
            <a:r>
              <a:rPr lang="zh-CN" altLang="en-US" sz="1800" b="1">
                <a:solidFill>
                  <a:srgbClr val="00B050"/>
                </a:solidFill>
              </a:rPr>
              <a:t>，科普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谈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道</a:t>
            </a:r>
            <a:r>
              <a:rPr lang="en-US" altLang="zh-CN" sz="1800" b="1">
                <a:solidFill>
                  <a:srgbClr val="00B050"/>
                </a:solidFill>
              </a:rPr>
              <a:t>2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8)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发烧好了呢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道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9)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明道：宗教经典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道</a:t>
            </a:r>
            <a:r>
              <a:rPr lang="en-US" altLang="zh-CN" sz="1800" b="1">
                <a:solidFill>
                  <a:srgbClr val="00B050"/>
                </a:solidFill>
              </a:rPr>
              <a:t>9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1)</a:t>
            </a:r>
            <a:r>
              <a:rPr lang="zh-CN" altLang="en-US" sz="1800" b="1">
                <a:solidFill>
                  <a:srgbClr val="00B050"/>
                </a:solidFill>
              </a:rPr>
              <a:t>，老子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道</a:t>
            </a:r>
            <a:r>
              <a:rPr lang="en-US" altLang="zh-CN" sz="1800" b="1">
                <a:solidFill>
                  <a:srgbClr val="00B050"/>
                </a:solidFill>
              </a:rPr>
              <a:t>8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2)</a:t>
            </a:r>
            <a:r>
              <a:rPr lang="zh-CN" altLang="en-US" sz="1800" b="1">
                <a:solidFill>
                  <a:srgbClr val="00B050"/>
                </a:solidFill>
              </a:rPr>
              <a:t>，孔孟阳明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道</a:t>
            </a:r>
            <a:r>
              <a:rPr lang="en-US" altLang="zh-CN" sz="1800" b="1">
                <a:solidFill>
                  <a:srgbClr val="00B050"/>
                </a:solidFill>
              </a:rPr>
              <a:t>7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3)</a:t>
            </a:r>
            <a:r>
              <a:rPr lang="zh-CN" altLang="en-US" sz="1800" b="1">
                <a:solidFill>
                  <a:srgbClr val="00B050"/>
                </a:solidFill>
              </a:rPr>
              <a:t>，痞悟智慧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道</a:t>
            </a:r>
            <a:r>
              <a:rPr lang="en-US" altLang="zh-CN" sz="1800" b="1">
                <a:solidFill>
                  <a:srgbClr val="00B050"/>
                </a:solidFill>
              </a:rPr>
              <a:t>6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4)</a:t>
            </a:r>
            <a:r>
              <a:rPr lang="zh-CN" altLang="en-US" sz="1800" b="1">
                <a:solidFill>
                  <a:srgbClr val="00B050"/>
                </a:solidFill>
              </a:rPr>
              <a:t>，释迦摩尼真人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道</a:t>
            </a:r>
            <a:r>
              <a:rPr lang="en-US" altLang="zh-CN" sz="1800" b="1">
                <a:solidFill>
                  <a:srgbClr val="00B050"/>
                </a:solidFill>
              </a:rPr>
              <a:t>5</a:t>
            </a:r>
            <a:r>
              <a:rPr lang="zh-CN" altLang="en-US" sz="1800" b="1">
                <a:solidFill>
                  <a:srgbClr val="00B050"/>
                </a:solidFill>
              </a:rPr>
              <a:t>智</a:t>
            </a:r>
            <a:r>
              <a:rPr lang="en-US" altLang="zh-CN" sz="1800" b="1">
                <a:solidFill>
                  <a:srgbClr val="00B050"/>
                </a:solidFill>
              </a:rPr>
              <a:t>5)</a:t>
            </a:r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具体实践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研发管理：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定位：</a:t>
            </a:r>
            <a:r>
              <a:rPr lang="zh-CN" altLang="en-US" sz="1800" b="1">
                <a:solidFill>
                  <a:srgbClr val="00B050"/>
                </a:solidFill>
              </a:rPr>
              <a:t>设计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实现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测试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个人定位：</a:t>
            </a:r>
            <a:r>
              <a:rPr lang="zh-CN" altLang="en-US" sz="1800" b="1">
                <a:solidFill>
                  <a:srgbClr val="00B050"/>
                </a:solidFill>
              </a:rPr>
              <a:t>岗位与人分离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具体实践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研发管理：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双重标准：同层迭代，研究开发分开，版本升级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分工协作：递归拓展，功能任务拆解/分包/复用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过程跟踪：整体闭环，全生命周期/可量化/可追溯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定位：</a:t>
            </a:r>
            <a:r>
              <a:rPr lang="zh-CN" altLang="en-US" sz="1800" b="1">
                <a:solidFill>
                  <a:srgbClr val="00B050"/>
                </a:solidFill>
              </a:rPr>
              <a:t>设计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实现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测试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个人定位：</a:t>
            </a:r>
            <a:r>
              <a:rPr lang="zh-CN" altLang="en-US" sz="1800" b="1">
                <a:solidFill>
                  <a:srgbClr val="00B050"/>
                </a:solidFill>
              </a:rPr>
              <a:t>岗位与人分离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具体实践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研发管理：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双重标准：同层迭代，研究开发分开，版本升级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分工协作：递归拓展，功能任务拆解/分包/复用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过程跟踪：整体闭环，全生命周期/可量化/可追溯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定位：</a:t>
            </a:r>
            <a:r>
              <a:rPr lang="zh-CN" altLang="en-US" sz="1800" b="1">
                <a:solidFill>
                  <a:srgbClr val="00B050"/>
                </a:solidFill>
              </a:rPr>
              <a:t>设计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实现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测试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壳包裹穰：人定义壳</a:t>
            </a:r>
            <a:r>
              <a:rPr lang="en-US" altLang="zh-CN" b="1">
                <a:solidFill>
                  <a:srgbClr val="00B050"/>
                </a:solidFill>
              </a:rPr>
              <a:t>(AI</a:t>
            </a:r>
            <a:r>
              <a:rPr lang="zh-CN" altLang="en-US" b="1">
                <a:solidFill>
                  <a:srgbClr val="00B050"/>
                </a:solidFill>
              </a:rPr>
              <a:t>辅助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，AI实现穰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人机迭代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；建模与模型转换能力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物理</a:t>
            </a:r>
            <a:r>
              <a:rPr lang="en-US" altLang="zh-CN" b="1">
                <a:solidFill>
                  <a:srgbClr val="00B050"/>
                </a:solidFill>
              </a:rPr>
              <a:t>)+</a:t>
            </a:r>
            <a:r>
              <a:rPr lang="zh-CN" altLang="en-US" b="1">
                <a:solidFill>
                  <a:srgbClr val="00B050"/>
                </a:solidFill>
              </a:rPr>
              <a:t>语言表达概括能力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语文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外壳关联：由人连接，AI辅助；壳含递归；理解软件工程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架构设计能力，根本上是基于物理和语文能力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穰内异常：由人处理，AI辅助；调试能力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，根本上是基于物理和语文能力</a:t>
            </a:r>
            <a:r>
              <a:rPr lang="zh-CN" altLang="en-US" b="1">
                <a:solidFill>
                  <a:srgbClr val="00B050"/>
                </a:solidFill>
              </a:rPr>
              <a:t>，物理能力更强，未来难度越来越大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个人定位：</a:t>
            </a:r>
            <a:r>
              <a:rPr lang="zh-CN" altLang="en-US" sz="1800" b="1">
                <a:solidFill>
                  <a:srgbClr val="00B050"/>
                </a:solidFill>
              </a:rPr>
              <a:t>岗位与人分离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418465"/>
            <a:ext cx="1061339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具体实践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65885"/>
            <a:ext cx="120815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研发管理：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双重标准：同层迭代，研究开发分开，版本升级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分工协作：递归拓展，功能任务拆解/分包/复用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过程跟踪：整体闭环，全生命周期/可量化/可追溯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定位：</a:t>
            </a:r>
            <a:r>
              <a:rPr lang="zh-CN" altLang="en-US" sz="1800" b="1">
                <a:solidFill>
                  <a:srgbClr val="00B050"/>
                </a:solidFill>
              </a:rPr>
              <a:t>设计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实现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测试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壳包裹穰：人定义壳</a:t>
            </a:r>
            <a:r>
              <a:rPr lang="en-US" altLang="zh-CN" b="1">
                <a:solidFill>
                  <a:srgbClr val="00B050"/>
                </a:solidFill>
              </a:rPr>
              <a:t>(AI</a:t>
            </a:r>
            <a:r>
              <a:rPr lang="zh-CN" altLang="en-US" b="1">
                <a:solidFill>
                  <a:srgbClr val="00B050"/>
                </a:solidFill>
              </a:rPr>
              <a:t>辅助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，AI实现穰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人机迭代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r>
              <a:rPr lang="zh-CN" altLang="en-US" b="1">
                <a:solidFill>
                  <a:srgbClr val="00B050"/>
                </a:solidFill>
              </a:rPr>
              <a:t>；建模与模型转换能力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物理</a:t>
            </a:r>
            <a:r>
              <a:rPr lang="en-US" altLang="zh-CN" b="1">
                <a:solidFill>
                  <a:srgbClr val="00B050"/>
                </a:solidFill>
              </a:rPr>
              <a:t>)+</a:t>
            </a:r>
            <a:r>
              <a:rPr lang="zh-CN" altLang="en-US" b="1">
                <a:solidFill>
                  <a:srgbClr val="00B050"/>
                </a:solidFill>
              </a:rPr>
              <a:t>语言表达概括能力</a:t>
            </a:r>
            <a:r>
              <a:rPr lang="en-US" altLang="zh-CN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</a:rPr>
              <a:t>语文</a:t>
            </a:r>
            <a:r>
              <a:rPr lang="en-US" altLang="zh-CN" b="1">
                <a:solidFill>
                  <a:srgbClr val="00B050"/>
                </a:solidFill>
              </a:rPr>
              <a:t>)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外壳关联：由人连接，AI辅助；壳含递归；理解软件工程</a:t>
            </a:r>
            <a:r>
              <a:rPr lang="en-US" altLang="zh-CN" b="1">
                <a:solidFill>
                  <a:srgbClr val="00B050"/>
                </a:solidFill>
              </a:rPr>
              <a:t>+</a:t>
            </a:r>
            <a:r>
              <a:rPr lang="zh-CN" altLang="en-US" b="1">
                <a:solidFill>
                  <a:srgbClr val="00B050"/>
                </a:solidFill>
              </a:rPr>
              <a:t>架构设计能力，根本上是基于物理和语文能力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穰内异常：由人处理，AI辅助；调试能力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，根本上是基于物理和语文能力</a:t>
            </a:r>
            <a:r>
              <a:rPr lang="zh-CN" altLang="en-US" b="1">
                <a:solidFill>
                  <a:srgbClr val="00B050"/>
                </a:solidFill>
              </a:rPr>
              <a:t>，物理能力更强，未来难度越来越大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个人定位：</a:t>
            </a:r>
            <a:r>
              <a:rPr lang="zh-CN" altLang="en-US" sz="1800" b="1">
                <a:solidFill>
                  <a:srgbClr val="00B050"/>
                </a:solidFill>
              </a:rPr>
              <a:t>岗位与人分离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业务师：基于需求：需求分析说明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参与比重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30-40%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2</a:t>
            </a:r>
            <a:r>
              <a:rPr lang="zh-CN" altLang="en-US" sz="1800" b="1">
                <a:solidFill>
                  <a:srgbClr val="00B050"/>
                </a:solidFill>
              </a:rPr>
              <a:t>个文档主笔，</a:t>
            </a:r>
            <a:r>
              <a:rPr lang="en-US" altLang="zh-CN" sz="1800" b="1">
                <a:solidFill>
                  <a:srgbClr val="00B050"/>
                </a:solidFill>
              </a:rPr>
              <a:t>1</a:t>
            </a:r>
            <a:r>
              <a:rPr lang="zh-CN" altLang="en-US" sz="1800" b="1">
                <a:solidFill>
                  <a:srgbClr val="00B050"/>
                </a:solidFill>
              </a:rPr>
              <a:t>个文档配合，服务于设计和发布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架构师：基于设计：需求分析说明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参与比重</a:t>
            </a:r>
            <a:r>
              <a:rPr lang="en-US" altLang="zh-CN" sz="1800" b="1">
                <a:solidFill>
                  <a:srgbClr val="00B050"/>
                </a:solidFill>
              </a:rPr>
              <a:t>30-40%)</a:t>
            </a:r>
            <a:r>
              <a:rPr lang="zh-CN" altLang="en-US" sz="1800" b="1">
                <a:solidFill>
                  <a:srgbClr val="00B050"/>
                </a:solidFill>
              </a:rPr>
              <a:t>，</a:t>
            </a:r>
            <a:r>
              <a:rPr lang="en-US" altLang="zh-CN" sz="1800" b="1">
                <a:solidFill>
                  <a:srgbClr val="00B050"/>
                </a:solidFill>
              </a:rPr>
              <a:t>3</a:t>
            </a:r>
            <a:r>
              <a:rPr lang="zh-CN" altLang="en-US" sz="1800" b="1">
                <a:solidFill>
                  <a:srgbClr val="00B050"/>
                </a:solidFill>
              </a:rPr>
              <a:t>个文档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审核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生成的结果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，服务于测试和实现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调试师：基于实现：全局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局部调试师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调试自己</a:t>
            </a:r>
            <a:r>
              <a:rPr lang="en-US" altLang="zh-CN" sz="1800" b="1">
                <a:solidFill>
                  <a:srgbClr val="00B050"/>
                </a:solidFill>
              </a:rPr>
              <a:t>/</a:t>
            </a:r>
            <a:r>
              <a:rPr lang="zh-CN" altLang="en-US" sz="1800" b="1">
                <a:solidFill>
                  <a:srgbClr val="00B050"/>
                </a:solidFill>
              </a:rPr>
              <a:t>别人</a:t>
            </a:r>
            <a:r>
              <a:rPr lang="en-US" altLang="zh-CN" sz="1800" b="1">
                <a:solidFill>
                  <a:srgbClr val="00B050"/>
                </a:solidFill>
              </a:rPr>
              <a:t>/AI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写的</a:t>
            </a:r>
            <a:r>
              <a:rPr lang="zh-CN" altLang="en-US" sz="1800" b="1">
                <a:solidFill>
                  <a:srgbClr val="00B050"/>
                </a:solidFill>
              </a:rPr>
              <a:t>代码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r>
              <a:rPr lang="zh-CN" altLang="en-US" sz="1800" b="1">
                <a:solidFill>
                  <a:srgbClr val="00B050"/>
                </a:solidFill>
              </a:rPr>
              <a:t>，传统程序员进化，服务于维护和测试</a:t>
            </a:r>
            <a:endParaRPr lang="en-US" altLang="zh-CN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80" y="418465"/>
            <a:ext cx="1056132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365885"/>
            <a:ext cx="112560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态度：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b="1">
                <a:solidFill>
                  <a:srgbClr val="00B050"/>
                </a:solidFill>
              </a:rPr>
              <a:t>行动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80" y="418465"/>
            <a:ext cx="1056132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365885"/>
            <a:ext cx="112560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态度：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对客观协作流程的信任，永远被挑刺，头脑勤劳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以价值产出为目标，注重个人信用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对于他人协作，秉承尊重、理解、开放的态度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b="1">
                <a:solidFill>
                  <a:srgbClr val="00B050"/>
                </a:solidFill>
              </a:rPr>
              <a:t>行动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en-US" altLang="zh-CN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80" y="418465"/>
            <a:ext cx="1056132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365885"/>
            <a:ext cx="112560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态度：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对客观协作流程的信任，永远被挑刺，头脑勤劳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以价值产出为目标，注重个人信用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对于他人协作，秉承尊重、理解、开放的态度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b="1">
                <a:solidFill>
                  <a:srgbClr val="00B050"/>
                </a:solidFill>
              </a:rPr>
              <a:t>行动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基础知识：物理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语文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专业知识：行业相关的业务，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行业本身的系统，软件编程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至少是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编程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终身学习：科普加AI，现实工作中多注意，吾一日三省吾身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80" y="418465"/>
            <a:ext cx="10561320" cy="455295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理解软件工程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学习培养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500" y="1365885"/>
            <a:ext cx="11256010" cy="562229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态度：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对客观协作流程的信任，永远被挑刺，头脑勤劳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以价值产出为目标，注重个人信用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对于他人协作，秉承尊重、理解、开放的态度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b="1">
                <a:solidFill>
                  <a:srgbClr val="00B050"/>
                </a:solidFill>
              </a:rPr>
              <a:t>行动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基础知识：物理</a:t>
            </a:r>
            <a:r>
              <a:rPr lang="en-US" altLang="zh-CN" sz="1800" b="1">
                <a:solidFill>
                  <a:srgbClr val="00B050"/>
                </a:solidFill>
              </a:rPr>
              <a:t>+</a:t>
            </a:r>
            <a:r>
              <a:rPr lang="zh-CN" altLang="en-US" sz="1800" b="1">
                <a:solidFill>
                  <a:srgbClr val="00B050"/>
                </a:solidFill>
              </a:rPr>
              <a:t>语文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专业知识：行业相关的业务，</a:t>
            </a:r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行业本身的系统，软件编程</a:t>
            </a:r>
            <a:r>
              <a:rPr lang="en-US" altLang="zh-CN" sz="1800" b="1">
                <a:solidFill>
                  <a:srgbClr val="00B050"/>
                </a:solidFill>
              </a:rPr>
              <a:t>(</a:t>
            </a:r>
            <a:r>
              <a:rPr lang="zh-CN" altLang="en-US" sz="1800" b="1">
                <a:solidFill>
                  <a:srgbClr val="00B050"/>
                </a:solidFill>
              </a:rPr>
              <a:t>至少是</a:t>
            </a:r>
            <a:r>
              <a:rPr lang="en-US" altLang="zh-CN" sz="1800" b="1">
                <a:solidFill>
                  <a:srgbClr val="00B050"/>
                </a:solidFill>
              </a:rPr>
              <a:t>AI</a:t>
            </a:r>
            <a:r>
              <a:rPr lang="zh-CN" altLang="en-US" sz="1800" b="1">
                <a:solidFill>
                  <a:srgbClr val="00B050"/>
                </a:solidFill>
              </a:rPr>
              <a:t>编程</a:t>
            </a:r>
            <a:r>
              <a:rPr lang="en-US" altLang="zh-CN" sz="1800" b="1">
                <a:solidFill>
                  <a:srgbClr val="00B050"/>
                </a:solidFill>
              </a:rPr>
              <a:t>)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终身学习：科普加AI，现实工作中多注意，吾一日三省吾身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参考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程序员看软件工程/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程序员看相互协作/程序员与岗位职责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程序员看文档编写</a:t>
            </a:r>
            <a:r>
              <a:rPr lang="en-US" altLang="zh-CN" sz="1800" b="1">
                <a:solidFill>
                  <a:srgbClr val="00B050"/>
                </a:solidFill>
              </a:rPr>
              <a:t>/程序员与职业规划</a:t>
            </a:r>
            <a:endParaRPr lang="en-US" altLang="zh-CN" sz="1800" b="1">
              <a:solidFill>
                <a:srgbClr val="00B050"/>
              </a:solidFill>
            </a:endParaRPr>
          </a:p>
          <a:p>
            <a:pPr lvl="1"/>
            <a:r>
              <a:rPr lang="en-US" altLang="zh-CN" sz="1800" b="1">
                <a:solidFill>
                  <a:srgbClr val="00B050"/>
                </a:solidFill>
              </a:rPr>
              <a:t>IT</a:t>
            </a:r>
            <a:r>
              <a:rPr lang="zh-CN" altLang="en-US" sz="1800" b="1">
                <a:solidFill>
                  <a:srgbClr val="00B050"/>
                </a:solidFill>
              </a:rPr>
              <a:t>地图导航</a:t>
            </a:r>
            <a:endParaRPr lang="zh-CN" altLang="en-US" sz="18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3881</Words>
  <Application>WPS Presentation</Application>
  <PresentationFormat>宽屏</PresentationFormat>
  <Paragraphs>408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OpenSymbol</vt:lpstr>
      <vt:lpstr>Office Theme</vt:lpstr>
      <vt:lpstr>理解软件工程</vt:lpstr>
      <vt:lpstr>理解软件工程-主体理论-定位定义</vt:lpstr>
      <vt:lpstr>理解软件工程-主体理论-定位定义</vt:lpstr>
      <vt:lpstr>理解软件工程-主体理论-定位定义</vt:lpstr>
      <vt:lpstr>理解软件工程-主体理论-定位定义</vt:lpstr>
      <vt:lpstr>理解软件工程-主体理论-研发框架</vt:lpstr>
      <vt:lpstr>理解软件工程-主体理论-研发框架</vt:lpstr>
      <vt:lpstr>理解软件工程-主体理论-研发框架</vt:lpstr>
      <vt:lpstr>理解软件工程-主体理论-研发框架</vt:lpstr>
      <vt:lpstr>理解软件工程-主体理论-研发框架</vt:lpstr>
      <vt:lpstr>理解软件工程-主体理论-通用描述</vt:lpstr>
      <vt:lpstr>理解软件工程-主体理论-通用描述</vt:lpstr>
      <vt:lpstr>理解软件工程-主体理论-通用描述</vt:lpstr>
      <vt:lpstr>理解软件工程-主体理论-通用描述</vt:lpstr>
      <vt:lpstr>理解软件工程-具体实践</vt:lpstr>
      <vt:lpstr>理解软件工程-具体实践</vt:lpstr>
      <vt:lpstr>理解软件工程-具体实践</vt:lpstr>
      <vt:lpstr>理解软件工程-具体实践</vt:lpstr>
      <vt:lpstr>理解软件工程-学习培养</vt:lpstr>
      <vt:lpstr>理解软件工程-学习培养</vt:lpstr>
      <vt:lpstr>理解软件工程-学习培养</vt:lpstr>
      <vt:lpstr>理解软件工程-学习培养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1290</cp:revision>
  <dcterms:created xsi:type="dcterms:W3CDTF">2026-02-28T12:12:43Z</dcterms:created>
  <dcterms:modified xsi:type="dcterms:W3CDTF">2026-02-28T12:12:43Z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