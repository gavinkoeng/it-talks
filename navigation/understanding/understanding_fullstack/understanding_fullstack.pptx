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5"/>
  </p:handoutMasterIdLst>
  <p:sldIdLst>
    <p:sldId id="257" r:id="rId3"/>
    <p:sldId id="416" r:id="rId4"/>
    <p:sldId id="500" r:id="rId6"/>
    <p:sldId id="499" r:id="rId7"/>
    <p:sldId id="498" r:id="rId8"/>
    <p:sldId id="497" r:id="rId9"/>
    <p:sldId id="496" r:id="rId10"/>
    <p:sldId id="495" r:id="rId11"/>
    <p:sldId id="494" r:id="rId12"/>
    <p:sldId id="493" r:id="rId13"/>
    <p:sldId id="457" r:id="rId14"/>
    <p:sldId id="518" r:id="rId15"/>
    <p:sldId id="505" r:id="rId16"/>
    <p:sldId id="504" r:id="rId17"/>
    <p:sldId id="503" r:id="rId18"/>
    <p:sldId id="501" r:id="rId19"/>
    <p:sldId id="490" r:id="rId20"/>
    <p:sldId id="508" r:id="rId21"/>
    <p:sldId id="507" r:id="rId22"/>
    <p:sldId id="509" r:id="rId23"/>
    <p:sldId id="506" r:id="rId24"/>
    <p:sldId id="491" r:id="rId25"/>
    <p:sldId id="513" r:id="rId26"/>
    <p:sldId id="512" r:id="rId27"/>
    <p:sldId id="511" r:id="rId28"/>
    <p:sldId id="510" r:id="rId29"/>
    <p:sldId id="492" r:id="rId30"/>
    <p:sldId id="516" r:id="rId31"/>
    <p:sldId id="515" r:id="rId32"/>
    <p:sldId id="517" r:id="rId33"/>
    <p:sldId id="514" r:id="rId3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44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1055370"/>
            <a:ext cx="10515600" cy="655955"/>
          </a:xfrm>
        </p:spPr>
        <p:txBody>
          <a:bodyPr>
            <a:normAutofit fontScale="90000"/>
          </a:bodyPr>
          <a:p>
            <a:pPr algn="ctr"/>
            <a:r>
              <a:rPr lang="zh-CN" altLang="en-US" sz="4000">
                <a:solidFill>
                  <a:srgbClr val="00B050"/>
                </a:solidFill>
              </a:rPr>
              <a:t>理解全栈开发</a:t>
            </a:r>
            <a:endParaRPr lang="en-US" altLang="zh-CN" sz="40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482850"/>
            <a:ext cx="10515600" cy="3877945"/>
          </a:xfrm>
        </p:spPr>
        <p:txBody>
          <a:bodyPr/>
          <a:p>
            <a:pPr marL="457200" lvl="1" indent="0" algn="ctr">
              <a:buNone/>
            </a:pPr>
            <a:endParaRPr lang="zh-CN" altLang="en-US" sz="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主体理论</a:t>
            </a:r>
            <a:endParaRPr lang="zh-CN" altLang="en-US" sz="324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定位定义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架构体系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演化演进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具体实例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学习培养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广义应用：为应用层平台，整合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直接交互能力，据此产出社会价值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狭义应用：具有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与使用者的直接交互能力，同时此直接交互能力对产出社会价值起到重要作用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应用服务：不具有与使用者的直接交互能力，或虽然具有此能力，但只对产出社会价值起到辅助作用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行业内的操作系统和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行业向其他行业过渡的各专业平台，融入各个对应行业，并可跨行业进行统一整合处理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广义应用：为应用层平台，整合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直接交互能力，据此产出社会价值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狭义应用：具有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与使用者的直接交互能力，同时此直接交互能力对产出社会价值起到重要作用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应用服务：不具有与使用者的直接交互能力，或虽然具有此能力，但只对产出社会价值起到辅助作用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行业内的操作系统和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行业向其他行业过渡的各专业平台，融入各个对应行业，并可跨行业进行统一整合处理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行业向全行业扩展的各不同细分平台，基于业务层通用平台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调度管理各专业平台，并提供通用服务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传输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分类为：直接交互类专业平台，广义生产类专业平台，二者兼具类专业平台；专业平台一般会分两级调度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专业平台从操作系统的视角来看属于扩展平台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非专业平台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行业跨向其他各个行业专业的过渡桥梁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广义应用：为应用层平台，整合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直接交互能力，据此产出社会价值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狭义应用：具有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与使用者的直接交互能力，同时此直接交互能力对产出社会价值起到重要作用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应用服务：不具有与使用者的直接交互能力，或虽然具有此能力，但只对产出社会价值起到辅助作用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行业内的操作系统和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行业向其他行业过渡的各专业平台，融入各个对应行业，并可跨行业进行统一整合处理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行业向全行业扩展的各不同细分平台，基于业务层通用平台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调度管理各专业平台，并提供通用服务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存储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分类为：直接交互类专业平台，广义生产类专业平台，二者兼具类专业平台；专业平台一般会分两级调度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专业平台从操作系统的视角来看属于扩展平台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非专业平台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行业跨向其他各个行业专业的过渡桥梁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图灵机在某一层面的一种具体实现，包含传输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递归可扩展性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平台可以拆分为：框架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传输和调度为主</a:t>
            </a:r>
            <a:r>
              <a:rPr lang="en-US" altLang="zh-CN" b="1">
                <a:solidFill>
                  <a:srgbClr val="00B050"/>
                </a:solidFill>
              </a:rPr>
              <a:t>)+</a:t>
            </a:r>
            <a:r>
              <a:rPr lang="zh-CN" altLang="en-US" b="1">
                <a:solidFill>
                  <a:srgbClr val="00B050"/>
                </a:solidFill>
              </a:rPr>
              <a:t>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存储和计算为主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；但框架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库不一定是平台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广义应用：为应用层平台，整合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直接交互能力，据此产出社会价值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狭义应用：具有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与使用者的直接交互能力，同时此直接交互能力对产出社会价值起到重要作用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应用服务：不具有与使用者的直接交互能力，或虽然具有此能力，但只对产出社会价值起到辅助作用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行业内的操作系统和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行业向其他行业过渡的各专业平台，融入各个对应行业，并可跨行业进行统一整合处理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行业向全行业扩展的各不同细分平台，基于业务层通用平台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调度管理各专业平台，并提供通用服务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存储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分类为：直接交互类专业平台，广义生产类专业平台，二者兼具类专业平台；专业平台一般会分两级调度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专业平台从操作系统的视角来看属于扩展平台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非专业平台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行业跨向其他各个行业专业的过渡桥梁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图灵机在某一层面的一种具体实现，包含传输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递归可扩展性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平台可以拆分为：框架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传输和调度为主</a:t>
            </a:r>
            <a:r>
              <a:rPr lang="en-US" altLang="zh-CN" b="1">
                <a:solidFill>
                  <a:srgbClr val="00B050"/>
                </a:solidFill>
              </a:rPr>
              <a:t>)+</a:t>
            </a:r>
            <a:r>
              <a:rPr lang="zh-CN" altLang="en-US" b="1">
                <a:solidFill>
                  <a:srgbClr val="00B050"/>
                </a:solidFill>
              </a:rPr>
              <a:t>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存储和计算为主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；但框架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库不一定是平台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代表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行业本身，系统层平台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业务层通用平台</a:t>
            </a:r>
            <a:r>
              <a:rPr lang="en-US" altLang="zh-CN" b="1">
                <a:solidFill>
                  <a:srgbClr val="00B050"/>
                </a:solidFill>
              </a:rPr>
              <a:t>+IT</a:t>
            </a:r>
            <a:r>
              <a:rPr lang="zh-CN" altLang="en-US" b="1">
                <a:solidFill>
                  <a:srgbClr val="00B050"/>
                </a:solidFill>
              </a:rPr>
              <a:t>内部平台；对于桌面则再加上交互类专用平台和直接交互平台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不含生产类专用平台，应用层，以及扩展平台中的非专业平台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属于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行业内，具有临时属性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广义应用：为应用层平台，整合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直接交互能力，据此产出社会价值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狭义应用：具有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与使用者的直接交互能力，同时此直接交互能力对产出社会价值起到重要作用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应用服务：不具有与使用者的直接交互能力，或虽然具有此能力，但只对产出社会价值起到辅助作用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行业内的操作系统和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行业向其他行业过渡的各专业平台，融入各个对应行业，并可跨行业进行统一整合处理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行业向全行业扩展的各不同细分平台，基于业务层通用平台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调度管理各专业平台，并提供通用服务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存储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分类为：直接交互类专业平台，广义生产类专业平台，二者兼具类专业平台；专业平台一般会分两级调度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专业平台从操作系统的视角来看属于扩展平台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非专业平台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行业跨向其他各个行业专业的过渡桥梁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图灵机在某一层面的一种具体实现，包含传输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递归可扩展性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平台可以拆分为：框架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传输和调度为主</a:t>
            </a:r>
            <a:r>
              <a:rPr lang="en-US" altLang="zh-CN" b="1">
                <a:solidFill>
                  <a:srgbClr val="00B050"/>
                </a:solidFill>
              </a:rPr>
              <a:t>)+</a:t>
            </a:r>
            <a:r>
              <a:rPr lang="zh-CN" altLang="en-US" b="1">
                <a:solidFill>
                  <a:srgbClr val="00B050"/>
                </a:solidFill>
              </a:rPr>
              <a:t>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存储和计算为主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；但框架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库不一定是平台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代表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行业本身，系统层平台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内部平台；对于桌面则再加上交互类专用平台和直接交互平台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不含生产类专用平台，应用层，以及扩展平台中的非专业平台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属于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行业内，具有临时属性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工具：限定于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行业内，使用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内部能力，可以带直接交互能力，没有广义生产能力，不直接产出社会价值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广义应用：为应用层平台，整合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直接交互能力，据此产出社会价值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狭义应用：具有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与使用者的直接交互能力，同时此直接交互能力对产出社会价值起到重要作用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应用服务：不具有与使用者的直接交互能力，或虽然具有此能力，但只对产出社会价值起到辅助作用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行业内的操作系统和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行业向其他行业过渡的各专业平台，融入各个对应行业，并可跨行业进行统一整合处理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行业向全行业扩展的各不同细分平台，基于业务层通用平台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调度管理各专业平台，并提供通用服务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存储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分类为：直接交互类专业平台，广义生产类专业平台，二者兼具类专业平台；专业平台一般会分两级调度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专业平台从操作系统的视角来看属于扩展平台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非专业平台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行业跨向其他各个行业专业的过渡桥梁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图灵机在某一层面的一种具体实现，包含传输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递归可扩展性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平台可以拆分为：框架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传输和调度为主</a:t>
            </a:r>
            <a:r>
              <a:rPr lang="en-US" altLang="zh-CN" b="1">
                <a:solidFill>
                  <a:srgbClr val="00B050"/>
                </a:solidFill>
              </a:rPr>
              <a:t>)+</a:t>
            </a:r>
            <a:r>
              <a:rPr lang="zh-CN" altLang="en-US" b="1">
                <a:solidFill>
                  <a:srgbClr val="00B050"/>
                </a:solidFill>
              </a:rPr>
              <a:t>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存储和计算为主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；但框架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库不一定是平台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代表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行业本身，系统层平台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内部平台；对于桌面则再加上交互类专用平台和直接交互平台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不含生产类专用平台，应用层，以及扩展平台中的非专业平台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属于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行业内，具有临时属性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工具：限定于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行业内，使用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内部能力，可以带直接交互能力，没有广义生产能力，不直接产出社会价值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r>
              <a:rPr lang="zh-CN" altLang="en-US" sz="1800" b="1">
                <a:solidFill>
                  <a:srgbClr val="00B050"/>
                </a:solidFill>
              </a:rPr>
              <a:t>基于背景定位的前提下，在全行业内进行跨多行业专业平台整合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广义全栈应用：整合两个或两个以上的专业平台能力的广义应用，否则为广义单栈应用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基于兼具类专业平台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广义全栈开发：</a:t>
            </a:r>
            <a:r>
              <a:rPr lang="zh-CN" altLang="en-US" sz="1600" b="1">
                <a:solidFill>
                  <a:srgbClr val="00B050"/>
                </a:solidFill>
              </a:rPr>
              <a:t>开发广义全栈应用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直接交互能力，根据生产需求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使用场景，生成广义全栈应用，打包发布，在生产环境中部署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操作系统，建立特有传输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存储，整合为统一能力，通过对交互效果和生产效果统一调度，实现社会价值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背景定位：</a:t>
            </a:r>
            <a:r>
              <a:rPr lang="zh-CN" altLang="en-US" sz="1800" b="1">
                <a:solidFill>
                  <a:srgbClr val="00B050"/>
                </a:solidFill>
              </a:rPr>
              <a:t>基于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行业向全行业扩散，最终对物理真实世界产出社会价值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广义应用：为应用层平台，整合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广义生产能力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直接交互能力，据此产出社会价值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正价值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负价值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狭义应用：具有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与使用者的直接交互能力，同时此直接交互能力对产出社会价值起到重要作用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应用服务：不具有与使用者的直接交互能力，或虽然具有此能力，但只对产出社会价值起到辅助作用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行业内的操作系统和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行业向其他行业过渡的各专业平台，融入各个对应行业，并可跨行业进行统一整合处理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行业向全行业扩展的各不同细分平台，基于业务层通用平台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调度管理各专业平台，并提供通用服务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存储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传输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分类为：直接交互类专业平台，广义生产类专业平台，二者兼具类专业平台；专业平台一般会分两级调度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专业平台从操作系统的视角来看属于扩展平台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非专业平台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，是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行业跨向其他各个行业专业的过渡桥梁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平台：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图灵机在某一层面的一种具体实现，包含传输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处理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递归可扩展性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平台可以拆分为：框架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传输和调度为主</a:t>
            </a:r>
            <a:r>
              <a:rPr lang="en-US" altLang="zh-CN" b="1">
                <a:solidFill>
                  <a:srgbClr val="00B050"/>
                </a:solidFill>
              </a:rPr>
              <a:t>)+</a:t>
            </a:r>
            <a:r>
              <a:rPr lang="zh-CN" altLang="en-US" b="1">
                <a:solidFill>
                  <a:srgbClr val="00B050"/>
                </a:solidFill>
              </a:rPr>
              <a:t>库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存储和计算为主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；但框架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库不一定是平台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操作系统：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代表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行业本身，系统层平台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内部平台；对于桌面则再加上交互类专用平台和直接交互平台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不含生产类专用平台，应用层，以及扩展平台中的非专业平台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属于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行业内，具有临时属性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工具：限定于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行业内，使用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内部能力，可以带直接交互能力，没有广义生产能力，不直接产出社会价值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主题定义：</a:t>
            </a:r>
            <a:r>
              <a:rPr lang="zh-CN" altLang="en-US" sz="1800" b="1">
                <a:solidFill>
                  <a:srgbClr val="00B050"/>
                </a:solidFill>
              </a:rPr>
              <a:t>基于背景定位的前提下，在全行业内进行跨多行业专业平台整合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广义全栈应用：整合两个或两个以上的专业平台能力的广义应用，否则为广义单栈应用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基于兼具类专业平台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广义全栈开发：</a:t>
            </a:r>
            <a:r>
              <a:rPr lang="zh-CN" altLang="en-US" sz="1600" b="1">
                <a:solidFill>
                  <a:srgbClr val="00B050"/>
                </a:solidFill>
              </a:rPr>
              <a:t>开发广义全栈应用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广义生产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直接交互能力，根据生产需求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使用场景，生成广义全栈应用，打包发布，在生产环境中部署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维护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基于专业平台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操作系统，建立特有传输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存储，整合为统一能力，通过对交互效果和生产效果统一调度，实现社会价值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理解操作系统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系统的基础平台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系统的扩展平台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的业务模型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的应用模型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的价值产出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学习架构设计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658495" y="6186170"/>
            <a:ext cx="10768965" cy="485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659130" y="3561080"/>
            <a:ext cx="10768965" cy="2219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59765" y="2099310"/>
            <a:ext cx="10768965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58495" y="716280"/>
            <a:ext cx="10770235" cy="13779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043930" y="3045460"/>
            <a:ext cx="635" cy="51562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043295" y="5780405"/>
            <a:ext cx="635" cy="40576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658495" y="6186170"/>
            <a:ext cx="10768965" cy="485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659130" y="3561080"/>
            <a:ext cx="10768965" cy="2219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59765" y="2099310"/>
            <a:ext cx="10768965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805815" y="2094230"/>
            <a:ext cx="2019935" cy="4577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广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义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服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务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58495" y="716280"/>
            <a:ext cx="10770235" cy="13779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043930" y="3045460"/>
            <a:ext cx="635" cy="51562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043295" y="5780405"/>
            <a:ext cx="635" cy="40576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658495" y="6186170"/>
            <a:ext cx="10768965" cy="485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659130" y="3561080"/>
            <a:ext cx="10768965" cy="2219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59765" y="2099310"/>
            <a:ext cx="10768965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805815" y="2094230"/>
            <a:ext cx="2019935" cy="4577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广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义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务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器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r>
              <a:rPr lang="en-US" altLang="zh-CN" b="1">
                <a:solidFill>
                  <a:schemeClr val="tx1"/>
                </a:solidFill>
              </a:rPr>
              <a:t>               .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r>
              <a:rPr lang="en-US" altLang="zh-CN" b="1">
                <a:solidFill>
                  <a:schemeClr val="tx1"/>
                </a:solidFill>
              </a:rPr>
              <a:t>               `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2954655" y="3559175"/>
            <a:ext cx="8289925" cy="15919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扩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展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58495" y="716280"/>
            <a:ext cx="10770235" cy="13779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043930" y="3045460"/>
            <a:ext cx="635" cy="51562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043295" y="5780405"/>
            <a:ext cx="635" cy="40576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s 3"/>
          <p:cNvSpPr/>
          <p:nvPr/>
        </p:nvSpPr>
        <p:spPr>
          <a:xfrm>
            <a:off x="1465580" y="3568700"/>
            <a:ext cx="1353185" cy="2080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用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136775" y="515937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136775" y="471360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136140" y="4254500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583055" y="3568065"/>
            <a:ext cx="111696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通用服务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90" name="Rectangles 89"/>
          <p:cNvSpPr/>
          <p:nvPr/>
        </p:nvSpPr>
        <p:spPr>
          <a:xfrm>
            <a:off x="2818765" y="5151120"/>
            <a:ext cx="842645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658495" y="6186170"/>
            <a:ext cx="10768965" cy="485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659130" y="3561080"/>
            <a:ext cx="10768965" cy="2219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59765" y="2099310"/>
            <a:ext cx="10768965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805815" y="2094230"/>
            <a:ext cx="2019935" cy="4577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广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义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务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器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r>
              <a:rPr lang="en-US" altLang="zh-CN" b="1">
                <a:solidFill>
                  <a:schemeClr val="tx1"/>
                </a:solidFill>
              </a:rPr>
              <a:t>               .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r>
              <a:rPr lang="en-US" altLang="zh-CN" b="1">
                <a:solidFill>
                  <a:schemeClr val="tx1"/>
                </a:solidFill>
              </a:rPr>
              <a:t>               `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2954655" y="3559175"/>
            <a:ext cx="8289925" cy="15919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扩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展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36720" y="3561080"/>
            <a:ext cx="1450340" cy="15182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交互专业平台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58495" y="716280"/>
            <a:ext cx="10770235" cy="13779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4903470" y="2930525"/>
            <a:ext cx="563245" cy="944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(</a:t>
            </a:r>
            <a:r>
              <a:rPr lang="zh-CN" altLang="en-US" sz="1000" b="1">
                <a:solidFill>
                  <a:schemeClr val="tx1"/>
                </a:solidFill>
              </a:rPr>
              <a:t>交互</a:t>
            </a:r>
            <a:r>
              <a:rPr lang="en-US" altLang="zh-CN" sz="1000" b="1">
                <a:solidFill>
                  <a:schemeClr val="tx1"/>
                </a:solidFill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8470265" y="419163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8597265" y="418909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043930" y="3045460"/>
            <a:ext cx="635" cy="51562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043295" y="5780405"/>
            <a:ext cx="635" cy="40576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s 3"/>
          <p:cNvSpPr/>
          <p:nvPr/>
        </p:nvSpPr>
        <p:spPr>
          <a:xfrm>
            <a:off x="1465580" y="3568700"/>
            <a:ext cx="1353185" cy="2080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用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136775" y="515937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136775" y="471360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136140" y="4254500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583055" y="3568065"/>
            <a:ext cx="111696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通用服务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4504055" y="434022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980940" y="432943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751705" y="404622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522720" y="3569335"/>
            <a:ext cx="1450340" cy="1510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生产专业平台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790055" y="433768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7266940" y="432689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037705" y="404368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7200265" y="2913380"/>
            <a:ext cx="563245" cy="9505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生产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276080" y="3569335"/>
            <a:ext cx="1450340" cy="1510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兼具专业平台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9935210" y="2928620"/>
            <a:ext cx="563245" cy="9347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兼具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9529445" y="432435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006330" y="431355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9777095" y="403034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8724265" y="418655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965450" y="3562350"/>
            <a:ext cx="1125855" cy="4152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非专业平台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90" name="Rectangles 89"/>
          <p:cNvSpPr/>
          <p:nvPr/>
        </p:nvSpPr>
        <p:spPr>
          <a:xfrm>
            <a:off x="2818765" y="5151120"/>
            <a:ext cx="842645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658495" y="6186170"/>
            <a:ext cx="10768965" cy="485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659130" y="3561080"/>
            <a:ext cx="10768965" cy="2219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59765" y="2099310"/>
            <a:ext cx="10768965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805815" y="2094230"/>
            <a:ext cx="2019935" cy="4577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广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义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务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器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r>
              <a:rPr lang="en-US" altLang="zh-CN" b="1">
                <a:solidFill>
                  <a:schemeClr val="tx1"/>
                </a:solidFill>
              </a:rPr>
              <a:t>               .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r>
              <a:rPr lang="en-US" altLang="zh-CN" b="1">
                <a:solidFill>
                  <a:schemeClr val="tx1"/>
                </a:solidFill>
              </a:rPr>
              <a:t>               `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2954655" y="3559175"/>
            <a:ext cx="8289925" cy="15919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扩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展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36720" y="3561080"/>
            <a:ext cx="1450340" cy="15182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交互专业平台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58495" y="716280"/>
            <a:ext cx="10770235" cy="13779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4903470" y="2930525"/>
            <a:ext cx="563245" cy="944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(</a:t>
            </a:r>
            <a:r>
              <a:rPr lang="zh-CN" altLang="en-US" sz="1000" b="1">
                <a:solidFill>
                  <a:schemeClr val="tx1"/>
                </a:solidFill>
              </a:rPr>
              <a:t>交互</a:t>
            </a:r>
            <a:r>
              <a:rPr lang="en-US" altLang="zh-CN" sz="1000" b="1">
                <a:solidFill>
                  <a:schemeClr val="tx1"/>
                </a:solidFill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8470265" y="419163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8597265" y="418909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043930" y="3045460"/>
            <a:ext cx="635" cy="51562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043295" y="5780405"/>
            <a:ext cx="635" cy="40576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s 3"/>
          <p:cNvSpPr/>
          <p:nvPr/>
        </p:nvSpPr>
        <p:spPr>
          <a:xfrm>
            <a:off x="1465580" y="3568700"/>
            <a:ext cx="1353185" cy="2080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用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136775" y="515937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136775" y="471360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136140" y="4254500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583055" y="3568065"/>
            <a:ext cx="111696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通用服务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842770" y="2595880"/>
            <a:ext cx="1946275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IT</a:t>
            </a:r>
            <a:r>
              <a:rPr lang="zh-CN" altLang="en-US" sz="1400" b="1">
                <a:solidFill>
                  <a:schemeClr val="tx1"/>
                </a:solidFill>
              </a:rPr>
              <a:t>内部平台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232275" y="2593975"/>
            <a:ext cx="1450340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直接交互平台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4504055" y="434022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980940" y="432943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751705" y="404622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522720" y="3569335"/>
            <a:ext cx="1450340" cy="1510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生产专业平台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790055" y="433768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7266940" y="432689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037705" y="404368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7200265" y="2913380"/>
            <a:ext cx="563245" cy="9505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生产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554470" y="2586990"/>
            <a:ext cx="1450975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广义生产平台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276080" y="3569335"/>
            <a:ext cx="1450340" cy="1510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兼具专业平台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9935210" y="2928620"/>
            <a:ext cx="563245" cy="9347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兼具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9529445" y="432435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006330" y="431355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9777095" y="403034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276715" y="2580005"/>
            <a:ext cx="1443355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二者兼具平台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8724265" y="418655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965450" y="3562350"/>
            <a:ext cx="1125855" cy="4152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非专业平台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90" name="Rectangles 89"/>
          <p:cNvSpPr/>
          <p:nvPr/>
        </p:nvSpPr>
        <p:spPr>
          <a:xfrm>
            <a:off x="2818765" y="5151120"/>
            <a:ext cx="842645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2371725" y="293814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3308350" y="293560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4460875" y="293306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6800850" y="293052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9539605" y="292417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658495" y="6186170"/>
            <a:ext cx="10768965" cy="485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659130" y="3561080"/>
            <a:ext cx="10768965" cy="2219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59765" y="2099310"/>
            <a:ext cx="10768965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805815" y="2094230"/>
            <a:ext cx="2019935" cy="4577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广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义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务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器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r>
              <a:rPr lang="en-US" altLang="zh-CN" b="1">
                <a:solidFill>
                  <a:schemeClr val="tx1"/>
                </a:solidFill>
              </a:rPr>
              <a:t>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r>
              <a:rPr lang="en-US" altLang="zh-CN" b="1">
                <a:solidFill>
                  <a:schemeClr val="tx1"/>
                </a:solidFill>
              </a:rPr>
              <a:t>               .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r>
              <a:rPr lang="en-US" altLang="zh-CN" b="1">
                <a:solidFill>
                  <a:schemeClr val="tx1"/>
                </a:solidFill>
              </a:rPr>
              <a:t>               `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2954655" y="3559175"/>
            <a:ext cx="8289925" cy="15919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扩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展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r>
              <a:rPr lang="en-US" altLang="zh-CN" sz="1600" b="1">
                <a:solidFill>
                  <a:schemeClr val="tx1"/>
                </a:solidFill>
              </a:rPr>
              <a:t>                                                                                                .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236720" y="3561080"/>
            <a:ext cx="1450340" cy="15182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交互专业平台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58495" y="716280"/>
            <a:ext cx="10770235" cy="13779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4903470" y="2930525"/>
            <a:ext cx="563245" cy="944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(</a:t>
            </a:r>
            <a:r>
              <a:rPr lang="zh-CN" altLang="en-US" sz="1000" b="1">
                <a:solidFill>
                  <a:schemeClr val="tx1"/>
                </a:solidFill>
              </a:rPr>
              <a:t>交互</a:t>
            </a:r>
            <a:r>
              <a:rPr lang="en-US" altLang="zh-CN" sz="1000" b="1">
                <a:solidFill>
                  <a:schemeClr val="tx1"/>
                </a:solidFill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8470265" y="419163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8597265" y="418909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043930" y="3045460"/>
            <a:ext cx="635" cy="51562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043295" y="5780405"/>
            <a:ext cx="635" cy="40576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s 3"/>
          <p:cNvSpPr/>
          <p:nvPr/>
        </p:nvSpPr>
        <p:spPr>
          <a:xfrm>
            <a:off x="1465580" y="3568700"/>
            <a:ext cx="1353185" cy="2080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用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平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台</a:t>
            </a:r>
            <a:r>
              <a:rPr lang="en-US" altLang="zh-CN" sz="1600" b="1">
                <a:solidFill>
                  <a:schemeClr val="tx1"/>
                </a:solidFill>
              </a:rPr>
              <a:t>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136775" y="515937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136775" y="4713605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136140" y="4254500"/>
            <a:ext cx="553085" cy="344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583055" y="3568065"/>
            <a:ext cx="111696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通用服务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842770" y="2595880"/>
            <a:ext cx="1946275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IT</a:t>
            </a:r>
            <a:r>
              <a:rPr lang="zh-CN" altLang="en-US" sz="1400" b="1">
                <a:solidFill>
                  <a:schemeClr val="tx1"/>
                </a:solidFill>
              </a:rPr>
              <a:t>内部平台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232275" y="2593975"/>
            <a:ext cx="1450340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直接交互平台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4504055" y="434022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980940" y="432943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751705" y="404622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522720" y="3569335"/>
            <a:ext cx="1450340" cy="1510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生产专业平台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790055" y="433768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7266940" y="432689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7037705" y="404368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7200265" y="2913380"/>
            <a:ext cx="563245" cy="9505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生产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554470" y="2586990"/>
            <a:ext cx="1450975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广义生产平台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276080" y="3569335"/>
            <a:ext cx="1450340" cy="15100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兼具专业平台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9935210" y="2928620"/>
            <a:ext cx="563245" cy="9347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兼具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9529445" y="4324350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006330" y="431355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9777095" y="4030345"/>
            <a:ext cx="465455" cy="2965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276715" y="2580005"/>
            <a:ext cx="1443355" cy="3441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二者兼具平台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8724265" y="4186555"/>
            <a:ext cx="76200" cy="990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965450" y="3562350"/>
            <a:ext cx="1125855" cy="4152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非专业平台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2463800" y="1858645"/>
            <a:ext cx="8262620" cy="863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3121025" y="1568450"/>
            <a:ext cx="142621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特有存储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5860415" y="1568450"/>
            <a:ext cx="142621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统一能力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8623935" y="1568450"/>
            <a:ext cx="142621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特有传输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2393315" y="1278255"/>
            <a:ext cx="8326755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 </a:t>
            </a:r>
            <a:r>
              <a:rPr lang="zh-CN" altLang="en-US" sz="1200" b="1">
                <a:solidFill>
                  <a:schemeClr val="tx1"/>
                </a:solidFill>
              </a:rPr>
              <a:t>统一调度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852805" y="912495"/>
            <a:ext cx="1145540" cy="4413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功能需求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852805" y="1493520"/>
            <a:ext cx="1145540" cy="4514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使用场景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9053830" y="912495"/>
            <a:ext cx="165481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生产效果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7037070" y="911860"/>
            <a:ext cx="1636395" cy="366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交互效果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3314065" y="194627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4956810" y="195262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7254875" y="1950720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9960610" y="194627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2371725" y="293814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3308350" y="293560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4460875" y="293306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6800850" y="293052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9539605" y="2924175"/>
            <a:ext cx="635" cy="63436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s 88"/>
          <p:cNvSpPr/>
          <p:nvPr/>
        </p:nvSpPr>
        <p:spPr>
          <a:xfrm>
            <a:off x="2010410" y="892175"/>
            <a:ext cx="452755" cy="1060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全栈开发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90" name="Rectangles 89"/>
          <p:cNvSpPr/>
          <p:nvPr/>
        </p:nvSpPr>
        <p:spPr>
          <a:xfrm>
            <a:off x="2818765" y="5151120"/>
            <a:ext cx="842645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历史：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历史：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40335" y="871220"/>
          <a:ext cx="11899900" cy="325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80"/>
                <a:gridCol w="1369060"/>
                <a:gridCol w="3416935"/>
                <a:gridCol w="3233420"/>
                <a:gridCol w="3215005"/>
              </a:tblGrid>
              <a:tr h="4375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阶段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时期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背景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特征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标志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雏形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1990-2005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早期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Web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开发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，规模小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，前端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HTML/CSS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CGI/PHP/ASP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前后端没有明确分工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个人站长，小企业官网开发；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开发者，全能程序员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2005-2015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Web2.0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，前后端分离，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前端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Java/Python/Go/JS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前后端明确分工，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Node.js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的出现真正实现了前后端同构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提出全栈开发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同时胜任前后端开发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)</a:t>
                      </a:r>
                      <a:endParaRPr lang="en-US" altLang="zh-CN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85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发展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2015-2020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云原生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微服务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/DevOps)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，从开发到运维全流程覆盖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分布式运维，前后端框架成熟，由技术逐步转向向业务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成为中小团队的核心角色，大型团队的全栈架构师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当下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2020-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至今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基础设施逐步完善，</a:t>
                      </a: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IT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与各行业深度融合，逐步开始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聚焦业务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跨行业专业平台整合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全栈开发广义化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技术栈全栈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+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业务能力全栈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)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历史：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注：各阶段后端包括多种组件，例如数据库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消息中间件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业务系统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多实例多类型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)+http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服务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含前后端交互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zh-CN" altLang="en-US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40335" y="871220"/>
          <a:ext cx="11899900" cy="325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80"/>
                <a:gridCol w="1369060"/>
                <a:gridCol w="3416935"/>
                <a:gridCol w="3233420"/>
                <a:gridCol w="3215005"/>
              </a:tblGrid>
              <a:tr h="4375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阶段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时期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背景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特征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标志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雏形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1990-2005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早期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Web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开发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，规模小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，前端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HTML/CSS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CGI/PHP/ASP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前后端没有明确分工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个人站长，小企业官网开发；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开发者，全能程序员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2005-2015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Web2.0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，前后端分离，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前端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Java/Python/Go/JS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前后端明确分工，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Node.js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的出现真正实现了前后端同构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提出全栈开发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同时胜任前后端开发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)</a:t>
                      </a:r>
                      <a:endParaRPr lang="en-US" altLang="zh-CN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85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发展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2015-2020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云原生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微服务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/DevOps)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，从开发到运维全流程覆盖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分布式运维，前后端框架成熟，由技术逐步转向向业务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成为中小团队的核心角色，大型团队的全栈架构师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当下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2020-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至今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基础设施逐步完善，</a:t>
                      </a: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IT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与各行业深度融合，逐步开始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聚焦业务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跨行业专业平台整合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全栈开发广义化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技术栈全栈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+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业务能力全栈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)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历史：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注：各阶段后端包括多种组件，例如数据库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消息中间件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业务系统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多实例多类型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)+http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服务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含前后端交互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zh-CN" altLang="en-US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基础设施成熟完善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广义操作系统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各专业平台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，广义全栈开发直接面向端到端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只基于交互层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跨专业平台开发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广义全栈开发成为广义应用开发的主流，单栈开发则越来越少见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统一的广义应用开发平台，同时支持各个专业平台相关的语言开发调试，一体化打包部署和运维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含升级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40335" y="871220"/>
          <a:ext cx="11899900" cy="325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80"/>
                <a:gridCol w="1369060"/>
                <a:gridCol w="3416935"/>
                <a:gridCol w="3233420"/>
                <a:gridCol w="3215005"/>
              </a:tblGrid>
              <a:tr h="4375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阶段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时期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背景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特征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标志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雏形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1990-2005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早期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Web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开发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，规模小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，前端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HTML/CSS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CGI/PHP/ASP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前后端没有明确分工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个人站长，小企业官网开发；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开发者，全能程序员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2005-2015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Web2.0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，前后端分离，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前端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Java/Python/Go/JS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前后端明确分工，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Node.js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的出现真正实现了前后端同构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提出全栈开发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同时胜任前后端开发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)</a:t>
                      </a:r>
                      <a:endParaRPr lang="en-US" altLang="zh-CN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85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发展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2015-2020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云原生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微服务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/DevOps)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，从开发到运维全流程覆盖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分布式运维，前后端框架成熟，由技术逐步转向向业务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成为中小团队的核心角色，大型团队的全栈架构师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当下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2020-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至今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基础设施逐步完善，</a:t>
                      </a: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IT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与各行业深度融合，逐步开始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聚焦业务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跨行业专业平台整合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全栈开发广义化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技术栈全栈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+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业务能力全栈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)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984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15925"/>
            <a:ext cx="12081510" cy="65722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历史：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注：各阶段后端包括多种组件，例如数据库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消息中间件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业务系统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多实例多类型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)+http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服务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b="1">
                <a:solidFill>
                  <a:schemeClr val="bg1">
                    <a:lumMod val="85000"/>
                  </a:schemeClr>
                </a:solidFill>
              </a:rPr>
              <a:t>含前后端交互</a:t>
            </a:r>
            <a:r>
              <a:rPr lang="en-US" altLang="zh-CN" b="1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zh-CN" altLang="en-US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基础设施成熟完善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广义操作系统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各专业平台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，广义全栈开发直接面向端到端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只基于交互层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跨专业平台开发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广义全栈开发成为广义应用开发的主流，单栈开发则越来越少见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统一的广义应用开发平台，同时支持各个专业平台相关的语言开发调试，一体化打包部署和运维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含升级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理解操作系统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系统的基础平台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系统的扩展平台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的业务模型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的应用模型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的价值产出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学习架构设计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40335" y="871220"/>
          <a:ext cx="11899900" cy="325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80"/>
                <a:gridCol w="1369060"/>
                <a:gridCol w="3416935"/>
                <a:gridCol w="3233420"/>
                <a:gridCol w="3215005"/>
              </a:tblGrid>
              <a:tr h="4375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阶段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时期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背景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特征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标志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雏形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1990-2005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早期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Web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开发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，规模小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，前端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HTML/CSS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CGI/PHP/ASP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前后端没有明确分工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个人站长，小企业官网开发；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开发者，全能程序员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2005-2015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Web2.0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，前后端分离，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前端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，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后端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Java/Python/Go/JS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前后端明确分工，</a:t>
                      </a:r>
                      <a:r>
                        <a:rPr 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Node.js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的出现真正实现了前后端同构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提出全栈开发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同时胜任前后端开发</a:t>
                      </a:r>
                      <a:r>
                        <a:rPr lang="en-US" altLang="zh-CN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)</a:t>
                      </a:r>
                      <a:endParaRPr lang="en-US" altLang="zh-CN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85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发展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2015-2020</a:t>
                      </a:r>
                      <a:endParaRPr 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云原生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微服务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/DevOps)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，从开发到运维全流程覆盖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分布式运维，前后端框架成熟，由技术逐步转向向业务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成为中小团队的核心角色，大型团队的全栈架构师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  <a:tr h="7042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当下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2020-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至今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基础设施逐步完善，</a:t>
                      </a:r>
                      <a:r>
                        <a:rPr 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IT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与各行业深度融合，逐步开始</a:t>
                      </a:r>
                      <a:r>
                        <a:rPr lang="zh-CN" altLang="en-US" sz="1800">
                          <a:solidFill>
                            <a:schemeClr val="bg1">
                              <a:lumMod val="85000"/>
                            </a:schemeClr>
                          </a:solidFill>
                          <a:sym typeface="+mn-ea"/>
                        </a:rPr>
                        <a:t>聚焦业务</a:t>
                      </a:r>
                      <a:endParaRPr lang="zh-CN" altLang="en-US" sz="1800">
                        <a:solidFill>
                          <a:schemeClr val="bg1">
                            <a:lumMod val="8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跨行业专业平台整合</a:t>
                      </a:r>
                      <a:endParaRPr lang="zh-CN" altLang="en-US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全栈开发广义化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技术栈全栈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+</a:t>
                      </a:r>
                      <a:r>
                        <a:rPr lang="zh-CN" altLang="en-US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业务能力全栈</a:t>
                      </a:r>
                      <a:r>
                        <a:rPr lang="en-US" altLang="zh-CN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)</a:t>
                      </a:r>
                      <a:endParaRPr lang="en-US" altLang="zh-CN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6192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9925"/>
            <a:ext cx="12081510" cy="60591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当下特征：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主要局限：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未来全栈：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6192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9925"/>
            <a:ext cx="12081510" cy="60591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当下特征：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双栈混合结构：技术栈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生产专业平台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交互专业平台运行</a:t>
            </a:r>
            <a:r>
              <a:rPr lang="en-US" altLang="zh-CN" b="1">
                <a:solidFill>
                  <a:srgbClr val="00B050"/>
                </a:solidFill>
              </a:rPr>
              <a:t>NodeJS</a:t>
            </a:r>
            <a:r>
              <a:rPr lang="zh-CN" altLang="en-US" b="1">
                <a:solidFill>
                  <a:srgbClr val="00B050"/>
                </a:solidFill>
              </a:rPr>
              <a:t>程序，直接交互平台运行</a:t>
            </a:r>
            <a:r>
              <a:rPr lang="en-US" altLang="zh-CN" b="1">
                <a:solidFill>
                  <a:srgbClr val="00B050"/>
                </a:solidFill>
              </a:rPr>
              <a:t>Web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http/rest(</a:t>
            </a:r>
            <a:r>
              <a:rPr lang="zh-CN" altLang="en-US" b="1">
                <a:solidFill>
                  <a:srgbClr val="00B050"/>
                </a:solidFill>
              </a:rPr>
              <a:t>为主</a:t>
            </a:r>
            <a:r>
              <a:rPr lang="en-US" altLang="zh-CN" b="1">
                <a:solidFill>
                  <a:srgbClr val="00B050"/>
                </a:solidFill>
              </a:rPr>
              <a:t>)+gRPC(</a:t>
            </a:r>
            <a:r>
              <a:rPr lang="zh-CN" altLang="en-US" b="1">
                <a:solidFill>
                  <a:srgbClr val="00B050"/>
                </a:solidFill>
              </a:rPr>
              <a:t>为辅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需要在业务层实现对应专用平台的微服务</a:t>
            </a:r>
            <a:r>
              <a:rPr lang="en-US" altLang="zh-CN" b="1">
                <a:solidFill>
                  <a:srgbClr val="00B050"/>
                </a:solidFill>
              </a:rPr>
              <a:t>(Python/Java/go/C++</a:t>
            </a:r>
            <a:r>
              <a:rPr lang="zh-CN" altLang="en-US" b="1">
                <a:solidFill>
                  <a:srgbClr val="00B050"/>
                </a:solidFill>
              </a:rPr>
              <a:t>等实现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http/rest+gRPC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对于交互层广义生产平台的开发定制，需要独立开发程序，不属于当前的全栈开发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基于目前的各类云平台</a:t>
            </a:r>
            <a:r>
              <a:rPr lang="en-US" altLang="zh-CN" b="1">
                <a:solidFill>
                  <a:srgbClr val="00B050"/>
                </a:solidFill>
              </a:rPr>
              <a:t>(AWS</a:t>
            </a:r>
            <a:r>
              <a:rPr lang="zh-CN" altLang="en-US" b="1">
                <a:solidFill>
                  <a:srgbClr val="00B050"/>
                </a:solidFill>
              </a:rPr>
              <a:t>，阿里飞天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，容器调度</a:t>
            </a:r>
            <a:r>
              <a:rPr lang="en-US" altLang="zh-CN" b="1">
                <a:solidFill>
                  <a:srgbClr val="00B050"/>
                </a:solidFill>
              </a:rPr>
              <a:t>K8S</a:t>
            </a:r>
            <a:r>
              <a:rPr lang="zh-CN" altLang="en-US" b="1">
                <a:solidFill>
                  <a:srgbClr val="00B050"/>
                </a:solidFill>
              </a:rPr>
              <a:t>，私有云框架</a:t>
            </a:r>
            <a:r>
              <a:rPr lang="en-US" altLang="zh-CN" b="1">
                <a:solidFill>
                  <a:srgbClr val="00B050"/>
                </a:solidFill>
              </a:rPr>
              <a:t>OpenStack</a:t>
            </a:r>
            <a:r>
              <a:rPr lang="zh-CN" altLang="en-US" b="1">
                <a:solidFill>
                  <a:srgbClr val="00B050"/>
                </a:solidFill>
              </a:rPr>
              <a:t>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主要局限：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未来全栈：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6192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9925"/>
            <a:ext cx="12081510" cy="60591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当下特征：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双栈混合结构：技术栈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生产专业平台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交互专业平台运行</a:t>
            </a:r>
            <a:r>
              <a:rPr lang="en-US" altLang="zh-CN" b="1">
                <a:solidFill>
                  <a:srgbClr val="00B050"/>
                </a:solidFill>
              </a:rPr>
              <a:t>NodeJS</a:t>
            </a:r>
            <a:r>
              <a:rPr lang="zh-CN" altLang="en-US" b="1">
                <a:solidFill>
                  <a:srgbClr val="00B050"/>
                </a:solidFill>
              </a:rPr>
              <a:t>程序，直接交互平台运行</a:t>
            </a:r>
            <a:r>
              <a:rPr lang="en-US" altLang="zh-CN" b="1">
                <a:solidFill>
                  <a:srgbClr val="00B050"/>
                </a:solidFill>
              </a:rPr>
              <a:t>Web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http/rest(</a:t>
            </a:r>
            <a:r>
              <a:rPr lang="zh-CN" altLang="en-US" b="1">
                <a:solidFill>
                  <a:srgbClr val="00B050"/>
                </a:solidFill>
              </a:rPr>
              <a:t>为主</a:t>
            </a:r>
            <a:r>
              <a:rPr lang="en-US" altLang="zh-CN" b="1">
                <a:solidFill>
                  <a:srgbClr val="00B050"/>
                </a:solidFill>
              </a:rPr>
              <a:t>)+gRPC(</a:t>
            </a:r>
            <a:r>
              <a:rPr lang="zh-CN" altLang="en-US" b="1">
                <a:solidFill>
                  <a:srgbClr val="00B050"/>
                </a:solidFill>
              </a:rPr>
              <a:t>为辅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需要在业务层实现对应专用平台的微服务</a:t>
            </a:r>
            <a:r>
              <a:rPr lang="en-US" altLang="zh-CN" b="1">
                <a:solidFill>
                  <a:srgbClr val="00B050"/>
                </a:solidFill>
              </a:rPr>
              <a:t>(Python/Java/go/C++</a:t>
            </a:r>
            <a:r>
              <a:rPr lang="zh-CN" altLang="en-US" b="1">
                <a:solidFill>
                  <a:srgbClr val="00B050"/>
                </a:solidFill>
              </a:rPr>
              <a:t>等实现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http/rest+gRPC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对于交互层广义生产平台的开发定制，需要独立开发程序，不属于当前的全栈开发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基于目前的各类云平台</a:t>
            </a:r>
            <a:r>
              <a:rPr lang="en-US" altLang="zh-CN" b="1">
                <a:solidFill>
                  <a:srgbClr val="00B050"/>
                </a:solidFill>
              </a:rPr>
              <a:t>(AWS</a:t>
            </a:r>
            <a:r>
              <a:rPr lang="zh-CN" altLang="en-US" b="1">
                <a:solidFill>
                  <a:srgbClr val="00B050"/>
                </a:solidFill>
              </a:rPr>
              <a:t>，阿里飞天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，容器调度</a:t>
            </a:r>
            <a:r>
              <a:rPr lang="en-US" altLang="zh-CN" b="1">
                <a:solidFill>
                  <a:srgbClr val="00B050"/>
                </a:solidFill>
              </a:rPr>
              <a:t>K8S</a:t>
            </a:r>
            <a:r>
              <a:rPr lang="zh-CN" altLang="en-US" b="1">
                <a:solidFill>
                  <a:srgbClr val="00B050"/>
                </a:solidFill>
              </a:rPr>
              <a:t>，私有云框架</a:t>
            </a:r>
            <a:r>
              <a:rPr lang="en-US" altLang="zh-CN" b="1">
                <a:solidFill>
                  <a:srgbClr val="00B050"/>
                </a:solidFill>
              </a:rPr>
              <a:t>OpenStack</a:t>
            </a:r>
            <a:r>
              <a:rPr lang="zh-CN" altLang="en-US" b="1">
                <a:solidFill>
                  <a:srgbClr val="00B050"/>
                </a:solidFill>
              </a:rPr>
              <a:t>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主要局限：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目前是业务栈横向，而不是交互栈横向，同云边端一体化系统没有成型相关，同时也同专业平台还不完善相关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含直接交互平台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过于单一，同目前的云边端一体化操作系统没有成型相关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兼具专业平台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含二者兼具平台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运行流程没有优化，同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目前的云边端一体化操作系统没有成型相关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未来全栈：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6192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9925"/>
            <a:ext cx="12081510" cy="60591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当下特征：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双栈混合结构：技术栈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生产专业平台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交互专业平台运行</a:t>
            </a:r>
            <a:r>
              <a:rPr lang="en-US" altLang="zh-CN" b="1">
                <a:solidFill>
                  <a:srgbClr val="00B050"/>
                </a:solidFill>
              </a:rPr>
              <a:t>NodeJS</a:t>
            </a:r>
            <a:r>
              <a:rPr lang="zh-CN" altLang="en-US" b="1">
                <a:solidFill>
                  <a:srgbClr val="00B050"/>
                </a:solidFill>
              </a:rPr>
              <a:t>程序，直接交互平台运行</a:t>
            </a:r>
            <a:r>
              <a:rPr lang="en-US" altLang="zh-CN" b="1">
                <a:solidFill>
                  <a:srgbClr val="00B050"/>
                </a:solidFill>
              </a:rPr>
              <a:t>Web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http/rest(</a:t>
            </a:r>
            <a:r>
              <a:rPr lang="zh-CN" altLang="en-US" b="1">
                <a:solidFill>
                  <a:srgbClr val="00B050"/>
                </a:solidFill>
              </a:rPr>
              <a:t>为主</a:t>
            </a:r>
            <a:r>
              <a:rPr lang="en-US" altLang="zh-CN" b="1">
                <a:solidFill>
                  <a:srgbClr val="00B050"/>
                </a:solidFill>
              </a:rPr>
              <a:t>)+gRPC(</a:t>
            </a:r>
            <a:r>
              <a:rPr lang="zh-CN" altLang="en-US" b="1">
                <a:solidFill>
                  <a:srgbClr val="00B050"/>
                </a:solidFill>
              </a:rPr>
              <a:t>为辅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需要在业务层实现对应专用平台的微服务</a:t>
            </a:r>
            <a:r>
              <a:rPr lang="en-US" altLang="zh-CN" b="1">
                <a:solidFill>
                  <a:srgbClr val="00B050"/>
                </a:solidFill>
              </a:rPr>
              <a:t>(Python/Java/go/C++</a:t>
            </a:r>
            <a:r>
              <a:rPr lang="zh-CN" altLang="en-US" b="1">
                <a:solidFill>
                  <a:srgbClr val="00B050"/>
                </a:solidFill>
              </a:rPr>
              <a:t>等实现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http/rest+gRPC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对于交互层广义生产平台的开发定制，需要独立开发程序，不属于当前的全栈开发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基于目前的各类云平台</a:t>
            </a:r>
            <a:r>
              <a:rPr lang="en-US" altLang="zh-CN" b="1">
                <a:solidFill>
                  <a:srgbClr val="00B050"/>
                </a:solidFill>
              </a:rPr>
              <a:t>(AWS</a:t>
            </a:r>
            <a:r>
              <a:rPr lang="zh-CN" altLang="en-US" b="1">
                <a:solidFill>
                  <a:srgbClr val="00B050"/>
                </a:solidFill>
              </a:rPr>
              <a:t>，阿里飞天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，容器调度</a:t>
            </a:r>
            <a:r>
              <a:rPr lang="en-US" altLang="zh-CN" b="1">
                <a:solidFill>
                  <a:srgbClr val="00B050"/>
                </a:solidFill>
              </a:rPr>
              <a:t>K8S</a:t>
            </a:r>
            <a:r>
              <a:rPr lang="zh-CN" altLang="en-US" b="1">
                <a:solidFill>
                  <a:srgbClr val="00B050"/>
                </a:solidFill>
              </a:rPr>
              <a:t>，私有云框架</a:t>
            </a:r>
            <a:r>
              <a:rPr lang="en-US" altLang="zh-CN" b="1">
                <a:solidFill>
                  <a:srgbClr val="00B050"/>
                </a:solidFill>
              </a:rPr>
              <a:t>OpenStack</a:t>
            </a:r>
            <a:r>
              <a:rPr lang="zh-CN" altLang="en-US" b="1">
                <a:solidFill>
                  <a:srgbClr val="00B050"/>
                </a:solidFill>
              </a:rPr>
              <a:t>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主要局限：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目前是业务栈横向，而不是交互栈横向，同云边端一体化系统没有成型相关，同时也同专业平台还不完善相关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含直接交互平台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过于单一，同目前的云边端一体化操作系统没有成型相关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兼具专业平台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含二者兼具平台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运行流程没有优化，同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目前的云边端一体化操作系统没有成型相关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未来全栈：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交互栈代替技术栈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业务栈，更标准，更合理地做复杂开发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更复杂的业务流程和更友好的使用体验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交互专业平台分布式桌面化代替多交互端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单业务端，同时自然解决直接交互平台过于单一的问题。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二者兼具平台运行流程直接优化运行，直接本地直接通讯处理即可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融入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全场景智能化的</a:t>
            </a:r>
            <a:r>
              <a:rPr lang="zh-CN" altLang="en-US" b="1">
                <a:solidFill>
                  <a:srgbClr val="00B050"/>
                </a:solidFill>
              </a:rPr>
              <a:t>云边端一体化操作系统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各个完整标准的专业平台，给出示例场景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6192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9925"/>
            <a:ext cx="12081510" cy="605917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当下特征：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双栈混合结构：技术栈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交互专业平台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生产专业平台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通用平台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交互专业平台运行</a:t>
            </a:r>
            <a:r>
              <a:rPr lang="en-US" altLang="zh-CN" b="1">
                <a:solidFill>
                  <a:srgbClr val="00B050"/>
                </a:solidFill>
              </a:rPr>
              <a:t>NodeJS</a:t>
            </a:r>
            <a:r>
              <a:rPr lang="zh-CN" altLang="en-US" b="1">
                <a:solidFill>
                  <a:srgbClr val="00B050"/>
                </a:solidFill>
              </a:rPr>
              <a:t>程序，直接交互平台运行</a:t>
            </a:r>
            <a:r>
              <a:rPr lang="en-US" altLang="zh-CN" b="1">
                <a:solidFill>
                  <a:srgbClr val="00B050"/>
                </a:solidFill>
              </a:rPr>
              <a:t>Web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http/rest(</a:t>
            </a:r>
            <a:r>
              <a:rPr lang="zh-CN" altLang="en-US" b="1">
                <a:solidFill>
                  <a:srgbClr val="00B050"/>
                </a:solidFill>
              </a:rPr>
              <a:t>为主</a:t>
            </a:r>
            <a:r>
              <a:rPr lang="en-US" altLang="zh-CN" b="1">
                <a:solidFill>
                  <a:srgbClr val="00B050"/>
                </a:solidFill>
              </a:rPr>
              <a:t>)+gRPC(</a:t>
            </a:r>
            <a:r>
              <a:rPr lang="zh-CN" altLang="en-US" b="1">
                <a:solidFill>
                  <a:srgbClr val="00B050"/>
                </a:solidFill>
              </a:rPr>
              <a:t>为辅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需要在业务层实现对应专用平台的微服务</a:t>
            </a:r>
            <a:r>
              <a:rPr lang="en-US" altLang="zh-CN" b="1">
                <a:solidFill>
                  <a:srgbClr val="00B050"/>
                </a:solidFill>
              </a:rPr>
              <a:t>(Python/Java/go/C++</a:t>
            </a:r>
            <a:r>
              <a:rPr lang="zh-CN" altLang="en-US" b="1">
                <a:solidFill>
                  <a:srgbClr val="00B050"/>
                </a:solidFill>
              </a:rPr>
              <a:t>等实现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http/rest+gRPC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对于交互层广义生产平台的开发定制，需要独立开发程序，不属于当前的全栈开发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基于目前的各类云平台</a:t>
            </a:r>
            <a:r>
              <a:rPr lang="en-US" altLang="zh-CN" b="1">
                <a:solidFill>
                  <a:srgbClr val="00B050"/>
                </a:solidFill>
              </a:rPr>
              <a:t>(AWS</a:t>
            </a:r>
            <a:r>
              <a:rPr lang="zh-CN" altLang="en-US" b="1">
                <a:solidFill>
                  <a:srgbClr val="00B050"/>
                </a:solidFill>
              </a:rPr>
              <a:t>，阿里飞天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，容器调度</a:t>
            </a:r>
            <a:r>
              <a:rPr lang="en-US" altLang="zh-CN" b="1">
                <a:solidFill>
                  <a:srgbClr val="00B050"/>
                </a:solidFill>
              </a:rPr>
              <a:t>K8S</a:t>
            </a:r>
            <a:r>
              <a:rPr lang="zh-CN" altLang="en-US" b="1">
                <a:solidFill>
                  <a:srgbClr val="00B050"/>
                </a:solidFill>
              </a:rPr>
              <a:t>，私有云框架</a:t>
            </a:r>
            <a:r>
              <a:rPr lang="en-US" altLang="zh-CN" b="1">
                <a:solidFill>
                  <a:srgbClr val="00B050"/>
                </a:solidFill>
              </a:rPr>
              <a:t>OpenStack</a:t>
            </a:r>
            <a:r>
              <a:rPr lang="zh-CN" altLang="en-US" b="1">
                <a:solidFill>
                  <a:srgbClr val="00B050"/>
                </a:solidFill>
              </a:rPr>
              <a:t>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主要局限：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目前是业务栈横向，而不是交互栈横向，同云边端一体化系统没有成型相关，同时也同专业平台还不完善相关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含直接交互平台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过于单一，同目前的云边端一体化操作系统没有成型相关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兼具专业平台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含二者兼具平台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运行流程没有优化，同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目前的云边端一体化操作系统没有成型相关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未来全栈：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交互栈代替技术栈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业务栈，更标准，更合理地做复杂开发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更复杂的业务流程和更友好的使用体验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交互专业平台分布式桌面化代替多交互端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单业务端，同时自然解决直接交互平台过于单一的问题。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二者兼具平台运行流程直接优化运行，直接本地直接通讯处理即可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融入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全场景智能化的</a:t>
            </a:r>
            <a:r>
              <a:rPr lang="zh-CN" altLang="en-US" b="1">
                <a:solidFill>
                  <a:srgbClr val="00B050"/>
                </a:solidFill>
              </a:rPr>
              <a:t>云边端一体化操作系统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各个完整标准的专业平台，给出示例场景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相关参考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成为全栈开发工程师需要多久？ </a:t>
            </a:r>
            <a:r>
              <a:rPr lang="zh-CN" altLang="en-US" b="1" u="sng">
                <a:solidFill>
                  <a:schemeClr val="accent1"/>
                </a:solidFill>
                <a:sym typeface="+mn-ea"/>
              </a:rPr>
              <a:t>http://xhslink.com/o/31LVyUzU7vU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 小红书，村口修鞋师傅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理解操作系统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系统的基础平台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系统的扩展平台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的业务模型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的应用模型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的价值产出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学习架构设计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0167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9425"/>
            <a:ext cx="12081510" cy="49364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0167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9425"/>
            <a:ext cx="12081510" cy="49364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纵向：</a:t>
            </a:r>
            <a:r>
              <a:rPr lang="en-US" altLang="zh-CN" sz="1800" b="1">
                <a:solidFill>
                  <a:srgbClr val="00B050"/>
                </a:solidFill>
              </a:rPr>
              <a:t>Web</a:t>
            </a:r>
            <a:r>
              <a:rPr lang="zh-CN" altLang="en-US" sz="1800" b="1">
                <a:solidFill>
                  <a:srgbClr val="00B050"/>
                </a:solidFill>
              </a:rPr>
              <a:t>前端各类框架，</a:t>
            </a:r>
            <a:r>
              <a:rPr lang="en-US" altLang="zh-CN" sz="1800" b="1">
                <a:solidFill>
                  <a:srgbClr val="00B050"/>
                </a:solidFill>
              </a:rPr>
              <a:t>NodeJS</a:t>
            </a:r>
            <a:r>
              <a:rPr lang="zh-CN" altLang="en-US" sz="1800" b="1">
                <a:solidFill>
                  <a:srgbClr val="00B050"/>
                </a:solidFill>
              </a:rPr>
              <a:t>后端开发，</a:t>
            </a:r>
            <a:r>
              <a:rPr lang="en-US" altLang="zh-CN" sz="1800" b="1">
                <a:solidFill>
                  <a:srgbClr val="00B050"/>
                </a:solidFill>
              </a:rPr>
              <a:t>http/rest+gRPC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辅助，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sz="1800" b="1">
                <a:solidFill>
                  <a:srgbClr val="00B050"/>
                </a:solidFill>
              </a:rPr>
              <a:t>参考</a:t>
            </a:r>
            <a:r>
              <a:rPr lang="en-US" altLang="zh-CN" sz="1800" b="1">
                <a:solidFill>
                  <a:srgbClr val="00B050"/>
                </a:solidFill>
              </a:rPr>
              <a:t>1</a:t>
            </a:r>
            <a:r>
              <a:rPr lang="zh-CN" altLang="en-US" sz="1800" b="1">
                <a:solidFill>
                  <a:srgbClr val="00B050"/>
                </a:solidFill>
              </a:rPr>
              <a:t>”中的具体细节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横向：各类业务服务，</a:t>
            </a:r>
            <a:r>
              <a:rPr lang="en-US" altLang="zh-CN" sz="1800" b="1">
                <a:solidFill>
                  <a:srgbClr val="00B050"/>
                </a:solidFill>
              </a:rPr>
              <a:t>Java/Python/Go+AI</a:t>
            </a:r>
            <a:r>
              <a:rPr lang="zh-CN" altLang="en-US" sz="1800" b="1">
                <a:solidFill>
                  <a:srgbClr val="00B050"/>
                </a:solidFill>
              </a:rPr>
              <a:t>辅助，熟悉理解不同相关行业的生产专业平台的业务层内容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交汇：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分布式服务器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/Shell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/DevOps/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数据库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/(grpc+http/rest)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参考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”中的具体细节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0167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9425"/>
            <a:ext cx="12081510" cy="49364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纵向：</a:t>
            </a:r>
            <a:r>
              <a:rPr lang="en-US" altLang="zh-CN" sz="1800" b="1">
                <a:solidFill>
                  <a:srgbClr val="00B050"/>
                </a:solidFill>
              </a:rPr>
              <a:t>Web</a:t>
            </a:r>
            <a:r>
              <a:rPr lang="zh-CN" altLang="en-US" sz="1800" b="1">
                <a:solidFill>
                  <a:srgbClr val="00B050"/>
                </a:solidFill>
              </a:rPr>
              <a:t>前端各类框架，</a:t>
            </a:r>
            <a:r>
              <a:rPr lang="en-US" altLang="zh-CN" sz="1800" b="1">
                <a:solidFill>
                  <a:srgbClr val="00B050"/>
                </a:solidFill>
              </a:rPr>
              <a:t>NodeJS</a:t>
            </a:r>
            <a:r>
              <a:rPr lang="zh-CN" altLang="en-US" sz="1800" b="1">
                <a:solidFill>
                  <a:srgbClr val="00B050"/>
                </a:solidFill>
              </a:rPr>
              <a:t>后端开发，</a:t>
            </a:r>
            <a:r>
              <a:rPr lang="en-US" altLang="zh-CN" sz="1800" b="1">
                <a:solidFill>
                  <a:srgbClr val="00B050"/>
                </a:solidFill>
              </a:rPr>
              <a:t>http/rest+gRPC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辅助，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sz="1800" b="1">
                <a:solidFill>
                  <a:srgbClr val="00B050"/>
                </a:solidFill>
              </a:rPr>
              <a:t>参考</a:t>
            </a:r>
            <a:r>
              <a:rPr lang="en-US" altLang="zh-CN" sz="1800" b="1">
                <a:solidFill>
                  <a:srgbClr val="00B050"/>
                </a:solidFill>
              </a:rPr>
              <a:t>1</a:t>
            </a:r>
            <a:r>
              <a:rPr lang="zh-CN" altLang="en-US" sz="1800" b="1">
                <a:solidFill>
                  <a:srgbClr val="00B050"/>
                </a:solidFill>
              </a:rPr>
              <a:t>”中的具体细节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横向：各类业务服务，</a:t>
            </a:r>
            <a:r>
              <a:rPr lang="en-US" altLang="zh-CN" sz="1800" b="1">
                <a:solidFill>
                  <a:srgbClr val="00B050"/>
                </a:solidFill>
              </a:rPr>
              <a:t>Java/Python/Go+AI</a:t>
            </a:r>
            <a:r>
              <a:rPr lang="zh-CN" altLang="en-US" sz="1800" b="1">
                <a:solidFill>
                  <a:srgbClr val="00B050"/>
                </a:solidFill>
              </a:rPr>
              <a:t>辅助，熟悉理解不同相关行业的生产专业平台的业务层内容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交汇：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分布式服务器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/Shell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/DevOps/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数据库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/(grpc+http/rest)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参考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”中的具体细节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r>
              <a:rPr lang="zh-CN" altLang="en-US" sz="1800" b="1">
                <a:solidFill>
                  <a:srgbClr val="00B050"/>
                </a:solidFill>
              </a:rPr>
              <a:t>广义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全栈开发成为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所有应用开发的主流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例如覆盖未来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80%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以上的广义应用开发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0167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9425"/>
            <a:ext cx="12081510" cy="49364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纵向：</a:t>
            </a:r>
            <a:r>
              <a:rPr lang="en-US" altLang="zh-CN" sz="1800" b="1">
                <a:solidFill>
                  <a:srgbClr val="00B050"/>
                </a:solidFill>
              </a:rPr>
              <a:t>Web</a:t>
            </a:r>
            <a:r>
              <a:rPr lang="zh-CN" altLang="en-US" sz="1800" b="1">
                <a:solidFill>
                  <a:srgbClr val="00B050"/>
                </a:solidFill>
              </a:rPr>
              <a:t>前端各类框架，</a:t>
            </a:r>
            <a:r>
              <a:rPr lang="en-US" altLang="zh-CN" sz="1800" b="1">
                <a:solidFill>
                  <a:srgbClr val="00B050"/>
                </a:solidFill>
              </a:rPr>
              <a:t>NodeJS</a:t>
            </a:r>
            <a:r>
              <a:rPr lang="zh-CN" altLang="en-US" sz="1800" b="1">
                <a:solidFill>
                  <a:srgbClr val="00B050"/>
                </a:solidFill>
              </a:rPr>
              <a:t>后端开发，</a:t>
            </a:r>
            <a:r>
              <a:rPr lang="en-US" altLang="zh-CN" sz="1800" b="1">
                <a:solidFill>
                  <a:srgbClr val="00B050"/>
                </a:solidFill>
              </a:rPr>
              <a:t>http/rest+gRPC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辅助，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sz="1800" b="1">
                <a:solidFill>
                  <a:srgbClr val="00B050"/>
                </a:solidFill>
              </a:rPr>
              <a:t>参考</a:t>
            </a:r>
            <a:r>
              <a:rPr lang="en-US" altLang="zh-CN" sz="1800" b="1">
                <a:solidFill>
                  <a:srgbClr val="00B050"/>
                </a:solidFill>
              </a:rPr>
              <a:t>1</a:t>
            </a:r>
            <a:r>
              <a:rPr lang="zh-CN" altLang="en-US" sz="1800" b="1">
                <a:solidFill>
                  <a:srgbClr val="00B050"/>
                </a:solidFill>
              </a:rPr>
              <a:t>”中的具体细节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横向：各类业务服务，</a:t>
            </a:r>
            <a:r>
              <a:rPr lang="en-US" altLang="zh-CN" sz="1800" b="1">
                <a:solidFill>
                  <a:srgbClr val="00B050"/>
                </a:solidFill>
              </a:rPr>
              <a:t>Java/Python/Go+AI</a:t>
            </a:r>
            <a:r>
              <a:rPr lang="zh-CN" altLang="en-US" sz="1800" b="1">
                <a:solidFill>
                  <a:srgbClr val="00B050"/>
                </a:solidFill>
              </a:rPr>
              <a:t>辅助，熟悉理解不同相关行业的生产专业平台的业务层内容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交汇：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分布式服务器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/Shell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/DevOps/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数据库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/(grpc+http/rest)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参考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”中的具体细节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r>
              <a:rPr lang="zh-CN" altLang="en-US" sz="1800" b="1">
                <a:solidFill>
                  <a:srgbClr val="00B050"/>
                </a:solidFill>
              </a:rPr>
              <a:t>广义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全栈开发成为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所有应用开发的主流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例如覆盖未来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80%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以上的广义应用开发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通用：</a:t>
            </a:r>
            <a:r>
              <a:rPr lang="en-US" altLang="zh-CN" b="1">
                <a:solidFill>
                  <a:srgbClr val="00B050"/>
                </a:solidFill>
              </a:rPr>
              <a:t>ArkTS(</a:t>
            </a:r>
            <a:r>
              <a:rPr lang="zh-CN" altLang="en-US" b="1">
                <a:solidFill>
                  <a:srgbClr val="00B050"/>
                </a:solidFill>
              </a:rPr>
              <a:t>鸿蒙版</a:t>
            </a:r>
            <a:r>
              <a:rPr lang="en-US" altLang="zh-CN" b="1">
                <a:solidFill>
                  <a:srgbClr val="00B050"/>
                </a:solidFill>
              </a:rPr>
              <a:t>React/Vue)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r>
              <a:rPr lang="en-US" altLang="zh-CN" b="1">
                <a:solidFill>
                  <a:srgbClr val="00B050"/>
                </a:solidFill>
              </a:rPr>
              <a:t>Rust(</a:t>
            </a:r>
            <a:r>
              <a:rPr lang="zh-CN" altLang="en-US" b="1">
                <a:solidFill>
                  <a:srgbClr val="00B050"/>
                </a:solidFill>
              </a:rPr>
              <a:t>安全性</a:t>
            </a:r>
            <a:r>
              <a:rPr lang="en-US" altLang="zh-CN" b="1">
                <a:solidFill>
                  <a:srgbClr val="00B050"/>
                </a:solidFill>
              </a:rPr>
              <a:t>)/C++(</a:t>
            </a:r>
            <a:r>
              <a:rPr lang="zh-CN" altLang="en-US" b="1">
                <a:solidFill>
                  <a:srgbClr val="00B050"/>
                </a:solidFill>
              </a:rPr>
              <a:t>高性能</a:t>
            </a:r>
            <a:r>
              <a:rPr lang="en-US" altLang="zh-CN" b="1">
                <a:solidFill>
                  <a:srgbClr val="00B050"/>
                </a:solidFill>
              </a:rPr>
              <a:t>)/C(</a:t>
            </a:r>
            <a:r>
              <a:rPr lang="zh-CN" altLang="en-US" b="1">
                <a:solidFill>
                  <a:srgbClr val="00B050"/>
                </a:solidFill>
              </a:rPr>
              <a:t>多语言接口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低资源消耗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专业：熟悉使用云边端操作系统，熟悉理解各相关行业的广义生产平台使用和相关行业的背景知识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工具：统一开发平台，集成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直接交互平台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广义生产平台，统一编译调试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打包发布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部署运维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70167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理解全栈开发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9425"/>
            <a:ext cx="12081510" cy="49364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当下：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纵向：</a:t>
            </a:r>
            <a:r>
              <a:rPr lang="en-US" altLang="zh-CN" sz="1800" b="1">
                <a:solidFill>
                  <a:srgbClr val="00B050"/>
                </a:solidFill>
              </a:rPr>
              <a:t>Web</a:t>
            </a:r>
            <a:r>
              <a:rPr lang="zh-CN" altLang="en-US" sz="1800" b="1">
                <a:solidFill>
                  <a:srgbClr val="00B050"/>
                </a:solidFill>
              </a:rPr>
              <a:t>前端各类框架，</a:t>
            </a:r>
            <a:r>
              <a:rPr lang="en-US" altLang="zh-CN" sz="1800" b="1">
                <a:solidFill>
                  <a:srgbClr val="00B050"/>
                </a:solidFill>
              </a:rPr>
              <a:t>NodeJS</a:t>
            </a:r>
            <a:r>
              <a:rPr lang="zh-CN" altLang="en-US" sz="1800" b="1">
                <a:solidFill>
                  <a:srgbClr val="00B050"/>
                </a:solidFill>
              </a:rPr>
              <a:t>后端开发，</a:t>
            </a:r>
            <a:r>
              <a:rPr lang="en-US" altLang="zh-CN" sz="1800" b="1">
                <a:solidFill>
                  <a:srgbClr val="00B050"/>
                </a:solidFill>
              </a:rPr>
              <a:t>http/rest+gRPC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辅助，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sz="1800" b="1">
                <a:solidFill>
                  <a:srgbClr val="00B050"/>
                </a:solidFill>
              </a:rPr>
              <a:t>参考</a:t>
            </a:r>
            <a:r>
              <a:rPr lang="en-US" altLang="zh-CN" sz="1800" b="1">
                <a:solidFill>
                  <a:srgbClr val="00B050"/>
                </a:solidFill>
              </a:rPr>
              <a:t>1</a:t>
            </a:r>
            <a:r>
              <a:rPr lang="zh-CN" altLang="en-US" sz="1800" b="1">
                <a:solidFill>
                  <a:srgbClr val="00B050"/>
                </a:solidFill>
              </a:rPr>
              <a:t>”中的具体细节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横向：各类业务服务，</a:t>
            </a:r>
            <a:r>
              <a:rPr lang="en-US" altLang="zh-CN" sz="1800" b="1">
                <a:solidFill>
                  <a:srgbClr val="00B050"/>
                </a:solidFill>
              </a:rPr>
              <a:t>Java/Python/Go+AI</a:t>
            </a:r>
            <a:r>
              <a:rPr lang="zh-CN" altLang="en-US" sz="1800" b="1">
                <a:solidFill>
                  <a:srgbClr val="00B050"/>
                </a:solidFill>
              </a:rPr>
              <a:t>辅助，熟悉理解不同相关行业的生产专业平台的业务层内容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交汇：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使用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分布式服务器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/Shell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/DevOps/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数据库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/(grpc+http/rest)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“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参考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”中的具体细节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未来：</a:t>
            </a:r>
            <a:r>
              <a:rPr lang="zh-CN" altLang="en-US" sz="1800" b="1">
                <a:solidFill>
                  <a:srgbClr val="00B050"/>
                </a:solidFill>
              </a:rPr>
              <a:t>广义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全栈开发成为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所有应用开发的主流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例如覆盖未来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80%</a:t>
            </a:r>
            <a:r>
              <a:rPr lang="zh-CN" altLang="en-US" sz="1800" b="1">
                <a:solidFill>
                  <a:srgbClr val="00B050"/>
                </a:solidFill>
                <a:sym typeface="+mn-ea"/>
              </a:rPr>
              <a:t>以上的广义应用开发</a:t>
            </a:r>
            <a:r>
              <a:rPr lang="en-US" altLang="zh-CN" sz="1800" b="1">
                <a:solidFill>
                  <a:srgbClr val="00B050"/>
                </a:solidFill>
                <a:sym typeface="+mn-ea"/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通用：</a:t>
            </a:r>
            <a:r>
              <a:rPr lang="en-US" altLang="zh-CN" b="1">
                <a:solidFill>
                  <a:srgbClr val="00B050"/>
                </a:solidFill>
              </a:rPr>
              <a:t>ArkTS(</a:t>
            </a:r>
            <a:r>
              <a:rPr lang="zh-CN" altLang="en-US" b="1">
                <a:solidFill>
                  <a:srgbClr val="00B050"/>
                </a:solidFill>
              </a:rPr>
              <a:t>鸿蒙版</a:t>
            </a:r>
            <a:r>
              <a:rPr lang="en-US" altLang="zh-CN" b="1">
                <a:solidFill>
                  <a:srgbClr val="00B050"/>
                </a:solidFill>
              </a:rPr>
              <a:t>React/Vue)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r>
              <a:rPr lang="en-US" altLang="zh-CN" b="1">
                <a:solidFill>
                  <a:srgbClr val="00B050"/>
                </a:solidFill>
              </a:rPr>
              <a:t>Rust(</a:t>
            </a:r>
            <a:r>
              <a:rPr lang="zh-CN" altLang="en-US" b="1">
                <a:solidFill>
                  <a:srgbClr val="00B050"/>
                </a:solidFill>
              </a:rPr>
              <a:t>安全性</a:t>
            </a:r>
            <a:r>
              <a:rPr lang="en-US" altLang="zh-CN" b="1">
                <a:solidFill>
                  <a:srgbClr val="00B050"/>
                </a:solidFill>
              </a:rPr>
              <a:t>)/C++(</a:t>
            </a:r>
            <a:r>
              <a:rPr lang="zh-CN" altLang="en-US" b="1">
                <a:solidFill>
                  <a:srgbClr val="00B050"/>
                </a:solidFill>
              </a:rPr>
              <a:t>高性能</a:t>
            </a:r>
            <a:r>
              <a:rPr lang="en-US" altLang="zh-CN" b="1">
                <a:solidFill>
                  <a:srgbClr val="00B050"/>
                </a:solidFill>
              </a:rPr>
              <a:t>)/C(</a:t>
            </a:r>
            <a:r>
              <a:rPr lang="zh-CN" altLang="en-US" b="1">
                <a:solidFill>
                  <a:srgbClr val="00B050"/>
                </a:solidFill>
              </a:rPr>
              <a:t>多语言接口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低资源消耗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专业：熟悉使用云边端操作系统，熟悉理解各相关行业的广义生产平台使用和相关行业的背景知识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工具：统一开发平台，集成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内部平台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直接交互平台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广义生产平台，统一编译调试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打包发布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部署运维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成为全栈开发工程师需要多久？ </a:t>
            </a:r>
            <a:r>
              <a:rPr lang="zh-CN" altLang="en-US" b="1" u="sng">
                <a:solidFill>
                  <a:schemeClr val="accent1"/>
                </a:solidFill>
              </a:rPr>
              <a:t>http://xhslink.com/o/31LVyUzU7vU</a:t>
            </a:r>
            <a:r>
              <a:rPr lang="zh-CN" altLang="en-US" b="1">
                <a:solidFill>
                  <a:srgbClr val="00B050"/>
                </a:solidFill>
              </a:rPr>
              <a:t> 小红书，村口修鞋师傅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理解操作系统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系统的基础平台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系统的扩展平台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的业务模型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的应用模型</a:t>
            </a:r>
            <a:r>
              <a:rPr lang="en-US" altLang="zh-CN" b="1">
                <a:solidFill>
                  <a:srgbClr val="00B050"/>
                </a:solidFill>
              </a:rPr>
              <a:t>/IT</a:t>
            </a:r>
            <a:r>
              <a:rPr lang="zh-CN" altLang="en-US" b="1">
                <a:solidFill>
                  <a:srgbClr val="00B050"/>
                </a:solidFill>
              </a:rPr>
              <a:t>的价值产出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学习架构设计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我的高级语言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Shell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11870</Words>
  <Application>WPS Presentation</Application>
  <PresentationFormat>宽屏</PresentationFormat>
  <Paragraphs>1189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理解全栈开发</vt:lpstr>
      <vt:lpstr>理解全栈开发-主体理论-定位定义</vt:lpstr>
      <vt:lpstr>理解全栈开发-主体理论-定位定义</vt:lpstr>
      <vt:lpstr>理解全栈开发-主体理论-定位定义</vt:lpstr>
      <vt:lpstr>理解全栈开发-主体理论-定位定义</vt:lpstr>
      <vt:lpstr>理解全栈开发-主体理论-定位定义</vt:lpstr>
      <vt:lpstr>理解全栈开发-主体理论-定位定义</vt:lpstr>
      <vt:lpstr>理解全栈开发-主体理论-定位定义</vt:lpstr>
      <vt:lpstr>理解全栈开发-主体理论-定位定义</vt:lpstr>
      <vt:lpstr>理解全栈开发-主体理论-定位定义</vt:lpstr>
      <vt:lpstr>理解全栈开发-主体理论-架构体系</vt:lpstr>
      <vt:lpstr>理解全栈开发-主体理论-架构体系</vt:lpstr>
      <vt:lpstr>理解全栈开发-主体理论-架构体系</vt:lpstr>
      <vt:lpstr>理解全栈开发-主体理论-架构体系</vt:lpstr>
      <vt:lpstr>理解全栈开发-主体理论-架构体系</vt:lpstr>
      <vt:lpstr>理解全栈开发-主体理论-架构体系</vt:lpstr>
      <vt:lpstr>理解全栈开发-主体理论-演化演进</vt:lpstr>
      <vt:lpstr>理解全栈开发-主体理论-演化演进</vt:lpstr>
      <vt:lpstr>理解全栈开发-主体理论-演化演进</vt:lpstr>
      <vt:lpstr>理解全栈开发-主体理论-演化演进</vt:lpstr>
      <vt:lpstr>理解全栈开发-主体理论-演化演进</vt:lpstr>
      <vt:lpstr>理解全栈开发-具体实例</vt:lpstr>
      <vt:lpstr>理解全栈开发-具体实例</vt:lpstr>
      <vt:lpstr>理解全栈开发-具体实例</vt:lpstr>
      <vt:lpstr>理解全栈开发-具体实例</vt:lpstr>
      <vt:lpstr>理解全栈开发-具体实例</vt:lpstr>
      <vt:lpstr>理解全栈开发-学习培养</vt:lpstr>
      <vt:lpstr>理解全栈开发-学习培养</vt:lpstr>
      <vt:lpstr>理解全栈开发-学习培养</vt:lpstr>
      <vt:lpstr>理解全栈开发-学习培养</vt:lpstr>
      <vt:lpstr>理解全栈开发-学习培养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1136</cp:revision>
  <dcterms:created xsi:type="dcterms:W3CDTF">2026-02-01T07:58:00Z</dcterms:created>
  <dcterms:modified xsi:type="dcterms:W3CDTF">2026-02-01T07:58:00Z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