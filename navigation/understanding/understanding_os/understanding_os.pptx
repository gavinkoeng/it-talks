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7" r:id="rId3"/>
    <p:sldId id="416" r:id="rId4"/>
    <p:sldId id="456" r:id="rId5"/>
    <p:sldId id="455" r:id="rId6"/>
    <p:sldId id="454" r:id="rId7"/>
    <p:sldId id="426" r:id="rId8"/>
    <p:sldId id="459" r:id="rId9"/>
    <p:sldId id="458" r:id="rId10"/>
    <p:sldId id="457" r:id="rId11"/>
    <p:sldId id="448" r:id="rId12"/>
    <p:sldId id="462" r:id="rId13"/>
    <p:sldId id="461" r:id="rId14"/>
    <p:sldId id="460" r:id="rId15"/>
    <p:sldId id="450" r:id="rId16"/>
    <p:sldId id="467" r:id="rId17"/>
    <p:sldId id="466" r:id="rId18"/>
    <p:sldId id="465" r:id="rId19"/>
    <p:sldId id="464" r:id="rId20"/>
    <p:sldId id="463" r:id="rId21"/>
    <p:sldId id="451" r:id="rId22"/>
    <p:sldId id="472" r:id="rId23"/>
    <p:sldId id="471" r:id="rId24"/>
    <p:sldId id="470" r:id="rId25"/>
    <p:sldId id="469" r:id="rId26"/>
    <p:sldId id="468" r:id="rId27"/>
    <p:sldId id="452" r:id="rId28"/>
    <p:sldId id="476" r:id="rId29"/>
    <p:sldId id="475" r:id="rId30"/>
    <p:sldId id="474" r:id="rId31"/>
    <p:sldId id="473" r:id="rId32"/>
    <p:sldId id="453" r:id="rId33"/>
    <p:sldId id="479" r:id="rId34"/>
    <p:sldId id="478" r:id="rId35"/>
    <p:sldId id="477" r:id="rId3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314"/>
        <p:guide pos="380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796290"/>
            <a:ext cx="10515600" cy="655955"/>
          </a:xfrm>
        </p:spPr>
        <p:txBody>
          <a:bodyPr>
            <a:normAutofit fontScale="90000"/>
          </a:bodyPr>
          <a:p>
            <a:pPr algn="ctr"/>
            <a:r>
              <a:rPr lang="zh-CN" altLang="en-US" sz="4000">
                <a:solidFill>
                  <a:srgbClr val="00B050"/>
                </a:solidFill>
              </a:rPr>
              <a:t>理解操作系统</a:t>
            </a:r>
            <a:endParaRPr lang="zh-CN" altLang="en-US" sz="40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29460"/>
            <a:ext cx="10515600" cy="4331335"/>
          </a:xfrm>
        </p:spPr>
        <p:txBody>
          <a:bodyPr/>
          <a:p>
            <a:pPr marL="457200" lvl="1" indent="0" algn="ctr">
              <a:buNone/>
            </a:pPr>
            <a:endParaRPr lang="zh-CN" altLang="en-US" sz="80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主体理论</a:t>
            </a:r>
            <a:endParaRPr lang="zh-CN" altLang="en-US" sz="324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定位定义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架构体系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演化演进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产品实例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纯单机系统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分布式系统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整合</a:t>
            </a:r>
            <a:r>
              <a:rPr lang="en-US" altLang="zh-CN" sz="2000" b="1">
                <a:solidFill>
                  <a:srgbClr val="00B050"/>
                </a:solidFill>
                <a:sym typeface="+mn-ea"/>
              </a:rPr>
              <a:t>Linux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学习培养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2230"/>
            <a:ext cx="10613390" cy="54102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4035"/>
            <a:ext cx="12081510" cy="632460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2"/>
            <a:endParaRPr lang="en-US" altLang="zh-CN" sz="1600" b="1">
              <a:solidFill>
                <a:srgbClr val="00B050"/>
              </a:solidFill>
            </a:endParaRPr>
          </a:p>
          <a:p>
            <a:pPr lvl="2"/>
            <a:endParaRPr lang="en-US" altLang="zh-CN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2230"/>
            <a:ext cx="10613390" cy="54102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4035"/>
            <a:ext cx="12081510" cy="632460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人与机器进行通用交互的软件，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行业的主体实现，一切其他软硬件都围绕广义操作系统展开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行业：交互层</a:t>
            </a:r>
            <a:r>
              <a:rPr lang="en-US" altLang="zh-CN" sz="1600" b="1">
                <a:solidFill>
                  <a:srgbClr val="00B050"/>
                </a:solidFill>
              </a:rPr>
              <a:t>(IT</a:t>
            </a:r>
            <a:r>
              <a:rPr lang="zh-CN" altLang="en-US" sz="1600" b="1">
                <a:solidFill>
                  <a:srgbClr val="00B050"/>
                </a:solidFill>
              </a:rPr>
              <a:t>行业为辅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非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行业为主</a:t>
            </a:r>
            <a:r>
              <a:rPr lang="en-US" altLang="zh-CN" sz="1600" b="1">
                <a:solidFill>
                  <a:srgbClr val="00B050"/>
                </a:solidFill>
              </a:rPr>
              <a:t>)--</a:t>
            </a:r>
            <a:r>
              <a:rPr lang="zh-CN" altLang="en-US" sz="1600" b="1">
                <a:solidFill>
                  <a:srgbClr val="00B050"/>
                </a:solidFill>
              </a:rPr>
              <a:t>业务层</a:t>
            </a:r>
            <a:r>
              <a:rPr lang="en-US" altLang="zh-CN" sz="1600" b="1">
                <a:solidFill>
                  <a:srgbClr val="00B050"/>
                </a:solidFill>
              </a:rPr>
              <a:t>(IT</a:t>
            </a:r>
            <a:r>
              <a:rPr lang="zh-CN" altLang="en-US" sz="1600" b="1">
                <a:solidFill>
                  <a:srgbClr val="00B050"/>
                </a:solidFill>
              </a:rPr>
              <a:t>行业为辅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非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行业为主</a:t>
            </a:r>
            <a:r>
              <a:rPr lang="en-US" altLang="zh-CN" sz="1600" b="1">
                <a:solidFill>
                  <a:srgbClr val="00B050"/>
                </a:solidFill>
              </a:rPr>
              <a:t>)--</a:t>
            </a:r>
            <a:r>
              <a:rPr lang="zh-CN" altLang="en-US" sz="1600" b="1">
                <a:solidFill>
                  <a:srgbClr val="00B050"/>
                </a:solidFill>
              </a:rPr>
              <a:t>系统层</a:t>
            </a:r>
            <a:r>
              <a:rPr lang="en-US" altLang="zh-CN" sz="1600" b="1">
                <a:solidFill>
                  <a:srgbClr val="00B050"/>
                </a:solidFill>
              </a:rPr>
              <a:t>(IT</a:t>
            </a:r>
            <a:r>
              <a:rPr lang="zh-CN" altLang="en-US" sz="1600" b="1">
                <a:solidFill>
                  <a:srgbClr val="00B050"/>
                </a:solidFill>
              </a:rPr>
              <a:t>行业</a:t>
            </a:r>
            <a:r>
              <a:rPr lang="en-US" altLang="zh-CN" sz="1600" b="1">
                <a:solidFill>
                  <a:srgbClr val="00B050"/>
                </a:solidFill>
              </a:rPr>
              <a:t>)--</a:t>
            </a:r>
            <a:r>
              <a:rPr lang="zh-CN" altLang="en-US" sz="1600" b="1">
                <a:solidFill>
                  <a:srgbClr val="00B050"/>
                </a:solidFill>
              </a:rPr>
              <a:t>机器</a:t>
            </a:r>
            <a:endParaRPr lang="en-US" altLang="zh-CN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使用：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系统层主体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占系统层约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85</a:t>
            </a:r>
            <a:r>
              <a:rPr lang="en-US" altLang="zh-CN" sz="1600" b="1">
                <a:solidFill>
                  <a:srgbClr val="00B050"/>
                </a:solidFill>
              </a:rPr>
              <a:t>%)+</a:t>
            </a:r>
            <a:r>
              <a:rPr lang="zh-CN" altLang="en-US" sz="1600" b="1">
                <a:solidFill>
                  <a:srgbClr val="00B050"/>
                </a:solidFill>
              </a:rPr>
              <a:t>业务层通用实现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占业务层约</a:t>
            </a:r>
            <a:r>
              <a:rPr lang="en-US" altLang="zh-CN" sz="1600" b="1">
                <a:solidFill>
                  <a:srgbClr val="00B050"/>
                </a:solidFill>
              </a:rPr>
              <a:t>5%)+</a:t>
            </a:r>
            <a:r>
              <a:rPr lang="zh-CN" altLang="en-US" sz="1600" b="1">
                <a:solidFill>
                  <a:srgbClr val="00B050"/>
                </a:solidFill>
              </a:rPr>
              <a:t>交互层通用交互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占交互层约</a:t>
            </a:r>
            <a:r>
              <a:rPr lang="en-US" altLang="zh-CN" sz="1600" b="1">
                <a:solidFill>
                  <a:srgbClr val="00B050"/>
                </a:solidFill>
              </a:rPr>
              <a:t>15%)</a:t>
            </a:r>
            <a:endParaRPr lang="en-US" altLang="zh-CN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开发：通过广义工具链支撑全部层面的开发者，系统层开发约</a:t>
            </a:r>
            <a:r>
              <a:rPr lang="en-US" altLang="zh-CN" sz="1600" b="1">
                <a:solidFill>
                  <a:srgbClr val="00B050"/>
                </a:solidFill>
              </a:rPr>
              <a:t>95%</a:t>
            </a:r>
            <a:r>
              <a:rPr lang="zh-CN" altLang="en-US" sz="1600" b="1">
                <a:solidFill>
                  <a:srgbClr val="00B050"/>
                </a:solidFill>
              </a:rPr>
              <a:t>，业务层约</a:t>
            </a:r>
            <a:r>
              <a:rPr lang="en-US" altLang="zh-CN" sz="1600" b="1">
                <a:solidFill>
                  <a:srgbClr val="00B050"/>
                </a:solidFill>
              </a:rPr>
              <a:t>10%</a:t>
            </a:r>
            <a:r>
              <a:rPr lang="zh-CN" altLang="en-US" sz="1600" b="1">
                <a:solidFill>
                  <a:srgbClr val="00B050"/>
                </a:solidFill>
              </a:rPr>
              <a:t>，交互层约</a:t>
            </a:r>
            <a:r>
              <a:rPr lang="en-US" altLang="zh-CN" sz="1600" b="1">
                <a:solidFill>
                  <a:srgbClr val="00B050"/>
                </a:solidFill>
              </a:rPr>
              <a:t>20%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不涉及非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行业的交互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非应用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，不涉及业务平台与交互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非专用平台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应用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，不涉及硬件实现细节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非硬件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包含广义工具链，广义工具链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狭义工具链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广义虚拟机，广义虚拟机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狭义虚拟机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定制裁剪的狭义操作系统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2230"/>
            <a:ext cx="10613390" cy="54102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4035"/>
            <a:ext cx="12081510" cy="632460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人与机器进行通用交互的软件，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行业的主体实现，一切其他软硬件都围绕广义操作系统展开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行业：交互层</a:t>
            </a:r>
            <a:r>
              <a:rPr lang="en-US" altLang="zh-CN" sz="1600" b="1">
                <a:solidFill>
                  <a:srgbClr val="00B050"/>
                </a:solidFill>
              </a:rPr>
              <a:t>(IT</a:t>
            </a:r>
            <a:r>
              <a:rPr lang="zh-CN" altLang="en-US" sz="1600" b="1">
                <a:solidFill>
                  <a:srgbClr val="00B050"/>
                </a:solidFill>
              </a:rPr>
              <a:t>行业为辅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非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行业为主</a:t>
            </a:r>
            <a:r>
              <a:rPr lang="en-US" altLang="zh-CN" sz="1600" b="1">
                <a:solidFill>
                  <a:srgbClr val="00B050"/>
                </a:solidFill>
              </a:rPr>
              <a:t>)--</a:t>
            </a:r>
            <a:r>
              <a:rPr lang="zh-CN" altLang="en-US" sz="1600" b="1">
                <a:solidFill>
                  <a:srgbClr val="00B050"/>
                </a:solidFill>
              </a:rPr>
              <a:t>业务层</a:t>
            </a:r>
            <a:r>
              <a:rPr lang="en-US" altLang="zh-CN" sz="1600" b="1">
                <a:solidFill>
                  <a:srgbClr val="00B050"/>
                </a:solidFill>
              </a:rPr>
              <a:t>(IT</a:t>
            </a:r>
            <a:r>
              <a:rPr lang="zh-CN" altLang="en-US" sz="1600" b="1">
                <a:solidFill>
                  <a:srgbClr val="00B050"/>
                </a:solidFill>
              </a:rPr>
              <a:t>行业为辅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非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行业为主</a:t>
            </a:r>
            <a:r>
              <a:rPr lang="en-US" altLang="zh-CN" sz="1600" b="1">
                <a:solidFill>
                  <a:srgbClr val="00B050"/>
                </a:solidFill>
              </a:rPr>
              <a:t>)--</a:t>
            </a:r>
            <a:r>
              <a:rPr lang="zh-CN" altLang="en-US" sz="1600" b="1">
                <a:solidFill>
                  <a:srgbClr val="00B050"/>
                </a:solidFill>
              </a:rPr>
              <a:t>系统层</a:t>
            </a:r>
            <a:r>
              <a:rPr lang="en-US" altLang="zh-CN" sz="1600" b="1">
                <a:solidFill>
                  <a:srgbClr val="00B050"/>
                </a:solidFill>
              </a:rPr>
              <a:t>(IT</a:t>
            </a:r>
            <a:r>
              <a:rPr lang="zh-CN" altLang="en-US" sz="1600" b="1">
                <a:solidFill>
                  <a:srgbClr val="00B050"/>
                </a:solidFill>
              </a:rPr>
              <a:t>行业</a:t>
            </a:r>
            <a:r>
              <a:rPr lang="en-US" altLang="zh-CN" sz="1600" b="1">
                <a:solidFill>
                  <a:srgbClr val="00B050"/>
                </a:solidFill>
              </a:rPr>
              <a:t>)--</a:t>
            </a:r>
            <a:r>
              <a:rPr lang="zh-CN" altLang="en-US" sz="1600" b="1">
                <a:solidFill>
                  <a:srgbClr val="00B050"/>
                </a:solidFill>
              </a:rPr>
              <a:t>机器</a:t>
            </a:r>
            <a:endParaRPr lang="en-US" altLang="zh-CN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使用：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系统层主体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占系统层约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85</a:t>
            </a:r>
            <a:r>
              <a:rPr lang="en-US" altLang="zh-CN" sz="1600" b="1">
                <a:solidFill>
                  <a:srgbClr val="00B050"/>
                </a:solidFill>
              </a:rPr>
              <a:t>%)+</a:t>
            </a:r>
            <a:r>
              <a:rPr lang="zh-CN" altLang="en-US" sz="1600" b="1">
                <a:solidFill>
                  <a:srgbClr val="00B050"/>
                </a:solidFill>
              </a:rPr>
              <a:t>业务层通用实现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占业务层约</a:t>
            </a:r>
            <a:r>
              <a:rPr lang="en-US" altLang="zh-CN" sz="1600" b="1">
                <a:solidFill>
                  <a:srgbClr val="00B050"/>
                </a:solidFill>
              </a:rPr>
              <a:t>5%)+</a:t>
            </a:r>
            <a:r>
              <a:rPr lang="zh-CN" altLang="en-US" sz="1600" b="1">
                <a:solidFill>
                  <a:srgbClr val="00B050"/>
                </a:solidFill>
              </a:rPr>
              <a:t>交互层通用交互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占交互层约</a:t>
            </a:r>
            <a:r>
              <a:rPr lang="en-US" altLang="zh-CN" sz="1600" b="1">
                <a:solidFill>
                  <a:srgbClr val="00B050"/>
                </a:solidFill>
              </a:rPr>
              <a:t>15%)</a:t>
            </a:r>
            <a:endParaRPr lang="en-US" altLang="zh-CN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开发：通过广义工具链支撑全部层面的开发者，系统层开发约</a:t>
            </a:r>
            <a:r>
              <a:rPr lang="en-US" altLang="zh-CN" sz="1600" b="1">
                <a:solidFill>
                  <a:srgbClr val="00B050"/>
                </a:solidFill>
              </a:rPr>
              <a:t>95%</a:t>
            </a:r>
            <a:r>
              <a:rPr lang="zh-CN" altLang="en-US" sz="1600" b="1">
                <a:solidFill>
                  <a:srgbClr val="00B050"/>
                </a:solidFill>
              </a:rPr>
              <a:t>，业务层约</a:t>
            </a:r>
            <a:r>
              <a:rPr lang="en-US" altLang="zh-CN" sz="1600" b="1">
                <a:solidFill>
                  <a:srgbClr val="00B050"/>
                </a:solidFill>
              </a:rPr>
              <a:t>10%</a:t>
            </a:r>
            <a:r>
              <a:rPr lang="zh-CN" altLang="en-US" sz="1600" b="1">
                <a:solidFill>
                  <a:srgbClr val="00B050"/>
                </a:solidFill>
              </a:rPr>
              <a:t>，交互层约</a:t>
            </a:r>
            <a:r>
              <a:rPr lang="en-US" altLang="zh-CN" sz="1600" b="1">
                <a:solidFill>
                  <a:srgbClr val="00B050"/>
                </a:solidFill>
              </a:rPr>
              <a:t>20%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不涉及非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行业的交互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非应用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，不涉及业务平台与交互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非专用平台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应用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，不涉及硬件实现细节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非硬件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包含广义工具链，广义工具链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狭义工具链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广义虚拟机，广义虚拟机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狭义虚拟机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定制裁剪的狭义操作系统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三个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的共同点：对狭义的操作系统定义的都很到位，同时对广义操作系统的内容都进行了比较详细的涉及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三个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的局限性：没有在行业层面来进行定义，没有给出其在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领域的明确定位，没有提及广义工具链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个人定义：参照三个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的定义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内容基本都一样儿</a:t>
            </a:r>
            <a:r>
              <a:rPr lang="en-US" altLang="zh-CN" sz="1800" b="1">
                <a:solidFill>
                  <a:srgbClr val="00B050"/>
                </a:solidFill>
              </a:rPr>
              <a:t>)+</a:t>
            </a:r>
            <a:r>
              <a:rPr lang="zh-CN" altLang="en-US" sz="1800" b="1">
                <a:solidFill>
                  <a:srgbClr val="00B050"/>
                </a:solidFill>
              </a:rPr>
              <a:t>定位的内容缩写精炼一下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2230"/>
            <a:ext cx="10613390" cy="54102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4035"/>
            <a:ext cx="12081510" cy="632460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定位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人与机器进行通用交互的软件，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行业的主体实现，一切其他软硬件都围绕广义操作系统展开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行业：交互层</a:t>
            </a:r>
            <a:r>
              <a:rPr lang="en-US" altLang="zh-CN" sz="1600" b="1">
                <a:solidFill>
                  <a:srgbClr val="00B050"/>
                </a:solidFill>
              </a:rPr>
              <a:t>(IT</a:t>
            </a:r>
            <a:r>
              <a:rPr lang="zh-CN" altLang="en-US" sz="1600" b="1">
                <a:solidFill>
                  <a:srgbClr val="00B050"/>
                </a:solidFill>
              </a:rPr>
              <a:t>行业为辅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非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行业为主</a:t>
            </a:r>
            <a:r>
              <a:rPr lang="en-US" altLang="zh-CN" sz="1600" b="1">
                <a:solidFill>
                  <a:srgbClr val="00B050"/>
                </a:solidFill>
              </a:rPr>
              <a:t>)--</a:t>
            </a:r>
            <a:r>
              <a:rPr lang="zh-CN" altLang="en-US" sz="1600" b="1">
                <a:solidFill>
                  <a:srgbClr val="00B050"/>
                </a:solidFill>
              </a:rPr>
              <a:t>业务层</a:t>
            </a:r>
            <a:r>
              <a:rPr lang="en-US" altLang="zh-CN" sz="1600" b="1">
                <a:solidFill>
                  <a:srgbClr val="00B050"/>
                </a:solidFill>
              </a:rPr>
              <a:t>(IT</a:t>
            </a:r>
            <a:r>
              <a:rPr lang="zh-CN" altLang="en-US" sz="1600" b="1">
                <a:solidFill>
                  <a:srgbClr val="00B050"/>
                </a:solidFill>
              </a:rPr>
              <a:t>行业为辅</a:t>
            </a:r>
            <a:r>
              <a:rPr lang="en-US" altLang="zh-CN" sz="1600" b="1">
                <a:solidFill>
                  <a:srgbClr val="00B050"/>
                </a:solidFill>
              </a:rPr>
              <a:t>+</a:t>
            </a:r>
            <a:r>
              <a:rPr lang="zh-CN" altLang="en-US" sz="1600" b="1">
                <a:solidFill>
                  <a:srgbClr val="00B050"/>
                </a:solidFill>
              </a:rPr>
              <a:t>非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行业为主</a:t>
            </a:r>
            <a:r>
              <a:rPr lang="en-US" altLang="zh-CN" sz="1600" b="1">
                <a:solidFill>
                  <a:srgbClr val="00B050"/>
                </a:solidFill>
              </a:rPr>
              <a:t>)--</a:t>
            </a:r>
            <a:r>
              <a:rPr lang="zh-CN" altLang="en-US" sz="1600" b="1">
                <a:solidFill>
                  <a:srgbClr val="00B050"/>
                </a:solidFill>
              </a:rPr>
              <a:t>系统层</a:t>
            </a:r>
            <a:r>
              <a:rPr lang="en-US" altLang="zh-CN" sz="1600" b="1">
                <a:solidFill>
                  <a:srgbClr val="00B050"/>
                </a:solidFill>
              </a:rPr>
              <a:t>(IT</a:t>
            </a:r>
            <a:r>
              <a:rPr lang="zh-CN" altLang="en-US" sz="1600" b="1">
                <a:solidFill>
                  <a:srgbClr val="00B050"/>
                </a:solidFill>
              </a:rPr>
              <a:t>行业</a:t>
            </a:r>
            <a:r>
              <a:rPr lang="en-US" altLang="zh-CN" sz="1600" b="1">
                <a:solidFill>
                  <a:srgbClr val="00B050"/>
                </a:solidFill>
              </a:rPr>
              <a:t>)--</a:t>
            </a:r>
            <a:r>
              <a:rPr lang="zh-CN" altLang="en-US" sz="1600" b="1">
                <a:solidFill>
                  <a:srgbClr val="00B050"/>
                </a:solidFill>
              </a:rPr>
              <a:t>机器</a:t>
            </a:r>
            <a:endParaRPr lang="en-US" altLang="zh-CN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使用：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系统层主体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占系统层约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85</a:t>
            </a:r>
            <a:r>
              <a:rPr lang="en-US" altLang="zh-CN" sz="1600" b="1">
                <a:solidFill>
                  <a:srgbClr val="00B050"/>
                </a:solidFill>
              </a:rPr>
              <a:t>%)+</a:t>
            </a:r>
            <a:r>
              <a:rPr lang="zh-CN" altLang="en-US" sz="1600" b="1">
                <a:solidFill>
                  <a:srgbClr val="00B050"/>
                </a:solidFill>
              </a:rPr>
              <a:t>业务层通用实现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占业务层约</a:t>
            </a:r>
            <a:r>
              <a:rPr lang="en-US" altLang="zh-CN" sz="1600" b="1">
                <a:solidFill>
                  <a:srgbClr val="00B050"/>
                </a:solidFill>
              </a:rPr>
              <a:t>5%)+</a:t>
            </a:r>
            <a:r>
              <a:rPr lang="zh-CN" altLang="en-US" sz="1600" b="1">
                <a:solidFill>
                  <a:srgbClr val="00B050"/>
                </a:solidFill>
              </a:rPr>
              <a:t>交互层通用交互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占交互层约</a:t>
            </a:r>
            <a:r>
              <a:rPr lang="en-US" altLang="zh-CN" sz="1600" b="1">
                <a:solidFill>
                  <a:srgbClr val="00B050"/>
                </a:solidFill>
              </a:rPr>
              <a:t>15%)</a:t>
            </a:r>
            <a:endParaRPr lang="en-US" altLang="zh-CN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开发：通过广义工具链支撑全部层面的开发者，系统层开发约</a:t>
            </a:r>
            <a:r>
              <a:rPr lang="en-US" altLang="zh-CN" sz="1600" b="1">
                <a:solidFill>
                  <a:srgbClr val="00B050"/>
                </a:solidFill>
              </a:rPr>
              <a:t>95%</a:t>
            </a:r>
            <a:r>
              <a:rPr lang="zh-CN" altLang="en-US" sz="1600" b="1">
                <a:solidFill>
                  <a:srgbClr val="00B050"/>
                </a:solidFill>
              </a:rPr>
              <a:t>，业务层约</a:t>
            </a:r>
            <a:r>
              <a:rPr lang="en-US" altLang="zh-CN" sz="1600" b="1">
                <a:solidFill>
                  <a:srgbClr val="00B050"/>
                </a:solidFill>
              </a:rPr>
              <a:t>10%</a:t>
            </a:r>
            <a:r>
              <a:rPr lang="zh-CN" altLang="en-US" sz="1600" b="1">
                <a:solidFill>
                  <a:srgbClr val="00B050"/>
                </a:solidFill>
              </a:rPr>
              <a:t>，交互层约</a:t>
            </a:r>
            <a:r>
              <a:rPr lang="en-US" altLang="zh-CN" sz="1600" b="1">
                <a:solidFill>
                  <a:srgbClr val="00B050"/>
                </a:solidFill>
              </a:rPr>
              <a:t>20%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不涉及非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行业的交互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非应用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，不涉及业务平台与交互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非专用平台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应用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，不涉及硬件实现细节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非硬件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包含广义工具链，广义工具链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狭义工具链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广义虚拟机，广义虚拟机</a:t>
            </a:r>
            <a:r>
              <a:rPr lang="en-US" altLang="zh-CN" b="1">
                <a:solidFill>
                  <a:srgbClr val="00B050"/>
                </a:solidFill>
              </a:rPr>
              <a:t>=</a:t>
            </a:r>
            <a:r>
              <a:rPr lang="zh-CN" altLang="en-US" b="1">
                <a:solidFill>
                  <a:srgbClr val="00B050"/>
                </a:solidFill>
              </a:rPr>
              <a:t>狭义虚拟机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定制裁剪的狭义操作系统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定义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三个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的共同点：对狭义的操作系统定义的都很到位，同时对广义操作系统的内容都进行了比较详细的涉及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三个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的局限性：没有在行业层面来进行定义，没有给出其在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领域的明确定位，没有提及广义工具链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个人定义：参照三个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的定义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内容基本都一样儿</a:t>
            </a:r>
            <a:r>
              <a:rPr lang="en-US" altLang="zh-CN" sz="1800" b="1">
                <a:solidFill>
                  <a:srgbClr val="00B050"/>
                </a:solidFill>
              </a:rPr>
              <a:t>)+</a:t>
            </a:r>
            <a:r>
              <a:rPr lang="zh-CN" altLang="en-US" sz="1800" b="1">
                <a:solidFill>
                  <a:srgbClr val="00B050"/>
                </a:solidFill>
              </a:rPr>
              <a:t>定位的内容缩写精炼一下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导航：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平台：理解操作系统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本视频组</a:t>
            </a:r>
            <a:r>
              <a:rPr lang="en-US" altLang="zh-CN" sz="1600" b="1">
                <a:solidFill>
                  <a:srgbClr val="00B050"/>
                </a:solidFill>
              </a:rPr>
              <a:t>)+</a:t>
            </a:r>
            <a:r>
              <a:rPr lang="zh-CN" altLang="en-US" sz="1600" b="1">
                <a:solidFill>
                  <a:srgbClr val="00B050"/>
                </a:solidFill>
              </a:rPr>
              <a:t>理解全栈开发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后继制作视频组</a:t>
            </a:r>
            <a:r>
              <a:rPr lang="en-US" altLang="zh-CN" sz="1600" b="1">
                <a:solidFill>
                  <a:srgbClr val="00B050"/>
                </a:solidFill>
              </a:rPr>
              <a:t>)+</a:t>
            </a:r>
            <a:r>
              <a:rPr lang="zh-CN" altLang="en-US" sz="1600" b="1">
                <a:solidFill>
                  <a:srgbClr val="00B050"/>
                </a:solidFill>
              </a:rPr>
              <a:t>学习黑科技能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后继制作视频组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  <a:sym typeface="+mn-ea"/>
              </a:rPr>
              <a:t>工程：理解软件工程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后继制作视频组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架构：学习架构设计</a:t>
            </a:r>
            <a:r>
              <a:rPr lang="en-US" altLang="zh-CN" sz="1600" b="1">
                <a:solidFill>
                  <a:srgbClr val="00B050"/>
                </a:solidFill>
              </a:rPr>
              <a:t>(</a:t>
            </a:r>
            <a:r>
              <a:rPr lang="zh-CN" altLang="en-US" sz="1600" b="1">
                <a:solidFill>
                  <a:srgbClr val="00B050"/>
                </a:solidFill>
              </a:rPr>
              <a:t>已完成视频组</a:t>
            </a:r>
            <a:r>
              <a:rPr lang="en-US" altLang="zh-CN" sz="1600" b="1">
                <a:solidFill>
                  <a:srgbClr val="00B050"/>
                </a:solidFill>
              </a:rPr>
              <a:t>)</a:t>
            </a:r>
            <a:endParaRPr lang="en-US" altLang="zh-CN" sz="16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地图：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电脑的硬件模型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电脑的软件模型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电脑的软硬接口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系统的基础平台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系统的扩展平台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系统的各种组件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的业务模型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的应用模型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的价值产出</a:t>
            </a:r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630680" y="3096260"/>
            <a:ext cx="9321800" cy="1281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1630045" y="1052830"/>
            <a:ext cx="9321800" cy="4089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使用者（人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智能设备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外部系统）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559685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服务器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1630045" y="4768850"/>
            <a:ext cx="9321800" cy="12007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0045" y="1457960"/>
            <a:ext cx="9324975" cy="1252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（必备）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954270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终端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742045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传感器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195185" y="619887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516495" y="619633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837805" y="619379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4904105" y="3167380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(</a:t>
            </a:r>
            <a:r>
              <a:rPr lang="zh-CN" altLang="en-US" sz="1000" b="1">
                <a:solidFill>
                  <a:schemeClr val="tx1"/>
                </a:solidFill>
              </a:rPr>
              <a:t>交互</a:t>
            </a:r>
            <a:r>
              <a:rPr lang="en-US" altLang="zh-CN" sz="1000" b="1">
                <a:solidFill>
                  <a:schemeClr val="tx1"/>
                </a:solidFill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5581650" y="3175635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生产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6475095" y="3173095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兼具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6214110" y="352234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6341110" y="351980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6" idx="2"/>
            <a:endCxn id="18" idx="0"/>
          </p:cNvCxnSpPr>
          <p:nvPr/>
        </p:nvCxnSpPr>
        <p:spPr>
          <a:xfrm flipH="1">
            <a:off x="6291580" y="2710815"/>
            <a:ext cx="1270" cy="385445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2"/>
            <a:endCxn id="3" idx="0"/>
          </p:cNvCxnSpPr>
          <p:nvPr/>
        </p:nvCxnSpPr>
        <p:spPr>
          <a:xfrm flipH="1">
            <a:off x="6290945" y="4377690"/>
            <a:ext cx="635" cy="391160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630680" y="3096260"/>
            <a:ext cx="9321800" cy="1281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1630045" y="1052830"/>
            <a:ext cx="9321800" cy="4089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使用者（人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智能设备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外部系统）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559685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服务器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1630045" y="4768850"/>
            <a:ext cx="9321800" cy="12007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0045" y="1457960"/>
            <a:ext cx="9324975" cy="1252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（必备）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954270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终端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742045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传感器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195185" y="619887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516495" y="619633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837805" y="619379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2230755" y="1462405"/>
            <a:ext cx="2566670" cy="45078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操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作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统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1640840" y="1462405"/>
            <a:ext cx="598805" cy="45085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广义工具链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4904105" y="3167380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(</a:t>
            </a:r>
            <a:r>
              <a:rPr lang="zh-CN" altLang="en-US" sz="1000" b="1">
                <a:solidFill>
                  <a:schemeClr val="tx1"/>
                </a:solidFill>
              </a:rPr>
              <a:t>交互</a:t>
            </a:r>
            <a:r>
              <a:rPr lang="en-US" altLang="zh-CN" sz="1000" b="1">
                <a:solidFill>
                  <a:schemeClr val="tx1"/>
                </a:solidFill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5581650" y="3175635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生产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6475095" y="3173095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兼具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6214110" y="352234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6341110" y="351980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6" idx="2"/>
            <a:endCxn id="18" idx="0"/>
          </p:cNvCxnSpPr>
          <p:nvPr/>
        </p:nvCxnSpPr>
        <p:spPr>
          <a:xfrm flipH="1">
            <a:off x="6291580" y="2710815"/>
            <a:ext cx="1270" cy="385445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2"/>
            <a:endCxn id="3" idx="0"/>
          </p:cNvCxnSpPr>
          <p:nvPr/>
        </p:nvCxnSpPr>
        <p:spPr>
          <a:xfrm flipH="1">
            <a:off x="6290945" y="4377690"/>
            <a:ext cx="635" cy="391160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630680" y="3096260"/>
            <a:ext cx="9321800" cy="1281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1630045" y="1052830"/>
            <a:ext cx="9321800" cy="4089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使用者（人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智能设备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外部系统）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559685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服务器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1630045" y="4768850"/>
            <a:ext cx="9321800" cy="12007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0045" y="1457960"/>
            <a:ext cx="9324975" cy="1252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（必备）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954270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终端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742045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传感器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195185" y="619887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516495" y="619633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837805" y="619379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2230755" y="1462405"/>
            <a:ext cx="2566670" cy="45078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操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作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统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1640840" y="1462405"/>
            <a:ext cx="598805" cy="45085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广义工具链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2777490" y="3095625"/>
            <a:ext cx="1932940" cy="8477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</a:t>
            </a:r>
            <a:r>
              <a:rPr lang="zh-CN" altLang="en-US" b="1">
                <a:solidFill>
                  <a:schemeClr val="tx1"/>
                </a:solidFill>
              </a:rPr>
              <a:t>应用服务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4904105" y="3167380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(</a:t>
            </a:r>
            <a:r>
              <a:rPr lang="zh-CN" altLang="en-US" sz="1000" b="1">
                <a:solidFill>
                  <a:schemeClr val="tx1"/>
                </a:solidFill>
              </a:rPr>
              <a:t>交互</a:t>
            </a:r>
            <a:r>
              <a:rPr lang="en-US" altLang="zh-CN" sz="1000" b="1">
                <a:solidFill>
                  <a:schemeClr val="tx1"/>
                </a:solidFill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5581650" y="3175635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生产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6475095" y="3173095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兼具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6214110" y="352234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6341110" y="351980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6" idx="2"/>
            <a:endCxn id="18" idx="0"/>
          </p:cNvCxnSpPr>
          <p:nvPr/>
        </p:nvCxnSpPr>
        <p:spPr>
          <a:xfrm flipH="1">
            <a:off x="6291580" y="2710815"/>
            <a:ext cx="1270" cy="385445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2"/>
            <a:endCxn id="3" idx="0"/>
          </p:cNvCxnSpPr>
          <p:nvPr/>
        </p:nvCxnSpPr>
        <p:spPr>
          <a:xfrm flipH="1">
            <a:off x="6290945" y="4377690"/>
            <a:ext cx="635" cy="391160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s 52"/>
          <p:cNvSpPr/>
          <p:nvPr/>
        </p:nvSpPr>
        <p:spPr>
          <a:xfrm>
            <a:off x="2777490" y="4044315"/>
            <a:ext cx="1932940" cy="17240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</a:t>
            </a:r>
            <a:r>
              <a:rPr lang="zh-CN" altLang="en-US" b="1">
                <a:solidFill>
                  <a:schemeClr val="tx1"/>
                </a:solidFill>
              </a:rPr>
              <a:t>系统服务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2913380" y="1457960"/>
            <a:ext cx="661670" cy="37268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狭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义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应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用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13030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架构体系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630680" y="3096260"/>
            <a:ext cx="9321800" cy="1281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1630045" y="1052830"/>
            <a:ext cx="9321800" cy="4089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使用者（人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智能设备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外部系统）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559685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服务器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1630045" y="4768850"/>
            <a:ext cx="9321800" cy="12007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0045" y="1457960"/>
            <a:ext cx="9324975" cy="1252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（必备）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954270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终端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742045" y="5969635"/>
            <a:ext cx="1448435" cy="633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系统设备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传感器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195185" y="619887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516495" y="619633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837805" y="6193790"/>
            <a:ext cx="164465" cy="1511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2230755" y="1462405"/>
            <a:ext cx="2566670" cy="45078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操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作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统</a:t>
            </a:r>
            <a:r>
              <a:rPr lang="en-US" altLang="zh-CN" b="1">
                <a:solidFill>
                  <a:schemeClr val="tx1"/>
                </a:solidFill>
              </a:rPr>
              <a:t>                   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1640840" y="1462405"/>
            <a:ext cx="598805" cy="45085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广义工具链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2777490" y="3095625"/>
            <a:ext cx="1932940" cy="8477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</a:t>
            </a:r>
            <a:r>
              <a:rPr lang="zh-CN" altLang="en-US" b="1">
                <a:solidFill>
                  <a:schemeClr val="tx1"/>
                </a:solidFill>
              </a:rPr>
              <a:t>应用服务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785100" y="1504950"/>
            <a:ext cx="32956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FF00"/>
                </a:solidFill>
              </a:rPr>
              <a:t>实例：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上层各类具体活动事务实例</a:t>
            </a:r>
            <a:endParaRPr lang="zh-CN" altLang="en-US" sz="1400" b="1">
              <a:solidFill>
                <a:srgbClr val="FFFF00"/>
              </a:solidFill>
            </a:endParaRPr>
          </a:p>
          <a:p>
            <a:r>
              <a:rPr lang="zh-CN" altLang="en-US" sz="1400" b="1">
                <a:solidFill>
                  <a:srgbClr val="FFFF00"/>
                </a:solidFill>
              </a:rPr>
              <a:t>调度：调度管理</a:t>
            </a:r>
            <a:r>
              <a:rPr lang="en-US" altLang="zh-CN" sz="1400" b="1">
                <a:solidFill>
                  <a:srgbClr val="FFFF00"/>
                </a:solidFill>
              </a:rPr>
              <a:t>/</a:t>
            </a:r>
            <a:r>
              <a:rPr lang="zh-CN" altLang="en-US" sz="1400" b="1">
                <a:solidFill>
                  <a:srgbClr val="FFFF00"/>
                </a:solidFill>
              </a:rPr>
              <a:t>工作对象</a:t>
            </a:r>
            <a:r>
              <a:rPr lang="en-US" altLang="zh-CN" sz="1400" b="1">
                <a:solidFill>
                  <a:srgbClr val="FFFF00"/>
                </a:solidFill>
              </a:rPr>
              <a:t>/</a:t>
            </a:r>
            <a:r>
              <a:rPr lang="zh-CN" altLang="en-US" sz="1400" b="1">
                <a:solidFill>
                  <a:srgbClr val="FFFF00"/>
                </a:solidFill>
              </a:rPr>
              <a:t>运行环境</a:t>
            </a:r>
            <a:endParaRPr lang="zh-CN" altLang="en-US" sz="1400" b="1">
              <a:solidFill>
                <a:srgbClr val="FFFF00"/>
              </a:solidFill>
            </a:endParaRPr>
          </a:p>
          <a:p>
            <a:r>
              <a:rPr lang="zh-CN" altLang="en-US" sz="1400" b="1">
                <a:solidFill>
                  <a:srgbClr val="FFFF00"/>
                </a:solidFill>
              </a:rPr>
              <a:t>计算：交互层工具链</a:t>
            </a:r>
            <a:r>
              <a:rPr lang="en-US" altLang="zh-CN" sz="1400" b="1">
                <a:solidFill>
                  <a:srgbClr val="FFFF00"/>
                </a:solidFill>
              </a:rPr>
              <a:t>+</a:t>
            </a:r>
            <a:r>
              <a:rPr lang="zh-CN" altLang="en-US" sz="1400" b="1">
                <a:solidFill>
                  <a:srgbClr val="FFFF00"/>
                </a:solidFill>
              </a:rPr>
              <a:t>交互级硬件抽象</a:t>
            </a:r>
            <a:endParaRPr lang="zh-CN" altLang="en-US" sz="1400" b="1">
              <a:solidFill>
                <a:srgbClr val="FFFF00"/>
              </a:solidFill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7757795" y="3217545"/>
            <a:ext cx="319722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400" b="1">
                <a:solidFill>
                  <a:srgbClr val="FFFF00"/>
                </a:solidFill>
              </a:rPr>
              <a:t>实例：广义应用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狭义应用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应用服务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)</a:t>
            </a:r>
            <a:endParaRPr lang="zh-CN" altLang="en-US" sz="1400" b="1">
              <a:solidFill>
                <a:srgbClr val="FFFF00"/>
              </a:solidFill>
            </a:endParaRPr>
          </a:p>
          <a:p>
            <a:pPr algn="l"/>
            <a:r>
              <a:rPr lang="zh-CN" altLang="en-US" sz="1400" b="1">
                <a:solidFill>
                  <a:srgbClr val="FFFF00"/>
                </a:solidFill>
              </a:rPr>
              <a:t>调度：调度管理</a:t>
            </a:r>
            <a:r>
              <a:rPr lang="en-US" altLang="zh-CN" sz="1400" b="1">
                <a:solidFill>
                  <a:srgbClr val="FFFF00"/>
                </a:solidFill>
              </a:rPr>
              <a:t>/</a:t>
            </a:r>
            <a:r>
              <a:rPr lang="zh-CN" altLang="en-US" sz="1400" b="1">
                <a:solidFill>
                  <a:srgbClr val="FFFF00"/>
                </a:solidFill>
              </a:rPr>
              <a:t>工作对象</a:t>
            </a:r>
            <a:r>
              <a:rPr lang="en-US" altLang="zh-CN" sz="1400" b="1">
                <a:solidFill>
                  <a:srgbClr val="FFFF00"/>
                </a:solidFill>
              </a:rPr>
              <a:t>/</a:t>
            </a:r>
            <a:r>
              <a:rPr lang="zh-CN" altLang="en-US" sz="1400" b="1">
                <a:solidFill>
                  <a:srgbClr val="FFFF00"/>
                </a:solidFill>
              </a:rPr>
              <a:t>运行环境</a:t>
            </a:r>
            <a:endParaRPr lang="zh-CN" altLang="en-US" sz="1400" b="1">
              <a:solidFill>
                <a:srgbClr val="FFFF00"/>
              </a:solidFill>
            </a:endParaRPr>
          </a:p>
          <a:p>
            <a:pPr algn="l"/>
            <a:r>
              <a:rPr lang="zh-CN" altLang="en-US" sz="1400" b="1">
                <a:solidFill>
                  <a:srgbClr val="FFFF00"/>
                </a:solidFill>
              </a:rPr>
              <a:t>计算：业务层工具链</a:t>
            </a:r>
            <a:r>
              <a:rPr lang="en-US" altLang="zh-CN" sz="1400" b="1">
                <a:solidFill>
                  <a:srgbClr val="FFFF00"/>
                </a:solidFill>
              </a:rPr>
              <a:t>+</a:t>
            </a:r>
            <a:r>
              <a:rPr lang="zh-CN" altLang="en-US" sz="1400" b="1">
                <a:solidFill>
                  <a:srgbClr val="FFFF00"/>
                </a:solidFill>
              </a:rPr>
              <a:t>业务级硬件抽象</a:t>
            </a:r>
            <a:endParaRPr lang="zh-CN" altLang="en-US" sz="1400" b="1">
              <a:solidFill>
                <a:srgbClr val="FFFF00"/>
              </a:solidFill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7755255" y="4855845"/>
            <a:ext cx="319722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400" b="1">
                <a:solidFill>
                  <a:srgbClr val="FFFF00"/>
                </a:solidFill>
              </a:rPr>
              <a:t>实例：系统服务</a:t>
            </a:r>
            <a:endParaRPr lang="zh-CN" altLang="en-US" sz="1400" b="1">
              <a:solidFill>
                <a:srgbClr val="FFFF00"/>
              </a:solidFill>
            </a:endParaRPr>
          </a:p>
          <a:p>
            <a:pPr algn="l"/>
            <a:r>
              <a:rPr lang="zh-CN" altLang="en-US" sz="1400" b="1">
                <a:solidFill>
                  <a:srgbClr val="FFFF00"/>
                </a:solidFill>
              </a:rPr>
              <a:t>调度：调度管理</a:t>
            </a:r>
            <a:r>
              <a:rPr lang="en-US" altLang="zh-CN" sz="1400" b="1">
                <a:solidFill>
                  <a:srgbClr val="FFFF00"/>
                </a:solidFill>
              </a:rPr>
              <a:t>/</a:t>
            </a:r>
            <a:r>
              <a:rPr lang="zh-CN" altLang="en-US" sz="1400" b="1">
                <a:solidFill>
                  <a:srgbClr val="FFFF00"/>
                </a:solidFill>
              </a:rPr>
              <a:t>工作对象</a:t>
            </a:r>
            <a:r>
              <a:rPr lang="en-US" altLang="zh-CN" sz="1400" b="1">
                <a:solidFill>
                  <a:srgbClr val="FFFF00"/>
                </a:solidFill>
              </a:rPr>
              <a:t>/</a:t>
            </a:r>
            <a:r>
              <a:rPr lang="zh-CN" altLang="en-US" sz="1400" b="1">
                <a:solidFill>
                  <a:srgbClr val="FFFF00"/>
                </a:solidFill>
              </a:rPr>
              <a:t>运行环境</a:t>
            </a:r>
            <a:endParaRPr lang="zh-CN" altLang="en-US" sz="1400" b="1">
              <a:solidFill>
                <a:srgbClr val="FFFF00"/>
              </a:solidFill>
            </a:endParaRPr>
          </a:p>
          <a:p>
            <a:pPr algn="l"/>
            <a:r>
              <a:rPr lang="zh-CN" altLang="en-US" sz="1400" b="1">
                <a:solidFill>
                  <a:srgbClr val="FFFF00"/>
                </a:solidFill>
              </a:rPr>
              <a:t>计算：系统层工具链</a:t>
            </a:r>
            <a:r>
              <a:rPr lang="en-US" altLang="zh-CN" sz="1400" b="1">
                <a:solidFill>
                  <a:srgbClr val="FFFF00"/>
                </a:solidFill>
              </a:rPr>
              <a:t>+</a:t>
            </a:r>
            <a:r>
              <a:rPr lang="zh-CN" altLang="en-US" sz="1400" b="1">
                <a:solidFill>
                  <a:srgbClr val="FFFF00"/>
                </a:solidFill>
              </a:rPr>
              <a:t>系统级硬件抽象</a:t>
            </a:r>
            <a:endParaRPr lang="zh-CN" altLang="en-US" sz="1400" b="1">
              <a:solidFill>
                <a:srgbClr val="FFFF00"/>
              </a:solidFill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7126605" y="1830070"/>
            <a:ext cx="65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rgbClr val="FFFF00"/>
                </a:solidFill>
              </a:rPr>
              <a:t>处理</a:t>
            </a:r>
            <a:endParaRPr lang="zh-CN" sz="1600" b="1">
              <a:solidFill>
                <a:srgbClr val="FFFF00"/>
              </a:solidFill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6711315" y="2242820"/>
            <a:ext cx="65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rgbClr val="FFFF00"/>
                </a:solidFill>
              </a:rPr>
              <a:t>存储</a:t>
            </a:r>
            <a:endParaRPr lang="zh-CN" sz="1600" b="1">
              <a:solidFill>
                <a:srgbClr val="FFFF00"/>
              </a:solidFill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7504430" y="2251075"/>
            <a:ext cx="65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rgbClr val="FFFF00"/>
                </a:solidFill>
              </a:rPr>
              <a:t>传输</a:t>
            </a:r>
            <a:endParaRPr lang="zh-CN" sz="1600" b="1">
              <a:solidFill>
                <a:srgbClr val="FFFF00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4904105" y="3167380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(</a:t>
            </a:r>
            <a:r>
              <a:rPr lang="zh-CN" altLang="en-US" sz="1000" b="1">
                <a:solidFill>
                  <a:schemeClr val="tx1"/>
                </a:solidFill>
              </a:rPr>
              <a:t>交互</a:t>
            </a:r>
            <a:r>
              <a:rPr lang="en-US" altLang="zh-CN" sz="1000" b="1">
                <a:solidFill>
                  <a:schemeClr val="tx1"/>
                </a:solidFill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5581650" y="3175635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生产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6475095" y="3173095"/>
            <a:ext cx="563245" cy="710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业务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设备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兼具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6214110" y="352234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6341110" y="351980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6" idx="2"/>
            <a:endCxn id="18" idx="0"/>
          </p:cNvCxnSpPr>
          <p:nvPr/>
        </p:nvCxnSpPr>
        <p:spPr>
          <a:xfrm flipH="1">
            <a:off x="6291580" y="2710815"/>
            <a:ext cx="1270" cy="385445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2"/>
            <a:endCxn id="3" idx="0"/>
          </p:cNvCxnSpPr>
          <p:nvPr/>
        </p:nvCxnSpPr>
        <p:spPr>
          <a:xfrm flipH="1">
            <a:off x="6290945" y="4377690"/>
            <a:ext cx="635" cy="391160"/>
          </a:xfrm>
          <a:prstGeom prst="straightConnector1">
            <a:avLst/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s 52"/>
          <p:cNvSpPr/>
          <p:nvPr/>
        </p:nvSpPr>
        <p:spPr>
          <a:xfrm>
            <a:off x="2777490" y="4044315"/>
            <a:ext cx="1932940" cy="17240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</a:t>
            </a:r>
            <a:r>
              <a:rPr lang="zh-CN" altLang="en-US" b="1">
                <a:solidFill>
                  <a:schemeClr val="tx1"/>
                </a:solidFill>
              </a:rPr>
              <a:t>系统服务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2913380" y="1457960"/>
            <a:ext cx="661670" cy="37268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狭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义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应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用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6986270" y="2105025"/>
            <a:ext cx="226695" cy="191770"/>
          </a:xfrm>
          <a:prstGeom prst="straightConnector1">
            <a:avLst/>
          </a:prstGeom>
          <a:ln w="19050">
            <a:solidFill>
              <a:srgbClr val="FFC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 flipV="1">
            <a:off x="7250430" y="2418715"/>
            <a:ext cx="332105" cy="1905"/>
          </a:xfrm>
          <a:prstGeom prst="straightConnector1">
            <a:avLst/>
          </a:prstGeom>
          <a:ln w="19050">
            <a:solidFill>
              <a:srgbClr val="FFC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634605" y="2094230"/>
            <a:ext cx="194310" cy="215900"/>
          </a:xfrm>
          <a:prstGeom prst="straightConnector1">
            <a:avLst/>
          </a:prstGeom>
          <a:ln w="19050">
            <a:solidFill>
              <a:srgbClr val="FFC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7613015" y="1673225"/>
            <a:ext cx="259080" cy="226695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7613015" y="1921510"/>
            <a:ext cx="237490" cy="161925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Box 66"/>
          <p:cNvSpPr txBox="1"/>
          <p:nvPr/>
        </p:nvSpPr>
        <p:spPr>
          <a:xfrm>
            <a:off x="7124065" y="3554730"/>
            <a:ext cx="65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rgbClr val="FFFF00"/>
                </a:solidFill>
              </a:rPr>
              <a:t>处理</a:t>
            </a:r>
            <a:endParaRPr lang="zh-CN" sz="1600" b="1">
              <a:solidFill>
                <a:srgbClr val="FFFF00"/>
              </a:solidFill>
            </a:endParaRPr>
          </a:p>
        </p:txBody>
      </p:sp>
      <p:sp>
        <p:nvSpPr>
          <p:cNvPr id="68" name="Text Box 67"/>
          <p:cNvSpPr txBox="1"/>
          <p:nvPr/>
        </p:nvSpPr>
        <p:spPr>
          <a:xfrm>
            <a:off x="6708775" y="3967480"/>
            <a:ext cx="65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rgbClr val="FFFF00"/>
                </a:solidFill>
              </a:rPr>
              <a:t>存储</a:t>
            </a:r>
            <a:endParaRPr lang="zh-CN" sz="1600" b="1">
              <a:solidFill>
                <a:srgbClr val="FFFF00"/>
              </a:solidFill>
            </a:endParaRPr>
          </a:p>
        </p:txBody>
      </p:sp>
      <p:sp>
        <p:nvSpPr>
          <p:cNvPr id="69" name="Text Box 68"/>
          <p:cNvSpPr txBox="1"/>
          <p:nvPr/>
        </p:nvSpPr>
        <p:spPr>
          <a:xfrm>
            <a:off x="7501890" y="3975735"/>
            <a:ext cx="65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rgbClr val="FFFF00"/>
                </a:solidFill>
              </a:rPr>
              <a:t>传输</a:t>
            </a:r>
            <a:endParaRPr lang="zh-CN" sz="1600" b="1">
              <a:solidFill>
                <a:srgbClr val="FFFF00"/>
              </a:solidFill>
            </a:endParaRP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6983730" y="3829685"/>
            <a:ext cx="226695" cy="191770"/>
          </a:xfrm>
          <a:prstGeom prst="straightConnector1">
            <a:avLst/>
          </a:prstGeom>
          <a:ln w="190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 flipV="1">
            <a:off x="7247890" y="4143375"/>
            <a:ext cx="332105" cy="1905"/>
          </a:xfrm>
          <a:prstGeom prst="straightConnector1">
            <a:avLst/>
          </a:prstGeom>
          <a:ln w="190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7632065" y="3818890"/>
            <a:ext cx="194310" cy="215900"/>
          </a:xfrm>
          <a:prstGeom prst="straightConnector1">
            <a:avLst/>
          </a:prstGeom>
          <a:ln w="190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7610475" y="3397885"/>
            <a:ext cx="259080" cy="226695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7610475" y="3646170"/>
            <a:ext cx="237490" cy="16192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 Box 90"/>
          <p:cNvSpPr txBox="1"/>
          <p:nvPr/>
        </p:nvSpPr>
        <p:spPr>
          <a:xfrm>
            <a:off x="7121525" y="5182235"/>
            <a:ext cx="65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rgbClr val="FFFF00"/>
                </a:solidFill>
              </a:rPr>
              <a:t>处理</a:t>
            </a:r>
            <a:endParaRPr lang="zh-CN" sz="1600" b="1">
              <a:solidFill>
                <a:srgbClr val="FFFF00"/>
              </a:solidFill>
            </a:endParaRPr>
          </a:p>
        </p:txBody>
      </p:sp>
      <p:sp>
        <p:nvSpPr>
          <p:cNvPr id="92" name="Text Box 91"/>
          <p:cNvSpPr txBox="1"/>
          <p:nvPr/>
        </p:nvSpPr>
        <p:spPr>
          <a:xfrm>
            <a:off x="6706235" y="5594985"/>
            <a:ext cx="65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rgbClr val="FFFF00"/>
                </a:solidFill>
              </a:rPr>
              <a:t>存储</a:t>
            </a:r>
            <a:endParaRPr lang="zh-CN" sz="1600" b="1">
              <a:solidFill>
                <a:srgbClr val="FFFF00"/>
              </a:solidFill>
            </a:endParaRPr>
          </a:p>
        </p:txBody>
      </p:sp>
      <p:sp>
        <p:nvSpPr>
          <p:cNvPr id="93" name="Text Box 92"/>
          <p:cNvSpPr txBox="1"/>
          <p:nvPr/>
        </p:nvSpPr>
        <p:spPr>
          <a:xfrm>
            <a:off x="7499350" y="5603240"/>
            <a:ext cx="65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b="1">
                <a:solidFill>
                  <a:srgbClr val="FFFF00"/>
                </a:solidFill>
              </a:rPr>
              <a:t>传输</a:t>
            </a:r>
            <a:endParaRPr lang="zh-CN" sz="1600" b="1">
              <a:solidFill>
                <a:srgbClr val="FFFF00"/>
              </a:solidFill>
            </a:endParaRPr>
          </a:p>
        </p:txBody>
      </p:sp>
      <p:cxnSp>
        <p:nvCxnSpPr>
          <p:cNvPr id="94" name="Straight Arrow Connector 93"/>
          <p:cNvCxnSpPr/>
          <p:nvPr/>
        </p:nvCxnSpPr>
        <p:spPr>
          <a:xfrm flipH="1">
            <a:off x="6981190" y="5457190"/>
            <a:ext cx="226695" cy="191770"/>
          </a:xfrm>
          <a:prstGeom prst="straightConnector1">
            <a:avLst/>
          </a:prstGeom>
          <a:ln w="190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H="1" flipV="1">
            <a:off x="7245350" y="5770880"/>
            <a:ext cx="332105" cy="1905"/>
          </a:xfrm>
          <a:prstGeom prst="straightConnector1">
            <a:avLst/>
          </a:prstGeom>
          <a:ln w="190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7629525" y="5446395"/>
            <a:ext cx="194310" cy="215900"/>
          </a:xfrm>
          <a:prstGeom prst="straightConnector1">
            <a:avLst/>
          </a:prstGeom>
          <a:ln w="190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V="1">
            <a:off x="7607935" y="5025390"/>
            <a:ext cx="259080" cy="22669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7607935" y="5273675"/>
            <a:ext cx="237490" cy="16192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2479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演化演进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5525"/>
            <a:ext cx="12081510" cy="60769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内部视角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外部视角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2479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演化演进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5525"/>
            <a:ext cx="12081510" cy="60769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内部视角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嵌入式</a:t>
            </a:r>
            <a:r>
              <a:rPr lang="en-US" altLang="zh-CN" b="1">
                <a:solidFill>
                  <a:srgbClr val="00B050"/>
                </a:solidFill>
              </a:rPr>
              <a:t>OS</a:t>
            </a:r>
            <a:r>
              <a:rPr lang="zh-CN" altLang="en-US" b="1">
                <a:solidFill>
                  <a:srgbClr val="00B050"/>
                </a:solidFill>
              </a:rPr>
              <a:t>：实时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非实时，硬实时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软实时；轻量，专用；适配单一硬件端场景，无通用交互与扩展能力。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单机服务器：明确分出系统层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基础业务层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基础交互层</a:t>
            </a:r>
            <a:r>
              <a:rPr lang="en-US" altLang="zh-CN" b="1">
                <a:solidFill>
                  <a:srgbClr val="00B050"/>
                </a:solidFill>
              </a:rPr>
              <a:t>(shell+tty)</a:t>
            </a:r>
            <a:r>
              <a:rPr lang="zh-CN" altLang="en-US" b="1">
                <a:solidFill>
                  <a:srgbClr val="00B050"/>
                </a:solidFill>
              </a:rPr>
              <a:t>，后来完善业务层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容器化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单机</a:t>
            </a:r>
            <a:r>
              <a:rPr lang="en-US" altLang="zh-CN" b="1">
                <a:solidFill>
                  <a:srgbClr val="00B050"/>
                </a:solidFill>
              </a:rPr>
              <a:t>PC</a:t>
            </a:r>
            <a:r>
              <a:rPr lang="zh-CN" altLang="en-US" b="1">
                <a:solidFill>
                  <a:srgbClr val="00B050"/>
                </a:solidFill>
              </a:rPr>
              <a:t>桌面：完善到位经典的交互层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图形化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，完善业务层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逐步支撑应用模型，类似于容器化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单机平板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手机：定制经典的交互层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适合小屏幕输出和触摸输入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，完善到位业务层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结构完整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分布式服务器：基于并定制单机服务器，向多系统设备多业务设备的扩展，系统层基于</a:t>
            </a:r>
            <a:r>
              <a:rPr lang="en-US" altLang="zh-CN" b="1">
                <a:solidFill>
                  <a:srgbClr val="00B050"/>
                </a:solidFill>
              </a:rPr>
              <a:t>POD(</a:t>
            </a:r>
            <a:r>
              <a:rPr lang="zh-CN" altLang="en-US" b="1">
                <a:solidFill>
                  <a:srgbClr val="00B050"/>
                </a:solidFill>
              </a:rPr>
              <a:t>容器组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分布式终端：基于单机平板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手机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例如鸿蒙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，向嵌入式设备和单机</a:t>
            </a:r>
            <a:r>
              <a:rPr lang="en-US" altLang="zh-CN" b="1">
                <a:solidFill>
                  <a:srgbClr val="00B050"/>
                </a:solidFill>
              </a:rPr>
              <a:t>PC</a:t>
            </a:r>
            <a:r>
              <a:rPr lang="zh-CN" altLang="en-US" b="1">
                <a:solidFill>
                  <a:srgbClr val="00B050"/>
                </a:solidFill>
              </a:rPr>
              <a:t>扩展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分布式数据管理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分布式软总线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云边端一体化：核心是分布式服务器与分布式终端在边上对接，明显增强边的业务层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用端的业务层复制实现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外部视角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2479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演化演进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5525"/>
            <a:ext cx="12081510" cy="60769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内部视角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嵌入式</a:t>
            </a:r>
            <a:r>
              <a:rPr lang="en-US" altLang="zh-CN" b="1">
                <a:solidFill>
                  <a:srgbClr val="00B050"/>
                </a:solidFill>
              </a:rPr>
              <a:t>OS</a:t>
            </a:r>
            <a:r>
              <a:rPr lang="zh-CN" altLang="en-US" b="1">
                <a:solidFill>
                  <a:srgbClr val="00B050"/>
                </a:solidFill>
              </a:rPr>
              <a:t>：实时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非实时，硬实时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软实时；轻量，专用；适配单一硬件端场景，无通用交互与扩展能力。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单机服务器：明确分出系统层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基础业务层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基础交互层</a:t>
            </a:r>
            <a:r>
              <a:rPr lang="en-US" altLang="zh-CN" b="1">
                <a:solidFill>
                  <a:srgbClr val="00B050"/>
                </a:solidFill>
              </a:rPr>
              <a:t>(shell+tty)</a:t>
            </a:r>
            <a:r>
              <a:rPr lang="zh-CN" altLang="en-US" b="1">
                <a:solidFill>
                  <a:srgbClr val="00B050"/>
                </a:solidFill>
              </a:rPr>
              <a:t>，后来完善业务层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容器化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单机</a:t>
            </a:r>
            <a:r>
              <a:rPr lang="en-US" altLang="zh-CN" b="1">
                <a:solidFill>
                  <a:srgbClr val="00B050"/>
                </a:solidFill>
              </a:rPr>
              <a:t>PC</a:t>
            </a:r>
            <a:r>
              <a:rPr lang="zh-CN" altLang="en-US" b="1">
                <a:solidFill>
                  <a:srgbClr val="00B050"/>
                </a:solidFill>
              </a:rPr>
              <a:t>桌面：完善到位经典的交互层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图形化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，完善业务层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逐步支撑应用模型，类似于容器化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单机平板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手机：定制经典的交互层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适合小屏幕输出和触摸输入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，完善到位业务层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结构完整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分布式服务器：基于并定制单机服务器，向多系统设备多业务设备的扩展，系统层基于</a:t>
            </a:r>
            <a:r>
              <a:rPr lang="en-US" altLang="zh-CN" b="1">
                <a:solidFill>
                  <a:srgbClr val="00B050"/>
                </a:solidFill>
              </a:rPr>
              <a:t>POD(</a:t>
            </a:r>
            <a:r>
              <a:rPr lang="zh-CN" altLang="en-US" b="1">
                <a:solidFill>
                  <a:srgbClr val="00B050"/>
                </a:solidFill>
              </a:rPr>
              <a:t>容器组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分布式终端：基于单机平板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手机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例如鸿蒙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，向嵌入式设备和单机</a:t>
            </a:r>
            <a:r>
              <a:rPr lang="en-US" altLang="zh-CN" b="1">
                <a:solidFill>
                  <a:srgbClr val="00B050"/>
                </a:solidFill>
              </a:rPr>
              <a:t>PC</a:t>
            </a:r>
            <a:r>
              <a:rPr lang="zh-CN" altLang="en-US" b="1">
                <a:solidFill>
                  <a:srgbClr val="00B050"/>
                </a:solidFill>
              </a:rPr>
              <a:t>扩展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分布式数据管理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分布式软总线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云边端一体化：核心是分布式服务器与分布式终端在边上对接，明显增强边的业务层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用端的业务层复制实现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外部视角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底层交互：</a:t>
            </a:r>
            <a:r>
              <a:rPr lang="en-US" altLang="zh-CN" b="1">
                <a:solidFill>
                  <a:srgbClr val="00B050"/>
                </a:solidFill>
              </a:rPr>
              <a:t>BIOS/UEFI</a:t>
            </a:r>
            <a:r>
              <a:rPr lang="zh-CN" altLang="en-US" b="1">
                <a:solidFill>
                  <a:srgbClr val="00B050"/>
                </a:solidFill>
              </a:rPr>
              <a:t>，目前</a:t>
            </a:r>
            <a:r>
              <a:rPr lang="en-US" altLang="zh-CN" b="1">
                <a:solidFill>
                  <a:srgbClr val="00B050"/>
                </a:solidFill>
              </a:rPr>
              <a:t>UEFI</a:t>
            </a:r>
            <a:r>
              <a:rPr lang="zh-CN" altLang="en-US" b="1">
                <a:solidFill>
                  <a:srgbClr val="00B050"/>
                </a:solidFill>
              </a:rPr>
              <a:t>还没有完全语言化，后继逐步成为语言；除了给人使用，也被系统层使用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标准交互：图形界面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命令行，命令行已经语言化；除了给人使用，也给外部系统使用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系统层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业务层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智能交互：立体场景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多模态大语言模型</a:t>
            </a:r>
            <a:r>
              <a:rPr lang="en-US" altLang="zh-CN" b="1">
                <a:solidFill>
                  <a:srgbClr val="00B050"/>
                </a:solidFill>
              </a:rPr>
              <a:t>(MLLM)</a:t>
            </a:r>
            <a:r>
              <a:rPr lang="zh-CN" altLang="en-US" b="1">
                <a:solidFill>
                  <a:srgbClr val="00B050"/>
                </a:solidFill>
              </a:rPr>
              <a:t>；除了给人使用，也给智能设备和外部系统使用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22479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演化演进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25525"/>
            <a:ext cx="12081510" cy="607695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内部视角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嵌入式</a:t>
            </a:r>
            <a:r>
              <a:rPr lang="en-US" altLang="zh-CN" b="1">
                <a:solidFill>
                  <a:srgbClr val="00B050"/>
                </a:solidFill>
              </a:rPr>
              <a:t>OS</a:t>
            </a:r>
            <a:r>
              <a:rPr lang="zh-CN" altLang="en-US" b="1">
                <a:solidFill>
                  <a:srgbClr val="00B050"/>
                </a:solidFill>
              </a:rPr>
              <a:t>：实时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非实时，硬实时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软实时；轻量，专用；适配单一硬件端场景，无通用交互与扩展能力。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单机服务器：明确分出系统层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基础业务层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基础交互层</a:t>
            </a:r>
            <a:r>
              <a:rPr lang="en-US" altLang="zh-CN" b="1">
                <a:solidFill>
                  <a:srgbClr val="00B050"/>
                </a:solidFill>
              </a:rPr>
              <a:t>(shell+tty)</a:t>
            </a:r>
            <a:r>
              <a:rPr lang="zh-CN" altLang="en-US" b="1">
                <a:solidFill>
                  <a:srgbClr val="00B050"/>
                </a:solidFill>
              </a:rPr>
              <a:t>，后来完善业务层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容器化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单机</a:t>
            </a:r>
            <a:r>
              <a:rPr lang="en-US" altLang="zh-CN" b="1">
                <a:solidFill>
                  <a:srgbClr val="00B050"/>
                </a:solidFill>
              </a:rPr>
              <a:t>PC</a:t>
            </a:r>
            <a:r>
              <a:rPr lang="zh-CN" altLang="en-US" b="1">
                <a:solidFill>
                  <a:srgbClr val="00B050"/>
                </a:solidFill>
              </a:rPr>
              <a:t>桌面：完善到位经典的交互层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图形化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，完善业务层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逐步支撑应用模型，类似于容器化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单机平板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手机：定制经典的交互层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适合小屏幕输出和触摸输入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，完善到位业务层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结构完整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分布式服务器：基于并定制单机服务器，向多系统设备多业务设备的扩展，系统层基于</a:t>
            </a:r>
            <a:r>
              <a:rPr lang="en-US" altLang="zh-CN" b="1">
                <a:solidFill>
                  <a:srgbClr val="00B050"/>
                </a:solidFill>
              </a:rPr>
              <a:t>POD(</a:t>
            </a:r>
            <a:r>
              <a:rPr lang="zh-CN" altLang="en-US" b="1">
                <a:solidFill>
                  <a:srgbClr val="00B050"/>
                </a:solidFill>
              </a:rPr>
              <a:t>容器组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分布式终端：基于单机平板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手机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例如鸿蒙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，向嵌入式设备和单机</a:t>
            </a:r>
            <a:r>
              <a:rPr lang="en-US" altLang="zh-CN" b="1">
                <a:solidFill>
                  <a:srgbClr val="00B050"/>
                </a:solidFill>
              </a:rPr>
              <a:t>PC</a:t>
            </a:r>
            <a:r>
              <a:rPr lang="zh-CN" altLang="en-US" b="1">
                <a:solidFill>
                  <a:srgbClr val="00B050"/>
                </a:solidFill>
              </a:rPr>
              <a:t>扩展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分布式数据管理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分布式软总线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云边端一体化：核心是分布式服务器与分布式终端在边上对接，明显增强边的业务层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用端的业务层复制实现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外部视角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底层交互：</a:t>
            </a:r>
            <a:r>
              <a:rPr lang="en-US" altLang="zh-CN" b="1">
                <a:solidFill>
                  <a:srgbClr val="00B050"/>
                </a:solidFill>
              </a:rPr>
              <a:t>BIOS/UEFI</a:t>
            </a:r>
            <a:r>
              <a:rPr lang="zh-CN" altLang="en-US" b="1">
                <a:solidFill>
                  <a:srgbClr val="00B050"/>
                </a:solidFill>
              </a:rPr>
              <a:t>，目前</a:t>
            </a:r>
            <a:r>
              <a:rPr lang="en-US" altLang="zh-CN" b="1">
                <a:solidFill>
                  <a:srgbClr val="00B050"/>
                </a:solidFill>
              </a:rPr>
              <a:t>UEFI</a:t>
            </a:r>
            <a:r>
              <a:rPr lang="zh-CN" altLang="en-US" b="1">
                <a:solidFill>
                  <a:srgbClr val="00B050"/>
                </a:solidFill>
              </a:rPr>
              <a:t>还没有完全语言化，后继逐步成为语言；除了给人使用，也被系统层使用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标准交互：图形界面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命令行，命令行已经语言化；除了给人使用，也给外部系统使用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系统层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业务层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智能交互：立体场景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多模态大语言模型</a:t>
            </a:r>
            <a:r>
              <a:rPr lang="en-US" altLang="zh-CN" b="1">
                <a:solidFill>
                  <a:srgbClr val="00B050"/>
                </a:solidFill>
              </a:rPr>
              <a:t>(MLLM)</a:t>
            </a:r>
            <a:r>
              <a:rPr lang="zh-CN" altLang="en-US" b="1">
                <a:solidFill>
                  <a:srgbClr val="00B050"/>
                </a:solidFill>
              </a:rPr>
              <a:t>；除了给人使用，也给智能设备和外部系统使用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620" b="1">
                <a:solidFill>
                  <a:srgbClr val="00B050"/>
                </a:solidFill>
              </a:rPr>
              <a:t>我的编程语言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我的</a:t>
            </a:r>
            <a:r>
              <a:rPr lang="en-US" altLang="zh-CN" sz="1620" b="1">
                <a:solidFill>
                  <a:srgbClr val="00B050"/>
                </a:solidFill>
              </a:rPr>
              <a:t>AI</a:t>
            </a:r>
            <a:r>
              <a:rPr lang="zh-CN" altLang="en-US" sz="1620" b="1">
                <a:solidFill>
                  <a:srgbClr val="00B050"/>
                </a:solidFill>
              </a:rPr>
              <a:t>语言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我的</a:t>
            </a:r>
            <a:r>
              <a:rPr lang="en-US" altLang="zh-CN" sz="1620" b="1">
                <a:solidFill>
                  <a:srgbClr val="00B050"/>
                </a:solidFill>
              </a:rPr>
              <a:t>Shell</a:t>
            </a:r>
            <a:r>
              <a:rPr lang="zh-CN" altLang="en-US" sz="1620" b="1">
                <a:solidFill>
                  <a:srgbClr val="00B050"/>
                </a:solidFill>
              </a:rPr>
              <a:t>语言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我的高级语言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我的</a:t>
            </a:r>
            <a:r>
              <a:rPr lang="en-US" altLang="zh-CN" sz="1620" b="1">
                <a:solidFill>
                  <a:srgbClr val="00B050"/>
                </a:solidFill>
              </a:rPr>
              <a:t>C</a:t>
            </a:r>
            <a:r>
              <a:rPr lang="zh-CN" altLang="en-US" sz="1620" b="1">
                <a:solidFill>
                  <a:srgbClr val="00B050"/>
                </a:solidFill>
              </a:rPr>
              <a:t>语言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我的汇编语言</a:t>
            </a:r>
            <a:endParaRPr lang="zh-CN" altLang="en-US" sz="1620" b="1">
              <a:solidFill>
                <a:srgbClr val="00B050"/>
              </a:solidFill>
            </a:endParaRPr>
          </a:p>
          <a:p>
            <a:pPr lvl="1"/>
            <a:r>
              <a:rPr lang="zh-CN" altLang="en-US" sz="1620" b="1">
                <a:solidFill>
                  <a:srgbClr val="00B050"/>
                </a:solidFill>
              </a:rPr>
              <a:t>电脑的软硬接口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电脑的软件模型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系统的基础平台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系统的扩展平台</a:t>
            </a:r>
            <a:r>
              <a:rPr lang="en-US" altLang="zh-CN" sz="1620" b="1">
                <a:solidFill>
                  <a:srgbClr val="00B050"/>
                </a:solidFill>
              </a:rPr>
              <a:t>/IT</a:t>
            </a:r>
            <a:r>
              <a:rPr lang="zh-CN" altLang="en-US" sz="1620" b="1">
                <a:solidFill>
                  <a:srgbClr val="00B050"/>
                </a:solidFill>
              </a:rPr>
              <a:t>的业务模型</a:t>
            </a:r>
            <a:endParaRPr lang="zh-CN" altLang="en-US" sz="1620" b="1">
              <a:solidFill>
                <a:srgbClr val="00B050"/>
              </a:solidFill>
            </a:endParaRPr>
          </a:p>
          <a:p>
            <a:pPr lvl="1"/>
            <a:r>
              <a:rPr lang="en-US" altLang="zh-CN" sz="1620" b="1">
                <a:solidFill>
                  <a:srgbClr val="00B050"/>
                </a:solidFill>
              </a:rPr>
              <a:t>IT</a:t>
            </a:r>
            <a:r>
              <a:rPr lang="zh-CN" altLang="en-US" sz="1620" b="1">
                <a:solidFill>
                  <a:srgbClr val="00B050"/>
                </a:solidFill>
              </a:rPr>
              <a:t>地图导航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关于</a:t>
            </a:r>
            <a:r>
              <a:rPr lang="en-US" altLang="zh-CN" sz="1620" b="1">
                <a:solidFill>
                  <a:srgbClr val="00B050"/>
                </a:solidFill>
              </a:rPr>
              <a:t>IT</a:t>
            </a:r>
            <a:r>
              <a:rPr lang="zh-CN" altLang="en-US" sz="1620" b="1">
                <a:solidFill>
                  <a:srgbClr val="00B050"/>
                </a:solidFill>
              </a:rPr>
              <a:t>发展</a:t>
            </a:r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9271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纯单机系统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15010"/>
            <a:ext cx="12081510" cy="607758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手机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平板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单机桌面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单机服务器：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综合总结：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9271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纯单机系统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15010"/>
            <a:ext cx="12081510" cy="607758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手机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平板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：业务层和交互层整体结构完整，基于</a:t>
            </a:r>
            <a:r>
              <a:rPr lang="en-US" altLang="zh-CN" b="1">
                <a:solidFill>
                  <a:srgbClr val="00B050"/>
                </a:solidFill>
              </a:rPr>
              <a:t>objC</a:t>
            </a:r>
            <a:r>
              <a:rPr lang="zh-CN" altLang="en-US" b="1">
                <a:solidFill>
                  <a:srgbClr val="00B050"/>
                </a:solidFill>
              </a:rPr>
              <a:t>；封闭定制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强管控，导致架构差异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安卓：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业务层和交互层整体结构完整，基于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Java/Kotlin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；开放兼容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弱管控，导致架构差异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手机间比对：业务层调度的运行环境</a:t>
            </a:r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比安卓强，同时</a:t>
            </a:r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的交互层与业务层相互更独立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比安卓强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单机桌面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单机服务器：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综合总结：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9271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纯单机系统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15010"/>
            <a:ext cx="12081510" cy="607758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手机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平板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：业务层和交互层整体结构完整，基于</a:t>
            </a:r>
            <a:r>
              <a:rPr lang="en-US" altLang="zh-CN" b="1">
                <a:solidFill>
                  <a:srgbClr val="00B050"/>
                </a:solidFill>
              </a:rPr>
              <a:t>objC</a:t>
            </a:r>
            <a:r>
              <a:rPr lang="zh-CN" altLang="en-US" b="1">
                <a:solidFill>
                  <a:srgbClr val="00B050"/>
                </a:solidFill>
              </a:rPr>
              <a:t>；封闭定制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强管控，导致架构差异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安卓：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业务层和交互层整体结构完整，基于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Java/Kotlin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；开放兼容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弱管控，导致架构差异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手机间比对：业务层调度的运行环境</a:t>
            </a:r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比安卓强，同时</a:t>
            </a:r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的交互层与业务层相互更独立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比安卓强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单机桌面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MacOS</a:t>
            </a:r>
            <a:r>
              <a:rPr lang="zh-CN" altLang="en-US" sz="1800" b="1">
                <a:solidFill>
                  <a:srgbClr val="00B050"/>
                </a:solidFill>
              </a:rPr>
              <a:t>：交互层完整，业务层完整，交互层与业务层相互独立；封闭定制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强管控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Windows</a:t>
            </a:r>
            <a:r>
              <a:rPr lang="zh-CN" altLang="en-US" sz="1800" b="1">
                <a:solidFill>
                  <a:srgbClr val="00B050"/>
                </a:solidFill>
              </a:rPr>
              <a:t>：交互层完整，业务层不完整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通讯差一些，调度很勉强，工作对象不清晰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，开放兼容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弱管控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桌面：交互层完整，业务层缺失，开源分散，高可定制化，起步过晚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桌面间比对：关键差异是业务层，</a:t>
            </a:r>
            <a:r>
              <a:rPr lang="en-US" altLang="zh-CN" b="1">
                <a:solidFill>
                  <a:srgbClr val="00B050"/>
                </a:solidFill>
              </a:rPr>
              <a:t>MacOS</a:t>
            </a:r>
            <a:r>
              <a:rPr lang="zh-CN" altLang="en-US" b="1">
                <a:solidFill>
                  <a:srgbClr val="00B050"/>
                </a:solidFill>
              </a:rPr>
              <a:t>明显比</a:t>
            </a:r>
            <a:r>
              <a:rPr lang="en-US" altLang="zh-CN" b="1">
                <a:solidFill>
                  <a:srgbClr val="00B050"/>
                </a:solidFill>
              </a:rPr>
              <a:t>Windows</a:t>
            </a:r>
            <a:r>
              <a:rPr lang="zh-CN" altLang="en-US" b="1">
                <a:solidFill>
                  <a:srgbClr val="00B050"/>
                </a:solidFill>
              </a:rPr>
              <a:t>强，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最弱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单机服务器：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综合总结：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9271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纯单机系统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15010"/>
            <a:ext cx="12081510" cy="607758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手机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平板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：业务层和交互层整体结构完整，基于</a:t>
            </a:r>
            <a:r>
              <a:rPr lang="en-US" altLang="zh-CN" b="1">
                <a:solidFill>
                  <a:srgbClr val="00B050"/>
                </a:solidFill>
              </a:rPr>
              <a:t>objC</a:t>
            </a:r>
            <a:r>
              <a:rPr lang="zh-CN" altLang="en-US" b="1">
                <a:solidFill>
                  <a:srgbClr val="00B050"/>
                </a:solidFill>
              </a:rPr>
              <a:t>；封闭定制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强管控，导致架构差异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安卓：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业务层和交互层整体结构完整，基于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Java/Kotlin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；开放兼容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弱管控，导致架构差异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手机间比对：业务层调度的运行环境</a:t>
            </a:r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比安卓强，同时</a:t>
            </a:r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的交互层与业务层相互更独立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比安卓强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单机桌面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MacOS</a:t>
            </a:r>
            <a:r>
              <a:rPr lang="zh-CN" altLang="en-US" sz="1800" b="1">
                <a:solidFill>
                  <a:srgbClr val="00B050"/>
                </a:solidFill>
              </a:rPr>
              <a:t>：交互层完整，业务层完整，交互层与业务层相互独立；封闭定制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强管控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Windows</a:t>
            </a:r>
            <a:r>
              <a:rPr lang="zh-CN" altLang="en-US" sz="1800" b="1">
                <a:solidFill>
                  <a:srgbClr val="00B050"/>
                </a:solidFill>
              </a:rPr>
              <a:t>：交互层完整，业务层不完整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通讯差一些，调度很勉强，工作对象不清晰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，开放兼容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弱管控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桌面：交互层完整，业务层缺失，开源分散，高可定制化，起步过晚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桌面间比对：关键差异是业务层，</a:t>
            </a:r>
            <a:r>
              <a:rPr lang="en-US" altLang="zh-CN" b="1">
                <a:solidFill>
                  <a:srgbClr val="00B050"/>
                </a:solidFill>
              </a:rPr>
              <a:t>MacOS</a:t>
            </a:r>
            <a:r>
              <a:rPr lang="zh-CN" altLang="en-US" b="1">
                <a:solidFill>
                  <a:srgbClr val="00B050"/>
                </a:solidFill>
              </a:rPr>
              <a:t>明显比</a:t>
            </a:r>
            <a:r>
              <a:rPr lang="en-US" altLang="zh-CN" b="1">
                <a:solidFill>
                  <a:srgbClr val="00B050"/>
                </a:solidFill>
              </a:rPr>
              <a:t>Windows</a:t>
            </a:r>
            <a:r>
              <a:rPr lang="zh-CN" altLang="en-US" b="1">
                <a:solidFill>
                  <a:srgbClr val="00B050"/>
                </a:solidFill>
              </a:rPr>
              <a:t>强，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最弱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单机服务器：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单机服务器独揽市场，业务层和交互层都完整，但都很精简，同服务器本身的需求定位相关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综合总结：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9271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纯单机系统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15010"/>
            <a:ext cx="12081510" cy="607758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手机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平板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：业务层和交互层整体结构完整，基于</a:t>
            </a:r>
            <a:r>
              <a:rPr lang="en-US" altLang="zh-CN" b="1">
                <a:solidFill>
                  <a:srgbClr val="00B050"/>
                </a:solidFill>
              </a:rPr>
              <a:t>objC</a:t>
            </a:r>
            <a:r>
              <a:rPr lang="zh-CN" altLang="en-US" b="1">
                <a:solidFill>
                  <a:srgbClr val="00B050"/>
                </a:solidFill>
              </a:rPr>
              <a:t>；封闭定制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强管控，导致架构差异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安卓：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业务层和交互层整体结构完整，基于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Java/Kotlin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；开放兼容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弱管控，导致架构差异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手机间比对：业务层调度的运行环境</a:t>
            </a:r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比安卓强，同时</a:t>
            </a:r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的交互层与业务层相互更独立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比安卓强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单机桌面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MacOS</a:t>
            </a:r>
            <a:r>
              <a:rPr lang="zh-CN" altLang="en-US" sz="1800" b="1">
                <a:solidFill>
                  <a:srgbClr val="00B050"/>
                </a:solidFill>
              </a:rPr>
              <a:t>：交互层完整，业务层完整，交互层与业务层相互独立；封闭定制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强管控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Windows</a:t>
            </a:r>
            <a:r>
              <a:rPr lang="zh-CN" altLang="en-US" sz="1800" b="1">
                <a:solidFill>
                  <a:srgbClr val="00B050"/>
                </a:solidFill>
              </a:rPr>
              <a:t>：交互层完整，业务层不完整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通讯差一些，调度很勉强，工作对象不清晰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，开放兼容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弱管控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桌面：交互层完整，业务层缺失，开源分散，高可定制化，起步过晚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桌面间比对：关键差异是业务层，</a:t>
            </a:r>
            <a:r>
              <a:rPr lang="en-US" altLang="zh-CN" b="1">
                <a:solidFill>
                  <a:srgbClr val="00B050"/>
                </a:solidFill>
              </a:rPr>
              <a:t>MacOS</a:t>
            </a:r>
            <a:r>
              <a:rPr lang="zh-CN" altLang="en-US" b="1">
                <a:solidFill>
                  <a:srgbClr val="00B050"/>
                </a:solidFill>
              </a:rPr>
              <a:t>明显比</a:t>
            </a:r>
            <a:r>
              <a:rPr lang="en-US" altLang="zh-CN" b="1">
                <a:solidFill>
                  <a:srgbClr val="00B050"/>
                </a:solidFill>
              </a:rPr>
              <a:t>Windows</a:t>
            </a:r>
            <a:r>
              <a:rPr lang="zh-CN" altLang="en-US" b="1">
                <a:solidFill>
                  <a:srgbClr val="00B050"/>
                </a:solidFill>
              </a:rPr>
              <a:t>强，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最弱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单机服务器：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单机服务器独揽市场，业务层和交互层都完整，但都很精简，同服务器本身的需求定位相关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综合总结：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架构层面：</a:t>
            </a:r>
            <a:r>
              <a:rPr lang="en-US" altLang="zh-CN" b="1">
                <a:solidFill>
                  <a:srgbClr val="00B050"/>
                </a:solidFill>
              </a:rPr>
              <a:t>iOS=MacOS &gt; </a:t>
            </a:r>
            <a:r>
              <a:rPr lang="zh-CN" altLang="en-US" b="1">
                <a:solidFill>
                  <a:srgbClr val="00B050"/>
                </a:solidFill>
              </a:rPr>
              <a:t>单机服务器</a:t>
            </a:r>
            <a:r>
              <a:rPr lang="en-US" altLang="zh-CN" b="1">
                <a:solidFill>
                  <a:srgbClr val="00B050"/>
                </a:solidFill>
              </a:rPr>
              <a:t> &gt; </a:t>
            </a:r>
            <a:r>
              <a:rPr lang="zh-CN" altLang="en-US" b="1">
                <a:solidFill>
                  <a:srgbClr val="00B050"/>
                </a:solidFill>
              </a:rPr>
              <a:t>安卓</a:t>
            </a:r>
            <a:r>
              <a:rPr lang="en-US" altLang="zh-CN" b="1">
                <a:solidFill>
                  <a:srgbClr val="00B050"/>
                </a:solidFill>
              </a:rPr>
              <a:t> &gt; Window &gt; Linux</a:t>
            </a:r>
            <a:r>
              <a:rPr lang="zh-CN" altLang="en-US" b="1">
                <a:solidFill>
                  <a:srgbClr val="00B050"/>
                </a:solidFill>
              </a:rPr>
              <a:t>桌面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市场层面：安卓</a:t>
            </a:r>
            <a:r>
              <a:rPr lang="en-US" altLang="zh-CN" b="1">
                <a:solidFill>
                  <a:srgbClr val="00B050"/>
                </a:solidFill>
              </a:rPr>
              <a:t>=Window=</a:t>
            </a:r>
            <a:r>
              <a:rPr lang="zh-CN" altLang="en-US" b="1">
                <a:solidFill>
                  <a:srgbClr val="00B050"/>
                </a:solidFill>
              </a:rPr>
              <a:t>单机服务器</a:t>
            </a:r>
            <a:r>
              <a:rPr lang="en-US" altLang="zh-CN" b="1">
                <a:solidFill>
                  <a:srgbClr val="00B050"/>
                </a:solidFill>
              </a:rPr>
              <a:t> &gt; iOS &gt; MacOS &gt; Linux</a:t>
            </a:r>
            <a:r>
              <a:rPr lang="zh-CN" altLang="en-US" b="1">
                <a:solidFill>
                  <a:srgbClr val="00B050"/>
                </a:solidFill>
              </a:rPr>
              <a:t>桌面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未来发展：桌面和手机平板都被分布式终端取代，单机服务器被分布式服务器取代，最后统一到云边端一体化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92710"/>
            <a:ext cx="10613390" cy="63754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纯单机系统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15010"/>
            <a:ext cx="12081510" cy="607758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手机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平板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：业务层和交互层整体结构完整，基于</a:t>
            </a:r>
            <a:r>
              <a:rPr lang="en-US" altLang="zh-CN" b="1">
                <a:solidFill>
                  <a:srgbClr val="00B050"/>
                </a:solidFill>
              </a:rPr>
              <a:t>objC</a:t>
            </a:r>
            <a:r>
              <a:rPr lang="zh-CN" altLang="en-US" b="1">
                <a:solidFill>
                  <a:srgbClr val="00B050"/>
                </a:solidFill>
              </a:rPr>
              <a:t>；封闭定制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强管控，导致架构差异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安卓：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业务层和交互层整体结构完整，基于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Java/Kotlin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；开放兼容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弱管控，导致架构差异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手机间比对：业务层调度的运行环境</a:t>
            </a:r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比安卓强，同时</a:t>
            </a:r>
            <a:r>
              <a:rPr lang="en-US" altLang="zh-CN" b="1">
                <a:solidFill>
                  <a:srgbClr val="00B050"/>
                </a:solidFill>
              </a:rPr>
              <a:t>iOS</a:t>
            </a:r>
            <a:r>
              <a:rPr lang="zh-CN" altLang="en-US" b="1">
                <a:solidFill>
                  <a:srgbClr val="00B050"/>
                </a:solidFill>
              </a:rPr>
              <a:t>的交互层与业务层相互更独立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比安卓强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单机桌面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MacOS</a:t>
            </a:r>
            <a:r>
              <a:rPr lang="zh-CN" altLang="en-US" sz="1800" b="1">
                <a:solidFill>
                  <a:srgbClr val="00B050"/>
                </a:solidFill>
              </a:rPr>
              <a:t>：交互层完整，业务层完整，交互层与业务层相互独立；封闭定制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强管控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Windows</a:t>
            </a:r>
            <a:r>
              <a:rPr lang="zh-CN" altLang="en-US" sz="1800" b="1">
                <a:solidFill>
                  <a:srgbClr val="00B050"/>
                </a:solidFill>
              </a:rPr>
              <a:t>：交互层完整，业务层不完整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通讯差一些，调度很勉强，工作对象不清晰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，开放兼容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弱管控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桌面：交互层完整，业务层缺失，开源分散，高可定制化，起步过晚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桌面间比对：关键差异是业务层，</a:t>
            </a:r>
            <a:r>
              <a:rPr lang="en-US" altLang="zh-CN" b="1">
                <a:solidFill>
                  <a:srgbClr val="00B050"/>
                </a:solidFill>
              </a:rPr>
              <a:t>MacOS</a:t>
            </a:r>
            <a:r>
              <a:rPr lang="zh-CN" altLang="en-US" b="1">
                <a:solidFill>
                  <a:srgbClr val="00B050"/>
                </a:solidFill>
              </a:rPr>
              <a:t>明显比</a:t>
            </a:r>
            <a:r>
              <a:rPr lang="en-US" altLang="zh-CN" b="1">
                <a:solidFill>
                  <a:srgbClr val="00B050"/>
                </a:solidFill>
              </a:rPr>
              <a:t>Windows</a:t>
            </a:r>
            <a:r>
              <a:rPr lang="zh-CN" altLang="en-US" b="1">
                <a:solidFill>
                  <a:srgbClr val="00B050"/>
                </a:solidFill>
              </a:rPr>
              <a:t>强，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最弱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单机服务器：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单机服务器独揽市场，业务层和交互层都完整，但都很精简，同服务器本身的需求定位相关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综合总结：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架构层面：</a:t>
            </a:r>
            <a:r>
              <a:rPr lang="en-US" altLang="zh-CN" b="1">
                <a:solidFill>
                  <a:srgbClr val="00B050"/>
                </a:solidFill>
              </a:rPr>
              <a:t>iOS=MacOS &gt; </a:t>
            </a:r>
            <a:r>
              <a:rPr lang="zh-CN" altLang="en-US" b="1">
                <a:solidFill>
                  <a:srgbClr val="00B050"/>
                </a:solidFill>
              </a:rPr>
              <a:t>单机服务器</a:t>
            </a:r>
            <a:r>
              <a:rPr lang="en-US" altLang="zh-CN" b="1">
                <a:solidFill>
                  <a:srgbClr val="00B050"/>
                </a:solidFill>
              </a:rPr>
              <a:t> &gt; </a:t>
            </a:r>
            <a:r>
              <a:rPr lang="zh-CN" altLang="en-US" b="1">
                <a:solidFill>
                  <a:srgbClr val="00B050"/>
                </a:solidFill>
              </a:rPr>
              <a:t>安卓</a:t>
            </a:r>
            <a:r>
              <a:rPr lang="en-US" altLang="zh-CN" b="1">
                <a:solidFill>
                  <a:srgbClr val="00B050"/>
                </a:solidFill>
              </a:rPr>
              <a:t> &gt; Window &gt; Linux</a:t>
            </a:r>
            <a:r>
              <a:rPr lang="zh-CN" altLang="en-US" b="1">
                <a:solidFill>
                  <a:srgbClr val="00B050"/>
                </a:solidFill>
              </a:rPr>
              <a:t>桌面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市场层面：安卓</a:t>
            </a:r>
            <a:r>
              <a:rPr lang="en-US" altLang="zh-CN" b="1">
                <a:solidFill>
                  <a:srgbClr val="00B050"/>
                </a:solidFill>
              </a:rPr>
              <a:t>=Window=</a:t>
            </a:r>
            <a:r>
              <a:rPr lang="zh-CN" altLang="en-US" b="1">
                <a:solidFill>
                  <a:srgbClr val="00B050"/>
                </a:solidFill>
              </a:rPr>
              <a:t>单机服务器</a:t>
            </a:r>
            <a:r>
              <a:rPr lang="en-US" altLang="zh-CN" b="1">
                <a:solidFill>
                  <a:srgbClr val="00B050"/>
                </a:solidFill>
              </a:rPr>
              <a:t> &gt; iOS &gt; MacOS &gt; Linux</a:t>
            </a:r>
            <a:r>
              <a:rPr lang="zh-CN" altLang="en-US" b="1">
                <a:solidFill>
                  <a:srgbClr val="00B050"/>
                </a:solidFill>
              </a:rPr>
              <a:t>桌面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未来发展：桌面和手机平板都被分布式终端取代，单机服务器被分布式服务器取代，最后统一到云边端一体化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620" b="1">
                <a:solidFill>
                  <a:srgbClr val="00B050"/>
                </a:solidFill>
              </a:rPr>
              <a:t>电脑的软硬接口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电脑的软件模型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系统的基础平台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系统的扩展平台</a:t>
            </a:r>
            <a:r>
              <a:rPr lang="en-US" altLang="zh-CN" sz="1620" b="1">
                <a:solidFill>
                  <a:srgbClr val="00B050"/>
                </a:solidFill>
              </a:rPr>
              <a:t>/IT</a:t>
            </a:r>
            <a:r>
              <a:rPr lang="zh-CN" altLang="en-US" sz="1620" b="1">
                <a:solidFill>
                  <a:srgbClr val="00B050"/>
                </a:solidFill>
              </a:rPr>
              <a:t>的业务模型</a:t>
            </a:r>
            <a:endParaRPr lang="zh-CN" altLang="en-US" sz="1620" b="1">
              <a:solidFill>
                <a:srgbClr val="00B050"/>
              </a:solidFill>
            </a:endParaRPr>
          </a:p>
          <a:p>
            <a:pPr lvl="1"/>
            <a:r>
              <a:rPr lang="en-US" altLang="zh-CN" sz="1620" b="1">
                <a:solidFill>
                  <a:srgbClr val="00B050"/>
                </a:solidFill>
              </a:rPr>
              <a:t>IT</a:t>
            </a:r>
            <a:r>
              <a:rPr lang="zh-CN" altLang="en-US" sz="1620" b="1">
                <a:solidFill>
                  <a:srgbClr val="00B050"/>
                </a:solidFill>
              </a:rPr>
              <a:t>地图导航</a:t>
            </a:r>
            <a:r>
              <a:rPr lang="en-US" altLang="zh-CN" sz="1620" b="1">
                <a:solidFill>
                  <a:srgbClr val="00B050"/>
                </a:solidFill>
              </a:rPr>
              <a:t>/</a:t>
            </a:r>
            <a:r>
              <a:rPr lang="zh-CN" altLang="en-US" sz="1620" b="1">
                <a:solidFill>
                  <a:srgbClr val="00B050"/>
                </a:solidFill>
              </a:rPr>
              <a:t>关注</a:t>
            </a:r>
            <a:r>
              <a:rPr lang="en-US" altLang="zh-CN" sz="1620" b="1">
                <a:solidFill>
                  <a:srgbClr val="00B050"/>
                </a:solidFill>
              </a:rPr>
              <a:t>IT</a:t>
            </a:r>
            <a:r>
              <a:rPr lang="zh-CN" altLang="en-US" sz="1620" b="1">
                <a:solidFill>
                  <a:srgbClr val="00B050"/>
                </a:solidFill>
              </a:rPr>
              <a:t>发展</a:t>
            </a:r>
            <a:endParaRPr lang="zh-CN" altLang="en-US" sz="1620" b="1">
              <a:solidFill>
                <a:srgbClr val="00B050"/>
              </a:solidFill>
            </a:endParaRPr>
          </a:p>
          <a:p>
            <a:pPr lvl="1"/>
            <a:r>
              <a:rPr lang="zh-CN" altLang="en-US" sz="1620" b="1">
                <a:solidFill>
                  <a:srgbClr val="00B050"/>
                </a:solidFill>
              </a:rPr>
              <a:t>学习架构设计</a:t>
            </a:r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分布式系统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华为鸿蒙分布式桌面系统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阿里飞天分布式服务器系统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云边端一体融合：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交互全场景智能化：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分布式系统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华为鸿蒙分布式桌面系统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产品路线：基于开源生态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安卓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，生态开放兼容</a:t>
            </a:r>
            <a:r>
              <a:rPr lang="en-US" altLang="zh-CN" b="1">
                <a:solidFill>
                  <a:srgbClr val="00B050"/>
                </a:solidFill>
              </a:rPr>
              <a:t>&gt;</a:t>
            </a:r>
            <a:r>
              <a:rPr lang="zh-CN" altLang="en-US" b="1">
                <a:solidFill>
                  <a:srgbClr val="00B050"/>
                </a:solidFill>
              </a:rPr>
              <a:t>技术颠覆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，技术依旧属于第一梯队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华为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阿里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谷歌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亚马逊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架构重点：分布式数据管理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分布式软总线</a:t>
            </a:r>
            <a:r>
              <a:rPr lang="en-US" altLang="zh-CN" b="1">
                <a:solidFill>
                  <a:srgbClr val="00B050"/>
                </a:solidFill>
              </a:rPr>
              <a:t>+Ability</a:t>
            </a:r>
            <a:r>
              <a:rPr lang="zh-CN" altLang="en-US" b="1">
                <a:solidFill>
                  <a:srgbClr val="00B050"/>
                </a:solidFill>
              </a:rPr>
              <a:t>细粒度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分布式调度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配套工作环境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硬件分布式统一池化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当前状态：全球唯一一款成型的分布式桌面系统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阿里飞天分布式服务器系统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云边端一体融合：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交互全场景智能化：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分布式系统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华为鸿蒙分布式桌面系统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产品路线：基于开源生态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安卓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，生态开放兼容</a:t>
            </a:r>
            <a:r>
              <a:rPr lang="en-US" altLang="zh-CN" b="1">
                <a:solidFill>
                  <a:srgbClr val="00B050"/>
                </a:solidFill>
              </a:rPr>
              <a:t>&gt;</a:t>
            </a:r>
            <a:r>
              <a:rPr lang="zh-CN" altLang="en-US" b="1">
                <a:solidFill>
                  <a:srgbClr val="00B050"/>
                </a:solidFill>
              </a:rPr>
              <a:t>技术颠覆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，技术依旧属于第一梯队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华为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阿里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谷歌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亚马逊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架构重点：分布式数据管理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分布式软总线</a:t>
            </a:r>
            <a:r>
              <a:rPr lang="en-US" altLang="zh-CN" b="1">
                <a:solidFill>
                  <a:srgbClr val="00B050"/>
                </a:solidFill>
              </a:rPr>
              <a:t>+Ability</a:t>
            </a:r>
            <a:r>
              <a:rPr lang="zh-CN" altLang="en-US" b="1">
                <a:solidFill>
                  <a:srgbClr val="00B050"/>
                </a:solidFill>
              </a:rPr>
              <a:t>细粒度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分布式调度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配套工作环境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硬件分布式统一池化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当前状态：全球唯一一款成型的分布式桌面系统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阿里飞天分布式服务器系统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产品路线：基于开源生态，生态开放兼容</a:t>
            </a:r>
            <a:r>
              <a:rPr lang="en-US" altLang="zh-CN" sz="1800" b="1">
                <a:solidFill>
                  <a:srgbClr val="00B050"/>
                </a:solidFill>
              </a:rPr>
              <a:t>&gt;</a:t>
            </a:r>
            <a:r>
              <a:rPr lang="zh-CN" altLang="en-US" sz="1800" b="1">
                <a:solidFill>
                  <a:srgbClr val="00B050"/>
                </a:solidFill>
              </a:rPr>
              <a:t>技术颠覆，技术依旧属于第一梯队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华为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阿里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谷歌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亚马逊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架构重点：系统层成熟度高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，有业务层存储和传输，边对接各类业务设备</a:t>
            </a:r>
            <a:r>
              <a:rPr lang="zh-CN" altLang="en-US" sz="1800" b="1">
                <a:solidFill>
                  <a:srgbClr val="00B050"/>
                </a:solidFill>
              </a:rPr>
              <a:t>，边对端非常弱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继承自</a:t>
            </a:r>
            <a:r>
              <a:rPr lang="en-US" altLang="zh-CN" sz="1800" b="1">
                <a:solidFill>
                  <a:srgbClr val="00B050"/>
                </a:solidFill>
              </a:rPr>
              <a:t>MQTT)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当前状态：全球唯一一款大规模商用的分布式服务器操作系统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云边端一体融合：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交互全场景智能化：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分布式系统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华为鸿蒙分布式桌面系统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产品路线：基于开源生态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安卓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，生态开放兼容</a:t>
            </a:r>
            <a:r>
              <a:rPr lang="en-US" altLang="zh-CN" b="1">
                <a:solidFill>
                  <a:srgbClr val="00B050"/>
                </a:solidFill>
              </a:rPr>
              <a:t>&gt;</a:t>
            </a:r>
            <a:r>
              <a:rPr lang="zh-CN" altLang="en-US" b="1">
                <a:solidFill>
                  <a:srgbClr val="00B050"/>
                </a:solidFill>
              </a:rPr>
              <a:t>技术颠覆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，技术依旧属于第一梯队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华为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阿里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谷歌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亚马逊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架构重点：分布式数据管理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分布式软总线</a:t>
            </a:r>
            <a:r>
              <a:rPr lang="en-US" altLang="zh-CN" b="1">
                <a:solidFill>
                  <a:srgbClr val="00B050"/>
                </a:solidFill>
              </a:rPr>
              <a:t>+Ability</a:t>
            </a:r>
            <a:r>
              <a:rPr lang="zh-CN" altLang="en-US" b="1">
                <a:solidFill>
                  <a:srgbClr val="00B050"/>
                </a:solidFill>
              </a:rPr>
              <a:t>细粒度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分布式调度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配套工作环境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硬件分布式统一池化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当前状态：全球唯一一款成型的分布式桌面系统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阿里飞天分布式服务器系统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产品路线：基于开源生态，生态开放兼容</a:t>
            </a:r>
            <a:r>
              <a:rPr lang="en-US" altLang="zh-CN" sz="1800" b="1">
                <a:solidFill>
                  <a:srgbClr val="00B050"/>
                </a:solidFill>
              </a:rPr>
              <a:t>&gt;</a:t>
            </a:r>
            <a:r>
              <a:rPr lang="zh-CN" altLang="en-US" sz="1800" b="1">
                <a:solidFill>
                  <a:srgbClr val="00B050"/>
                </a:solidFill>
              </a:rPr>
              <a:t>技术颠覆，技术依旧属于第一梯队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华为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阿里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谷歌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亚马逊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架构重点：系统层成熟度高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，有业务层存储和传输，边对接各类业务设备</a:t>
            </a:r>
            <a:r>
              <a:rPr lang="zh-CN" altLang="en-US" sz="1800" b="1">
                <a:solidFill>
                  <a:srgbClr val="00B050"/>
                </a:solidFill>
              </a:rPr>
              <a:t>，边对端非常弱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继承自</a:t>
            </a:r>
            <a:r>
              <a:rPr lang="en-US" altLang="zh-CN" sz="1800" b="1">
                <a:solidFill>
                  <a:srgbClr val="00B050"/>
                </a:solidFill>
              </a:rPr>
              <a:t>MQTT)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当前状态：全球唯一一款大规模商用的分布式服务器操作系统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云边端一体融合：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整体方案：鸿蒙与飞天直接对接，也是服务器与桌面的统一融合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同时包含交互业务设备和生产业务设备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纵向打通：边的业务层需要集成鸿蒙业务层核心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传输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计算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调度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，鸿蒙系统设备对应成飞天业务层设备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横向统一：边边自治与骨干网子网络调度统一，鸿蒙的分布式软总线支持边边相互发现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飞天的调度优化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交互全场景智能化：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分布式系统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华为鸿蒙分布式桌面系统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产品路线：基于开源生态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安卓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，生态开放兼容</a:t>
            </a:r>
            <a:r>
              <a:rPr lang="en-US" altLang="zh-CN" b="1">
                <a:solidFill>
                  <a:srgbClr val="00B050"/>
                </a:solidFill>
              </a:rPr>
              <a:t>&gt;</a:t>
            </a:r>
            <a:r>
              <a:rPr lang="zh-CN" altLang="en-US" b="1">
                <a:solidFill>
                  <a:srgbClr val="00B050"/>
                </a:solidFill>
              </a:rPr>
              <a:t>技术颠覆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，技术依旧属于第一梯队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华为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阿里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谷歌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亚马逊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架构重点：分布式数据管理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分布式软总线</a:t>
            </a:r>
            <a:r>
              <a:rPr lang="en-US" altLang="zh-CN" b="1">
                <a:solidFill>
                  <a:srgbClr val="00B050"/>
                </a:solidFill>
              </a:rPr>
              <a:t>+Ability</a:t>
            </a:r>
            <a:r>
              <a:rPr lang="zh-CN" altLang="en-US" b="1">
                <a:solidFill>
                  <a:srgbClr val="00B050"/>
                </a:solidFill>
              </a:rPr>
              <a:t>细粒度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分布式调度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配套工作环境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硬件分布式统一池化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当前状态：全球唯一一款成型的分布式桌面系统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阿里飞天分布式服务器系统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产品路线：基于开源生态，生态开放兼容</a:t>
            </a:r>
            <a:r>
              <a:rPr lang="en-US" altLang="zh-CN" sz="1800" b="1">
                <a:solidFill>
                  <a:srgbClr val="00B050"/>
                </a:solidFill>
              </a:rPr>
              <a:t>&gt;</a:t>
            </a:r>
            <a:r>
              <a:rPr lang="zh-CN" altLang="en-US" sz="1800" b="1">
                <a:solidFill>
                  <a:srgbClr val="00B050"/>
                </a:solidFill>
              </a:rPr>
              <a:t>技术颠覆，技术依旧属于第一梯队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华为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阿里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谷歌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亚马逊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架构重点：系统层成熟度高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，有业务层存储和传输，边对接各类业务设备</a:t>
            </a:r>
            <a:r>
              <a:rPr lang="zh-CN" altLang="en-US" sz="1800" b="1">
                <a:solidFill>
                  <a:srgbClr val="00B050"/>
                </a:solidFill>
              </a:rPr>
              <a:t>，边对端非常弱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继承自</a:t>
            </a:r>
            <a:r>
              <a:rPr lang="en-US" altLang="zh-CN" sz="1800" b="1">
                <a:solidFill>
                  <a:srgbClr val="00B050"/>
                </a:solidFill>
              </a:rPr>
              <a:t>MQTT)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当前状态：全球唯一一款大规模商用的分布式服务器操作系统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云边端一体融合：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整体方案：鸿蒙与飞天直接对接，也是服务器与桌面的统一融合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同时包含交互业务设备和生产业务设备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纵向打通：边的业务层需要集成鸿蒙业务层核心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传输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计算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调度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，鸿蒙系统设备对应成飞天业务层设备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横向统一：边边自治与骨干网子网络调度统一，鸿蒙的分布式软总线支持边边相互发现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飞天的调度优化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交互全场景智能化：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业务设备兼具交互与生产成为主流，都具备基于现实的立体场景，进行多模态感知，并可以端边云互联同步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对交互内容和行为反馈等数据全链路存储与全网同步，基于用户历史行为，实现个性化的后继交互与智能提醒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智能设备为调度对象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多模态感知为调度依据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多位置立体场景为工作环境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真实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虚拟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，替代传统窗口调度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分布式系统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华为鸿蒙分布式桌面系统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产品路线：基于开源生态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安卓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，生态开放兼容</a:t>
            </a:r>
            <a:r>
              <a:rPr lang="en-US" altLang="zh-CN" b="1">
                <a:solidFill>
                  <a:srgbClr val="00B050"/>
                </a:solidFill>
              </a:rPr>
              <a:t>&gt;</a:t>
            </a:r>
            <a:r>
              <a:rPr lang="zh-CN" altLang="en-US" b="1">
                <a:solidFill>
                  <a:srgbClr val="00B050"/>
                </a:solidFill>
              </a:rPr>
              <a:t>技术颠覆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，技术依旧属于第一梯队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华为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阿里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谷歌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亚马逊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架构重点：分布式数据管理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分布式软总线</a:t>
            </a:r>
            <a:r>
              <a:rPr lang="en-US" altLang="zh-CN" b="1">
                <a:solidFill>
                  <a:srgbClr val="00B050"/>
                </a:solidFill>
              </a:rPr>
              <a:t>+Ability</a:t>
            </a:r>
            <a:r>
              <a:rPr lang="zh-CN" altLang="en-US" b="1">
                <a:solidFill>
                  <a:srgbClr val="00B050"/>
                </a:solidFill>
              </a:rPr>
              <a:t>细粒度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分布式调度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配套工作环境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硬件分布式统一池化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当前状态：全球唯一一款成型的分布式桌面系统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阿里飞天分布式服务器系统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产品路线：基于开源生态，生态开放兼容</a:t>
            </a:r>
            <a:r>
              <a:rPr lang="en-US" altLang="zh-CN" sz="1800" b="1">
                <a:solidFill>
                  <a:srgbClr val="00B050"/>
                </a:solidFill>
              </a:rPr>
              <a:t>&gt;</a:t>
            </a:r>
            <a:r>
              <a:rPr lang="zh-CN" altLang="en-US" sz="1800" b="1">
                <a:solidFill>
                  <a:srgbClr val="00B050"/>
                </a:solidFill>
              </a:rPr>
              <a:t>技术颠覆，技术依旧属于第一梯队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华为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阿里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谷歌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亚马逊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架构重点：系统层成熟度高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，有业务层存储和传输，边对接各类业务设备</a:t>
            </a:r>
            <a:r>
              <a:rPr lang="zh-CN" altLang="en-US" sz="1800" b="1">
                <a:solidFill>
                  <a:srgbClr val="00B050"/>
                </a:solidFill>
              </a:rPr>
              <a:t>，边对端非常弱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继承自</a:t>
            </a:r>
            <a:r>
              <a:rPr lang="en-US" altLang="zh-CN" sz="1800" b="1">
                <a:solidFill>
                  <a:srgbClr val="00B050"/>
                </a:solidFill>
              </a:rPr>
              <a:t>MQTT)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当前状态：全球唯一一款大规模商用的分布式服务器操作系统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云边端一体融合：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整体方案：鸿蒙与飞天直接对接，也是服务器与桌面的统一融合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同时包含交互业务设备和生产业务设备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纵向打通：边的业务层需要集成鸿蒙业务层核心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存储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传输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计算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调度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，鸿蒙系统设备对应成飞天业务层设备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横向统一：边边自治与骨干网子网络调度统一，鸿蒙的分布式软总线支持边边相互发现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飞天的调度优化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交互全场景智能化：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业务设备兼具交互与生产成为主流，都具备基于现实的立体场景，进行多模态感知，并可以端边云互联同步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对交互内容和行为反馈等数据全链路存储与全网同步，基于用户历史行为，实现个性化的后继交互与智能提醒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智能设备为调度对象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多模态感知为调度依据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多位置立体场景为工作环境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真实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虚拟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，替代传统窗口调度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电脑的硬件接口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电脑的软件模型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系统的基础平台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系统的扩展平台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的业务模型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关注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发展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学习架构设计</a:t>
            </a:r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整合</a:t>
            </a:r>
            <a:r>
              <a:rPr lang="en-US" altLang="zh-CN">
                <a:solidFill>
                  <a:srgbClr val="00B050"/>
                </a:solidFill>
              </a:rPr>
              <a:t>Linux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粗粒度整合：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细粒度整合：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未来方向：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整合</a:t>
            </a:r>
            <a:r>
              <a:rPr lang="en-US" altLang="zh-CN">
                <a:solidFill>
                  <a:srgbClr val="00B050"/>
                </a:solidFill>
              </a:rPr>
              <a:t>Linux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粗粒度整合：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安卓：定制使用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内核，开源代码合并到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主干；中间层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系统层底层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定制使用大量</a:t>
            </a:r>
            <a:r>
              <a:rPr lang="en-US" altLang="zh-CN" b="1">
                <a:solidFill>
                  <a:srgbClr val="00B050"/>
                </a:solidFill>
              </a:rPr>
              <a:t>gnu</a:t>
            </a:r>
            <a:r>
              <a:rPr lang="zh-CN" altLang="en-US" b="1">
                <a:solidFill>
                  <a:srgbClr val="00B050"/>
                </a:solidFill>
              </a:rPr>
              <a:t>组件源码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鸿蒙：定制使用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内核支持分布式，改动量较大，开源代码很难合并到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主干；中间层同安卓类似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总结：继承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内核生态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驱动层兼容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，尊重标准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接口，大量使用中间层</a:t>
            </a:r>
            <a:r>
              <a:rPr lang="en-US" altLang="zh-CN" b="1">
                <a:solidFill>
                  <a:srgbClr val="00B050"/>
                </a:solidFill>
              </a:rPr>
              <a:t>GNU</a:t>
            </a:r>
            <a:r>
              <a:rPr lang="zh-CN" altLang="en-US" b="1">
                <a:solidFill>
                  <a:srgbClr val="00B050"/>
                </a:solidFill>
              </a:rPr>
              <a:t>组件，避免重复造轮子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细粒度整合：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未来方向：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整合</a:t>
            </a:r>
            <a:r>
              <a:rPr lang="en-US" altLang="zh-CN">
                <a:solidFill>
                  <a:srgbClr val="00B050"/>
                </a:solidFill>
              </a:rPr>
              <a:t>Linux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粗粒度整合：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安卓：定制使用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内核，开源代码合并到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主干；中间层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系统层底层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定制使用大量</a:t>
            </a:r>
            <a:r>
              <a:rPr lang="en-US" altLang="zh-CN" b="1">
                <a:solidFill>
                  <a:srgbClr val="00B050"/>
                </a:solidFill>
              </a:rPr>
              <a:t>gnu</a:t>
            </a:r>
            <a:r>
              <a:rPr lang="zh-CN" altLang="en-US" b="1">
                <a:solidFill>
                  <a:srgbClr val="00B050"/>
                </a:solidFill>
              </a:rPr>
              <a:t>组件源码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鸿蒙：定制使用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内核支持分布式，改动量较大，开源代码很难合并到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主干；中间层同安卓类似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总结：继承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内核生态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驱动层兼容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，尊重标准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接口，大量使用中间层</a:t>
            </a:r>
            <a:r>
              <a:rPr lang="en-US" altLang="zh-CN" b="1">
                <a:solidFill>
                  <a:srgbClr val="00B050"/>
                </a:solidFill>
              </a:rPr>
              <a:t>GNU</a:t>
            </a:r>
            <a:r>
              <a:rPr lang="zh-CN" altLang="en-US" b="1">
                <a:solidFill>
                  <a:srgbClr val="00B050"/>
                </a:solidFill>
              </a:rPr>
              <a:t>组件，避免重复造轮子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细粒度整合：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飞天：高度定制裁剪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内核，中间层同粗粒度整合类似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方式：存储和通讯完全进行替换，从架构上使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内核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标准</a:t>
            </a:r>
            <a:r>
              <a:rPr lang="en-US" altLang="zh-CN" sz="1800" b="1">
                <a:solidFill>
                  <a:srgbClr val="00B050"/>
                </a:solidFill>
              </a:rPr>
              <a:t>C</a:t>
            </a:r>
            <a:r>
              <a:rPr lang="zh-CN" altLang="en-US" sz="1800" b="1">
                <a:solidFill>
                  <a:srgbClr val="00B050"/>
                </a:solidFill>
              </a:rPr>
              <a:t>接口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大量</a:t>
            </a:r>
            <a:r>
              <a:rPr lang="en-US" altLang="zh-CN" sz="1800" b="1">
                <a:solidFill>
                  <a:srgbClr val="00B050"/>
                </a:solidFill>
              </a:rPr>
              <a:t>GNU</a:t>
            </a:r>
            <a:r>
              <a:rPr lang="zh-CN" altLang="en-US" sz="1800" b="1">
                <a:solidFill>
                  <a:srgbClr val="00B050"/>
                </a:solidFill>
              </a:rPr>
              <a:t>组件封装为广义工具链之一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总结：主要是避免重复造轮子，也符合阿里充分尊重尽量使用现有生态的发展理念，开发和发展成本也最低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未来方向：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5699760" y="4464685"/>
            <a:ext cx="6294755" cy="372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内核：线程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进程</a:t>
            </a:r>
            <a:r>
              <a:rPr lang="en-US" altLang="zh-CN" sz="1600" b="1">
                <a:solidFill>
                  <a:schemeClr val="tx1"/>
                </a:solidFill>
              </a:rPr>
              <a:t>/IPC/VFS/FHS/</a:t>
            </a:r>
            <a:r>
              <a:rPr lang="zh-CN" altLang="en-US" sz="1600" b="1">
                <a:solidFill>
                  <a:schemeClr val="tx1"/>
                </a:solidFill>
              </a:rPr>
              <a:t>文件系统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虚拟化与隔离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系统调用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802640" y="3615690"/>
            <a:ext cx="4185285" cy="497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计算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神龙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802005" y="4132580"/>
            <a:ext cx="2031365" cy="497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存储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盘古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833370" y="4132580"/>
            <a:ext cx="2155190" cy="497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网络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洛神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03275" y="3098800"/>
            <a:ext cx="4185285" cy="4978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调度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伏羲为主</a:t>
            </a:r>
            <a:r>
              <a:rPr lang="en-US" altLang="zh-CN" b="1">
                <a:solidFill>
                  <a:schemeClr val="tx1"/>
                </a:solidFill>
              </a:rPr>
              <a:t>+</a:t>
            </a:r>
            <a:r>
              <a:rPr lang="zh-CN" altLang="en-US" b="1">
                <a:solidFill>
                  <a:schemeClr val="tx1"/>
                </a:solidFill>
              </a:rPr>
              <a:t>女娲辅助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699760" y="4111625"/>
            <a:ext cx="6295390" cy="356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标准</a:t>
            </a:r>
            <a:r>
              <a:rPr lang="en-US" altLang="zh-CN" sz="1600" b="1">
                <a:solidFill>
                  <a:schemeClr val="tx1"/>
                </a:solidFill>
              </a:rPr>
              <a:t>C</a:t>
            </a:r>
            <a:r>
              <a:rPr lang="zh-CN" altLang="en-US" sz="1600" b="1">
                <a:solidFill>
                  <a:schemeClr val="tx1"/>
                </a:solidFill>
              </a:rPr>
              <a:t>接口：系统调用封装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加载链接</a:t>
            </a:r>
            <a:r>
              <a:rPr lang="en-US" altLang="zh-CN" sz="1600" b="1">
                <a:solidFill>
                  <a:schemeClr val="tx1"/>
                </a:solidFill>
              </a:rPr>
              <a:t>/jump+</a:t>
            </a:r>
            <a:r>
              <a:rPr lang="zh-CN" altLang="en-US" sz="1600" b="1">
                <a:solidFill>
                  <a:schemeClr val="tx1"/>
                </a:solidFill>
              </a:rPr>
              <a:t>数学库</a:t>
            </a:r>
            <a:r>
              <a:rPr lang="en-US" altLang="zh-CN" sz="1600" b="1">
                <a:solidFill>
                  <a:schemeClr val="tx1"/>
                </a:solidFill>
              </a:rPr>
              <a:t>+C</a:t>
            </a:r>
            <a:r>
              <a:rPr lang="zh-CN" altLang="en-US" sz="1600" b="1">
                <a:solidFill>
                  <a:schemeClr val="tx1"/>
                </a:solidFill>
              </a:rPr>
              <a:t>工具链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700395" y="3728085"/>
            <a:ext cx="6294755" cy="383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中间层</a:t>
            </a:r>
            <a:r>
              <a:rPr lang="en-US" altLang="zh-CN" sz="1600" b="1">
                <a:solidFill>
                  <a:schemeClr val="tx1"/>
                </a:solidFill>
              </a:rPr>
              <a:t>GNU</a:t>
            </a:r>
            <a:r>
              <a:rPr lang="zh-CN" altLang="en-US" sz="1600" b="1">
                <a:solidFill>
                  <a:schemeClr val="tx1"/>
                </a:solidFill>
              </a:rPr>
              <a:t>组件</a:t>
            </a:r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含</a:t>
            </a:r>
            <a:r>
              <a:rPr lang="en-US" altLang="zh-CN" sz="1600" b="1">
                <a:solidFill>
                  <a:schemeClr val="tx1"/>
                </a:solidFill>
              </a:rPr>
              <a:t>Shell)</a:t>
            </a:r>
            <a:r>
              <a:rPr lang="zh-CN" altLang="en-US" sz="1600" b="1">
                <a:solidFill>
                  <a:schemeClr val="tx1"/>
                </a:solidFill>
              </a:rPr>
              <a:t>：</a:t>
            </a:r>
            <a:r>
              <a:rPr lang="zh-CN" sz="1600" b="1">
                <a:solidFill>
                  <a:schemeClr val="tx1"/>
                </a:solidFill>
              </a:rPr>
              <a:t>直接使用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轻量化定制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深度定制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698490" y="2846705"/>
            <a:ext cx="6297295" cy="3829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广义容器化处理：</a:t>
            </a:r>
            <a:r>
              <a:rPr lang="en-US" altLang="zh-CN" sz="1600" b="1">
                <a:solidFill>
                  <a:schemeClr val="tx1"/>
                </a:solidFill>
              </a:rPr>
              <a:t>docker/chroot/appimage/X11/vnc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5698490" y="3274060"/>
            <a:ext cx="6296660" cy="3740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广义虚拟机处理：</a:t>
            </a:r>
            <a:r>
              <a:rPr lang="en-US" altLang="zh-CN" sz="1600" b="1">
                <a:solidFill>
                  <a:schemeClr val="tx1"/>
                </a:solidFill>
              </a:rPr>
              <a:t>qemu/</a:t>
            </a:r>
            <a:r>
              <a:rPr lang="zh-CN" altLang="en-US" sz="1600" b="1">
                <a:solidFill>
                  <a:schemeClr val="tx1"/>
                </a:solidFill>
              </a:rPr>
              <a:t>各类高级语言工具链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各类</a:t>
            </a:r>
            <a:r>
              <a:rPr lang="en-US" altLang="zh-CN" sz="1600" b="1">
                <a:solidFill>
                  <a:schemeClr val="tx1"/>
                </a:solidFill>
              </a:rPr>
              <a:t>AI</a:t>
            </a:r>
            <a:r>
              <a:rPr lang="zh-CN" altLang="en-US" sz="1600" b="1">
                <a:solidFill>
                  <a:schemeClr val="tx1"/>
                </a:solidFill>
              </a:rPr>
              <a:t>工具链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11" idx="1"/>
            <a:endCxn id="30" idx="3"/>
          </p:cNvCxnSpPr>
          <p:nvPr/>
        </p:nvCxnSpPr>
        <p:spPr>
          <a:xfrm flipH="1">
            <a:off x="4987925" y="3038475"/>
            <a:ext cx="710565" cy="82613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2" idx="1"/>
            <a:endCxn id="30" idx="3"/>
          </p:cNvCxnSpPr>
          <p:nvPr/>
        </p:nvCxnSpPr>
        <p:spPr>
          <a:xfrm flipH="1">
            <a:off x="4987925" y="3461385"/>
            <a:ext cx="710565" cy="40322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1"/>
            <a:endCxn id="30" idx="3"/>
          </p:cNvCxnSpPr>
          <p:nvPr/>
        </p:nvCxnSpPr>
        <p:spPr>
          <a:xfrm flipH="1" flipV="1">
            <a:off x="4987925" y="3864610"/>
            <a:ext cx="712470" cy="55245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1"/>
            <a:endCxn id="30" idx="3"/>
          </p:cNvCxnSpPr>
          <p:nvPr/>
        </p:nvCxnSpPr>
        <p:spPr>
          <a:xfrm flipH="1" flipV="1">
            <a:off x="4987925" y="3864610"/>
            <a:ext cx="711835" cy="42545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1"/>
            <a:endCxn id="30" idx="3"/>
          </p:cNvCxnSpPr>
          <p:nvPr/>
        </p:nvCxnSpPr>
        <p:spPr>
          <a:xfrm flipH="1" flipV="1">
            <a:off x="4987925" y="3864610"/>
            <a:ext cx="711835" cy="786765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整合</a:t>
            </a:r>
            <a:r>
              <a:rPr lang="en-US" altLang="zh-CN">
                <a:solidFill>
                  <a:srgbClr val="00B050"/>
                </a:solidFill>
              </a:rPr>
              <a:t>Linux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粗粒度整合：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安卓：定制使用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内核，开源代码合并到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主干；中间层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系统层底层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定制使用大量</a:t>
            </a:r>
            <a:r>
              <a:rPr lang="en-US" altLang="zh-CN" b="1">
                <a:solidFill>
                  <a:srgbClr val="00B050"/>
                </a:solidFill>
              </a:rPr>
              <a:t>gnu</a:t>
            </a:r>
            <a:r>
              <a:rPr lang="zh-CN" altLang="en-US" b="1">
                <a:solidFill>
                  <a:srgbClr val="00B050"/>
                </a:solidFill>
              </a:rPr>
              <a:t>组件源码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鸿蒙：定制使用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内核支持分布式，改动量较大，开源代码很难合并到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主干；中间层同安卓类似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总结：继承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内核生态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驱动层兼容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，尊重标准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接口，大量使用中间层</a:t>
            </a:r>
            <a:r>
              <a:rPr lang="en-US" altLang="zh-CN" b="1">
                <a:solidFill>
                  <a:srgbClr val="00B050"/>
                </a:solidFill>
              </a:rPr>
              <a:t>GNU</a:t>
            </a:r>
            <a:r>
              <a:rPr lang="zh-CN" altLang="en-US" b="1">
                <a:solidFill>
                  <a:srgbClr val="00B050"/>
                </a:solidFill>
              </a:rPr>
              <a:t>组件，避免重复造轮子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细粒度整合：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飞天：高度定制裁剪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内核，中间层同粗粒度整合类似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方式：存储和通讯完全进行替换，从架构上使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内核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标准</a:t>
            </a:r>
            <a:r>
              <a:rPr lang="en-US" altLang="zh-CN" sz="1800" b="1">
                <a:solidFill>
                  <a:srgbClr val="00B050"/>
                </a:solidFill>
              </a:rPr>
              <a:t>C</a:t>
            </a:r>
            <a:r>
              <a:rPr lang="zh-CN" altLang="en-US" sz="1800" b="1">
                <a:solidFill>
                  <a:srgbClr val="00B050"/>
                </a:solidFill>
              </a:rPr>
              <a:t>接口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大量</a:t>
            </a:r>
            <a:r>
              <a:rPr lang="en-US" altLang="zh-CN" sz="1800" b="1">
                <a:solidFill>
                  <a:srgbClr val="00B050"/>
                </a:solidFill>
              </a:rPr>
              <a:t>GNU</a:t>
            </a:r>
            <a:r>
              <a:rPr lang="zh-CN" altLang="en-US" sz="1800" b="1">
                <a:solidFill>
                  <a:srgbClr val="00B050"/>
                </a:solidFill>
              </a:rPr>
              <a:t>组件封装为广义工具链之一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总结：主要是避免重复造轮子，也符合阿里充分尊重尽量使用现有生态的发展理念，开发和发展成本也最低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未来方向：</a:t>
            </a:r>
            <a:r>
              <a:rPr lang="zh-CN" altLang="en-US" sz="1800" b="1">
                <a:solidFill>
                  <a:srgbClr val="00B050"/>
                </a:solidFill>
              </a:rPr>
              <a:t>参考飞天的细粒度整合，鸿蒙也会从粗粒度整合向细粒度整合演进，未来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的独立产品将逐步消失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5699760" y="4464685"/>
            <a:ext cx="6294755" cy="372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内核：线程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进程</a:t>
            </a:r>
            <a:r>
              <a:rPr lang="en-US" altLang="zh-CN" sz="1600" b="1">
                <a:solidFill>
                  <a:schemeClr val="tx1"/>
                </a:solidFill>
              </a:rPr>
              <a:t>/IPC/VFS/FHS/</a:t>
            </a:r>
            <a:r>
              <a:rPr lang="zh-CN" altLang="en-US" sz="1600" b="1">
                <a:solidFill>
                  <a:schemeClr val="tx1"/>
                </a:solidFill>
              </a:rPr>
              <a:t>文件系统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虚拟化与隔离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系统调用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802640" y="3615690"/>
            <a:ext cx="4185285" cy="497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计算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神龙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802005" y="4132580"/>
            <a:ext cx="2031365" cy="497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存储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盘古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833370" y="4132580"/>
            <a:ext cx="2155190" cy="497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网络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洛神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03275" y="3098800"/>
            <a:ext cx="4185285" cy="4978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调度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伏羲为主</a:t>
            </a:r>
            <a:r>
              <a:rPr lang="en-US" altLang="zh-CN" b="1">
                <a:solidFill>
                  <a:schemeClr val="tx1"/>
                </a:solidFill>
              </a:rPr>
              <a:t>+</a:t>
            </a:r>
            <a:r>
              <a:rPr lang="zh-CN" altLang="en-US" b="1">
                <a:solidFill>
                  <a:schemeClr val="tx1"/>
                </a:solidFill>
              </a:rPr>
              <a:t>女娲辅助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699760" y="4111625"/>
            <a:ext cx="6295390" cy="356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标准</a:t>
            </a:r>
            <a:r>
              <a:rPr lang="en-US" altLang="zh-CN" sz="1600" b="1">
                <a:solidFill>
                  <a:schemeClr val="tx1"/>
                </a:solidFill>
              </a:rPr>
              <a:t>C</a:t>
            </a:r>
            <a:r>
              <a:rPr lang="zh-CN" altLang="en-US" sz="1600" b="1">
                <a:solidFill>
                  <a:schemeClr val="tx1"/>
                </a:solidFill>
              </a:rPr>
              <a:t>接口：系统调用封装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加载链接</a:t>
            </a:r>
            <a:r>
              <a:rPr lang="en-US" altLang="zh-CN" sz="1600" b="1">
                <a:solidFill>
                  <a:schemeClr val="tx1"/>
                </a:solidFill>
              </a:rPr>
              <a:t>/jump+</a:t>
            </a:r>
            <a:r>
              <a:rPr lang="zh-CN" altLang="en-US" sz="1600" b="1">
                <a:solidFill>
                  <a:schemeClr val="tx1"/>
                </a:solidFill>
              </a:rPr>
              <a:t>数学库</a:t>
            </a:r>
            <a:r>
              <a:rPr lang="en-US" altLang="zh-CN" sz="1600" b="1">
                <a:solidFill>
                  <a:schemeClr val="tx1"/>
                </a:solidFill>
              </a:rPr>
              <a:t>+C</a:t>
            </a:r>
            <a:r>
              <a:rPr lang="zh-CN" altLang="en-US" sz="1600" b="1">
                <a:solidFill>
                  <a:schemeClr val="tx1"/>
                </a:solidFill>
              </a:rPr>
              <a:t>工具链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700395" y="3728085"/>
            <a:ext cx="6294755" cy="383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中间层</a:t>
            </a:r>
            <a:r>
              <a:rPr lang="en-US" altLang="zh-CN" sz="1600" b="1">
                <a:solidFill>
                  <a:schemeClr val="tx1"/>
                </a:solidFill>
              </a:rPr>
              <a:t>GNU</a:t>
            </a:r>
            <a:r>
              <a:rPr lang="zh-CN" altLang="en-US" sz="1600" b="1">
                <a:solidFill>
                  <a:schemeClr val="tx1"/>
                </a:solidFill>
              </a:rPr>
              <a:t>组件</a:t>
            </a:r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含</a:t>
            </a:r>
            <a:r>
              <a:rPr lang="en-US" altLang="zh-CN" sz="1600" b="1">
                <a:solidFill>
                  <a:schemeClr val="tx1"/>
                </a:solidFill>
              </a:rPr>
              <a:t>Shell)</a:t>
            </a:r>
            <a:r>
              <a:rPr lang="zh-CN" altLang="en-US" sz="1600" b="1">
                <a:solidFill>
                  <a:schemeClr val="tx1"/>
                </a:solidFill>
              </a:rPr>
              <a:t>：</a:t>
            </a:r>
            <a:r>
              <a:rPr lang="zh-CN" sz="1600" b="1">
                <a:solidFill>
                  <a:schemeClr val="tx1"/>
                </a:solidFill>
              </a:rPr>
              <a:t>直接使用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轻量化定制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深度定制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698490" y="2846705"/>
            <a:ext cx="6297295" cy="3829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广义容器化处理：</a:t>
            </a:r>
            <a:r>
              <a:rPr lang="en-US" altLang="zh-CN" sz="1600" b="1">
                <a:solidFill>
                  <a:schemeClr val="tx1"/>
                </a:solidFill>
              </a:rPr>
              <a:t>docker/chroot/appimage/X11/vnc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5698490" y="3274060"/>
            <a:ext cx="6296660" cy="3740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广义虚拟机处理：</a:t>
            </a:r>
            <a:r>
              <a:rPr lang="en-US" altLang="zh-CN" sz="1600" b="1">
                <a:solidFill>
                  <a:schemeClr val="tx1"/>
                </a:solidFill>
              </a:rPr>
              <a:t>qemu/</a:t>
            </a:r>
            <a:r>
              <a:rPr lang="zh-CN" altLang="en-US" sz="1600" b="1">
                <a:solidFill>
                  <a:schemeClr val="tx1"/>
                </a:solidFill>
              </a:rPr>
              <a:t>各类高级语言工具链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各类</a:t>
            </a:r>
            <a:r>
              <a:rPr lang="en-US" altLang="zh-CN" sz="1600" b="1">
                <a:solidFill>
                  <a:schemeClr val="tx1"/>
                </a:solidFill>
              </a:rPr>
              <a:t>AI</a:t>
            </a:r>
            <a:r>
              <a:rPr lang="zh-CN" altLang="en-US" sz="1600" b="1">
                <a:solidFill>
                  <a:schemeClr val="tx1"/>
                </a:solidFill>
              </a:rPr>
              <a:t>工具链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11" idx="1"/>
            <a:endCxn id="30" idx="3"/>
          </p:cNvCxnSpPr>
          <p:nvPr/>
        </p:nvCxnSpPr>
        <p:spPr>
          <a:xfrm flipH="1">
            <a:off x="4987925" y="3038475"/>
            <a:ext cx="710565" cy="82613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2" idx="1"/>
            <a:endCxn id="30" idx="3"/>
          </p:cNvCxnSpPr>
          <p:nvPr/>
        </p:nvCxnSpPr>
        <p:spPr>
          <a:xfrm flipH="1">
            <a:off x="4987925" y="3461385"/>
            <a:ext cx="710565" cy="40322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1"/>
            <a:endCxn id="30" idx="3"/>
          </p:cNvCxnSpPr>
          <p:nvPr/>
        </p:nvCxnSpPr>
        <p:spPr>
          <a:xfrm flipH="1" flipV="1">
            <a:off x="4987925" y="3864610"/>
            <a:ext cx="712470" cy="55245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1"/>
            <a:endCxn id="30" idx="3"/>
          </p:cNvCxnSpPr>
          <p:nvPr/>
        </p:nvCxnSpPr>
        <p:spPr>
          <a:xfrm flipH="1" flipV="1">
            <a:off x="4987925" y="3864610"/>
            <a:ext cx="711835" cy="42545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1"/>
            <a:endCxn id="30" idx="3"/>
          </p:cNvCxnSpPr>
          <p:nvPr/>
        </p:nvCxnSpPr>
        <p:spPr>
          <a:xfrm flipH="1" flipV="1">
            <a:off x="4987925" y="3864610"/>
            <a:ext cx="711835" cy="786765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-889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产品实例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整合</a:t>
            </a:r>
            <a:r>
              <a:rPr lang="en-US" altLang="zh-CN">
                <a:solidFill>
                  <a:srgbClr val="00B050"/>
                </a:solidFill>
              </a:rPr>
              <a:t>Linux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1490"/>
            <a:ext cx="12081510" cy="636651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粗粒度整合：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安卓：定制使用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内核，开源代码合并到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主干；中间层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系统层底层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定制使用大量</a:t>
            </a:r>
            <a:r>
              <a:rPr lang="en-US" altLang="zh-CN" b="1">
                <a:solidFill>
                  <a:srgbClr val="00B050"/>
                </a:solidFill>
              </a:rPr>
              <a:t>gnu</a:t>
            </a:r>
            <a:r>
              <a:rPr lang="zh-CN" altLang="en-US" b="1">
                <a:solidFill>
                  <a:srgbClr val="00B050"/>
                </a:solidFill>
              </a:rPr>
              <a:t>组件源码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鸿蒙：定制使用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内核支持分布式，改动量较大，开源代码很难合并到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主干；中间层同安卓类似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总结：继承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内核生态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驱动层兼容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，尊重标准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接口，大量使用中间层</a:t>
            </a:r>
            <a:r>
              <a:rPr lang="en-US" altLang="zh-CN" b="1">
                <a:solidFill>
                  <a:srgbClr val="00B050"/>
                </a:solidFill>
              </a:rPr>
              <a:t>GNU</a:t>
            </a:r>
            <a:r>
              <a:rPr lang="zh-CN" altLang="en-US" b="1">
                <a:solidFill>
                  <a:srgbClr val="00B050"/>
                </a:solidFill>
              </a:rPr>
              <a:t>组件，避免重复造轮子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细粒度整合：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飞天：高度定制裁剪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内核，中间层同粗粒度整合类似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方式：存储和通讯完全进行替换，从架构上使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内核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标准</a:t>
            </a:r>
            <a:r>
              <a:rPr lang="en-US" altLang="zh-CN" sz="1800" b="1">
                <a:solidFill>
                  <a:srgbClr val="00B050"/>
                </a:solidFill>
              </a:rPr>
              <a:t>C</a:t>
            </a:r>
            <a:r>
              <a:rPr lang="zh-CN" altLang="en-US" sz="1800" b="1">
                <a:solidFill>
                  <a:srgbClr val="00B050"/>
                </a:solidFill>
              </a:rPr>
              <a:t>接口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大量</a:t>
            </a:r>
            <a:r>
              <a:rPr lang="en-US" altLang="zh-CN" sz="1800" b="1">
                <a:solidFill>
                  <a:srgbClr val="00B050"/>
                </a:solidFill>
              </a:rPr>
              <a:t>GNU</a:t>
            </a:r>
            <a:r>
              <a:rPr lang="zh-CN" altLang="en-US" sz="1800" b="1">
                <a:solidFill>
                  <a:srgbClr val="00B050"/>
                </a:solidFill>
              </a:rPr>
              <a:t>组件封装为广义工具链之一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 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总结：主要是避免重复造轮子，也符合阿里充分尊重尽量使用现有生态的发展理念，开发和发展成本也最低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未来方向：</a:t>
            </a:r>
            <a:r>
              <a:rPr lang="zh-CN" altLang="en-US" sz="1800" b="1">
                <a:solidFill>
                  <a:srgbClr val="00B050"/>
                </a:solidFill>
              </a:rPr>
              <a:t>参考飞天的细粒度整合，鸿蒙也会从粗粒度整合向细粒度整合演进，未来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的独立产品将逐步消失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电脑的硬件接口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电脑的软件模型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系统的基础平台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系统的扩展平台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的业务模型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关注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发展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学习架构设计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我的</a:t>
            </a:r>
            <a:r>
              <a:rPr lang="en-US" altLang="zh-CN" sz="1800" b="1">
                <a:solidFill>
                  <a:srgbClr val="00B050"/>
                </a:solidFill>
              </a:rPr>
              <a:t>C</a:t>
            </a:r>
            <a:r>
              <a:rPr lang="zh-CN" altLang="en-US" sz="1800" b="1">
                <a:solidFill>
                  <a:srgbClr val="00B050"/>
                </a:solidFill>
              </a:rPr>
              <a:t>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程序的编译链接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程序的加载运行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程序的环境转换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地图导航</a:t>
            </a:r>
            <a:endParaRPr lang="en-US" altLang="zh-CN" sz="1800" b="1">
              <a:solidFill>
                <a:srgbClr val="00B050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5699760" y="4464685"/>
            <a:ext cx="6294755" cy="3727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内核：线程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进程</a:t>
            </a:r>
            <a:r>
              <a:rPr lang="en-US" altLang="zh-CN" sz="1600" b="1">
                <a:solidFill>
                  <a:schemeClr val="tx1"/>
                </a:solidFill>
              </a:rPr>
              <a:t>/IPC/VFS/FHS/</a:t>
            </a:r>
            <a:r>
              <a:rPr lang="zh-CN" altLang="en-US" sz="1600" b="1">
                <a:solidFill>
                  <a:schemeClr val="tx1"/>
                </a:solidFill>
              </a:rPr>
              <a:t>文件系统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虚拟化与隔离</a:t>
            </a:r>
            <a:r>
              <a:rPr lang="en-US" altLang="zh-CN" sz="16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sym typeface="+mn-ea"/>
              </a:rPr>
              <a:t>系统调用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802640" y="3615690"/>
            <a:ext cx="4185285" cy="497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计算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神龙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802005" y="4132580"/>
            <a:ext cx="2031365" cy="497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存储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盘古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833370" y="4132580"/>
            <a:ext cx="2155190" cy="4978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网络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洛神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03275" y="3098800"/>
            <a:ext cx="4185285" cy="4978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调度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伏羲为主</a:t>
            </a:r>
            <a:r>
              <a:rPr lang="en-US" altLang="zh-CN" b="1">
                <a:solidFill>
                  <a:schemeClr val="tx1"/>
                </a:solidFill>
              </a:rPr>
              <a:t>+</a:t>
            </a:r>
            <a:r>
              <a:rPr lang="zh-CN" altLang="en-US" b="1">
                <a:solidFill>
                  <a:schemeClr val="tx1"/>
                </a:solidFill>
              </a:rPr>
              <a:t>女娲辅助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5699760" y="4111625"/>
            <a:ext cx="6295390" cy="356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标准</a:t>
            </a:r>
            <a:r>
              <a:rPr lang="en-US" altLang="zh-CN" sz="1600" b="1">
                <a:solidFill>
                  <a:schemeClr val="tx1"/>
                </a:solidFill>
              </a:rPr>
              <a:t>C</a:t>
            </a:r>
            <a:r>
              <a:rPr lang="zh-CN" altLang="en-US" sz="1600" b="1">
                <a:solidFill>
                  <a:schemeClr val="tx1"/>
                </a:solidFill>
              </a:rPr>
              <a:t>接口：系统调用封装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加载链接</a:t>
            </a:r>
            <a:r>
              <a:rPr lang="en-US" altLang="zh-CN" sz="1600" b="1">
                <a:solidFill>
                  <a:schemeClr val="tx1"/>
                </a:solidFill>
              </a:rPr>
              <a:t>/jump+</a:t>
            </a:r>
            <a:r>
              <a:rPr lang="zh-CN" altLang="en-US" sz="1600" b="1">
                <a:solidFill>
                  <a:schemeClr val="tx1"/>
                </a:solidFill>
              </a:rPr>
              <a:t>数学库</a:t>
            </a:r>
            <a:r>
              <a:rPr lang="en-US" altLang="zh-CN" sz="1600" b="1">
                <a:solidFill>
                  <a:schemeClr val="tx1"/>
                </a:solidFill>
              </a:rPr>
              <a:t>+C</a:t>
            </a:r>
            <a:r>
              <a:rPr lang="zh-CN" altLang="en-US" sz="1600" b="1">
                <a:solidFill>
                  <a:schemeClr val="tx1"/>
                </a:solidFill>
              </a:rPr>
              <a:t>工具链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700395" y="3728085"/>
            <a:ext cx="6294755" cy="383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中间层</a:t>
            </a:r>
            <a:r>
              <a:rPr lang="en-US" altLang="zh-CN" sz="1600" b="1">
                <a:solidFill>
                  <a:schemeClr val="tx1"/>
                </a:solidFill>
              </a:rPr>
              <a:t>GNU</a:t>
            </a:r>
            <a:r>
              <a:rPr lang="zh-CN" altLang="en-US" sz="1600" b="1">
                <a:solidFill>
                  <a:schemeClr val="tx1"/>
                </a:solidFill>
              </a:rPr>
              <a:t>组件</a:t>
            </a:r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含</a:t>
            </a:r>
            <a:r>
              <a:rPr lang="en-US" altLang="zh-CN" sz="1600" b="1">
                <a:solidFill>
                  <a:schemeClr val="tx1"/>
                </a:solidFill>
              </a:rPr>
              <a:t>Shell)</a:t>
            </a:r>
            <a:r>
              <a:rPr lang="zh-CN" altLang="en-US" sz="1600" b="1">
                <a:solidFill>
                  <a:schemeClr val="tx1"/>
                </a:solidFill>
              </a:rPr>
              <a:t>：</a:t>
            </a:r>
            <a:r>
              <a:rPr lang="zh-CN" sz="1600" b="1">
                <a:solidFill>
                  <a:schemeClr val="tx1"/>
                </a:solidFill>
              </a:rPr>
              <a:t>直接使用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轻量化定制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深度定制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698490" y="2846705"/>
            <a:ext cx="6297295" cy="3829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广义容器化处理：</a:t>
            </a:r>
            <a:r>
              <a:rPr lang="en-US" altLang="zh-CN" sz="1600" b="1">
                <a:solidFill>
                  <a:schemeClr val="tx1"/>
                </a:solidFill>
              </a:rPr>
              <a:t>docker/chroot/appimage/X11/vnc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5698490" y="3274060"/>
            <a:ext cx="6296660" cy="3740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tx1"/>
                </a:solidFill>
              </a:rPr>
              <a:t>广义虚拟机处理：</a:t>
            </a:r>
            <a:r>
              <a:rPr lang="en-US" altLang="zh-CN" sz="1600" b="1">
                <a:solidFill>
                  <a:schemeClr val="tx1"/>
                </a:solidFill>
              </a:rPr>
              <a:t>qemu/</a:t>
            </a:r>
            <a:r>
              <a:rPr lang="zh-CN" altLang="en-US" sz="1600" b="1">
                <a:solidFill>
                  <a:schemeClr val="tx1"/>
                </a:solidFill>
              </a:rPr>
              <a:t>各类高级语言工具链</a:t>
            </a:r>
            <a:r>
              <a:rPr lang="en-US" altLang="zh-CN" sz="1600" b="1">
                <a:solidFill>
                  <a:schemeClr val="tx1"/>
                </a:solidFill>
              </a:rPr>
              <a:t>/</a:t>
            </a:r>
            <a:r>
              <a:rPr lang="zh-CN" altLang="en-US" sz="1600" b="1">
                <a:solidFill>
                  <a:schemeClr val="tx1"/>
                </a:solidFill>
              </a:rPr>
              <a:t>各类</a:t>
            </a:r>
            <a:r>
              <a:rPr lang="en-US" altLang="zh-CN" sz="1600" b="1">
                <a:solidFill>
                  <a:schemeClr val="tx1"/>
                </a:solidFill>
              </a:rPr>
              <a:t>AI</a:t>
            </a:r>
            <a:r>
              <a:rPr lang="zh-CN" altLang="en-US" sz="1600" b="1">
                <a:solidFill>
                  <a:schemeClr val="tx1"/>
                </a:solidFill>
              </a:rPr>
              <a:t>工具链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11" idx="1"/>
            <a:endCxn id="30" idx="3"/>
          </p:cNvCxnSpPr>
          <p:nvPr/>
        </p:nvCxnSpPr>
        <p:spPr>
          <a:xfrm flipH="1">
            <a:off x="4987925" y="3038475"/>
            <a:ext cx="710565" cy="82613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2" idx="1"/>
            <a:endCxn id="30" idx="3"/>
          </p:cNvCxnSpPr>
          <p:nvPr/>
        </p:nvCxnSpPr>
        <p:spPr>
          <a:xfrm flipH="1">
            <a:off x="4987925" y="3461385"/>
            <a:ext cx="710565" cy="403225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1"/>
            <a:endCxn id="30" idx="3"/>
          </p:cNvCxnSpPr>
          <p:nvPr/>
        </p:nvCxnSpPr>
        <p:spPr>
          <a:xfrm flipH="1" flipV="1">
            <a:off x="4987925" y="3864610"/>
            <a:ext cx="712470" cy="55245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1"/>
            <a:endCxn id="30" idx="3"/>
          </p:cNvCxnSpPr>
          <p:nvPr/>
        </p:nvCxnSpPr>
        <p:spPr>
          <a:xfrm flipH="1" flipV="1">
            <a:off x="4987925" y="3864610"/>
            <a:ext cx="711835" cy="42545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1"/>
            <a:endCxn id="30" idx="3"/>
          </p:cNvCxnSpPr>
          <p:nvPr/>
        </p:nvCxnSpPr>
        <p:spPr>
          <a:xfrm flipH="1" flipV="1">
            <a:off x="4987925" y="3864610"/>
            <a:ext cx="711835" cy="786765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6167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1320"/>
            <a:ext cx="12081510" cy="52882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通用基础：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专项内容：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6167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1320"/>
            <a:ext cx="12081510" cy="52882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通用基础：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内容：了解编程语言和系统体系结构，有一定的编程基础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能调试普通程序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，并熟练使用某一款操作系统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方法：参考科普内容，三个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同时做辅助（豆包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千问</a:t>
            </a:r>
            <a:r>
              <a:rPr lang="en-US" altLang="zh-CN" sz="1800" b="1">
                <a:solidFill>
                  <a:srgbClr val="00B050"/>
                </a:solidFill>
              </a:rPr>
              <a:t>+deepseek</a:t>
            </a:r>
            <a:r>
              <a:rPr lang="zh-CN" altLang="en-US" sz="1800" b="1">
                <a:solidFill>
                  <a:srgbClr val="00B050"/>
                </a:solidFill>
              </a:rPr>
              <a:t>）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关键：有相关的兴趣爱好，并能持续关注此方面的内容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专项内容：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6167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1320"/>
            <a:ext cx="12081510" cy="52882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通用基础：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内容：了解编程语言和系统体系结构，有一定的编程基础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能调试普通程序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，并熟练使用某一款操作系统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方法：参考科普内容，三个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同时做辅助（豆包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千问</a:t>
            </a:r>
            <a:r>
              <a:rPr lang="en-US" altLang="zh-CN" sz="1800" b="1">
                <a:solidFill>
                  <a:srgbClr val="00B050"/>
                </a:solidFill>
              </a:rPr>
              <a:t>+deepseek</a:t>
            </a:r>
            <a:r>
              <a:rPr lang="zh-CN" altLang="en-US" sz="1800" b="1">
                <a:solidFill>
                  <a:srgbClr val="00B050"/>
                </a:solidFill>
              </a:rPr>
              <a:t>）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关键：有相关的兴趣爱好，并能持续关注此方面的内容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专项内容：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源码参考：安卓</a:t>
            </a:r>
            <a:r>
              <a:rPr lang="en-US" altLang="zh-CN" sz="1800" b="1">
                <a:solidFill>
                  <a:srgbClr val="00B050"/>
                </a:solidFill>
              </a:rPr>
              <a:t>aosp</a:t>
            </a:r>
            <a:r>
              <a:rPr lang="zh-CN" altLang="en-US" sz="1800" b="1">
                <a:solidFill>
                  <a:srgbClr val="00B050"/>
                </a:solidFill>
              </a:rPr>
              <a:t>，鸿蒙</a:t>
            </a:r>
            <a:r>
              <a:rPr lang="en-US" altLang="zh-CN" sz="1800" b="1">
                <a:solidFill>
                  <a:srgbClr val="00B050"/>
                </a:solidFill>
              </a:rPr>
              <a:t>OpenHarmoney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内核，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发行版</a:t>
            </a:r>
            <a:r>
              <a:rPr lang="en-US" altLang="zh-CN" sz="1800" b="1">
                <a:solidFill>
                  <a:srgbClr val="00B050"/>
                </a:solidFill>
              </a:rPr>
              <a:t>gnu</a:t>
            </a:r>
            <a:r>
              <a:rPr lang="zh-CN" altLang="en-US" sz="1800" b="1">
                <a:solidFill>
                  <a:srgbClr val="00B050"/>
                </a:solidFill>
              </a:rPr>
              <a:t>组件</a:t>
            </a:r>
            <a:r>
              <a:rPr lang="en-US" altLang="zh-CN" sz="1800" b="1">
                <a:solidFill>
                  <a:srgbClr val="00B050"/>
                </a:solidFill>
              </a:rPr>
              <a:t>(apt</a:t>
            </a:r>
            <a:r>
              <a:rPr lang="zh-CN" altLang="en-US" sz="1800" b="1">
                <a:solidFill>
                  <a:srgbClr val="00B050"/>
                </a:solidFill>
              </a:rPr>
              <a:t>等可直接载源码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熟悉使用：熟练使用某个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发行版，桌面和服务器都使用过会更好，最好能日常独立使用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开发定制：能够调试解决操作系统各方面的问题，参考源码定制操作系统，解决实际问题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661670"/>
            <a:ext cx="10613390" cy="56197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理解操作系统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1320"/>
            <a:ext cx="12081510" cy="52882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通用基础：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内容：了解编程语言和系统体系结构，有一定的编程基础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能调试普通程序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，并熟练使用某一款操作系统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方法：参考科普内容，三个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同时做辅助（豆包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千问</a:t>
            </a:r>
            <a:r>
              <a:rPr lang="en-US" altLang="zh-CN" sz="1800" b="1">
                <a:solidFill>
                  <a:srgbClr val="00B050"/>
                </a:solidFill>
              </a:rPr>
              <a:t>+deepseek</a:t>
            </a:r>
            <a:r>
              <a:rPr lang="zh-CN" altLang="en-US" sz="1800" b="1">
                <a:solidFill>
                  <a:srgbClr val="00B050"/>
                </a:solidFill>
              </a:rPr>
              <a:t>）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关键：有相关的兴趣爱好，并能持续关注此方面的内容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专项内容：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源码参考：安卓</a:t>
            </a:r>
            <a:r>
              <a:rPr lang="en-US" altLang="zh-CN" sz="1800" b="1">
                <a:solidFill>
                  <a:srgbClr val="00B050"/>
                </a:solidFill>
              </a:rPr>
              <a:t>aosp</a:t>
            </a:r>
            <a:r>
              <a:rPr lang="zh-CN" altLang="en-US" sz="1800" b="1">
                <a:solidFill>
                  <a:srgbClr val="00B050"/>
                </a:solidFill>
              </a:rPr>
              <a:t>，鸿蒙</a:t>
            </a:r>
            <a:r>
              <a:rPr lang="en-US" altLang="zh-CN" sz="1800" b="1">
                <a:solidFill>
                  <a:srgbClr val="00B050"/>
                </a:solidFill>
              </a:rPr>
              <a:t>OpenHarmoney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内核，</a:t>
            </a:r>
            <a:r>
              <a:rPr lang="en-US" altLang="zh-CN" sz="1800" b="1">
                <a:solidFill>
                  <a:srgbClr val="00B050"/>
                </a:solidFill>
              </a:rPr>
              <a:t>Linux</a:t>
            </a:r>
            <a:r>
              <a:rPr lang="zh-CN" altLang="en-US" sz="1800" b="1">
                <a:solidFill>
                  <a:srgbClr val="00B050"/>
                </a:solidFill>
              </a:rPr>
              <a:t>发行版</a:t>
            </a:r>
            <a:r>
              <a:rPr lang="en-US" altLang="zh-CN" sz="1800" b="1">
                <a:solidFill>
                  <a:srgbClr val="00B050"/>
                </a:solidFill>
              </a:rPr>
              <a:t>gnu</a:t>
            </a:r>
            <a:r>
              <a:rPr lang="zh-CN" altLang="en-US" sz="1800" b="1">
                <a:solidFill>
                  <a:srgbClr val="00B050"/>
                </a:solidFill>
              </a:rPr>
              <a:t>组件</a:t>
            </a:r>
            <a:r>
              <a:rPr lang="en-US" altLang="zh-CN" sz="1800" b="1">
                <a:solidFill>
                  <a:srgbClr val="00B050"/>
                </a:solidFill>
              </a:rPr>
              <a:t>(apt</a:t>
            </a:r>
            <a:r>
              <a:rPr lang="zh-CN" altLang="en-US" sz="1800" b="1">
                <a:solidFill>
                  <a:srgbClr val="00B050"/>
                </a:solidFill>
              </a:rPr>
              <a:t>等可直接载源码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熟悉使用：熟练使用某个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发行版，桌面和服务器都使用过会更好，最好能日常独立使用</a:t>
            </a:r>
            <a:r>
              <a:rPr lang="en-US" altLang="zh-CN" b="1">
                <a:solidFill>
                  <a:srgbClr val="00B050"/>
                </a:solidFill>
              </a:rPr>
              <a:t>Linux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开发定制：能够调试解决操作系统各方面的问题，参考源码定制操作系统，解决实际问题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参考内容：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电脑的硬件接口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电脑的软件模型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系统的基础平台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系统的扩展平台</a:t>
            </a:r>
            <a:r>
              <a:rPr lang="en-US" altLang="zh-CN" sz="1800" b="1">
                <a:solidFill>
                  <a:srgbClr val="00B050"/>
                </a:solidFill>
              </a:rPr>
              <a:t>/IT</a:t>
            </a:r>
            <a:r>
              <a:rPr lang="zh-CN" altLang="en-US" sz="1800" b="1">
                <a:solidFill>
                  <a:srgbClr val="00B050"/>
                </a:solidFill>
              </a:rPr>
              <a:t>的业务模型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关注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发展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学习架构设计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我的编程语言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我的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C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我的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Shell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我的高级语言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我的汇编语言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我的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语言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程序的编译链接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程序的加载运行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程序的环境转换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endParaRPr lang="zh-CN" altLang="en-US" sz="162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11008</Words>
  <Application>WPS Presentation</Application>
  <PresentationFormat>宽屏</PresentationFormat>
  <Paragraphs>815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理解操作系统</vt:lpstr>
      <vt:lpstr>理解操作系统-主体理论-定位定义</vt:lpstr>
      <vt:lpstr>理解操作系统-主体理论-定位定义</vt:lpstr>
      <vt:lpstr>理解操作系统-主体理论-定位定义</vt:lpstr>
      <vt:lpstr>理解操作系统-主体理论-定位定义</vt:lpstr>
      <vt:lpstr>理解操作系统-主体理论-架构体系</vt:lpstr>
      <vt:lpstr>理解操作系统-主体理论-架构体系</vt:lpstr>
      <vt:lpstr>理解操作系统-主体理论-架构体系</vt:lpstr>
      <vt:lpstr>理解操作系统-主体理论-架构体系</vt:lpstr>
      <vt:lpstr>理解操作系统-主体理论-演化演进</vt:lpstr>
      <vt:lpstr>理解操作系统-主体理论-演化演进</vt:lpstr>
      <vt:lpstr>理解操作系统-主体理论-演化演进</vt:lpstr>
      <vt:lpstr>理解操作系统-主体理论-演化演进</vt:lpstr>
      <vt:lpstr>理解操作系统-主体理论-演化演进</vt:lpstr>
      <vt:lpstr>理解操作系统-产品实例-纯单机系统</vt:lpstr>
      <vt:lpstr>理解操作系统-产品实例-纯单机系统</vt:lpstr>
      <vt:lpstr>理解操作系统-产品实例-纯单机系统</vt:lpstr>
      <vt:lpstr>理解操作系统-产品实例-纯单机系统</vt:lpstr>
      <vt:lpstr>理解操作系统-产品实例-纯单机系统</vt:lpstr>
      <vt:lpstr>理解操作系统-产品实例-纯单机产品</vt:lpstr>
      <vt:lpstr>理解操作系统-产品实例-分布式系统</vt:lpstr>
      <vt:lpstr>理解操作系统-产品实例-分布式系统</vt:lpstr>
      <vt:lpstr>理解操作系统-产品实例-分布式系统</vt:lpstr>
      <vt:lpstr>理解操作系统-产品实例-分布式系统</vt:lpstr>
      <vt:lpstr>理解操作系统-产品实例-分布式系统</vt:lpstr>
      <vt:lpstr>理解操作系统-产品实例-分布式系统</vt:lpstr>
      <vt:lpstr>理解操作系统-产品实例-整合Linux</vt:lpstr>
      <vt:lpstr>理解操作系统-产品实例-整合Linux</vt:lpstr>
      <vt:lpstr>理解操作系统-产品实例-整合Linux</vt:lpstr>
      <vt:lpstr>理解操作系统-产品实例-整合Linux</vt:lpstr>
      <vt:lpstr>理解操作系统-产品实例-整合Linux</vt:lpstr>
      <vt:lpstr>理解操作系统-学习培养</vt:lpstr>
      <vt:lpstr>理解操作系统-学习培养</vt:lpstr>
      <vt:lpstr>理解操作系统-学习培养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926</cp:revision>
  <dcterms:created xsi:type="dcterms:W3CDTF">2026-01-28T04:39:45Z</dcterms:created>
  <dcterms:modified xsi:type="dcterms:W3CDTF">2026-01-28T04:39:45Z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