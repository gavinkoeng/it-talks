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7" r:id="rId3"/>
    <p:sldId id="359" r:id="rId4"/>
    <p:sldId id="423" r:id="rId5"/>
    <p:sldId id="422" r:id="rId6"/>
    <p:sldId id="420" r:id="rId7"/>
    <p:sldId id="424" r:id="rId8"/>
    <p:sldId id="426" r:id="rId9"/>
    <p:sldId id="425" r:id="rId10"/>
    <p:sldId id="416" r:id="rId11"/>
    <p:sldId id="418" r:id="rId12"/>
    <p:sldId id="429" r:id="rId13"/>
    <p:sldId id="428" r:id="rId14"/>
    <p:sldId id="427" r:id="rId15"/>
    <p:sldId id="419" r:id="rId16"/>
    <p:sldId id="433" r:id="rId17"/>
    <p:sldId id="432" r:id="rId18"/>
    <p:sldId id="431" r:id="rId19"/>
    <p:sldId id="430" r:id="rId20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92"/>
        <p:guide pos="391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895350"/>
            <a:ext cx="10515600" cy="1282065"/>
          </a:xfrm>
        </p:spPr>
        <p:txBody>
          <a:bodyPr/>
          <a:p>
            <a:pPr algn="ctr"/>
            <a:r>
              <a:rPr lang="zh-CN" altLang="en-US" sz="4400">
                <a:solidFill>
                  <a:srgbClr val="00B050"/>
                </a:solidFill>
              </a:rPr>
              <a:t>学习黑客技能</a:t>
            </a:r>
            <a:endParaRPr lang="en-US" altLang="zh-CN" sz="440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" y="2620645"/>
            <a:ext cx="10515600" cy="3848100"/>
          </a:xfrm>
        </p:spPr>
        <p:txBody>
          <a:bodyPr/>
          <a:p>
            <a:pPr algn="ctr"/>
            <a:r>
              <a:rPr lang="zh-CN" altLang="en-US" sz="3600" b="1">
                <a:solidFill>
                  <a:srgbClr val="00B050"/>
                </a:solidFill>
              </a:rPr>
              <a:t>定位定义</a:t>
            </a:r>
            <a:endParaRPr lang="zh-CN" altLang="en-US" sz="3600" b="1">
              <a:solidFill>
                <a:srgbClr val="00B050"/>
              </a:solidFill>
            </a:endParaRPr>
          </a:p>
          <a:p>
            <a:pPr algn="ctr"/>
            <a:r>
              <a:rPr lang="zh-CN" altLang="en-US" sz="3600" b="1">
                <a:solidFill>
                  <a:srgbClr val="00B050"/>
                </a:solidFill>
              </a:rPr>
              <a:t>核心素养</a:t>
            </a:r>
            <a:endParaRPr lang="zh-CN" altLang="en-US" sz="3600" b="1">
              <a:solidFill>
                <a:srgbClr val="00B050"/>
              </a:solidFill>
            </a:endParaRPr>
          </a:p>
          <a:p>
            <a:pPr algn="ctr"/>
            <a:r>
              <a:rPr lang="zh-CN" altLang="en-US" sz="3600" b="1">
                <a:solidFill>
                  <a:srgbClr val="00B050"/>
                </a:solidFill>
              </a:rPr>
              <a:t>环境交互</a:t>
            </a:r>
            <a:endParaRPr lang="zh-CN" altLang="en-US" sz="3600" b="1">
              <a:solidFill>
                <a:srgbClr val="00B050"/>
              </a:solidFill>
            </a:endParaRPr>
          </a:p>
          <a:p>
            <a:pPr algn="ctr"/>
            <a:r>
              <a:rPr lang="zh-CN" altLang="en-US" sz="3600" b="1">
                <a:solidFill>
                  <a:srgbClr val="00B050"/>
                </a:solidFill>
              </a:rPr>
              <a:t>社会培育</a:t>
            </a:r>
            <a:endParaRPr lang="zh-CN" altLang="en-US" sz="360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236220"/>
            <a:ext cx="10613390" cy="701040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学习黑客技能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定位定义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235" y="1082040"/>
            <a:ext cx="11530965" cy="5656580"/>
          </a:xfrm>
        </p:spPr>
        <p:txBody>
          <a:bodyPr>
            <a:normAutofit lnSpcReduction="10000"/>
          </a:bodyPr>
          <a:p>
            <a:r>
              <a:rPr lang="zh-CN" altLang="en-US" b="1">
                <a:solidFill>
                  <a:srgbClr val="00B050"/>
                </a:solidFill>
              </a:rPr>
              <a:t>定位：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2"/>
            <a:endParaRPr lang="zh-CN" altLang="en-US" sz="1600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en-US" altLang="zh-CN" b="1">
              <a:solidFill>
                <a:srgbClr val="00B050"/>
              </a:solidFill>
              <a:sym typeface="+mn-ea"/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2"/>
            <a:endParaRPr lang="en-US" altLang="zh-CN" b="1">
              <a:solidFill>
                <a:srgbClr val="00B050"/>
              </a:solidFill>
            </a:endParaRPr>
          </a:p>
          <a:p>
            <a:pPr lvl="2"/>
            <a:endParaRPr lang="en-US" altLang="zh-CN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定义：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目的：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236220"/>
            <a:ext cx="10613390" cy="701040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学习黑客技能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定位定义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235" y="1082040"/>
            <a:ext cx="11530965" cy="5656580"/>
          </a:xfrm>
        </p:spPr>
        <p:txBody>
          <a:bodyPr>
            <a:normAutofit lnSpcReduction="10000"/>
          </a:bodyPr>
          <a:p>
            <a:r>
              <a:rPr lang="zh-CN" altLang="en-US" b="1">
                <a:solidFill>
                  <a:srgbClr val="00B050"/>
                </a:solidFill>
              </a:rPr>
              <a:t>定位：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创新：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守正：守住人的本质和价值取向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善恶判断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选择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负责</a:t>
            </a:r>
            <a:r>
              <a:rPr lang="en-US" altLang="zh-CN" sz="1600" b="1">
                <a:solidFill>
                  <a:srgbClr val="00B050"/>
                </a:solidFill>
              </a:rPr>
              <a:t>)</a:t>
            </a:r>
            <a:r>
              <a:rPr lang="zh-CN" altLang="en-US" sz="1600" b="1">
                <a:solidFill>
                  <a:srgbClr val="00B050"/>
                </a:solidFill>
              </a:rPr>
              <a:t>；同时尊重客观规律，理解成见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流程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习惯，积极开放沟通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出新：能够通过突破自我，来完成对成见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流程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习惯等限制的突破，由此有效地守住人的本质和价值取向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守正出新是创新的核心，科技创新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制度创新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教育创新，</a:t>
            </a:r>
            <a:r>
              <a:rPr lang="en-US" altLang="zh-CN" b="1">
                <a:solidFill>
                  <a:srgbClr val="00B050"/>
                </a:solidFill>
              </a:rPr>
              <a:t>‘</a:t>
            </a:r>
            <a:r>
              <a:rPr lang="zh-CN" altLang="en-US" b="1">
                <a:solidFill>
                  <a:srgbClr val="00B050"/>
                </a:solidFill>
              </a:rPr>
              <a:t>家</a:t>
            </a:r>
            <a:r>
              <a:rPr lang="en-US" altLang="zh-CN" b="1">
                <a:solidFill>
                  <a:srgbClr val="00B050"/>
                </a:solidFill>
              </a:rPr>
              <a:t>’</a:t>
            </a:r>
            <a:r>
              <a:rPr lang="zh-CN" altLang="en-US" b="1">
                <a:solidFill>
                  <a:srgbClr val="00B050"/>
                </a:solidFill>
              </a:rPr>
              <a:t>的核心门槛就是创新，但创新不一定成</a:t>
            </a:r>
            <a:r>
              <a:rPr lang="en-US" altLang="zh-CN" b="1">
                <a:solidFill>
                  <a:srgbClr val="00B050"/>
                </a:solidFill>
              </a:rPr>
              <a:t>’</a:t>
            </a:r>
            <a:r>
              <a:rPr lang="zh-CN" altLang="en-US" b="1">
                <a:solidFill>
                  <a:srgbClr val="00B050"/>
                </a:solidFill>
              </a:rPr>
              <a:t>家</a:t>
            </a:r>
            <a:r>
              <a:rPr lang="en-US" altLang="zh-CN" b="1">
                <a:solidFill>
                  <a:srgbClr val="00B050"/>
                </a:solidFill>
              </a:rPr>
              <a:t>’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战略战术：战略进攻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防御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与外部的关系是作战模型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协作模型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，战术进攻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防御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出新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守正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endParaRPr lang="en-US" altLang="zh-CN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创新型人才：各类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‘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家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’+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基础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‘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家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’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中的内部细分展开，核心是都具备出色的战术能力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进攻出新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防御守正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基础</a:t>
            </a:r>
            <a:r>
              <a:rPr lang="en-US" altLang="zh-CN" b="1">
                <a:solidFill>
                  <a:srgbClr val="00B050"/>
                </a:solidFill>
              </a:rPr>
              <a:t>‘</a:t>
            </a:r>
            <a:r>
              <a:rPr lang="zh-CN" altLang="en-US" b="1">
                <a:solidFill>
                  <a:srgbClr val="00B050"/>
                </a:solidFill>
              </a:rPr>
              <a:t>家</a:t>
            </a:r>
            <a:r>
              <a:rPr lang="en-US" altLang="zh-CN" b="1">
                <a:solidFill>
                  <a:srgbClr val="00B050"/>
                </a:solidFill>
              </a:rPr>
              <a:t>’</a:t>
            </a:r>
            <a:r>
              <a:rPr lang="zh-CN" altLang="en-US" b="1">
                <a:solidFill>
                  <a:srgbClr val="00B050"/>
                </a:solidFill>
              </a:rPr>
              <a:t>：对人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政治家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真正的教育工作者</a:t>
            </a:r>
            <a:r>
              <a:rPr lang="en-US" altLang="zh-CN" b="1">
                <a:solidFill>
                  <a:srgbClr val="00B050"/>
                </a:solidFill>
              </a:rPr>
              <a:t>)/</a:t>
            </a:r>
            <a:r>
              <a:rPr lang="zh-CN" altLang="en-US" b="1">
                <a:solidFill>
                  <a:srgbClr val="00B050"/>
                </a:solidFill>
              </a:rPr>
              <a:t>对组织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管理学家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组织效能提升者</a:t>
            </a:r>
            <a:r>
              <a:rPr lang="en-US" altLang="zh-CN" b="1">
                <a:solidFill>
                  <a:srgbClr val="00B050"/>
                </a:solidFill>
              </a:rPr>
              <a:t>)/</a:t>
            </a:r>
            <a:r>
              <a:rPr lang="zh-CN" altLang="en-US" b="1">
                <a:solidFill>
                  <a:srgbClr val="00B050"/>
                </a:solidFill>
              </a:rPr>
              <a:t>对事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科学家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黑客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en-US" altLang="zh-CN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衍生</a:t>
            </a:r>
            <a:r>
              <a:rPr lang="en-US" altLang="zh-CN" b="1">
                <a:solidFill>
                  <a:srgbClr val="00B050"/>
                </a:solidFill>
              </a:rPr>
              <a:t>‘</a:t>
            </a:r>
            <a:r>
              <a:rPr lang="zh-CN" altLang="en-US" b="1">
                <a:solidFill>
                  <a:srgbClr val="00B050"/>
                </a:solidFill>
              </a:rPr>
              <a:t>家</a:t>
            </a:r>
            <a:r>
              <a:rPr lang="en-US" altLang="zh-CN" b="1">
                <a:solidFill>
                  <a:srgbClr val="00B050"/>
                </a:solidFill>
              </a:rPr>
              <a:t>’</a:t>
            </a:r>
            <a:r>
              <a:rPr lang="zh-CN" altLang="en-US" b="1">
                <a:solidFill>
                  <a:srgbClr val="00B050"/>
                </a:solidFill>
              </a:rPr>
              <a:t>：经济学家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对人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对组织</a:t>
            </a:r>
            <a:r>
              <a:rPr lang="en-US" altLang="zh-CN" b="1">
                <a:solidFill>
                  <a:srgbClr val="00B050"/>
                </a:solidFill>
              </a:rPr>
              <a:t>)/</a:t>
            </a:r>
            <a:r>
              <a:rPr lang="zh-CN" altLang="en-US" b="1">
                <a:solidFill>
                  <a:srgbClr val="00B050"/>
                </a:solidFill>
              </a:rPr>
              <a:t>企业家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对组织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对事</a:t>
            </a:r>
            <a:r>
              <a:rPr lang="en-US" altLang="zh-CN" b="1">
                <a:solidFill>
                  <a:srgbClr val="00B050"/>
                </a:solidFill>
              </a:rPr>
              <a:t>)/</a:t>
            </a:r>
            <a:r>
              <a:rPr lang="zh-CN" altLang="en-US" b="1">
                <a:solidFill>
                  <a:srgbClr val="00B050"/>
                </a:solidFill>
              </a:rPr>
              <a:t>教育家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对人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对事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en-US" altLang="zh-CN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超越</a:t>
            </a:r>
            <a:r>
              <a:rPr lang="en-US" altLang="zh-CN" b="1">
                <a:solidFill>
                  <a:srgbClr val="00B050"/>
                </a:solidFill>
              </a:rPr>
              <a:t>‘</a:t>
            </a:r>
            <a:r>
              <a:rPr lang="zh-CN" altLang="en-US" b="1">
                <a:solidFill>
                  <a:srgbClr val="00B050"/>
                </a:solidFill>
              </a:rPr>
              <a:t>家</a:t>
            </a:r>
            <a:r>
              <a:rPr lang="en-US" altLang="zh-CN" b="1">
                <a:solidFill>
                  <a:srgbClr val="00B050"/>
                </a:solidFill>
              </a:rPr>
              <a:t>’</a:t>
            </a:r>
            <a:r>
              <a:rPr lang="zh-CN" altLang="en-US" b="1">
                <a:solidFill>
                  <a:srgbClr val="00B050"/>
                </a:solidFill>
              </a:rPr>
              <a:t>：文明奠基者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对人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对组织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对事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定义：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目的：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236220"/>
            <a:ext cx="10613390" cy="701040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学习黑客技能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定位定义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235" y="1082040"/>
            <a:ext cx="11530965" cy="5656580"/>
          </a:xfrm>
        </p:spPr>
        <p:txBody>
          <a:bodyPr>
            <a:normAutofit lnSpcReduction="10000"/>
          </a:bodyPr>
          <a:p>
            <a:r>
              <a:rPr lang="zh-CN" altLang="en-US" b="1">
                <a:solidFill>
                  <a:srgbClr val="00B050"/>
                </a:solidFill>
              </a:rPr>
              <a:t>定位：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创新：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守正：守住人的本质和价值取向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善恶判断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选择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负责</a:t>
            </a:r>
            <a:r>
              <a:rPr lang="en-US" altLang="zh-CN" sz="1600" b="1">
                <a:solidFill>
                  <a:srgbClr val="00B050"/>
                </a:solidFill>
              </a:rPr>
              <a:t>)</a:t>
            </a:r>
            <a:r>
              <a:rPr lang="zh-CN" altLang="en-US" sz="1600" b="1">
                <a:solidFill>
                  <a:srgbClr val="00B050"/>
                </a:solidFill>
              </a:rPr>
              <a:t>；同时尊重客观规律，理解成见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流程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习惯，积极开放沟通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出新：能够通过突破自我，来完成对成见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流程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习惯等限制的突破，由此有效地守住人的本质和价值取向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守正出新是创新的核心，科技创新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制度创新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教育创新，</a:t>
            </a:r>
            <a:r>
              <a:rPr lang="en-US" altLang="zh-CN" b="1">
                <a:solidFill>
                  <a:srgbClr val="00B050"/>
                </a:solidFill>
              </a:rPr>
              <a:t>‘</a:t>
            </a:r>
            <a:r>
              <a:rPr lang="zh-CN" altLang="en-US" b="1">
                <a:solidFill>
                  <a:srgbClr val="00B050"/>
                </a:solidFill>
              </a:rPr>
              <a:t>家</a:t>
            </a:r>
            <a:r>
              <a:rPr lang="en-US" altLang="zh-CN" b="1">
                <a:solidFill>
                  <a:srgbClr val="00B050"/>
                </a:solidFill>
              </a:rPr>
              <a:t>’</a:t>
            </a:r>
            <a:r>
              <a:rPr lang="zh-CN" altLang="en-US" b="1">
                <a:solidFill>
                  <a:srgbClr val="00B050"/>
                </a:solidFill>
              </a:rPr>
              <a:t>的核心门槛就是创新，但创新不一定成</a:t>
            </a:r>
            <a:r>
              <a:rPr lang="en-US" altLang="zh-CN" b="1">
                <a:solidFill>
                  <a:srgbClr val="00B050"/>
                </a:solidFill>
              </a:rPr>
              <a:t>’</a:t>
            </a:r>
            <a:r>
              <a:rPr lang="zh-CN" altLang="en-US" b="1">
                <a:solidFill>
                  <a:srgbClr val="00B050"/>
                </a:solidFill>
              </a:rPr>
              <a:t>家</a:t>
            </a:r>
            <a:r>
              <a:rPr lang="en-US" altLang="zh-CN" b="1">
                <a:solidFill>
                  <a:srgbClr val="00B050"/>
                </a:solidFill>
              </a:rPr>
              <a:t>’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战略战术：战略进攻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防御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与外部的关系是作战模型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协作模型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，战术进攻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防御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出新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守正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endParaRPr lang="en-US" altLang="zh-CN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创新型人才：各类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‘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家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’+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基础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‘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家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’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中的内部细分展开，核心是都具备出色的战术能力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进攻出新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防御守正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基础</a:t>
            </a:r>
            <a:r>
              <a:rPr lang="en-US" altLang="zh-CN" b="1">
                <a:solidFill>
                  <a:srgbClr val="00B050"/>
                </a:solidFill>
              </a:rPr>
              <a:t>‘</a:t>
            </a:r>
            <a:r>
              <a:rPr lang="zh-CN" altLang="en-US" b="1">
                <a:solidFill>
                  <a:srgbClr val="00B050"/>
                </a:solidFill>
              </a:rPr>
              <a:t>家</a:t>
            </a:r>
            <a:r>
              <a:rPr lang="en-US" altLang="zh-CN" b="1">
                <a:solidFill>
                  <a:srgbClr val="00B050"/>
                </a:solidFill>
              </a:rPr>
              <a:t>’</a:t>
            </a:r>
            <a:r>
              <a:rPr lang="zh-CN" altLang="en-US" b="1">
                <a:solidFill>
                  <a:srgbClr val="00B050"/>
                </a:solidFill>
              </a:rPr>
              <a:t>：对人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政治家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真正的教育工作者</a:t>
            </a:r>
            <a:r>
              <a:rPr lang="en-US" altLang="zh-CN" b="1">
                <a:solidFill>
                  <a:srgbClr val="00B050"/>
                </a:solidFill>
              </a:rPr>
              <a:t>)/</a:t>
            </a:r>
            <a:r>
              <a:rPr lang="zh-CN" altLang="en-US" b="1">
                <a:solidFill>
                  <a:srgbClr val="00B050"/>
                </a:solidFill>
              </a:rPr>
              <a:t>对组织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管理学家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组织效能提升者</a:t>
            </a:r>
            <a:r>
              <a:rPr lang="en-US" altLang="zh-CN" b="1">
                <a:solidFill>
                  <a:srgbClr val="00B050"/>
                </a:solidFill>
              </a:rPr>
              <a:t>)/</a:t>
            </a:r>
            <a:r>
              <a:rPr lang="zh-CN" altLang="en-US" b="1">
                <a:solidFill>
                  <a:srgbClr val="00B050"/>
                </a:solidFill>
              </a:rPr>
              <a:t>对事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科学家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黑客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en-US" altLang="zh-CN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衍生</a:t>
            </a:r>
            <a:r>
              <a:rPr lang="en-US" altLang="zh-CN" b="1">
                <a:solidFill>
                  <a:srgbClr val="00B050"/>
                </a:solidFill>
              </a:rPr>
              <a:t>‘</a:t>
            </a:r>
            <a:r>
              <a:rPr lang="zh-CN" altLang="en-US" b="1">
                <a:solidFill>
                  <a:srgbClr val="00B050"/>
                </a:solidFill>
              </a:rPr>
              <a:t>家</a:t>
            </a:r>
            <a:r>
              <a:rPr lang="en-US" altLang="zh-CN" b="1">
                <a:solidFill>
                  <a:srgbClr val="00B050"/>
                </a:solidFill>
              </a:rPr>
              <a:t>’</a:t>
            </a:r>
            <a:r>
              <a:rPr lang="zh-CN" altLang="en-US" b="1">
                <a:solidFill>
                  <a:srgbClr val="00B050"/>
                </a:solidFill>
              </a:rPr>
              <a:t>：经济学家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对人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对组织</a:t>
            </a:r>
            <a:r>
              <a:rPr lang="en-US" altLang="zh-CN" b="1">
                <a:solidFill>
                  <a:srgbClr val="00B050"/>
                </a:solidFill>
              </a:rPr>
              <a:t>)/</a:t>
            </a:r>
            <a:r>
              <a:rPr lang="zh-CN" altLang="en-US" b="1">
                <a:solidFill>
                  <a:srgbClr val="00B050"/>
                </a:solidFill>
              </a:rPr>
              <a:t>企业家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对组织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对事</a:t>
            </a:r>
            <a:r>
              <a:rPr lang="en-US" altLang="zh-CN" b="1">
                <a:solidFill>
                  <a:srgbClr val="00B050"/>
                </a:solidFill>
              </a:rPr>
              <a:t>)/</a:t>
            </a:r>
            <a:r>
              <a:rPr lang="zh-CN" altLang="en-US" b="1">
                <a:solidFill>
                  <a:srgbClr val="00B050"/>
                </a:solidFill>
              </a:rPr>
              <a:t>教育家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对人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对事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en-US" altLang="zh-CN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超越</a:t>
            </a:r>
            <a:r>
              <a:rPr lang="en-US" altLang="zh-CN" b="1">
                <a:solidFill>
                  <a:srgbClr val="00B050"/>
                </a:solidFill>
              </a:rPr>
              <a:t>‘</a:t>
            </a:r>
            <a:r>
              <a:rPr lang="zh-CN" altLang="en-US" b="1">
                <a:solidFill>
                  <a:srgbClr val="00B050"/>
                </a:solidFill>
              </a:rPr>
              <a:t>家</a:t>
            </a:r>
            <a:r>
              <a:rPr lang="en-US" altLang="zh-CN" b="1">
                <a:solidFill>
                  <a:srgbClr val="00B050"/>
                </a:solidFill>
              </a:rPr>
              <a:t>’</a:t>
            </a:r>
            <a:r>
              <a:rPr lang="zh-CN" altLang="en-US" b="1">
                <a:solidFill>
                  <a:srgbClr val="00B050"/>
                </a:solidFill>
              </a:rPr>
              <a:t>：文明奠基者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对人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对组织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对事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定义：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只讨论正向黑客，而对于</a:t>
            </a:r>
            <a:r>
              <a:rPr lang="zh-CN" altLang="en-US" sz="1600" b="1">
                <a:solidFill>
                  <a:srgbClr val="00B050"/>
                </a:solidFill>
                <a:sym typeface="+mn-ea"/>
              </a:rPr>
              <a:t>非正向黑客则不讨论，因为其不是人才，是需要防范和改造教育的人员</a:t>
            </a:r>
            <a:r>
              <a:rPr lang="en-US" altLang="zh-CN" sz="1600" b="1">
                <a:solidFill>
                  <a:srgbClr val="00B050"/>
                </a:solidFill>
                <a:sym typeface="+mn-ea"/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狭义正向黑客：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系统专业，战略进攻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战术进攻，符合此性质的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IT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领域内的全部创新型人才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广义正向黑客：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业务专业，战略进攻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战术进攻，符合此性质的</a:t>
            </a:r>
            <a:r>
              <a:rPr lang="zh-CN" altLang="en-US" b="1">
                <a:solidFill>
                  <a:srgbClr val="00B050"/>
                </a:solidFill>
              </a:rPr>
              <a:t>明显涉及到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领域的全部创新型人才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兼职正向黑客：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辅助随机，战略防御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战术进攻，</a:t>
            </a:r>
            <a:r>
              <a:rPr lang="zh-CN" altLang="en-US" b="1">
                <a:solidFill>
                  <a:srgbClr val="00B050"/>
                </a:solidFill>
              </a:rPr>
              <a:t>根据需要在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领域内进行必要突破的全部创新型人才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目的：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236220"/>
            <a:ext cx="10613390" cy="701040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学习黑客技能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定位定义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235" y="1082040"/>
            <a:ext cx="11530965" cy="5656580"/>
          </a:xfrm>
        </p:spPr>
        <p:txBody>
          <a:bodyPr>
            <a:normAutofit lnSpcReduction="10000"/>
          </a:bodyPr>
          <a:p>
            <a:r>
              <a:rPr lang="zh-CN" altLang="en-US" b="1">
                <a:solidFill>
                  <a:srgbClr val="00B050"/>
                </a:solidFill>
              </a:rPr>
              <a:t>定位：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创新：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守正：守住人的本质和价值取向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善恶判断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选择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负责</a:t>
            </a:r>
            <a:r>
              <a:rPr lang="en-US" altLang="zh-CN" sz="1600" b="1">
                <a:solidFill>
                  <a:srgbClr val="00B050"/>
                </a:solidFill>
              </a:rPr>
              <a:t>)</a:t>
            </a:r>
            <a:r>
              <a:rPr lang="zh-CN" altLang="en-US" sz="1600" b="1">
                <a:solidFill>
                  <a:srgbClr val="00B050"/>
                </a:solidFill>
              </a:rPr>
              <a:t>；同时尊重客观规律，理解成见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流程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习惯，积极开放沟通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出新：能够通过突破自我，来完成对成见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流程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习惯等限制的突破，由此有效地守住人的本质和价值取向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守正出新是创新的核心，科技创新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制度创新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教育创新，</a:t>
            </a:r>
            <a:r>
              <a:rPr lang="en-US" altLang="zh-CN" b="1">
                <a:solidFill>
                  <a:srgbClr val="00B050"/>
                </a:solidFill>
              </a:rPr>
              <a:t>‘</a:t>
            </a:r>
            <a:r>
              <a:rPr lang="zh-CN" altLang="en-US" b="1">
                <a:solidFill>
                  <a:srgbClr val="00B050"/>
                </a:solidFill>
              </a:rPr>
              <a:t>家</a:t>
            </a:r>
            <a:r>
              <a:rPr lang="en-US" altLang="zh-CN" b="1">
                <a:solidFill>
                  <a:srgbClr val="00B050"/>
                </a:solidFill>
              </a:rPr>
              <a:t>’</a:t>
            </a:r>
            <a:r>
              <a:rPr lang="zh-CN" altLang="en-US" b="1">
                <a:solidFill>
                  <a:srgbClr val="00B050"/>
                </a:solidFill>
              </a:rPr>
              <a:t>的核心门槛就是创新，但创新不一定成</a:t>
            </a:r>
            <a:r>
              <a:rPr lang="en-US" altLang="zh-CN" b="1">
                <a:solidFill>
                  <a:srgbClr val="00B050"/>
                </a:solidFill>
              </a:rPr>
              <a:t>’</a:t>
            </a:r>
            <a:r>
              <a:rPr lang="zh-CN" altLang="en-US" b="1">
                <a:solidFill>
                  <a:srgbClr val="00B050"/>
                </a:solidFill>
              </a:rPr>
              <a:t>家</a:t>
            </a:r>
            <a:r>
              <a:rPr lang="en-US" altLang="zh-CN" b="1">
                <a:solidFill>
                  <a:srgbClr val="00B050"/>
                </a:solidFill>
              </a:rPr>
              <a:t>’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战略战术：战略进攻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防御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与外部的关系是作战模型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协作模型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，战术进攻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防御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出新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守正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endParaRPr lang="en-US" altLang="zh-CN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创新型人才：各类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‘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家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’+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基础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‘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家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’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中的内部细分展开，核心是都具备出色的战术能力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进攻出新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防御守正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基础</a:t>
            </a:r>
            <a:r>
              <a:rPr lang="en-US" altLang="zh-CN" b="1">
                <a:solidFill>
                  <a:srgbClr val="00B050"/>
                </a:solidFill>
              </a:rPr>
              <a:t>‘</a:t>
            </a:r>
            <a:r>
              <a:rPr lang="zh-CN" altLang="en-US" b="1">
                <a:solidFill>
                  <a:srgbClr val="00B050"/>
                </a:solidFill>
              </a:rPr>
              <a:t>家</a:t>
            </a:r>
            <a:r>
              <a:rPr lang="en-US" altLang="zh-CN" b="1">
                <a:solidFill>
                  <a:srgbClr val="00B050"/>
                </a:solidFill>
              </a:rPr>
              <a:t>’</a:t>
            </a:r>
            <a:r>
              <a:rPr lang="zh-CN" altLang="en-US" b="1">
                <a:solidFill>
                  <a:srgbClr val="00B050"/>
                </a:solidFill>
              </a:rPr>
              <a:t>：对人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政治家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真正的教育工作者</a:t>
            </a:r>
            <a:r>
              <a:rPr lang="en-US" altLang="zh-CN" b="1">
                <a:solidFill>
                  <a:srgbClr val="00B050"/>
                </a:solidFill>
              </a:rPr>
              <a:t>)/</a:t>
            </a:r>
            <a:r>
              <a:rPr lang="zh-CN" altLang="en-US" b="1">
                <a:solidFill>
                  <a:srgbClr val="00B050"/>
                </a:solidFill>
              </a:rPr>
              <a:t>对组织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管理学家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组织效能提升者</a:t>
            </a:r>
            <a:r>
              <a:rPr lang="en-US" altLang="zh-CN" b="1">
                <a:solidFill>
                  <a:srgbClr val="00B050"/>
                </a:solidFill>
              </a:rPr>
              <a:t>)/</a:t>
            </a:r>
            <a:r>
              <a:rPr lang="zh-CN" altLang="en-US" b="1">
                <a:solidFill>
                  <a:srgbClr val="00B050"/>
                </a:solidFill>
              </a:rPr>
              <a:t>对事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科学家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黑客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en-US" altLang="zh-CN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衍生</a:t>
            </a:r>
            <a:r>
              <a:rPr lang="en-US" altLang="zh-CN" b="1">
                <a:solidFill>
                  <a:srgbClr val="00B050"/>
                </a:solidFill>
              </a:rPr>
              <a:t>‘</a:t>
            </a:r>
            <a:r>
              <a:rPr lang="zh-CN" altLang="en-US" b="1">
                <a:solidFill>
                  <a:srgbClr val="00B050"/>
                </a:solidFill>
              </a:rPr>
              <a:t>家</a:t>
            </a:r>
            <a:r>
              <a:rPr lang="en-US" altLang="zh-CN" b="1">
                <a:solidFill>
                  <a:srgbClr val="00B050"/>
                </a:solidFill>
              </a:rPr>
              <a:t>’</a:t>
            </a:r>
            <a:r>
              <a:rPr lang="zh-CN" altLang="en-US" b="1">
                <a:solidFill>
                  <a:srgbClr val="00B050"/>
                </a:solidFill>
              </a:rPr>
              <a:t>：经济学家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对人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对组织</a:t>
            </a:r>
            <a:r>
              <a:rPr lang="en-US" altLang="zh-CN" b="1">
                <a:solidFill>
                  <a:srgbClr val="00B050"/>
                </a:solidFill>
              </a:rPr>
              <a:t>)/</a:t>
            </a:r>
            <a:r>
              <a:rPr lang="zh-CN" altLang="en-US" b="1">
                <a:solidFill>
                  <a:srgbClr val="00B050"/>
                </a:solidFill>
              </a:rPr>
              <a:t>企业家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对组织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对事</a:t>
            </a:r>
            <a:r>
              <a:rPr lang="en-US" altLang="zh-CN" b="1">
                <a:solidFill>
                  <a:srgbClr val="00B050"/>
                </a:solidFill>
              </a:rPr>
              <a:t>)/</a:t>
            </a:r>
            <a:r>
              <a:rPr lang="zh-CN" altLang="en-US" b="1">
                <a:solidFill>
                  <a:srgbClr val="00B050"/>
                </a:solidFill>
              </a:rPr>
              <a:t>教育家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对人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对事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en-US" altLang="zh-CN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超越</a:t>
            </a:r>
            <a:r>
              <a:rPr lang="en-US" altLang="zh-CN" b="1">
                <a:solidFill>
                  <a:srgbClr val="00B050"/>
                </a:solidFill>
              </a:rPr>
              <a:t>‘</a:t>
            </a:r>
            <a:r>
              <a:rPr lang="zh-CN" altLang="en-US" b="1">
                <a:solidFill>
                  <a:srgbClr val="00B050"/>
                </a:solidFill>
              </a:rPr>
              <a:t>家</a:t>
            </a:r>
            <a:r>
              <a:rPr lang="en-US" altLang="zh-CN" b="1">
                <a:solidFill>
                  <a:srgbClr val="00B050"/>
                </a:solidFill>
              </a:rPr>
              <a:t>’</a:t>
            </a:r>
            <a:r>
              <a:rPr lang="zh-CN" altLang="en-US" b="1">
                <a:solidFill>
                  <a:srgbClr val="00B050"/>
                </a:solidFill>
              </a:rPr>
              <a:t>：文明奠基者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对人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对组织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对事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定义：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只讨论正向黑客，而对于</a:t>
            </a:r>
            <a:r>
              <a:rPr lang="zh-CN" altLang="en-US" sz="1600" b="1">
                <a:solidFill>
                  <a:srgbClr val="00B050"/>
                </a:solidFill>
                <a:sym typeface="+mn-ea"/>
              </a:rPr>
              <a:t>非正向黑客则不讨论，因为其不是人才，是需要防范和改造教育的人员</a:t>
            </a:r>
            <a:r>
              <a:rPr lang="en-US" altLang="zh-CN" sz="1600" b="1">
                <a:solidFill>
                  <a:srgbClr val="00B050"/>
                </a:solidFill>
                <a:sym typeface="+mn-ea"/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狭义正向黑客：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系统专业，战略进攻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战术进攻，符合此性质的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IT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领域内的全部创新型人才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广义正向黑客：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业务专业，战略进攻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战术进攻，符合此性质的</a:t>
            </a:r>
            <a:r>
              <a:rPr lang="zh-CN" altLang="en-US" b="1">
                <a:solidFill>
                  <a:srgbClr val="00B050"/>
                </a:solidFill>
              </a:rPr>
              <a:t>明显涉及到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领域的全部创新型人才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兼职正向黑客：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辅助随机，战略防御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战术进攻，</a:t>
            </a:r>
            <a:r>
              <a:rPr lang="zh-CN" altLang="en-US" b="1">
                <a:solidFill>
                  <a:srgbClr val="00B050"/>
                </a:solidFill>
              </a:rPr>
              <a:t>根据需要在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领域内进行必要突破的全部创新型人才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目的：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狭义黑客和广义黑客同具体行业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战略攻防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相关，涉及面窄，属于专业技能，适合实践学习和经验积累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兼职黑客涉及面广，更具有普遍性，同时也聚焦于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行业本身，适合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科普进行一次性理论讲解清晰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本视频组：配合培养创新型人才，重点为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领域；兼职正向黑客为主，狭义正向黑客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广义正向黑客为辅</a:t>
            </a:r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300990"/>
            <a:ext cx="10613390" cy="701040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学习黑客技能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核心素养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0670" y="1136650"/>
            <a:ext cx="11800840" cy="551561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外在：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内在：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参考：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300990"/>
            <a:ext cx="10613390" cy="701040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学习黑客技能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核心素养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0670" y="1136650"/>
            <a:ext cx="11800840" cy="551561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外在：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内在：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参考：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方向：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地图导航</a:t>
            </a:r>
            <a:r>
              <a:rPr lang="en-US" altLang="zh-CN" sz="1800" b="1">
                <a:solidFill>
                  <a:srgbClr val="00B050"/>
                </a:solidFill>
              </a:rPr>
              <a:t>/IT</a:t>
            </a:r>
            <a:r>
              <a:rPr lang="zh-CN" altLang="en-US" sz="1800" b="1">
                <a:solidFill>
                  <a:srgbClr val="00B050"/>
                </a:solidFill>
              </a:rPr>
              <a:t>的价值产出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关注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价值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关注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发展</a:t>
            </a:r>
            <a:endParaRPr lang="en-US" altLang="zh-CN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内容：程序员与黑客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程序员与职业规划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学习架构设计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理解操作系统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理解全栈开发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理解软件工程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具体：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电脑的硬件模型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电脑的软硬接口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电脑的软件模型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系统的基础平台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系统的扩展平台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系统的各种组件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我的编程语言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我的</a:t>
            </a:r>
            <a:r>
              <a:rPr lang="en-US" altLang="zh-CN" b="1">
                <a:solidFill>
                  <a:srgbClr val="00B050"/>
                </a:solidFill>
              </a:rPr>
              <a:t>C</a:t>
            </a:r>
            <a:r>
              <a:rPr lang="zh-CN" altLang="en-US" b="1">
                <a:solidFill>
                  <a:srgbClr val="00B050"/>
                </a:solidFill>
              </a:rPr>
              <a:t>语言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我的汇编语言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我的</a:t>
            </a:r>
            <a:r>
              <a:rPr lang="en-US" altLang="zh-CN" b="1">
                <a:solidFill>
                  <a:srgbClr val="00B050"/>
                </a:solidFill>
              </a:rPr>
              <a:t>Shell</a:t>
            </a:r>
            <a:r>
              <a:rPr lang="zh-CN" altLang="en-US" b="1">
                <a:solidFill>
                  <a:srgbClr val="00B050"/>
                </a:solidFill>
              </a:rPr>
              <a:t>语言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我的高级语言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我的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语言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程序的编译链接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程序的加载运行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程序的环境转换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运行时调试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运行时监控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运行时分析</a:t>
            </a:r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300990"/>
            <a:ext cx="10613390" cy="701040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学习黑客技能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核心素养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0670" y="1136650"/>
            <a:ext cx="11800840" cy="551561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外在：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调试分析：调试师；快速理解大量各类源代码和大量汇编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反汇编代码；动态分析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静态分析。</a:t>
            </a:r>
            <a:r>
              <a:rPr lang="en-US" altLang="zh-CN" b="1">
                <a:solidFill>
                  <a:srgbClr val="00B050"/>
                </a:solidFill>
              </a:rPr>
              <a:t>(‘</a:t>
            </a:r>
            <a:r>
              <a:rPr lang="zh-CN" altLang="en-US" b="1">
                <a:solidFill>
                  <a:srgbClr val="00B050"/>
                </a:solidFill>
              </a:rPr>
              <a:t>参考</a:t>
            </a:r>
            <a:r>
              <a:rPr lang="en-US" altLang="zh-CN" b="1">
                <a:solidFill>
                  <a:srgbClr val="00B050"/>
                </a:solidFill>
              </a:rPr>
              <a:t>’</a:t>
            </a:r>
            <a:r>
              <a:rPr lang="zh-CN" altLang="en-US" b="1">
                <a:solidFill>
                  <a:srgbClr val="00B050"/>
                </a:solidFill>
              </a:rPr>
              <a:t>章节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架构设计：理解计算机体系原理，架构设计和软件工程。</a:t>
            </a:r>
            <a:r>
              <a:rPr lang="en-US" altLang="zh-CN" b="1">
                <a:solidFill>
                  <a:srgbClr val="00B050"/>
                </a:solidFill>
              </a:rPr>
              <a:t>(‘</a:t>
            </a:r>
            <a:r>
              <a:rPr lang="zh-CN" altLang="en-US" b="1">
                <a:solidFill>
                  <a:srgbClr val="00B050"/>
                </a:solidFill>
              </a:rPr>
              <a:t>参考</a:t>
            </a:r>
            <a:r>
              <a:rPr lang="en-US" altLang="zh-CN" b="1">
                <a:solidFill>
                  <a:srgbClr val="00B050"/>
                </a:solidFill>
              </a:rPr>
              <a:t>’</a:t>
            </a:r>
            <a:r>
              <a:rPr lang="zh-CN" altLang="en-US" b="1">
                <a:solidFill>
                  <a:srgbClr val="00B050"/>
                </a:solidFill>
              </a:rPr>
              <a:t>章节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专业功底：相关的攻防内容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狭义正向黑客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广义正向黑客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，专用的各类工具等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内在：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参考：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方向：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地图导航</a:t>
            </a:r>
            <a:r>
              <a:rPr lang="en-US" altLang="zh-CN" sz="1800" b="1">
                <a:solidFill>
                  <a:srgbClr val="00B050"/>
                </a:solidFill>
              </a:rPr>
              <a:t>/IT</a:t>
            </a:r>
            <a:r>
              <a:rPr lang="zh-CN" altLang="en-US" sz="1800" b="1">
                <a:solidFill>
                  <a:srgbClr val="00B050"/>
                </a:solidFill>
              </a:rPr>
              <a:t>的价值产出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关注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价值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关注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发展</a:t>
            </a:r>
            <a:endParaRPr lang="en-US" altLang="zh-CN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内容：程序员与黑客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程序员与职业规划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学习架构设计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理解操作系统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理解全栈开发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理解软件工程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具体：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电脑的硬件模型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电脑的软硬接口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电脑的软件模型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系统的基础平台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系统的扩展平台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系统的各种组件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我的编程语言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我的</a:t>
            </a:r>
            <a:r>
              <a:rPr lang="en-US" altLang="zh-CN" b="1">
                <a:solidFill>
                  <a:srgbClr val="00B050"/>
                </a:solidFill>
              </a:rPr>
              <a:t>C</a:t>
            </a:r>
            <a:r>
              <a:rPr lang="zh-CN" altLang="en-US" b="1">
                <a:solidFill>
                  <a:srgbClr val="00B050"/>
                </a:solidFill>
              </a:rPr>
              <a:t>语言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我的汇编语言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我的</a:t>
            </a:r>
            <a:r>
              <a:rPr lang="en-US" altLang="zh-CN" b="1">
                <a:solidFill>
                  <a:srgbClr val="00B050"/>
                </a:solidFill>
              </a:rPr>
              <a:t>Shell</a:t>
            </a:r>
            <a:r>
              <a:rPr lang="zh-CN" altLang="en-US" b="1">
                <a:solidFill>
                  <a:srgbClr val="00B050"/>
                </a:solidFill>
              </a:rPr>
              <a:t>语言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我的高级语言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我的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语言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程序的编译链接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程序的加载运行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程序的环境转换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运行时调试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运行时监控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运行时分析</a:t>
            </a:r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300990"/>
            <a:ext cx="10613390" cy="701040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学习黑客技能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核心素养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0670" y="1136650"/>
            <a:ext cx="11800840" cy="551561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外在：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调试分析：调试师；快速理解大量各类源代码和大量汇编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反汇编代码；动态分析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静态分析。</a:t>
            </a:r>
            <a:r>
              <a:rPr lang="en-US" altLang="zh-CN" b="1">
                <a:solidFill>
                  <a:srgbClr val="00B050"/>
                </a:solidFill>
              </a:rPr>
              <a:t>(‘</a:t>
            </a:r>
            <a:r>
              <a:rPr lang="zh-CN" altLang="en-US" b="1">
                <a:solidFill>
                  <a:srgbClr val="00B050"/>
                </a:solidFill>
              </a:rPr>
              <a:t>参考</a:t>
            </a:r>
            <a:r>
              <a:rPr lang="en-US" altLang="zh-CN" b="1">
                <a:solidFill>
                  <a:srgbClr val="00B050"/>
                </a:solidFill>
              </a:rPr>
              <a:t>’</a:t>
            </a:r>
            <a:r>
              <a:rPr lang="zh-CN" altLang="en-US" b="1">
                <a:solidFill>
                  <a:srgbClr val="00B050"/>
                </a:solidFill>
              </a:rPr>
              <a:t>章节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架构设计：理解计算机体系原理，架构设计和软件工程。</a:t>
            </a:r>
            <a:r>
              <a:rPr lang="en-US" altLang="zh-CN" b="1">
                <a:solidFill>
                  <a:srgbClr val="00B050"/>
                </a:solidFill>
              </a:rPr>
              <a:t>(‘</a:t>
            </a:r>
            <a:r>
              <a:rPr lang="zh-CN" altLang="en-US" b="1">
                <a:solidFill>
                  <a:srgbClr val="00B050"/>
                </a:solidFill>
              </a:rPr>
              <a:t>参考</a:t>
            </a:r>
            <a:r>
              <a:rPr lang="en-US" altLang="zh-CN" b="1">
                <a:solidFill>
                  <a:srgbClr val="00B050"/>
                </a:solidFill>
              </a:rPr>
              <a:t>’</a:t>
            </a:r>
            <a:r>
              <a:rPr lang="zh-CN" altLang="en-US" b="1">
                <a:solidFill>
                  <a:srgbClr val="00B050"/>
                </a:solidFill>
              </a:rPr>
              <a:t>章节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专业功底：相关的攻防内容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狭义正向黑客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广义正向黑客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，专用的各类工具等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内在：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自我管理</a:t>
            </a:r>
            <a:r>
              <a:rPr lang="zh-CN" altLang="en-US" sz="1800" b="1">
                <a:solidFill>
                  <a:srgbClr val="00B050"/>
                </a:solidFill>
              </a:rPr>
              <a:t>：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时间整合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任务切换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情绪状态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r>
              <a:rPr lang="zh-CN" altLang="en-US" sz="1800" b="1">
                <a:solidFill>
                  <a:srgbClr val="00B050"/>
                </a:solidFill>
              </a:rPr>
              <a:t>管理，三观正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人生观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价值观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世界观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r>
              <a:rPr lang="zh-CN" altLang="en-US" sz="1800" b="1">
                <a:solidFill>
                  <a:srgbClr val="00B050"/>
                </a:solidFill>
              </a:rPr>
              <a:t>，不断探索学习突破自己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尊重理解：尊重客观规律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他人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礼节；换位思考各个角色；肯定其价值和意义，同时包容其局限性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开放突破：勇于突破人为形成的成见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流程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习惯，同时保持开放通常的相互交互沟通渠道，肯自己承担结果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参考：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方向：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地图导航</a:t>
            </a:r>
            <a:r>
              <a:rPr lang="en-US" altLang="zh-CN" sz="1800" b="1">
                <a:solidFill>
                  <a:srgbClr val="00B050"/>
                </a:solidFill>
              </a:rPr>
              <a:t>/IT</a:t>
            </a:r>
            <a:r>
              <a:rPr lang="zh-CN" altLang="en-US" sz="1800" b="1">
                <a:solidFill>
                  <a:srgbClr val="00B050"/>
                </a:solidFill>
              </a:rPr>
              <a:t>的价值产出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关注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价值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关注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发展</a:t>
            </a:r>
            <a:endParaRPr lang="en-US" altLang="zh-CN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内容：程序员与黑客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程序员与职业规划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学习架构设计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理解操作系统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理解全栈开发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理解软件工程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具体：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电脑的硬件模型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电脑的软硬接口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电脑的软件模型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系统的基础平台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系统的扩展平台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系统的各种组件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我的编程语言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我的</a:t>
            </a:r>
            <a:r>
              <a:rPr lang="en-US" altLang="zh-CN" b="1">
                <a:solidFill>
                  <a:srgbClr val="00B050"/>
                </a:solidFill>
              </a:rPr>
              <a:t>C</a:t>
            </a:r>
            <a:r>
              <a:rPr lang="zh-CN" altLang="en-US" b="1">
                <a:solidFill>
                  <a:srgbClr val="00B050"/>
                </a:solidFill>
              </a:rPr>
              <a:t>语言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我的汇编语言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我的</a:t>
            </a:r>
            <a:r>
              <a:rPr lang="en-US" altLang="zh-CN" b="1">
                <a:solidFill>
                  <a:srgbClr val="00B050"/>
                </a:solidFill>
              </a:rPr>
              <a:t>Shell</a:t>
            </a:r>
            <a:r>
              <a:rPr lang="zh-CN" altLang="en-US" b="1">
                <a:solidFill>
                  <a:srgbClr val="00B050"/>
                </a:solidFill>
              </a:rPr>
              <a:t>语言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我的高级语言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我的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语言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程序的编译链接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程序的加载运行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程序的环境转换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运行时调试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运行时监控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运行时分析</a:t>
            </a:r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63500"/>
            <a:ext cx="10613390" cy="598170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学习黑客技能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环境交互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870" y="661035"/>
            <a:ext cx="11724640" cy="6196330"/>
          </a:xfrm>
        </p:spPr>
        <p:txBody>
          <a:bodyPr>
            <a:normAutofit lnSpcReduction="10000"/>
          </a:bodyPr>
          <a:p>
            <a:r>
              <a:rPr lang="zh-CN" altLang="en-US" b="1">
                <a:solidFill>
                  <a:srgbClr val="00B050"/>
                </a:solidFill>
              </a:rPr>
              <a:t>初心使命：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外部环境：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600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级别划分：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63500"/>
            <a:ext cx="10613390" cy="598170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学习黑客技能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环境交互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870" y="661035"/>
            <a:ext cx="11724640" cy="6196330"/>
          </a:xfrm>
        </p:spPr>
        <p:txBody>
          <a:bodyPr>
            <a:normAutofit lnSpcReduction="10000"/>
          </a:bodyPr>
          <a:p>
            <a:r>
              <a:rPr lang="zh-CN" altLang="en-US" b="1">
                <a:solidFill>
                  <a:srgbClr val="00B050"/>
                </a:solidFill>
              </a:rPr>
              <a:t>初心使命：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人生是单程车票，从起点到终点，每个人都是独一无二的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基于自己的初心，认知外部，提升自我，完成自己的使命；交上一份令自己满意，令外部称赞的人生答卷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不忘初心，牢记使命；穷则独善其身，达则兼济天下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外部环境：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600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级别划分：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63500"/>
            <a:ext cx="10613390" cy="598170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学习黑客技能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环境交互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870" y="661035"/>
            <a:ext cx="11724640" cy="6196330"/>
          </a:xfrm>
        </p:spPr>
        <p:txBody>
          <a:bodyPr>
            <a:normAutofit lnSpcReduction="10000"/>
          </a:bodyPr>
          <a:p>
            <a:r>
              <a:rPr lang="zh-CN" altLang="en-US" b="1">
                <a:solidFill>
                  <a:srgbClr val="00B050"/>
                </a:solidFill>
              </a:rPr>
              <a:t>初心使命：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人生是单程车票，从起点到终点，每个人都是独一无二的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基于自己的初心，认知外部，提升自我，完成自己的使命；交上一份令自己满意，令外部称赞的人生答卷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不忘初心，牢记使命；穷则独善其身，达则兼济天下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外部环境：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物质基础：初心使命必须基于具体对应的物质环境来达到可预期的阶段性目标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信息约束：信息永远不可能事前完备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无论怎么沟通、换位思考、相互尊重，只要实践未到那一步，信息一定残缺、视角一定受限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群体共同迷茫、偏见与流程僵化都是客观必然，不可避免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个人约束：个人时间、精力、资源永远有限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多任务会互相冲突、抢占资源，频繁切换会带来失误、情绪波动与压力，人不是机器，必须承认状态约束与成本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级别划分：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63500"/>
            <a:ext cx="10613390" cy="598170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学习黑客技能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环境交互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870" y="661035"/>
            <a:ext cx="11724640" cy="6196330"/>
          </a:xfrm>
        </p:spPr>
        <p:txBody>
          <a:bodyPr>
            <a:normAutofit lnSpcReduction="10000"/>
          </a:bodyPr>
          <a:p>
            <a:r>
              <a:rPr lang="zh-CN" altLang="en-US" b="1">
                <a:solidFill>
                  <a:srgbClr val="00B050"/>
                </a:solidFill>
              </a:rPr>
              <a:t>初心使命：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人生是单程车票，从起点到终点，每个人都是独一无二的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基于自己的初心，认知外部，提升自我，完成自己的使命；交上一份令自己满意，令外部称赞的人生答卷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不忘初心，牢记使命；穷则独善其身，达则兼济天下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外部环境：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物质基础：初心使命必须基于具体对应的物质环境来达到可预期的阶段性目标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信息约束：信息永远不可能事前完备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无论怎么沟通、换位思考、相互尊重，只要实践未到那一步，信息一定残缺、视角一定受限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群体共同迷茫、偏见与流程僵化都是客观必然，不可避免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个人约束：个人时间、精力、资源永远有限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多任务会互相冲突、抢占资源，频繁切换会带来失误、情绪波动与压力，人不是机器，必须承认状态约束与成本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级别划分：</a:t>
            </a:r>
            <a:r>
              <a:rPr lang="zh-CN" altLang="en-US" sz="1800" b="1">
                <a:solidFill>
                  <a:srgbClr val="00B050"/>
                </a:solidFill>
              </a:rPr>
              <a:t>在信息不完备、资源有限、压力波动下，以是否守正、是否兼顾外部、是否向上成长为标准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差：迷茫懵懂级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迷茫者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，人性常态，可理解，但不提倡，属于普通人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随本能、情绪、利益反应，迷茫、懵懂、不自觉走偏</a:t>
            </a:r>
            <a:r>
              <a:rPr lang="zh-CN" altLang="en-US" sz="1600" b="1">
                <a:solidFill>
                  <a:srgbClr val="00B050"/>
                </a:solidFill>
              </a:rPr>
              <a:t>；认为自己永远没错，全是外部问题；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表现：躺平、暴躁、对立、甩锅、摆烂、佛系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中：自省清醒级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自省者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，已属难得，是走上正道的起点；属于普通人才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不骗自己、不甩锅、不向外抱怨；承认无力解决，但能向内看：自身有不足、能力有欠缺，需要改进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良：正向突破级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行动者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，守正前提下敢于出新，是真正具备黑客精神与创新潜质的人；属于创新型人才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不只自省，更勇敢站出来、主动行动、敢担当</a:t>
            </a:r>
            <a:r>
              <a:rPr lang="zh-CN" altLang="en-US" sz="1600" b="1">
                <a:solidFill>
                  <a:srgbClr val="00B050"/>
                </a:solidFill>
              </a:rPr>
              <a:t>；信息不全、考虑难周全，明知有副作用，但正作用远大于副作用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优：成熟引领级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引领着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，能以自身行动带动他人向上成长，启智、明道、引路，适合全段位；属于</a:t>
            </a:r>
            <a:r>
              <a:rPr lang="en-US" altLang="zh-CN" b="1">
                <a:solidFill>
                  <a:srgbClr val="00B050"/>
                </a:solidFill>
              </a:rPr>
              <a:t>’</a:t>
            </a:r>
            <a:r>
              <a:rPr lang="zh-CN" altLang="en-US" b="1">
                <a:solidFill>
                  <a:srgbClr val="00B050"/>
                </a:solidFill>
              </a:rPr>
              <a:t>家</a:t>
            </a:r>
            <a:r>
              <a:rPr lang="en-US" altLang="zh-CN" b="1">
                <a:solidFill>
                  <a:srgbClr val="00B050"/>
                </a:solidFill>
              </a:rPr>
              <a:t>’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en-US" altLang="zh-CN" b="1">
                <a:solidFill>
                  <a:srgbClr val="00B050"/>
                </a:solidFill>
              </a:rPr>
              <a:t>勇敢又老练，稳、有章法、控场强</a:t>
            </a:r>
            <a:r>
              <a:rPr lang="zh-CN" altLang="en-US" b="1">
                <a:solidFill>
                  <a:srgbClr val="00B050"/>
                </a:solidFill>
              </a:rPr>
              <a:t>；成体系、懂火候、善沟通，兼顾自己、他人、环境，最大限度降低副作用</a:t>
            </a:r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74295"/>
            <a:ext cx="10613390" cy="614680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学习黑客技能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社会培育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545" y="688340"/>
            <a:ext cx="11530965" cy="6169660"/>
          </a:xfrm>
        </p:spPr>
        <p:txBody>
          <a:bodyPr>
            <a:normAutofit lnSpcReduction="10000"/>
          </a:bodyPr>
          <a:p>
            <a:r>
              <a:rPr lang="zh-CN" altLang="en-US" sz="2000" b="1">
                <a:solidFill>
                  <a:srgbClr val="00B050"/>
                </a:solidFill>
                <a:sym typeface="+mn-ea"/>
              </a:rPr>
              <a:t>角色划分：</a:t>
            </a:r>
            <a:endParaRPr lang="zh-CN" altLang="en-US" sz="2000" b="1">
              <a:solidFill>
                <a:srgbClr val="00B050"/>
              </a:solidFill>
              <a:sym typeface="+mn-ea"/>
            </a:endParaRPr>
          </a:p>
          <a:p>
            <a:pPr lvl="1"/>
            <a:endParaRPr lang="zh-CN" altLang="en-US" sz="1800" b="1">
              <a:solidFill>
                <a:srgbClr val="00B050"/>
              </a:solidFill>
              <a:sym typeface="+mn-ea"/>
            </a:endParaRPr>
          </a:p>
          <a:p>
            <a:pPr lvl="1"/>
            <a:endParaRPr lang="zh-CN" altLang="en-US" sz="1800" b="1">
              <a:solidFill>
                <a:srgbClr val="00B050"/>
              </a:solidFill>
              <a:sym typeface="+mn-ea"/>
            </a:endParaRPr>
          </a:p>
          <a:p>
            <a:pPr lvl="1"/>
            <a:endParaRPr lang="zh-CN" altLang="en-US" sz="1800" b="1">
              <a:solidFill>
                <a:srgbClr val="00B050"/>
              </a:solidFill>
              <a:sym typeface="+mn-ea"/>
            </a:endParaRPr>
          </a:p>
          <a:p>
            <a:pPr lvl="1"/>
            <a:endParaRPr lang="zh-CN" altLang="en-US" sz="1800" b="1">
              <a:solidFill>
                <a:srgbClr val="00B050"/>
              </a:solidFill>
              <a:sym typeface="+mn-ea"/>
            </a:endParaRPr>
          </a:p>
          <a:p>
            <a:r>
              <a:rPr lang="zh-CN" altLang="en-US" sz="2000" b="1">
                <a:solidFill>
                  <a:srgbClr val="00B050"/>
                </a:solidFill>
                <a:sym typeface="+mn-ea"/>
              </a:rPr>
              <a:t>通用教育：</a:t>
            </a:r>
            <a:endParaRPr lang="zh-CN" altLang="en-US" sz="2000" b="1">
              <a:solidFill>
                <a:srgbClr val="00B050"/>
              </a:solidFill>
              <a:sym typeface="+mn-ea"/>
            </a:endParaRPr>
          </a:p>
          <a:p>
            <a:pPr lvl="1"/>
            <a:endParaRPr lang="en-US" altLang="zh-CN" sz="1800" b="1">
              <a:solidFill>
                <a:srgbClr val="00B050"/>
              </a:solidFill>
              <a:sym typeface="+mn-ea"/>
            </a:endParaRPr>
          </a:p>
          <a:p>
            <a:pPr lvl="1"/>
            <a:endParaRPr lang="zh-CN" altLang="en-US" sz="1800" b="1">
              <a:solidFill>
                <a:srgbClr val="00B050"/>
              </a:solidFill>
              <a:sym typeface="+mn-ea"/>
            </a:endParaRPr>
          </a:p>
          <a:p>
            <a:pPr lvl="2"/>
            <a:endParaRPr lang="en-US" altLang="zh-CN" sz="1600" b="1">
              <a:solidFill>
                <a:srgbClr val="00B050"/>
              </a:solidFill>
              <a:sym typeface="+mn-ea"/>
            </a:endParaRPr>
          </a:p>
          <a:p>
            <a:pPr lvl="2"/>
            <a:endParaRPr lang="zh-CN" altLang="en-US" sz="1600" b="1">
              <a:solidFill>
                <a:srgbClr val="00B050"/>
              </a:solidFill>
              <a:sym typeface="+mn-ea"/>
            </a:endParaRPr>
          </a:p>
          <a:p>
            <a:pPr lvl="2"/>
            <a:endParaRPr lang="zh-CN" altLang="en-US" sz="1600" b="1">
              <a:solidFill>
                <a:srgbClr val="00B050"/>
              </a:solidFill>
              <a:sym typeface="+mn-ea"/>
            </a:endParaRPr>
          </a:p>
          <a:p>
            <a:pPr lvl="1"/>
            <a:endParaRPr lang="zh-CN" altLang="en-US" sz="1800" b="1">
              <a:solidFill>
                <a:srgbClr val="00B050"/>
              </a:solidFill>
              <a:sym typeface="+mn-ea"/>
            </a:endParaRPr>
          </a:p>
          <a:p>
            <a:r>
              <a:rPr lang="zh-CN" altLang="en-US" sz="2000" b="1">
                <a:solidFill>
                  <a:srgbClr val="00B050"/>
                </a:solidFill>
                <a:sym typeface="+mn-ea"/>
              </a:rPr>
              <a:t>行业科普：</a:t>
            </a:r>
            <a:endParaRPr lang="zh-CN" altLang="en-US" sz="2000" b="1">
              <a:solidFill>
                <a:srgbClr val="00B050"/>
              </a:solidFill>
              <a:sym typeface="+mn-ea"/>
            </a:endParaRPr>
          </a:p>
          <a:p>
            <a:pPr lvl="1"/>
            <a:endParaRPr lang="zh-CN" altLang="en-US" sz="1800" b="1">
              <a:solidFill>
                <a:srgbClr val="00B050"/>
              </a:solidFill>
              <a:sym typeface="+mn-ea"/>
            </a:endParaRPr>
          </a:p>
          <a:p>
            <a:pPr lvl="1"/>
            <a:endParaRPr lang="zh-CN" altLang="en-US" sz="1800" b="1">
              <a:solidFill>
                <a:srgbClr val="00B050"/>
              </a:solidFill>
              <a:sym typeface="+mn-ea"/>
            </a:endParaRPr>
          </a:p>
          <a:p>
            <a:pPr lvl="1"/>
            <a:endParaRPr lang="zh-CN" altLang="en-US" sz="1800" b="1">
              <a:solidFill>
                <a:srgbClr val="00B050"/>
              </a:solidFill>
              <a:sym typeface="+mn-ea"/>
            </a:endParaRPr>
          </a:p>
          <a:p>
            <a:r>
              <a:rPr lang="zh-CN" altLang="en-US" sz="2000" b="1">
                <a:solidFill>
                  <a:srgbClr val="00B050"/>
                </a:solidFill>
                <a:sym typeface="+mn-ea"/>
              </a:rPr>
              <a:t>实践迭代：</a:t>
            </a:r>
            <a:endParaRPr lang="zh-CN" altLang="en-US" sz="2000" b="1">
              <a:solidFill>
                <a:srgbClr val="00B050"/>
              </a:solidFill>
              <a:sym typeface="+mn-ea"/>
            </a:endParaRPr>
          </a:p>
          <a:p>
            <a:pPr lvl="1"/>
            <a:endParaRPr lang="en-US" altLang="zh-CN" sz="1800" b="1">
              <a:solidFill>
                <a:srgbClr val="00B05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74295"/>
            <a:ext cx="10613390" cy="614680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学习黑客技能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社会培育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545" y="688340"/>
            <a:ext cx="11530965" cy="6169660"/>
          </a:xfrm>
        </p:spPr>
        <p:txBody>
          <a:bodyPr>
            <a:normAutofit lnSpcReduction="10000"/>
          </a:bodyPr>
          <a:p>
            <a:r>
              <a:rPr lang="zh-CN" altLang="en-US" sz="2000" b="1">
                <a:solidFill>
                  <a:srgbClr val="00B050"/>
                </a:solidFill>
                <a:sym typeface="+mn-ea"/>
              </a:rPr>
              <a:t>角色划分：</a:t>
            </a:r>
            <a:endParaRPr lang="zh-CN" altLang="en-US" sz="2000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  <a:sym typeface="+mn-ea"/>
              </a:rPr>
              <a:t>迷茫者：普通人</a:t>
            </a:r>
            <a:endParaRPr lang="zh-CN" altLang="en-US" sz="1800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  <a:sym typeface="+mn-ea"/>
              </a:rPr>
              <a:t>自省者：普通人才</a:t>
            </a:r>
            <a:endParaRPr lang="zh-CN" altLang="en-US" sz="1800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  <a:sym typeface="+mn-ea"/>
              </a:rPr>
              <a:t>行动者：创新型人才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对于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IT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行业相关，就是正向黑客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)</a:t>
            </a:r>
            <a:endParaRPr lang="zh-CN" altLang="en-US" sz="1800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  <a:sym typeface="+mn-ea"/>
              </a:rPr>
              <a:t>引领者：各类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’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家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’(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教育家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政治家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科学家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)</a:t>
            </a:r>
            <a:endParaRPr lang="zh-CN" altLang="en-US" sz="1800" b="1">
              <a:solidFill>
                <a:srgbClr val="00B050"/>
              </a:solidFill>
              <a:sym typeface="+mn-ea"/>
            </a:endParaRPr>
          </a:p>
          <a:p>
            <a:r>
              <a:rPr lang="zh-CN" altLang="en-US" sz="2000" b="1">
                <a:solidFill>
                  <a:srgbClr val="00B050"/>
                </a:solidFill>
                <a:sym typeface="+mn-ea"/>
              </a:rPr>
              <a:t>通用教育：</a:t>
            </a:r>
            <a:endParaRPr lang="zh-CN" altLang="en-US" sz="2000" b="1">
              <a:solidFill>
                <a:srgbClr val="00B050"/>
              </a:solidFill>
              <a:sym typeface="+mn-ea"/>
            </a:endParaRPr>
          </a:p>
          <a:p>
            <a:pPr lvl="1"/>
            <a:endParaRPr lang="en-US" altLang="zh-CN" sz="1800" b="1">
              <a:solidFill>
                <a:srgbClr val="00B050"/>
              </a:solidFill>
              <a:sym typeface="+mn-ea"/>
            </a:endParaRPr>
          </a:p>
          <a:p>
            <a:pPr lvl="1"/>
            <a:endParaRPr lang="zh-CN" altLang="en-US" sz="1800" b="1">
              <a:solidFill>
                <a:srgbClr val="00B050"/>
              </a:solidFill>
              <a:sym typeface="+mn-ea"/>
            </a:endParaRPr>
          </a:p>
          <a:p>
            <a:pPr lvl="2"/>
            <a:endParaRPr lang="en-US" altLang="zh-CN" sz="1600" b="1">
              <a:solidFill>
                <a:srgbClr val="00B050"/>
              </a:solidFill>
              <a:sym typeface="+mn-ea"/>
            </a:endParaRPr>
          </a:p>
          <a:p>
            <a:pPr lvl="2"/>
            <a:endParaRPr lang="zh-CN" altLang="en-US" sz="1600" b="1">
              <a:solidFill>
                <a:srgbClr val="00B050"/>
              </a:solidFill>
              <a:sym typeface="+mn-ea"/>
            </a:endParaRPr>
          </a:p>
          <a:p>
            <a:pPr lvl="2"/>
            <a:endParaRPr lang="zh-CN" altLang="en-US" sz="1600" b="1">
              <a:solidFill>
                <a:srgbClr val="00B050"/>
              </a:solidFill>
              <a:sym typeface="+mn-ea"/>
            </a:endParaRPr>
          </a:p>
          <a:p>
            <a:pPr lvl="1"/>
            <a:endParaRPr lang="zh-CN" altLang="en-US" sz="1800" b="1">
              <a:solidFill>
                <a:srgbClr val="00B050"/>
              </a:solidFill>
              <a:sym typeface="+mn-ea"/>
            </a:endParaRPr>
          </a:p>
          <a:p>
            <a:r>
              <a:rPr lang="zh-CN" altLang="en-US" sz="2000" b="1">
                <a:solidFill>
                  <a:srgbClr val="00B050"/>
                </a:solidFill>
                <a:sym typeface="+mn-ea"/>
              </a:rPr>
              <a:t>行业科普：</a:t>
            </a:r>
            <a:endParaRPr lang="zh-CN" altLang="en-US" sz="2000" b="1">
              <a:solidFill>
                <a:srgbClr val="00B050"/>
              </a:solidFill>
              <a:sym typeface="+mn-ea"/>
            </a:endParaRPr>
          </a:p>
          <a:p>
            <a:pPr lvl="1"/>
            <a:endParaRPr lang="zh-CN" altLang="en-US" sz="1800" b="1">
              <a:solidFill>
                <a:srgbClr val="00B050"/>
              </a:solidFill>
              <a:sym typeface="+mn-ea"/>
            </a:endParaRPr>
          </a:p>
          <a:p>
            <a:pPr lvl="1"/>
            <a:endParaRPr lang="zh-CN" altLang="en-US" sz="1800" b="1">
              <a:solidFill>
                <a:srgbClr val="00B050"/>
              </a:solidFill>
              <a:sym typeface="+mn-ea"/>
            </a:endParaRPr>
          </a:p>
          <a:p>
            <a:pPr lvl="1"/>
            <a:endParaRPr lang="zh-CN" altLang="en-US" sz="1800" b="1">
              <a:solidFill>
                <a:srgbClr val="00B050"/>
              </a:solidFill>
              <a:sym typeface="+mn-ea"/>
            </a:endParaRPr>
          </a:p>
          <a:p>
            <a:r>
              <a:rPr lang="zh-CN" altLang="en-US" sz="2000" b="1">
                <a:solidFill>
                  <a:srgbClr val="00B050"/>
                </a:solidFill>
                <a:sym typeface="+mn-ea"/>
              </a:rPr>
              <a:t>实践迭代：</a:t>
            </a:r>
            <a:endParaRPr lang="zh-CN" altLang="en-US" sz="2000" b="1">
              <a:solidFill>
                <a:srgbClr val="00B050"/>
              </a:solidFill>
              <a:sym typeface="+mn-ea"/>
            </a:endParaRPr>
          </a:p>
          <a:p>
            <a:pPr lvl="1"/>
            <a:endParaRPr lang="en-US" altLang="zh-CN" sz="1800" b="1">
              <a:solidFill>
                <a:srgbClr val="00B05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74295"/>
            <a:ext cx="10613390" cy="614680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学习黑客技能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社会培育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545" y="688340"/>
            <a:ext cx="11530965" cy="6169660"/>
          </a:xfrm>
        </p:spPr>
        <p:txBody>
          <a:bodyPr>
            <a:normAutofit lnSpcReduction="10000"/>
          </a:bodyPr>
          <a:p>
            <a:r>
              <a:rPr lang="zh-CN" altLang="en-US" sz="2000" b="1">
                <a:solidFill>
                  <a:srgbClr val="00B050"/>
                </a:solidFill>
                <a:sym typeface="+mn-ea"/>
              </a:rPr>
              <a:t>角色划分：</a:t>
            </a:r>
            <a:endParaRPr lang="zh-CN" altLang="en-US" sz="2000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  <a:sym typeface="+mn-ea"/>
              </a:rPr>
              <a:t>迷茫者：普通人</a:t>
            </a:r>
            <a:endParaRPr lang="zh-CN" altLang="en-US" sz="1800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  <a:sym typeface="+mn-ea"/>
              </a:rPr>
              <a:t>自省者：普通人才</a:t>
            </a:r>
            <a:endParaRPr lang="zh-CN" altLang="en-US" sz="1800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  <a:sym typeface="+mn-ea"/>
              </a:rPr>
              <a:t>行动者：创新型人才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对于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IT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行业相关，就是正向黑客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)</a:t>
            </a:r>
            <a:endParaRPr lang="zh-CN" altLang="en-US" sz="1800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  <a:sym typeface="+mn-ea"/>
              </a:rPr>
              <a:t>引领者：各类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’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家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’(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教育家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政治家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科学家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)</a:t>
            </a:r>
            <a:endParaRPr lang="zh-CN" altLang="en-US" sz="1800" b="1">
              <a:solidFill>
                <a:srgbClr val="00B050"/>
              </a:solidFill>
              <a:sym typeface="+mn-ea"/>
            </a:endParaRPr>
          </a:p>
          <a:p>
            <a:r>
              <a:rPr lang="zh-CN" altLang="en-US" sz="2000" b="1">
                <a:solidFill>
                  <a:srgbClr val="00B050"/>
                </a:solidFill>
                <a:sym typeface="+mn-ea"/>
              </a:rPr>
              <a:t>通用教育：</a:t>
            </a:r>
            <a:endParaRPr lang="zh-CN" altLang="en-US" sz="2000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  <a:sym typeface="+mn-ea"/>
              </a:rPr>
              <a:t>社会统一提供，引领者定框架，行动者为中坚，自省者和迷茫者做执行和补充</a:t>
            </a:r>
            <a:endParaRPr lang="en-US" altLang="zh-CN" sz="1800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  <a:sym typeface="+mn-ea"/>
              </a:rPr>
              <a:t>特点：</a:t>
            </a:r>
            <a:endParaRPr lang="zh-CN" altLang="en-US" sz="1800" b="1">
              <a:solidFill>
                <a:srgbClr val="00B050"/>
              </a:solidFill>
              <a:sym typeface="+mn-ea"/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  <a:sym typeface="+mn-ea"/>
              </a:rPr>
              <a:t>面向全部适龄人群和场景</a:t>
            </a:r>
            <a:r>
              <a:rPr lang="en-US" altLang="zh-CN" sz="1600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sz="1600" b="1">
                <a:solidFill>
                  <a:srgbClr val="00B050"/>
                </a:solidFill>
                <a:sym typeface="+mn-ea"/>
              </a:rPr>
              <a:t>家庭，幼</a:t>
            </a:r>
            <a:r>
              <a:rPr lang="en-US" altLang="zh-CN" sz="1600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rgbClr val="00B050"/>
                </a:solidFill>
                <a:sym typeface="+mn-ea"/>
              </a:rPr>
              <a:t>小</a:t>
            </a:r>
            <a:r>
              <a:rPr lang="en-US" altLang="zh-CN" sz="1600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rgbClr val="00B050"/>
                </a:solidFill>
                <a:sym typeface="+mn-ea"/>
              </a:rPr>
              <a:t>初</a:t>
            </a:r>
            <a:r>
              <a:rPr lang="en-US" altLang="zh-CN" sz="1600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rgbClr val="00B050"/>
                </a:solidFill>
                <a:sym typeface="+mn-ea"/>
              </a:rPr>
              <a:t>高</a:t>
            </a:r>
            <a:r>
              <a:rPr lang="en-US" altLang="zh-CN" sz="1600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rgbClr val="00B050"/>
                </a:solidFill>
                <a:sym typeface="+mn-ea"/>
              </a:rPr>
              <a:t>大学通用阶段，社会宣传</a:t>
            </a:r>
            <a:r>
              <a:rPr lang="en-US" altLang="zh-CN" sz="1600" b="1">
                <a:solidFill>
                  <a:srgbClr val="00B050"/>
                </a:solidFill>
                <a:sym typeface="+mn-ea"/>
              </a:rPr>
              <a:t>)</a:t>
            </a:r>
            <a:endParaRPr lang="en-US" altLang="zh-CN" sz="1600" b="1">
              <a:solidFill>
                <a:srgbClr val="00B050"/>
              </a:solidFill>
              <a:sym typeface="+mn-ea"/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  <a:sym typeface="+mn-ea"/>
              </a:rPr>
              <a:t>重点：打基础，立规矩，建底线，让更多人从迷茫走向基本清醒，从迷茫者逐步成为自省者；</a:t>
            </a:r>
            <a:endParaRPr lang="zh-CN" altLang="en-US" sz="1600" b="1">
              <a:solidFill>
                <a:srgbClr val="00B050"/>
              </a:solidFill>
              <a:sym typeface="+mn-ea"/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  <a:sym typeface="+mn-ea"/>
              </a:rPr>
              <a:t>同时：鼓励向上走、肯担当、敢站出的行动，倡导与弘扬优秀价值观与行为，为更高层次成长埋下种子</a:t>
            </a:r>
            <a:endParaRPr lang="zh-CN" altLang="en-US" sz="1600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  <a:sym typeface="+mn-ea"/>
              </a:rPr>
              <a:t>每个人都能参与，具有一定的强制性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比较被动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)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，核心是能够尊重理解外部</a:t>
            </a:r>
            <a:endParaRPr lang="zh-CN" altLang="en-US" sz="1800" b="1">
              <a:solidFill>
                <a:srgbClr val="00B050"/>
              </a:solidFill>
              <a:sym typeface="+mn-ea"/>
            </a:endParaRPr>
          </a:p>
          <a:p>
            <a:r>
              <a:rPr lang="zh-CN" altLang="en-US" sz="2000" b="1">
                <a:solidFill>
                  <a:srgbClr val="00B050"/>
                </a:solidFill>
                <a:sym typeface="+mn-ea"/>
              </a:rPr>
              <a:t>行业科普：</a:t>
            </a:r>
            <a:endParaRPr lang="zh-CN" altLang="en-US" sz="2000" b="1">
              <a:solidFill>
                <a:srgbClr val="00B050"/>
              </a:solidFill>
              <a:sym typeface="+mn-ea"/>
            </a:endParaRPr>
          </a:p>
          <a:p>
            <a:pPr lvl="1"/>
            <a:endParaRPr lang="zh-CN" altLang="en-US" sz="1800" b="1">
              <a:solidFill>
                <a:srgbClr val="00B050"/>
              </a:solidFill>
              <a:sym typeface="+mn-ea"/>
            </a:endParaRPr>
          </a:p>
          <a:p>
            <a:pPr lvl="1"/>
            <a:endParaRPr lang="zh-CN" altLang="en-US" sz="1800" b="1">
              <a:solidFill>
                <a:srgbClr val="00B050"/>
              </a:solidFill>
              <a:sym typeface="+mn-ea"/>
            </a:endParaRPr>
          </a:p>
          <a:p>
            <a:pPr lvl="1"/>
            <a:endParaRPr lang="zh-CN" altLang="en-US" sz="1800" b="1">
              <a:solidFill>
                <a:srgbClr val="00B050"/>
              </a:solidFill>
              <a:sym typeface="+mn-ea"/>
            </a:endParaRPr>
          </a:p>
          <a:p>
            <a:r>
              <a:rPr lang="zh-CN" altLang="en-US" sz="2000" b="1">
                <a:solidFill>
                  <a:srgbClr val="00B050"/>
                </a:solidFill>
                <a:sym typeface="+mn-ea"/>
              </a:rPr>
              <a:t>实践迭代：</a:t>
            </a:r>
            <a:endParaRPr lang="zh-CN" altLang="en-US" sz="2000" b="1">
              <a:solidFill>
                <a:srgbClr val="00B050"/>
              </a:solidFill>
              <a:sym typeface="+mn-ea"/>
            </a:endParaRPr>
          </a:p>
          <a:p>
            <a:pPr lvl="1"/>
            <a:endParaRPr lang="en-US" altLang="zh-CN" sz="1800" b="1">
              <a:solidFill>
                <a:srgbClr val="00B05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74295"/>
            <a:ext cx="10613390" cy="614680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学习黑客技能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社会培育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545" y="688340"/>
            <a:ext cx="11530965" cy="6169660"/>
          </a:xfrm>
        </p:spPr>
        <p:txBody>
          <a:bodyPr>
            <a:normAutofit lnSpcReduction="10000"/>
          </a:bodyPr>
          <a:p>
            <a:r>
              <a:rPr lang="zh-CN" altLang="en-US" sz="2000" b="1">
                <a:solidFill>
                  <a:srgbClr val="00B050"/>
                </a:solidFill>
                <a:sym typeface="+mn-ea"/>
              </a:rPr>
              <a:t>角色划分：</a:t>
            </a:r>
            <a:endParaRPr lang="zh-CN" altLang="en-US" sz="2000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  <a:sym typeface="+mn-ea"/>
              </a:rPr>
              <a:t>迷茫者：普通人</a:t>
            </a:r>
            <a:endParaRPr lang="zh-CN" altLang="en-US" sz="1800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  <a:sym typeface="+mn-ea"/>
              </a:rPr>
              <a:t>自省者：普通人才</a:t>
            </a:r>
            <a:endParaRPr lang="zh-CN" altLang="en-US" sz="1800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  <a:sym typeface="+mn-ea"/>
              </a:rPr>
              <a:t>行动者：创新型人才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对于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IT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行业相关，就是正向黑客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)</a:t>
            </a:r>
            <a:endParaRPr lang="zh-CN" altLang="en-US" sz="1800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  <a:sym typeface="+mn-ea"/>
              </a:rPr>
              <a:t>引领者：各类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’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家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’(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教育家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政治家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科学家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)</a:t>
            </a:r>
            <a:endParaRPr lang="zh-CN" altLang="en-US" sz="1800" b="1">
              <a:solidFill>
                <a:srgbClr val="00B050"/>
              </a:solidFill>
              <a:sym typeface="+mn-ea"/>
            </a:endParaRPr>
          </a:p>
          <a:p>
            <a:r>
              <a:rPr lang="zh-CN" altLang="en-US" sz="2000" b="1">
                <a:solidFill>
                  <a:srgbClr val="00B050"/>
                </a:solidFill>
                <a:sym typeface="+mn-ea"/>
              </a:rPr>
              <a:t>通用教育：</a:t>
            </a:r>
            <a:endParaRPr lang="zh-CN" altLang="en-US" sz="2000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  <a:sym typeface="+mn-ea"/>
              </a:rPr>
              <a:t>社会统一提供，引领者定框架，行动者为中坚，自省者和迷茫者做执行和补充</a:t>
            </a:r>
            <a:endParaRPr lang="en-US" altLang="zh-CN" sz="1800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  <a:sym typeface="+mn-ea"/>
              </a:rPr>
              <a:t>特点：</a:t>
            </a:r>
            <a:endParaRPr lang="zh-CN" altLang="en-US" sz="1800" b="1">
              <a:solidFill>
                <a:srgbClr val="00B050"/>
              </a:solidFill>
              <a:sym typeface="+mn-ea"/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  <a:sym typeface="+mn-ea"/>
              </a:rPr>
              <a:t>面向全部适龄人群和场景</a:t>
            </a:r>
            <a:r>
              <a:rPr lang="en-US" altLang="zh-CN" sz="1600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sz="1600" b="1">
                <a:solidFill>
                  <a:srgbClr val="00B050"/>
                </a:solidFill>
                <a:sym typeface="+mn-ea"/>
              </a:rPr>
              <a:t>家庭，幼</a:t>
            </a:r>
            <a:r>
              <a:rPr lang="en-US" altLang="zh-CN" sz="1600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rgbClr val="00B050"/>
                </a:solidFill>
                <a:sym typeface="+mn-ea"/>
              </a:rPr>
              <a:t>小</a:t>
            </a:r>
            <a:r>
              <a:rPr lang="en-US" altLang="zh-CN" sz="1600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rgbClr val="00B050"/>
                </a:solidFill>
                <a:sym typeface="+mn-ea"/>
              </a:rPr>
              <a:t>初</a:t>
            </a:r>
            <a:r>
              <a:rPr lang="en-US" altLang="zh-CN" sz="1600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rgbClr val="00B050"/>
                </a:solidFill>
                <a:sym typeface="+mn-ea"/>
              </a:rPr>
              <a:t>高</a:t>
            </a:r>
            <a:r>
              <a:rPr lang="en-US" altLang="zh-CN" sz="1600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rgbClr val="00B050"/>
                </a:solidFill>
                <a:sym typeface="+mn-ea"/>
              </a:rPr>
              <a:t>大学通用阶段，社会宣传</a:t>
            </a:r>
            <a:r>
              <a:rPr lang="en-US" altLang="zh-CN" sz="1600" b="1">
                <a:solidFill>
                  <a:srgbClr val="00B050"/>
                </a:solidFill>
                <a:sym typeface="+mn-ea"/>
              </a:rPr>
              <a:t>)</a:t>
            </a:r>
            <a:endParaRPr lang="en-US" altLang="zh-CN" sz="1600" b="1">
              <a:solidFill>
                <a:srgbClr val="00B050"/>
              </a:solidFill>
              <a:sym typeface="+mn-ea"/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  <a:sym typeface="+mn-ea"/>
              </a:rPr>
              <a:t>重点：打基础，立规矩，建底线，让更多人从迷茫走向基本清醒，从迷茫者逐步成为自省者；</a:t>
            </a:r>
            <a:endParaRPr lang="zh-CN" altLang="en-US" sz="1600" b="1">
              <a:solidFill>
                <a:srgbClr val="00B050"/>
              </a:solidFill>
              <a:sym typeface="+mn-ea"/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  <a:sym typeface="+mn-ea"/>
              </a:rPr>
              <a:t>同时：鼓励向上走、肯担当、敢站出的行动，倡导与弘扬优秀价值观与行为，为更高层次成长埋下种子</a:t>
            </a:r>
            <a:endParaRPr lang="zh-CN" altLang="en-US" sz="1600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  <a:sym typeface="+mn-ea"/>
              </a:rPr>
              <a:t>每个人都能参与，具有一定的强制性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比较被动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)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，核心是能够尊重理解外部</a:t>
            </a:r>
            <a:endParaRPr lang="zh-CN" altLang="en-US" sz="1800" b="1">
              <a:solidFill>
                <a:srgbClr val="00B050"/>
              </a:solidFill>
              <a:sym typeface="+mn-ea"/>
            </a:endParaRPr>
          </a:p>
          <a:p>
            <a:r>
              <a:rPr lang="zh-CN" altLang="en-US" sz="2000" b="1">
                <a:solidFill>
                  <a:srgbClr val="00B050"/>
                </a:solidFill>
                <a:sym typeface="+mn-ea"/>
              </a:rPr>
              <a:t>行业科普：</a:t>
            </a:r>
            <a:endParaRPr lang="zh-CN" altLang="en-US" sz="2000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  <a:sym typeface="+mn-ea"/>
              </a:rPr>
              <a:t>由各行业相关人员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引领着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行动者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)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传递规律、方法、思维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启智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)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，并总结整理提升高度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明道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)</a:t>
            </a:r>
            <a:endParaRPr lang="zh-CN" altLang="en-US" sz="1800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  <a:sym typeface="+mn-ea"/>
              </a:rPr>
              <a:t>通过启智明道，让自省者逐步敢站出来，成为行动者；让行动者更成熟，逐步成为引领者</a:t>
            </a:r>
            <a:endParaRPr lang="zh-CN" altLang="en-US" sz="1800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  <a:sym typeface="+mn-ea"/>
              </a:rPr>
              <a:t>根据个人偏好参与，不具有强制性，核心是个人愿意学习提升自我</a:t>
            </a:r>
            <a:endParaRPr lang="zh-CN" altLang="en-US" sz="1800" b="1">
              <a:solidFill>
                <a:srgbClr val="00B050"/>
              </a:solidFill>
              <a:sym typeface="+mn-ea"/>
            </a:endParaRPr>
          </a:p>
          <a:p>
            <a:r>
              <a:rPr lang="zh-CN" altLang="en-US" sz="2000" b="1">
                <a:solidFill>
                  <a:srgbClr val="00B050"/>
                </a:solidFill>
                <a:sym typeface="+mn-ea"/>
              </a:rPr>
              <a:t>实践迭代：</a:t>
            </a:r>
            <a:endParaRPr lang="zh-CN" altLang="en-US" sz="2000" b="1">
              <a:solidFill>
                <a:srgbClr val="00B050"/>
              </a:solidFill>
              <a:sym typeface="+mn-ea"/>
            </a:endParaRPr>
          </a:p>
          <a:p>
            <a:pPr lvl="1"/>
            <a:endParaRPr lang="en-US" altLang="zh-CN" sz="1800" b="1">
              <a:solidFill>
                <a:srgbClr val="00B05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74295"/>
            <a:ext cx="10613390" cy="614680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学习黑客技能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社会培育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545" y="688340"/>
            <a:ext cx="11530965" cy="6169660"/>
          </a:xfrm>
        </p:spPr>
        <p:txBody>
          <a:bodyPr>
            <a:normAutofit lnSpcReduction="10000"/>
          </a:bodyPr>
          <a:p>
            <a:r>
              <a:rPr lang="zh-CN" altLang="en-US" sz="2000" b="1">
                <a:solidFill>
                  <a:srgbClr val="00B050"/>
                </a:solidFill>
                <a:sym typeface="+mn-ea"/>
              </a:rPr>
              <a:t>角色划分：</a:t>
            </a:r>
            <a:endParaRPr lang="zh-CN" altLang="en-US" sz="2000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  <a:sym typeface="+mn-ea"/>
              </a:rPr>
              <a:t>迷茫者：普通人</a:t>
            </a:r>
            <a:endParaRPr lang="zh-CN" altLang="en-US" sz="1800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  <a:sym typeface="+mn-ea"/>
              </a:rPr>
              <a:t>自省者：普通人才</a:t>
            </a:r>
            <a:endParaRPr lang="zh-CN" altLang="en-US" sz="1800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  <a:sym typeface="+mn-ea"/>
              </a:rPr>
              <a:t>行动者：创新型人才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对于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IT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行业相关，就是正向黑客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)</a:t>
            </a:r>
            <a:endParaRPr lang="zh-CN" altLang="en-US" sz="1800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  <a:sym typeface="+mn-ea"/>
              </a:rPr>
              <a:t>引领者：各类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’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家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’(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教育家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政治家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科学家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)</a:t>
            </a:r>
            <a:endParaRPr lang="zh-CN" altLang="en-US" sz="1800" b="1">
              <a:solidFill>
                <a:srgbClr val="00B050"/>
              </a:solidFill>
              <a:sym typeface="+mn-ea"/>
            </a:endParaRPr>
          </a:p>
          <a:p>
            <a:r>
              <a:rPr lang="zh-CN" altLang="en-US" sz="2000" b="1">
                <a:solidFill>
                  <a:srgbClr val="00B050"/>
                </a:solidFill>
                <a:sym typeface="+mn-ea"/>
              </a:rPr>
              <a:t>通用教育：</a:t>
            </a:r>
            <a:endParaRPr lang="zh-CN" altLang="en-US" sz="2000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  <a:sym typeface="+mn-ea"/>
              </a:rPr>
              <a:t>社会统一提供，引领者定框架，行动者为中坚，自省者和迷茫者做执行和补充</a:t>
            </a:r>
            <a:endParaRPr lang="en-US" altLang="zh-CN" sz="1800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  <a:sym typeface="+mn-ea"/>
              </a:rPr>
              <a:t>特点：</a:t>
            </a:r>
            <a:endParaRPr lang="zh-CN" altLang="en-US" sz="1800" b="1">
              <a:solidFill>
                <a:srgbClr val="00B050"/>
              </a:solidFill>
              <a:sym typeface="+mn-ea"/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  <a:sym typeface="+mn-ea"/>
              </a:rPr>
              <a:t>面向全部适龄人群和场景</a:t>
            </a:r>
            <a:r>
              <a:rPr lang="en-US" altLang="zh-CN" sz="1600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sz="1600" b="1">
                <a:solidFill>
                  <a:srgbClr val="00B050"/>
                </a:solidFill>
                <a:sym typeface="+mn-ea"/>
              </a:rPr>
              <a:t>家庭，幼</a:t>
            </a:r>
            <a:r>
              <a:rPr lang="en-US" altLang="zh-CN" sz="1600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rgbClr val="00B050"/>
                </a:solidFill>
                <a:sym typeface="+mn-ea"/>
              </a:rPr>
              <a:t>小</a:t>
            </a:r>
            <a:r>
              <a:rPr lang="en-US" altLang="zh-CN" sz="1600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rgbClr val="00B050"/>
                </a:solidFill>
                <a:sym typeface="+mn-ea"/>
              </a:rPr>
              <a:t>初</a:t>
            </a:r>
            <a:r>
              <a:rPr lang="en-US" altLang="zh-CN" sz="1600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rgbClr val="00B050"/>
                </a:solidFill>
                <a:sym typeface="+mn-ea"/>
              </a:rPr>
              <a:t>高</a:t>
            </a:r>
            <a:r>
              <a:rPr lang="en-US" altLang="zh-CN" sz="1600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rgbClr val="00B050"/>
                </a:solidFill>
                <a:sym typeface="+mn-ea"/>
              </a:rPr>
              <a:t>大学通用阶段，社会宣传</a:t>
            </a:r>
            <a:r>
              <a:rPr lang="en-US" altLang="zh-CN" sz="1600" b="1">
                <a:solidFill>
                  <a:srgbClr val="00B050"/>
                </a:solidFill>
                <a:sym typeface="+mn-ea"/>
              </a:rPr>
              <a:t>)</a:t>
            </a:r>
            <a:endParaRPr lang="en-US" altLang="zh-CN" sz="1600" b="1">
              <a:solidFill>
                <a:srgbClr val="00B050"/>
              </a:solidFill>
              <a:sym typeface="+mn-ea"/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  <a:sym typeface="+mn-ea"/>
              </a:rPr>
              <a:t>重点：打基础，立规矩，建底线，让更多人从迷茫走向基本清醒，从迷茫者逐步成为自省者；</a:t>
            </a:r>
            <a:endParaRPr lang="zh-CN" altLang="en-US" sz="1600" b="1">
              <a:solidFill>
                <a:srgbClr val="00B050"/>
              </a:solidFill>
              <a:sym typeface="+mn-ea"/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  <a:sym typeface="+mn-ea"/>
              </a:rPr>
              <a:t>同时：鼓励向上走、肯担当、敢站出的行动，倡导与弘扬优秀价值观与行为，为更高层次成长埋下种子</a:t>
            </a:r>
            <a:endParaRPr lang="zh-CN" altLang="en-US" sz="1600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  <a:sym typeface="+mn-ea"/>
              </a:rPr>
              <a:t>每个人都能参与，具有一定的强制性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比较被动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)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，核心是能够尊重理解外部</a:t>
            </a:r>
            <a:endParaRPr lang="zh-CN" altLang="en-US" sz="1800" b="1">
              <a:solidFill>
                <a:srgbClr val="00B050"/>
              </a:solidFill>
              <a:sym typeface="+mn-ea"/>
            </a:endParaRPr>
          </a:p>
          <a:p>
            <a:r>
              <a:rPr lang="zh-CN" altLang="en-US" sz="2000" b="1">
                <a:solidFill>
                  <a:srgbClr val="00B050"/>
                </a:solidFill>
                <a:sym typeface="+mn-ea"/>
              </a:rPr>
              <a:t>行业科普：</a:t>
            </a:r>
            <a:endParaRPr lang="zh-CN" altLang="en-US" sz="2000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  <a:sym typeface="+mn-ea"/>
              </a:rPr>
              <a:t>由各行业相关人员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引领着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行动者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)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传递规律、方法、思维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启智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)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，并总结整理提升高度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明道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)</a:t>
            </a:r>
            <a:endParaRPr lang="zh-CN" altLang="en-US" sz="1800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  <a:sym typeface="+mn-ea"/>
              </a:rPr>
              <a:t>通过启智明道，让自省者逐步敢站出来，成为行动者；让行动者更成熟，逐步成为引领者</a:t>
            </a:r>
            <a:endParaRPr lang="zh-CN" altLang="en-US" sz="1800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  <a:sym typeface="+mn-ea"/>
              </a:rPr>
              <a:t>根据个人偏好参与，不具有强制性，核心是个人愿意学习提升自我</a:t>
            </a:r>
            <a:endParaRPr lang="zh-CN" altLang="en-US" sz="1800" b="1">
              <a:solidFill>
                <a:srgbClr val="00B050"/>
              </a:solidFill>
              <a:sym typeface="+mn-ea"/>
            </a:endParaRPr>
          </a:p>
          <a:p>
            <a:r>
              <a:rPr lang="zh-CN" altLang="en-US" sz="2000" b="1">
                <a:solidFill>
                  <a:srgbClr val="00B050"/>
                </a:solidFill>
                <a:sym typeface="+mn-ea"/>
              </a:rPr>
              <a:t>实践迭代：</a:t>
            </a:r>
            <a:endParaRPr lang="zh-CN" altLang="en-US" sz="2000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  <a:sym typeface="+mn-ea"/>
              </a:rPr>
              <a:t>客观世界和初心使命提供外部交互，使得人都能在真实约束、挑战、边界中迭代成长</a:t>
            </a:r>
            <a:endParaRPr lang="zh-CN" altLang="en-US" sz="1800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  <a:sym typeface="+mn-ea"/>
              </a:rPr>
              <a:t>同时让各类角色参与通用教育和科普启智，提供培育环境，带动更多人向上</a:t>
            </a:r>
            <a:endParaRPr lang="zh-CN" altLang="en-US" sz="1800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  <a:sym typeface="+mn-ea"/>
              </a:rPr>
              <a:t>每个人都能参与，具有明确的强制性，核心是个人有积极的人生态度，适者生存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主动学习适应外部环境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)</a:t>
            </a:r>
            <a:endParaRPr lang="en-US" altLang="zh-CN" sz="1800" b="1">
              <a:solidFill>
                <a:srgbClr val="00B050"/>
              </a:solidFill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5249</Words>
  <Application>WPS Presentation</Application>
  <PresentationFormat>宽屏</PresentationFormat>
  <Paragraphs>331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0" baseType="lpstr">
      <vt:lpstr>Arial</vt:lpstr>
      <vt:lpstr>宋体</vt:lpstr>
      <vt:lpstr>Wingdings</vt:lpstr>
      <vt:lpstr>DejaVu Sans</vt:lpstr>
      <vt:lpstr>Droid Sans Fallback</vt:lpstr>
      <vt:lpstr>Arial Black</vt:lpstr>
      <vt:lpstr>微软雅黑</vt:lpstr>
      <vt:lpstr>宋体</vt:lpstr>
      <vt:lpstr>Arial Unicode MS</vt:lpstr>
      <vt:lpstr>OpenSymbol</vt:lpstr>
      <vt:lpstr>Noto Sans Symbols2</vt:lpstr>
      <vt:lpstr>Office Theme</vt:lpstr>
      <vt:lpstr>学习架构设计</vt:lpstr>
      <vt:lpstr>学习架构设计-整体概述</vt:lpstr>
      <vt:lpstr>学习黑客技能-定位定义</vt:lpstr>
      <vt:lpstr>学习黑客技能-定位定义</vt:lpstr>
      <vt:lpstr>学习黑客技能-定位定义</vt:lpstr>
      <vt:lpstr>学习黑客技能-核心素养</vt:lpstr>
      <vt:lpstr>学习黑客技能-核心素养</vt:lpstr>
      <vt:lpstr>学习黑客技能-核心素养</vt:lpstr>
      <vt:lpstr>学习黑客技术-定位定义</vt:lpstr>
      <vt:lpstr>学习黑客技能-内在能力</vt:lpstr>
      <vt:lpstr>学习黑客技能-环境交互</vt:lpstr>
      <vt:lpstr>学习黑客技能-环境交互</vt:lpstr>
      <vt:lpstr>学习黑客技能-环境交互</vt:lpstr>
      <vt:lpstr>学习黑客技能-环境交互</vt:lpstr>
      <vt:lpstr>学习黑客技能-社会培育</vt:lpstr>
      <vt:lpstr>学习黑客技能-社会培育</vt:lpstr>
      <vt:lpstr>学习黑客技能-社会培育</vt:lpstr>
      <vt:lpstr>学习黑客技能-社会培育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gchen</cp:lastModifiedBy>
  <cp:revision>695</cp:revision>
  <dcterms:created xsi:type="dcterms:W3CDTF">2026-03-07T11:00:47Z</dcterms:created>
  <dcterms:modified xsi:type="dcterms:W3CDTF">2026-03-07T11:00:47Z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