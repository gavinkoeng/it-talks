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7" r:id="rId3"/>
    <p:sldId id="359" r:id="rId4"/>
    <p:sldId id="391" r:id="rId5"/>
    <p:sldId id="390" r:id="rId6"/>
    <p:sldId id="389" r:id="rId7"/>
    <p:sldId id="393" r:id="rId8"/>
    <p:sldId id="395" r:id="rId9"/>
    <p:sldId id="394" r:id="rId10"/>
    <p:sldId id="385" r:id="rId11"/>
    <p:sldId id="396" r:id="rId12"/>
    <p:sldId id="392" r:id="rId13"/>
    <p:sldId id="382" r:id="rId14"/>
    <p:sldId id="399" r:id="rId15"/>
    <p:sldId id="398" r:id="rId16"/>
    <p:sldId id="397" r:id="rId17"/>
    <p:sldId id="383" r:id="rId18"/>
    <p:sldId id="402" r:id="rId19"/>
    <p:sldId id="401" r:id="rId20"/>
    <p:sldId id="400" r:id="rId21"/>
    <p:sldId id="379" r:id="rId22"/>
    <p:sldId id="405" r:id="rId23"/>
    <p:sldId id="404" r:id="rId24"/>
    <p:sldId id="403" r:id="rId25"/>
    <p:sldId id="380" r:id="rId26"/>
    <p:sldId id="408" r:id="rId27"/>
    <p:sldId id="407" r:id="rId28"/>
    <p:sldId id="406" r:id="rId2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92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69240"/>
            <a:ext cx="10515600" cy="1282065"/>
          </a:xfrm>
        </p:spPr>
        <p:txBody>
          <a:bodyPr/>
          <a:p>
            <a:pPr algn="ctr"/>
            <a:r>
              <a:rPr lang="zh-CN" altLang="en-US" sz="4400">
                <a:solidFill>
                  <a:srgbClr val="00B050"/>
                </a:solidFill>
              </a:rPr>
              <a:t>学习架构设计</a:t>
            </a:r>
            <a:endParaRPr lang="en-US" altLang="zh-CN" sz="440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" y="1637665"/>
            <a:ext cx="10515600" cy="4916805"/>
          </a:xfrm>
        </p:spPr>
        <p:txBody>
          <a:bodyPr/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整体概述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架构实践</a:t>
            </a:r>
            <a:endParaRPr lang="zh-CN" altLang="en-US" sz="3600" b="1">
              <a:solidFill>
                <a:srgbClr val="00B050"/>
              </a:solidFill>
            </a:endParaRPr>
          </a:p>
          <a:p>
            <a:pPr lvl="2" algn="ctr"/>
            <a:r>
              <a:rPr lang="zh-CN" altLang="en-US" sz="2880" b="1">
                <a:solidFill>
                  <a:srgbClr val="00B050"/>
                </a:solidFill>
              </a:rPr>
              <a:t>框架思路</a:t>
            </a:r>
            <a:endParaRPr lang="zh-CN" altLang="en-US" sz="2880" b="1">
              <a:solidFill>
                <a:srgbClr val="00B050"/>
              </a:solidFill>
            </a:endParaRPr>
          </a:p>
          <a:p>
            <a:pPr lvl="2" algn="ctr"/>
            <a:r>
              <a:rPr lang="zh-CN" altLang="en-US" sz="2880" b="1">
                <a:solidFill>
                  <a:srgbClr val="00B050"/>
                </a:solidFill>
              </a:rPr>
              <a:t>集成方法</a:t>
            </a:r>
            <a:endParaRPr lang="zh-CN" altLang="en-US" sz="2880" b="1">
              <a:solidFill>
                <a:srgbClr val="00B050"/>
              </a:solidFill>
            </a:endParaRPr>
          </a:p>
          <a:p>
            <a:pPr lvl="2" algn="ctr"/>
            <a:r>
              <a:rPr lang="zh-CN" altLang="en-US" sz="2880" b="1">
                <a:solidFill>
                  <a:srgbClr val="00B050"/>
                </a:solidFill>
              </a:rPr>
              <a:t>对接实现</a:t>
            </a:r>
            <a:endParaRPr lang="zh-CN" altLang="en-US" sz="32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  <a:sym typeface="+mn-ea"/>
              </a:rPr>
              <a:t>架构管理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人员协同</a:t>
            </a:r>
            <a:endParaRPr lang="zh-CN" altLang="en-US" sz="36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整体概述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750695"/>
            <a:ext cx="11530965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定位：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整体概述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750695"/>
            <a:ext cx="11530965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定位：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以设计视角为着眼点，为所有其他视角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需求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实现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测试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发布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维护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提供支撑，是全部其他视角的纽带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是软件开发的整体协调集成中心，是用户，客户，专业人员，开发人员和管理员的纽带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是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开发通用性核心内容之一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理论集成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，其他两个是：软件编程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实践践行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和黑客技术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发展动力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整体概述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750695"/>
            <a:ext cx="11530965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定位：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以设计视角为着眼点，为所有其他视角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需求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实现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测试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发布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维护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提供支撑，是全部其他视角的纽带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是软件开发的整体协调集成中心，是用户，客户，专业人员，开发人员和管理员的纽带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是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开发通用性核心内容之一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理论集成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，其他两个是：软件编程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实践践行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和黑客技术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发展动力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核心内容：</a:t>
            </a:r>
            <a:r>
              <a:rPr lang="zh-CN" altLang="en-US" b="1">
                <a:solidFill>
                  <a:srgbClr val="00B050"/>
                </a:solidFill>
              </a:rPr>
              <a:t>覆盖完整的概要设计，并根据实际情况再偏前期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需求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或者后期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测试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发布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维护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外围支撑：由架构的“方案决策，持续演进，人员协同”等三个方面构成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核心内容是狭义的架构设计，核心内容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外围支撑</a:t>
            </a:r>
            <a:r>
              <a:rPr lang="en-US" altLang="zh-CN" b="1">
                <a:solidFill>
                  <a:srgbClr val="00B050"/>
                </a:solidFill>
              </a:rPr>
              <a:t>=</a:t>
            </a:r>
            <a:r>
              <a:rPr lang="zh-CN" altLang="en-US" b="1">
                <a:solidFill>
                  <a:srgbClr val="00B050"/>
                </a:solidFill>
              </a:rPr>
              <a:t>广义的架构设计（又叫架构治理）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整体概述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750695"/>
            <a:ext cx="11530965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定位：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以设计视角为着眼点，为所有其他视角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需求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实现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测试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发布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维护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提供支撑，是全部其他视角的纽带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是软件开发的整体协调集成中心，是用户，客户，专业人员，开发人员和管理员的纽带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是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开发通用性核心内容之一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理论集成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，其他两个是：软件编程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实践践行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和黑客技术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发展动力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核心内容：</a:t>
            </a:r>
            <a:r>
              <a:rPr lang="zh-CN" altLang="en-US" b="1">
                <a:solidFill>
                  <a:srgbClr val="00B050"/>
                </a:solidFill>
              </a:rPr>
              <a:t>覆盖完整的概要设计，并根据实际情况再偏前期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需求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或者后期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测试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发布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维护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外围支撑：由架构的“方案决策，持续演进，人员协同”等三个方面构成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核心内容是狭义的架构设计，核心内容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外围支撑</a:t>
            </a:r>
            <a:r>
              <a:rPr lang="en-US" altLang="zh-CN" b="1">
                <a:solidFill>
                  <a:srgbClr val="00B050"/>
                </a:solidFill>
              </a:rPr>
              <a:t>=</a:t>
            </a:r>
            <a:r>
              <a:rPr lang="zh-CN" altLang="en-US" b="1">
                <a:solidFill>
                  <a:srgbClr val="00B050"/>
                </a:solidFill>
              </a:rPr>
              <a:t>广义的架构设计（又叫架构治理）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从科普说明的目的出发，重新进行分类；总共分为三个视角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管理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实践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人员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重点是实践，内容较多，从软件工程和分包协作的思路出发，分为框架思路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集成方法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对接实现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可参考：程序员与架构师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程序员的概要设计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程序员的四维时空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程序员看软件工程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地图导航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626745" y="3625850"/>
            <a:ext cx="11210925" cy="24980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开发视角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6223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架构实践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框架思路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606425" y="1023620"/>
            <a:ext cx="4256405" cy="215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功能视角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703695" y="1023620"/>
            <a:ext cx="5134610" cy="215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使用视角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626745" y="3625850"/>
            <a:ext cx="11210925" cy="24980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开发视角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6223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架构实践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框架思路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606425" y="1023620"/>
            <a:ext cx="4256405" cy="215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功能视角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703695" y="1023620"/>
            <a:ext cx="5134610" cy="215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使用视角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810895" y="1732915"/>
            <a:ext cx="1176020" cy="6565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承接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外层需求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986915" y="1732915"/>
            <a:ext cx="1449070" cy="8966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业务拆解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3436620" y="1732915"/>
            <a:ext cx="1200150" cy="6565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配合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使用视角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671195" y="2628900"/>
            <a:ext cx="4095750" cy="4197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单体模块化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微服务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微内核插件化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中台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事件驱动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1078865" y="744220"/>
            <a:ext cx="6985" cy="98869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626745" y="3625850"/>
            <a:ext cx="11210925" cy="24980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开发视角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6223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架构实践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框架思路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606425" y="1023620"/>
            <a:ext cx="4256405" cy="215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功能视角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703695" y="1023620"/>
            <a:ext cx="5134610" cy="215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使用视角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7047230" y="1732915"/>
            <a:ext cx="1078865" cy="4406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测试验证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7047230" y="2173605"/>
            <a:ext cx="1078865" cy="4559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发布使用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7047230" y="2629535"/>
            <a:ext cx="1078865" cy="4298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部署维护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810895" y="1732915"/>
            <a:ext cx="1176020" cy="6565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承接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外层需求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986915" y="1732915"/>
            <a:ext cx="1449070" cy="8966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业务拆解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3436620" y="1732915"/>
            <a:ext cx="1200150" cy="6565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配合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使用视角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671195" y="2628900"/>
            <a:ext cx="4095750" cy="4197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单体模块化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微服务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微内核插件化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中台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事件驱动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8126095" y="1765300"/>
            <a:ext cx="3242945" cy="3765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单元测试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集成测试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联调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8126095" y="2212975"/>
            <a:ext cx="3242310" cy="3765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用户使用场景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业务运行流程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版本管理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8126095" y="2653665"/>
            <a:ext cx="3242310" cy="3765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单机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集群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云原生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分布式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6941820" y="1733550"/>
            <a:ext cx="105410" cy="1325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11368405" y="1744345"/>
            <a:ext cx="223520" cy="1325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1078865" y="744220"/>
            <a:ext cx="6985" cy="98869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11476355" y="744220"/>
            <a:ext cx="6985" cy="98869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4548505" y="2132965"/>
            <a:ext cx="2383790" cy="444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626745" y="3625850"/>
            <a:ext cx="11210925" cy="24980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开发视角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6223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架构实践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框架思路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606425" y="1023620"/>
            <a:ext cx="4256405" cy="215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功能视角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703695" y="1023620"/>
            <a:ext cx="5134610" cy="215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使用视角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7047230" y="1732915"/>
            <a:ext cx="1078865" cy="4406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测试验证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7047230" y="2173605"/>
            <a:ext cx="1078865" cy="4559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发布使用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7047230" y="2629535"/>
            <a:ext cx="1078865" cy="4298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部署维护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810895" y="1732915"/>
            <a:ext cx="1176020" cy="6565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承接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外层需求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986915" y="1732915"/>
            <a:ext cx="1449070" cy="8966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业务拆解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3436620" y="1732915"/>
            <a:ext cx="1200150" cy="6565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配合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使用视角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671195" y="2628900"/>
            <a:ext cx="4095750" cy="4197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单体模块化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微服务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微内核插件化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中台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事件驱动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8126095" y="1765300"/>
            <a:ext cx="3242945" cy="3765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单元测试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集成测试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联调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8126095" y="2212975"/>
            <a:ext cx="3242310" cy="3765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用户使用场景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业务运行流程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版本管理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8126095" y="2653665"/>
            <a:ext cx="3242310" cy="3765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单机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集群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云原生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分布式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6941820" y="1733550"/>
            <a:ext cx="105410" cy="1325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11368405" y="1744345"/>
            <a:ext cx="223520" cy="1325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32485" y="3890645"/>
            <a:ext cx="435610" cy="21958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业务建模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11261725" y="3890010"/>
            <a:ext cx="444500" cy="21958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使用建模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626745" y="6090920"/>
            <a:ext cx="11211560" cy="4622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平台环境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1078865" y="744220"/>
            <a:ext cx="6985" cy="98869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11476355" y="744220"/>
            <a:ext cx="6985" cy="98869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23" idx="0"/>
          </p:cNvCxnSpPr>
          <p:nvPr/>
        </p:nvCxnSpPr>
        <p:spPr>
          <a:xfrm flipH="1">
            <a:off x="1050290" y="3023235"/>
            <a:ext cx="6985" cy="867410"/>
          </a:xfrm>
          <a:prstGeom prst="straightConnector1">
            <a:avLst/>
          </a:prstGeom>
          <a:ln w="381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2" idx="2"/>
            <a:endCxn id="24" idx="0"/>
          </p:cNvCxnSpPr>
          <p:nvPr/>
        </p:nvCxnSpPr>
        <p:spPr>
          <a:xfrm>
            <a:off x="11480165" y="3070225"/>
            <a:ext cx="3810" cy="819785"/>
          </a:xfrm>
          <a:prstGeom prst="straightConnector1">
            <a:avLst/>
          </a:prstGeom>
          <a:ln w="381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4548505" y="2132965"/>
            <a:ext cx="2383790" cy="444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626745" y="3625850"/>
            <a:ext cx="11210925" cy="24980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开发视角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878330" y="4468495"/>
            <a:ext cx="8787765" cy="16287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2655570" y="4973320"/>
            <a:ext cx="7176135" cy="1116965"/>
          </a:xfrm>
          <a:prstGeom prst="rect">
            <a:avLst/>
          </a:prstGeom>
          <a:ln w="254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处理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6223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架构实践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框架思路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606425" y="1023620"/>
            <a:ext cx="4256405" cy="215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功能视角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703695" y="1023620"/>
            <a:ext cx="5134610" cy="215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使用视角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7047230" y="1732915"/>
            <a:ext cx="1078865" cy="4406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测试验证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7047230" y="2173605"/>
            <a:ext cx="1078865" cy="4559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发布使用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7047230" y="2629535"/>
            <a:ext cx="1078865" cy="4298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部署维护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810895" y="1732915"/>
            <a:ext cx="1176020" cy="6565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承接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外层需求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986915" y="1732915"/>
            <a:ext cx="1449070" cy="8966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业务拆解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3436620" y="1732915"/>
            <a:ext cx="1200150" cy="6565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配合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使用视角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671195" y="2628900"/>
            <a:ext cx="4095750" cy="4197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单体模块化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微服务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微内核插件化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中台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事件驱动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8126095" y="1765300"/>
            <a:ext cx="3242945" cy="3765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单元测试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集成测试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联调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8126095" y="2212975"/>
            <a:ext cx="3242310" cy="3765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用户使用场景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业务运行流程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版本管理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8126095" y="2653665"/>
            <a:ext cx="3242310" cy="3765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单机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集群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云原生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分布式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6941820" y="1733550"/>
            <a:ext cx="105410" cy="1325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11368405" y="1744345"/>
            <a:ext cx="223520" cy="1325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32485" y="3890645"/>
            <a:ext cx="435610" cy="21958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业务建模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11261725" y="3890010"/>
            <a:ext cx="444500" cy="21958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使用建模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626745" y="6090920"/>
            <a:ext cx="11211560" cy="4622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平台环境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2035175" y="4593590"/>
            <a:ext cx="4095115" cy="384810"/>
          </a:xfrm>
          <a:prstGeom prst="rect">
            <a:avLst/>
          </a:prstGeom>
          <a:ln w="254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存储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6130925" y="4593590"/>
            <a:ext cx="4363720" cy="379095"/>
          </a:xfrm>
          <a:prstGeom prst="rect">
            <a:avLst/>
          </a:prstGeom>
          <a:ln w="254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传输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1078865" y="744220"/>
            <a:ext cx="6985" cy="98869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11476355" y="744220"/>
            <a:ext cx="6985" cy="98869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23" idx="0"/>
          </p:cNvCxnSpPr>
          <p:nvPr/>
        </p:nvCxnSpPr>
        <p:spPr>
          <a:xfrm flipH="1">
            <a:off x="1050290" y="3023235"/>
            <a:ext cx="6985" cy="867410"/>
          </a:xfrm>
          <a:prstGeom prst="straightConnector1">
            <a:avLst/>
          </a:prstGeom>
          <a:ln w="381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2" idx="2"/>
            <a:endCxn id="24" idx="0"/>
          </p:cNvCxnSpPr>
          <p:nvPr/>
        </p:nvCxnSpPr>
        <p:spPr>
          <a:xfrm>
            <a:off x="11480165" y="3070225"/>
            <a:ext cx="3810" cy="819785"/>
          </a:xfrm>
          <a:prstGeom prst="straightConnector1">
            <a:avLst/>
          </a:prstGeom>
          <a:ln w="381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4548505" y="2132965"/>
            <a:ext cx="2383790" cy="444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0669270" y="5064125"/>
            <a:ext cx="603250" cy="635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s 15"/>
          <p:cNvSpPr/>
          <p:nvPr/>
        </p:nvSpPr>
        <p:spPr>
          <a:xfrm>
            <a:off x="2893060" y="5382260"/>
            <a:ext cx="1898650" cy="7131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组件</a:t>
            </a:r>
            <a:r>
              <a:rPr lang="en-US" altLang="zh-CN" sz="1400" b="1">
                <a:solidFill>
                  <a:schemeClr val="tx1"/>
                </a:solidFill>
              </a:rPr>
              <a:t>1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5142865" y="5376545"/>
            <a:ext cx="1898650" cy="7131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组件</a:t>
            </a:r>
            <a:r>
              <a:rPr lang="en-US" altLang="zh-CN" sz="1400" b="1">
                <a:solidFill>
                  <a:schemeClr val="tx1"/>
                </a:solidFill>
              </a:rPr>
              <a:t>2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7700645" y="5372735"/>
            <a:ext cx="1898650" cy="7131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组件</a:t>
            </a:r>
            <a:r>
              <a:rPr lang="en-US" altLang="zh-CN" sz="1400" b="1">
                <a:solidFill>
                  <a:schemeClr val="tx1"/>
                </a:solidFill>
              </a:rPr>
              <a:t>N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1264285" y="5061585"/>
            <a:ext cx="603250" cy="635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s 40"/>
          <p:cNvSpPr/>
          <p:nvPr/>
        </p:nvSpPr>
        <p:spPr>
          <a:xfrm>
            <a:off x="7181850" y="5665470"/>
            <a:ext cx="7620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7308850" y="5673725"/>
            <a:ext cx="7620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7435850" y="5671185"/>
            <a:ext cx="7620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626745" y="3625850"/>
            <a:ext cx="11210925" cy="24980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开发视角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878330" y="4468495"/>
            <a:ext cx="8787765" cy="16287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2655570" y="4973320"/>
            <a:ext cx="7176135" cy="1116965"/>
          </a:xfrm>
          <a:prstGeom prst="rect">
            <a:avLst/>
          </a:prstGeom>
          <a:ln w="254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处理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6223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架构实践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框架思路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606425" y="1023620"/>
            <a:ext cx="4256405" cy="215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功能视角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703695" y="1023620"/>
            <a:ext cx="5134610" cy="215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使用视角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7047230" y="1732915"/>
            <a:ext cx="1078865" cy="4406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测试验证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7047230" y="2173605"/>
            <a:ext cx="1078865" cy="4559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发布使用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7047230" y="2629535"/>
            <a:ext cx="1078865" cy="4298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部署维护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810895" y="1732915"/>
            <a:ext cx="1176020" cy="6565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承接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外层需求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986915" y="1732915"/>
            <a:ext cx="1449070" cy="8966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业务拆解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3436620" y="1732915"/>
            <a:ext cx="1200150" cy="6565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配合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使用视角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671195" y="2628900"/>
            <a:ext cx="4095750" cy="4197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单体模块化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微服务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微内核插件化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中台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事件驱动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8126095" y="1765300"/>
            <a:ext cx="3242945" cy="3765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单元测试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集成测试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联调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8126095" y="2212975"/>
            <a:ext cx="3242310" cy="3765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用户使用场景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业务运行流程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版本管理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8126095" y="2653665"/>
            <a:ext cx="3242310" cy="3765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单机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集群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云原生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分布式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6941820" y="1733550"/>
            <a:ext cx="105410" cy="1325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11368405" y="1744345"/>
            <a:ext cx="223520" cy="1325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32485" y="3890645"/>
            <a:ext cx="435610" cy="21958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业务建模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11261725" y="3890010"/>
            <a:ext cx="444500" cy="21958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使用建模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626745" y="6090920"/>
            <a:ext cx="11211560" cy="4622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平台环境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2035175" y="4593590"/>
            <a:ext cx="4095115" cy="384810"/>
          </a:xfrm>
          <a:prstGeom prst="rect">
            <a:avLst/>
          </a:prstGeom>
          <a:ln w="254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存储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6130925" y="4593590"/>
            <a:ext cx="4363720" cy="379095"/>
          </a:xfrm>
          <a:prstGeom prst="rect">
            <a:avLst/>
          </a:prstGeom>
          <a:ln w="254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传输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1078865" y="744220"/>
            <a:ext cx="6985" cy="98869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11476355" y="744220"/>
            <a:ext cx="6985" cy="98869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23" idx="0"/>
          </p:cNvCxnSpPr>
          <p:nvPr/>
        </p:nvCxnSpPr>
        <p:spPr>
          <a:xfrm flipH="1">
            <a:off x="1050290" y="3023235"/>
            <a:ext cx="6985" cy="867410"/>
          </a:xfrm>
          <a:prstGeom prst="straightConnector1">
            <a:avLst/>
          </a:prstGeom>
          <a:ln w="381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2" idx="2"/>
            <a:endCxn id="24" idx="0"/>
          </p:cNvCxnSpPr>
          <p:nvPr/>
        </p:nvCxnSpPr>
        <p:spPr>
          <a:xfrm>
            <a:off x="11480165" y="3070225"/>
            <a:ext cx="3810" cy="819785"/>
          </a:xfrm>
          <a:prstGeom prst="straightConnector1">
            <a:avLst/>
          </a:prstGeom>
          <a:ln w="3810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4548505" y="2132965"/>
            <a:ext cx="2383790" cy="444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0669270" y="5064125"/>
            <a:ext cx="603250" cy="635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s 15"/>
          <p:cNvSpPr/>
          <p:nvPr/>
        </p:nvSpPr>
        <p:spPr>
          <a:xfrm>
            <a:off x="2893060" y="5382260"/>
            <a:ext cx="1898650" cy="7131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组件</a:t>
            </a:r>
            <a:r>
              <a:rPr lang="en-US" altLang="zh-CN" sz="1400" b="1">
                <a:solidFill>
                  <a:schemeClr val="tx1"/>
                </a:solidFill>
              </a:rPr>
              <a:t>1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3841750" y="5411470"/>
            <a:ext cx="949325" cy="341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使用视角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2893060" y="5409565"/>
            <a:ext cx="948690" cy="343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功能视角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2893060" y="5763895"/>
            <a:ext cx="1898015" cy="333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开发视角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5142865" y="5376545"/>
            <a:ext cx="1898650" cy="7131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组件</a:t>
            </a:r>
            <a:r>
              <a:rPr lang="en-US" altLang="zh-CN" sz="1400" b="1">
                <a:solidFill>
                  <a:schemeClr val="tx1"/>
                </a:solidFill>
              </a:rPr>
              <a:t>2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7700645" y="5372735"/>
            <a:ext cx="1898650" cy="7131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组件</a:t>
            </a:r>
            <a:r>
              <a:rPr lang="en-US" altLang="zh-CN" sz="1400" b="1">
                <a:solidFill>
                  <a:schemeClr val="tx1"/>
                </a:solidFill>
              </a:rPr>
              <a:t>N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1264285" y="5061585"/>
            <a:ext cx="603250" cy="635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s 40"/>
          <p:cNvSpPr/>
          <p:nvPr/>
        </p:nvSpPr>
        <p:spPr>
          <a:xfrm>
            <a:off x="7181850" y="5665470"/>
            <a:ext cx="7620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7308850" y="5673725"/>
            <a:ext cx="7620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7435850" y="5671185"/>
            <a:ext cx="7620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29260"/>
            <a:ext cx="10613390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架构实践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集成方法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97330"/>
            <a:ext cx="11530965" cy="502475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外围环境：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内部拆解：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  <a:sym typeface="+mn-ea"/>
              </a:rPr>
              <a:t>流程推演：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r>
              <a:rPr lang="zh-CN" altLang="en-US" b="1">
                <a:solidFill>
                  <a:srgbClr val="00B050"/>
                </a:solidFill>
                <a:sym typeface="+mn-ea"/>
              </a:rPr>
              <a:t>资源参考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程序员的四维时空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程序员的编码实现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程序员的概要设计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程序员与架构师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地图导航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29260"/>
            <a:ext cx="10613390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架构实践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集成方法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97330"/>
            <a:ext cx="11530965" cy="502475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外围环境：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业务建模：数据全部数字化或组件化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函数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对象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，流程全部计算化或组件化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函数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对象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使用建模：数据全部数字化或组件化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函数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对象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，流程全部计算化或组件化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函数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对象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平台环境：系统平台的能力和约束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处理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存储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传输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，充分使用业务平台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组件集合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框架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开发语言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内部拆解：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  <a:sym typeface="+mn-ea"/>
              </a:rPr>
              <a:t>流程推演：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r>
              <a:rPr lang="zh-CN" altLang="en-US" b="1">
                <a:solidFill>
                  <a:srgbClr val="00B050"/>
                </a:solidFill>
                <a:sym typeface="+mn-ea"/>
              </a:rPr>
              <a:t>资源参考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程序员的四维时空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程序员的编码实现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程序员的概要设计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程序员与架构师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地图导航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29260"/>
            <a:ext cx="10613390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架构实践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集成方法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97330"/>
            <a:ext cx="11530965" cy="502475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外围环境：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业务建模：数据全部数字化或组件化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函数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对象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，流程全部计算化或组件化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函数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对象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使用建模：数据全部数字化或组件化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函数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对象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，流程全部计算化或组件化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函数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对象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平台环境：系统平台的能力和约束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处理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存储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传输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，充分使用业务平台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组件集合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框架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开发语言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内部拆解：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存储：持续化数据，临时缓冲数据，定义组织数据结构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传输：链接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各类对象的通讯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，分发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汇聚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转发，缓冲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排序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查找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处理：建立运行环境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进程线程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同步异步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资源管理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，基于存储传输进行计算，定义拆分组件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进行递归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  <a:sym typeface="+mn-ea"/>
              </a:rPr>
              <a:t>流程推演：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r>
              <a:rPr lang="zh-CN" altLang="en-US" b="1">
                <a:solidFill>
                  <a:srgbClr val="00B050"/>
                </a:solidFill>
                <a:sym typeface="+mn-ea"/>
              </a:rPr>
              <a:t>资源参考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程序员的四维时空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程序员的编码实现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程序员的概要设计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程序员与架构师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地图导航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29260"/>
            <a:ext cx="10613390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架构实践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集成方法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97330"/>
            <a:ext cx="11530965" cy="502475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外围环境：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业务建模：数据全部数字化或组件化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函数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对象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，流程全部计算化或组件化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函数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对象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使用建模：数据全部数字化或组件化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函数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对象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，流程全部计算化或组件化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函数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对象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平台环境：系统平台的能力和约束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处理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存储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传输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，充分使用业务平台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组件集合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框架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开发语言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内部拆解：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存储：持续化数据，临时缓冲数据，定义组织数据结构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传输：链接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各类对象的通讯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，分发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汇聚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转发，缓冲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排序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查找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处理：建立运行环境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进程线程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同步异步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资源管理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，基于存储传输进行计算，定义拆分组件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进行递归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  <a:sym typeface="+mn-ea"/>
              </a:rPr>
              <a:t>流程推演：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简化：只完成本层内容，基于高内聚低耦合，不断拆解出组件，并假设拆解出的组件已经实现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迭代：外部初次建模，内部初步拆解；根据拆解的内容完善外部建模；根据完善的外部建模完善内部拆解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先后：先急后缓，再先主后次，再先易后难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r>
              <a:rPr lang="zh-CN" altLang="en-US" b="1">
                <a:solidFill>
                  <a:srgbClr val="00B050"/>
                </a:solidFill>
                <a:sym typeface="+mn-ea"/>
              </a:rPr>
              <a:t>资源参考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程序员的四维时空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程序员的编码实现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程序员的概要设计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程序员与架构师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地图导航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17830"/>
            <a:ext cx="10613390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架构实践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对接实现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59865"/>
            <a:ext cx="11530965" cy="519239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接口定义：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隐含实现：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版本管理：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资源参考：程序员的四维时空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程序员的编码实现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程序员的概要设计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程序员与架构师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地图导航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17830"/>
            <a:ext cx="10613390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架构实践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对接实现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59865"/>
            <a:ext cx="11530965" cy="519239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接口定义：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遵守标准：充分理解；严格兼容；尽可能不新增内容，如必须新增，则尽量顺承现有标准的思路和风格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不重不漏：不需要外部知道的内容，绝不在接口中暴露；需要外部知道的内容必须都在接口中清晰体现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注释齐全：数据结构整体和成员说明，函数方法的整体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参数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返回值的说明，概要描述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整体使用流程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隐含实现：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版本管理：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资源参考：程序员的四维时空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程序员的编码实现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程序员的概要设计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程序员与架构师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地图导航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17830"/>
            <a:ext cx="10613390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架构实践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对接实现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59865"/>
            <a:ext cx="11530965" cy="519239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接口定义：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遵守标准：充分理解；严格兼容；尽可能不新增内容，如必须新增，则尽量顺承现有标准的思路和风格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不重不漏：不需要外部知道的内容，绝不在接口中暴露；需要外部知道的内容必须都在接口中清晰体现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注释齐全：数据结构整体和成员说明，函数方法的整体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参数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返回值的说明，概要描述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整体使用流程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隐含实现：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流程类型：同步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异步的处理方式，线程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进程的模型环境，各类异常和失败情况的描述反馈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资源管理：返回资源的分配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传递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释放，参数生命周期，各类异常和失败情况的资源描述和释放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编码风格：入乡随俗，保持与现有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或最接近的环境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风格一致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至少接口定义的风格必须严格一致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版本管理：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资源参考：程序员的四维时空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程序员的编码实现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程序员的概要设计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程序员与架构师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地图导航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17830"/>
            <a:ext cx="10613390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架构实践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对接实现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59865"/>
            <a:ext cx="11530965" cy="519239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接口定义：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遵守标准：充分理解；严格兼容；尽可能不新增内容，如必须新增，则尽量顺承现有标准的思路和风格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不重不漏：不需要外部知道的内容，绝不在接口中暴露；需要外部知道的内容必须都在接口中清晰体现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注释齐全：数据结构整体和成员说明，函数方法的整体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参数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返回值的说明，概要描述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整体使用流程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隐含实现：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流程类型：同步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异步的处理方式，线程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进程的模型环境，各类异常和失败情况的描述反馈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资源管理：返回资源的分配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传递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释放，参数生命周期，各类异常和失败情况的资源描述和释放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编码风格：入乡随俗，保持与现有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或最接近的环境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风格一致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至少接口定义的风格必须严格一致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版本管理：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补丁制作：</a:t>
            </a:r>
            <a:r>
              <a:rPr lang="en-US" altLang="zh-CN" b="1">
                <a:solidFill>
                  <a:srgbClr val="00B050"/>
                </a:solidFill>
              </a:rPr>
              <a:t>git/deb/rpm</a:t>
            </a:r>
            <a:r>
              <a:rPr lang="zh-CN" altLang="en-US" b="1">
                <a:solidFill>
                  <a:srgbClr val="00B050"/>
                </a:solidFill>
              </a:rPr>
              <a:t>，类型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开发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调试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提交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，提交前需整理合并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补丁至少有清晰明确无误的标题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合并流程：内部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测试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，外部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发布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部署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维护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，调试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维护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；提交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审查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合并；统一协同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分支管理：内部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测试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，外部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发布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部署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维护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，调试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维护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；起源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命名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发布；统一协同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资源参考：程序员的四维时空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程序员的编码实现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程序员的概要设计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程序员与架构师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地图导航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98780"/>
            <a:ext cx="10613390" cy="71120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架构管理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23035"/>
            <a:ext cx="11530965" cy="522922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方案决策：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初期落地：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整体演进：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98780"/>
            <a:ext cx="10613390" cy="71120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架构管理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23035"/>
            <a:ext cx="11530965" cy="522922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方案决策：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前提：在当前层面内的相关点，要有多于一个的当前层面的解决方案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定义：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架构设计的一层为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方案；</a:t>
            </a:r>
            <a:r>
              <a:rPr lang="zh-CN" altLang="en-US" sz="1800" b="1">
                <a:solidFill>
                  <a:srgbClr val="00B050"/>
                </a:solidFill>
              </a:rPr>
              <a:t>在当前层面，从未知和不确定中，通过比对不同的方案来做出最优选择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方法：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评估标准：业务匹配度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解决当前的痛点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，约束满足度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人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资金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时间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，扩展与演进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为未来做铺垫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节奏把握：核心业务求稳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直接用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别出问题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，创新业务求快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可以不完美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，新老技术求慢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先验证再用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尽量不用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迭代流程：以软件工程周期为基础进行迭代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完整迭代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，一次软件工程周期的每个相邻阶段可相互迭代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局部迭代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初期落地：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整体演进：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98780"/>
            <a:ext cx="10613390" cy="71120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架构管理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23035"/>
            <a:ext cx="11530965" cy="522922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方案决策：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前提：在当前层面内的相关点，要有多于一个的当前层面的解决方案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定义：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架构设计的一层为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方案；</a:t>
            </a:r>
            <a:r>
              <a:rPr lang="zh-CN" altLang="en-US" sz="1800" b="1">
                <a:solidFill>
                  <a:srgbClr val="00B050"/>
                </a:solidFill>
              </a:rPr>
              <a:t>在当前层面，从未知和不确定中，通过比对不同的方案来做出最优选择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方法：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评估标准：业务匹配度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解决当前的痛点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，约束满足度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人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资金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时间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，扩展与演进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为未来做铺垫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节奏把握：核心业务求稳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直接用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别出问题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，创新业务求快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可以不完美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，新老技术求慢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先验证再用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尽量不用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迭代流程：以软件工程周期为基础进行迭代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完整迭代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，一次软件工程周期的每个相邻阶段可相互迭代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局部迭代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初期落地：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基因</a:t>
            </a:r>
            <a:r>
              <a:rPr lang="zh-CN" altLang="en-US" b="1">
                <a:solidFill>
                  <a:srgbClr val="00B050"/>
                </a:solidFill>
              </a:rPr>
              <a:t>制定：确定当前层面的核心业务内容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主体使用场景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基础平台环境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原型</a:t>
            </a:r>
            <a:r>
              <a:rPr lang="zh-CN" altLang="en-US" b="1">
                <a:solidFill>
                  <a:srgbClr val="00B050"/>
                </a:solidFill>
              </a:rPr>
              <a:t>确认：提供当前层面最简架构设计，能够基于当前基础平台环境，实现核心业务内容和主体使用场景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成长铺垫：根据当时预期的各种可能的发展成长前景，来调整架构，为未来发展提供必要的改造扩展空间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整体演进：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98780"/>
            <a:ext cx="10613390" cy="71120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架构管理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423035"/>
            <a:ext cx="11530965" cy="522922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方案决策：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前提：在当前层面内的相关点，要有多于一个的当前层面的解决方案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定义：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架构设计的一层为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方案；</a:t>
            </a:r>
            <a:r>
              <a:rPr lang="zh-CN" altLang="en-US" sz="1800" b="1">
                <a:solidFill>
                  <a:srgbClr val="00B050"/>
                </a:solidFill>
              </a:rPr>
              <a:t>在当前层面，从未知和不确定中，通过比对不同的方案来做出最优选择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方法：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评估标准：业务匹配度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解决当前的痛点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，约束满足度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人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资金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时间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，扩展与演进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为未来做铺垫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节奏把握：核心业务求稳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直接用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别出问题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，创新业务求快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可以不完美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，新老技术求慢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先验证再用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尽量不用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迭代流程：以软件工程周期为基础进行迭代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完整迭代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，一次软件工程周期的每个相邻阶段可相互迭代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局部迭代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初期落地：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基因</a:t>
            </a:r>
            <a:r>
              <a:rPr lang="zh-CN" altLang="en-US" b="1">
                <a:solidFill>
                  <a:srgbClr val="00B050"/>
                </a:solidFill>
              </a:rPr>
              <a:t>制定：确定当前层面的核心业务内容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主体使用场景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基础平台环境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原型</a:t>
            </a:r>
            <a:r>
              <a:rPr lang="zh-CN" altLang="en-US" b="1">
                <a:solidFill>
                  <a:srgbClr val="00B050"/>
                </a:solidFill>
              </a:rPr>
              <a:t>确认：提供当前层面最简架构设计，能够基于当前基础平台环境，实现核心业务内容和主体使用场景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成长铺垫：根据当时预期的各种可能的发展成长前景，来调整架构，为未来发展提供必要的改造扩展空间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整体演进：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原则：切记推倒重来，根据需要逐步进行顺带的局部重构，要兼容现有已经使用的有明确价值的相关标准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全局：确认整体方向，给出演进路线图，分阶段制定初步目标；在局部逐步执行获取反馈，把目标具体化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局部：注重细节，通过详细设计和具体实现来保证兼容相关标准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接口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的前提下，根据目标逐步重构前进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36855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人员协同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254125"/>
            <a:ext cx="11530965" cy="531177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互补分工：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现实体验：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学习培养：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36855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人员协同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254125"/>
            <a:ext cx="11530965" cy="531177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互补分工：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角色：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前期：客户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用户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业务专员，架构实践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功能视角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使用视角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中期：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架构师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产品经理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项目经理，架构管理全部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架构实践全部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后期：研发人员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测试人员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技术支持，架构实践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实现视角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使用视角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管理：总工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技术总监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研发经理，架构管理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方案决策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交互：理想情况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尊重理解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注重信用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发挥所长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，现实实践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磨合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迭代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筛选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个人：一人多角色是常态，需根据自己角色来处理相关内容，能换位思考；不少角色本身也都是人员兼职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现实体验：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学习培养：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36855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人员协同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254125"/>
            <a:ext cx="11530965" cy="531177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互补分工：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角色：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前期：客户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用户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业务专员，架构实践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功能视角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使用视角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中期：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架构师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产品经理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项目经理，架构管理全部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架构实践全部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后期：研发人员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测试人员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技术支持，架构实践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实现视角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使用视角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管理：总工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技术总监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研发经理，架构管理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方案决策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交互：理想情况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尊重理解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注重信用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发挥所长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，现实实践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磨合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迭代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筛选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个人：一人多角色是常态，需根据自己角色来处理相关内容，能换位思考；不少角色本身也都是人员兼职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现实体验：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个人角色：除了架构师，其他角色都没有完整体验到架构设计，自己参与的相关内容都只是普通工作而已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他人角色：除了管理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总工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技术总监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研发经理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，都很难体验到全部他人角色的真正的重要性和价值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核心总结：大道无形，大道至简，法力无边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学习培养：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36855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人员协同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1254125"/>
            <a:ext cx="11530965" cy="531177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互补分工：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角色：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前期：客户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用户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业务专员，架构实践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功能视角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使用视角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中期：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架构师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产品经理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项目经理，架构管理全部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架构实践全部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后期：研发人员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测试人员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技术支持，架构实践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实现视角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使用视角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管理：总工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技术总监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研发经理，架构管理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方案决策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交互：理想情况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尊重理解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注重信用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发挥所长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，现实实践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磨合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迭代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筛选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个人：一人多角色是常态，需根据自己角色来处理相关内容，能换位思考；不少角色本身也都是人员兼职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现实体验：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个人角色：除了架构师，其他角色都没有完整体验到架构设计，自己参与的相关内容都只是普通工作而已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他人角色：除了管理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总工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技术总监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研发经理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，都很难体验到全部他人角色的真正的重要性和价值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核心总结：大道无形，大道至简，法力无边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学习培养：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基础：有软件编程的实际经验，有管理方面的初步体验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能理解不同角色的重要性和价值，沟通交流顺畅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专业：对相关领域的业务内容有一定的理解和基本积累，科普</a:t>
            </a:r>
            <a:r>
              <a:rPr lang="en-US" altLang="zh-CN" b="1">
                <a:solidFill>
                  <a:srgbClr val="00B050"/>
                </a:solidFill>
              </a:rPr>
              <a:t>+AI</a:t>
            </a:r>
            <a:r>
              <a:rPr lang="zh-CN" altLang="en-US" b="1">
                <a:solidFill>
                  <a:srgbClr val="00B050"/>
                </a:solidFill>
              </a:rPr>
              <a:t>学习了解架构设计相关的内容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参考：学习软件编程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程序员与架构师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程序员看相互协作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程序员与岗位职责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程序员与职业规划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5949</Words>
  <Application>WPS Presentation</Application>
  <PresentationFormat>宽屏</PresentationFormat>
  <Paragraphs>624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OpenSymbol</vt:lpstr>
      <vt:lpstr>Office Theme</vt:lpstr>
      <vt:lpstr>学习架构设计</vt:lpstr>
      <vt:lpstr>学习架构设计-整体概述</vt:lpstr>
      <vt:lpstr>学习架构设计-整体概述</vt:lpstr>
      <vt:lpstr>学习架构设计-整体概述</vt:lpstr>
      <vt:lpstr>学习架构设计-整体概述</vt:lpstr>
      <vt:lpstr>学习架构设计-架构实践-框架思路</vt:lpstr>
      <vt:lpstr>学习架构设计-架构实践-框架思路</vt:lpstr>
      <vt:lpstr>学习架构设计-架构实践-框架思路</vt:lpstr>
      <vt:lpstr>学习架构设计-架构实践-框架思路</vt:lpstr>
      <vt:lpstr>学习架构设计-架构实践-框架思路</vt:lpstr>
      <vt:lpstr>学习架构设计-架构实践-框架思路</vt:lpstr>
      <vt:lpstr>学习架构设计-架构实践-集成方法</vt:lpstr>
      <vt:lpstr>学习架构设计-架构实践-集成方法</vt:lpstr>
      <vt:lpstr>学习架构设计-架构实践-集成方法</vt:lpstr>
      <vt:lpstr>学习架构设计-架构实践-集成方法</vt:lpstr>
      <vt:lpstr>学习架构设计-架构实践-对接实现</vt:lpstr>
      <vt:lpstr>学习架构设计-架构实践-对接实现</vt:lpstr>
      <vt:lpstr>学习架构设计-架构实践-对接实现</vt:lpstr>
      <vt:lpstr>学习架构设计-架构实践-对接实现</vt:lpstr>
      <vt:lpstr>学习架构设计-架构管理</vt:lpstr>
      <vt:lpstr>学习架构设计-架构管理</vt:lpstr>
      <vt:lpstr>学习架构设计-架构管理</vt:lpstr>
      <vt:lpstr>学习架构设计-架构管理</vt:lpstr>
      <vt:lpstr>学习架构设计-人员协同</vt:lpstr>
      <vt:lpstr>学习架构设计-人员协同</vt:lpstr>
      <vt:lpstr>学习架构设计-人员协同</vt:lpstr>
      <vt:lpstr>学习架构设计-人员协同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570</cp:revision>
  <dcterms:created xsi:type="dcterms:W3CDTF">2026-01-10T07:15:53Z</dcterms:created>
  <dcterms:modified xsi:type="dcterms:W3CDTF">2026-01-10T07:15:53Z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