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2000" cy="434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5B229B-4B7D-4A63-AC04-3F4113CBF0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4DAFAF3-2C9A-4121-8844-2706DB756F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2000" cy="434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C2D397-090D-447B-9E0D-BF23CFA98C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B9F89FB-DBE8-4342-AD46-FCC177AF92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29640" cy="434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34320" y="1825560"/>
            <a:ext cx="5129640" cy="434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1F2CC73-55BF-4AC3-8529-B1D0081439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9FAA539-BA00-4780-858D-9023605660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4EBA7AE-2B7E-44A4-BAD8-9BB91D2E11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1151DE3-28CE-4CF8-B730-6E19805BFE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E278B7C-C3D2-4C18-8B36-806E4277E3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55317F1-1E11-4626-8BE0-02F8CFB405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737FE8-77AE-4408-963F-DF6703ADD1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7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201D0F6-6D77-4BDD-8A24-72BBC887280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2000" cy="434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D7683B3-95F2-437D-9A71-629FBE0A734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C9D88EA-FA6B-45F9-97A0-3995802411A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29640" cy="434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34680" y="1825560"/>
            <a:ext cx="5129640" cy="434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2C6873B-73DE-4F7D-B483-FF2F1E1388E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243C2EE-C197-4244-B211-5526A670E37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2000" cy="13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48166A5-7BC4-450F-8B94-DDCC3C864A2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AFCB385-B3F0-452B-96C8-EA74CC89CA8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7"/>
          <p:cNvCxnSpPr/>
          <p:nvPr/>
        </p:nvCxnSpPr>
        <p:spPr>
          <a:xfrm>
            <a:off x="742680" y="434160"/>
            <a:ext cx="3600" cy="1395000"/>
          </a:xfrm>
          <a:prstGeom prst="straightConnector1">
            <a:avLst/>
          </a:prstGeom>
          <a:ln w="0">
            <a:solidFill>
              <a:srgbClr val="5b9bd5"/>
            </a:solidFill>
          </a:ln>
        </p:spPr>
      </p:cxnSp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6E7BCEA-171B-4570-87BF-FBFB4951BD4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F93464C-E005-4449-BCCF-6672CF559DE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800" cy="57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ectangles 5"/>
          <p:cNvSpPr/>
          <p:nvPr/>
        </p:nvSpPr>
        <p:spPr>
          <a:xfrm>
            <a:off x="329400" y="646200"/>
            <a:ext cx="11490480" cy="458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s 3"/>
          <p:cNvSpPr/>
          <p:nvPr/>
        </p:nvSpPr>
        <p:spPr>
          <a:xfrm>
            <a:off x="329040" y="6322320"/>
            <a:ext cx="11491200" cy="492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s 4"/>
          <p:cNvSpPr/>
          <p:nvPr/>
        </p:nvSpPr>
        <p:spPr>
          <a:xfrm>
            <a:off x="329400" y="1105560"/>
            <a:ext cx="10650240" cy="5216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封装完整硬件接口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提供辅助软件功能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营造理想运行环境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Rectangles 1"/>
          <p:cNvSpPr/>
          <p:nvPr/>
        </p:nvSpPr>
        <p:spPr>
          <a:xfrm>
            <a:off x="10980000" y="1105200"/>
            <a:ext cx="827640" cy="5230440"/>
          </a:xfrm>
          <a:prstGeom prst="rect">
            <a:avLst/>
          </a:prstGeom>
          <a:solidFill>
            <a:srgbClr val="5b9bd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s 17"/>
          <p:cNvSpPr/>
          <p:nvPr/>
        </p:nvSpPr>
        <p:spPr>
          <a:xfrm>
            <a:off x="4166280" y="1108440"/>
            <a:ext cx="3791160" cy="475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800" cy="57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s 18"/>
          <p:cNvSpPr/>
          <p:nvPr/>
        </p:nvSpPr>
        <p:spPr>
          <a:xfrm>
            <a:off x="329400" y="646200"/>
            <a:ext cx="11490480" cy="458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s 19"/>
          <p:cNvSpPr/>
          <p:nvPr/>
        </p:nvSpPr>
        <p:spPr>
          <a:xfrm>
            <a:off x="329040" y="6322320"/>
            <a:ext cx="11491200" cy="492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ectangles 20"/>
          <p:cNvSpPr/>
          <p:nvPr/>
        </p:nvSpPr>
        <p:spPr>
          <a:xfrm>
            <a:off x="489600" y="2436120"/>
            <a:ext cx="3216960" cy="2407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ectangles 21"/>
          <p:cNvSpPr/>
          <p:nvPr/>
        </p:nvSpPr>
        <p:spPr>
          <a:xfrm>
            <a:off x="8395200" y="2435400"/>
            <a:ext cx="3244320" cy="24181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rgbClr val="333333"/>
                </a:solidFill>
                <a:latin typeface="Arial"/>
              </a:rPr>
              <a:t>运行时支撑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ectangles 22"/>
          <p:cNvSpPr/>
          <p:nvPr/>
        </p:nvSpPr>
        <p:spPr>
          <a:xfrm>
            <a:off x="4313520" y="3420000"/>
            <a:ext cx="3464640" cy="160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框架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Rectangles 122"/>
          <p:cNvSpPr/>
          <p:nvPr/>
        </p:nvSpPr>
        <p:spPr>
          <a:xfrm>
            <a:off x="4313520" y="1108440"/>
            <a:ext cx="3464280" cy="1612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接口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语言组织封装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Rectangles 123"/>
          <p:cNvSpPr/>
          <p:nvPr/>
        </p:nvSpPr>
        <p:spPr>
          <a:xfrm>
            <a:off x="1892880" y="5108760"/>
            <a:ext cx="8327520" cy="1209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Rectangles 124"/>
          <p:cNvSpPr/>
          <p:nvPr/>
        </p:nvSpPr>
        <p:spPr>
          <a:xfrm>
            <a:off x="2054160" y="5211720"/>
            <a:ext cx="7982280" cy="1107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模块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1" name="Straight Arrow Connector 29"/>
          <p:cNvCxnSpPr/>
          <p:nvPr/>
        </p:nvCxnSpPr>
        <p:spPr>
          <a:xfrm>
            <a:off x="960120" y="4844520"/>
            <a:ext cx="1404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2" name="Straight Arrow Connector 30"/>
          <p:cNvCxnSpPr/>
          <p:nvPr/>
        </p:nvCxnSpPr>
        <p:spPr>
          <a:xfrm>
            <a:off x="11101680" y="4844520"/>
            <a:ext cx="1440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3" name="Straight Arrow Connector 31"/>
          <p:cNvCxnSpPr/>
          <p:nvPr/>
        </p:nvCxnSpPr>
        <p:spPr>
          <a:xfrm>
            <a:off x="3731760" y="364176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4" name="Straight Arrow Connector 32"/>
          <p:cNvCxnSpPr/>
          <p:nvPr/>
        </p:nvCxnSpPr>
        <p:spPr>
          <a:xfrm>
            <a:off x="7959600" y="362520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65" name="Rectangles 125"/>
          <p:cNvSpPr/>
          <p:nvPr/>
        </p:nvSpPr>
        <p:spPr>
          <a:xfrm>
            <a:off x="4177080" y="5072760"/>
            <a:ext cx="3780360" cy="100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s 23"/>
          <p:cNvSpPr/>
          <p:nvPr/>
        </p:nvSpPr>
        <p:spPr>
          <a:xfrm>
            <a:off x="4166280" y="1108440"/>
            <a:ext cx="3791160" cy="475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800" cy="57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s 25"/>
          <p:cNvSpPr/>
          <p:nvPr/>
        </p:nvSpPr>
        <p:spPr>
          <a:xfrm>
            <a:off x="329400" y="646200"/>
            <a:ext cx="11490480" cy="458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s 26"/>
          <p:cNvSpPr/>
          <p:nvPr/>
        </p:nvSpPr>
        <p:spPr>
          <a:xfrm>
            <a:off x="329040" y="6322320"/>
            <a:ext cx="11491200" cy="492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s 27"/>
          <p:cNvSpPr/>
          <p:nvPr/>
        </p:nvSpPr>
        <p:spPr>
          <a:xfrm>
            <a:off x="489600" y="2436120"/>
            <a:ext cx="3216960" cy="2407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s 28"/>
          <p:cNvSpPr/>
          <p:nvPr/>
        </p:nvSpPr>
        <p:spPr>
          <a:xfrm>
            <a:off x="8395200" y="2435400"/>
            <a:ext cx="3244320" cy="24181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rgbClr val="333333"/>
                </a:solidFill>
                <a:latin typeface="Arial"/>
              </a:rPr>
              <a:t>运行时支撑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s 29"/>
          <p:cNvSpPr/>
          <p:nvPr/>
        </p:nvSpPr>
        <p:spPr>
          <a:xfrm>
            <a:off x="4313520" y="3420000"/>
            <a:ext cx="3464640" cy="160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框架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s 115"/>
          <p:cNvSpPr/>
          <p:nvPr/>
        </p:nvSpPr>
        <p:spPr>
          <a:xfrm>
            <a:off x="4313520" y="1108440"/>
            <a:ext cx="3464280" cy="1612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接口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语言组织封装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s 116"/>
          <p:cNvSpPr/>
          <p:nvPr/>
        </p:nvSpPr>
        <p:spPr>
          <a:xfrm>
            <a:off x="1892880" y="5108760"/>
            <a:ext cx="8327520" cy="1209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Rectangles 117"/>
          <p:cNvSpPr/>
          <p:nvPr/>
        </p:nvSpPr>
        <p:spPr>
          <a:xfrm>
            <a:off x="2054160" y="5211720"/>
            <a:ext cx="7982280" cy="1107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模块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s 118"/>
          <p:cNvSpPr/>
          <p:nvPr/>
        </p:nvSpPr>
        <p:spPr>
          <a:xfrm>
            <a:off x="442908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s 119"/>
          <p:cNvSpPr/>
          <p:nvPr/>
        </p:nvSpPr>
        <p:spPr>
          <a:xfrm>
            <a:off x="555804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s 120"/>
          <p:cNvSpPr/>
          <p:nvPr/>
        </p:nvSpPr>
        <p:spPr>
          <a:xfrm>
            <a:off x="6711480" y="2054520"/>
            <a:ext cx="974160" cy="5464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9" name="Straight Arrow Connector 21"/>
          <p:cNvCxnSpPr/>
          <p:nvPr/>
        </p:nvCxnSpPr>
        <p:spPr>
          <a:xfrm>
            <a:off x="960120" y="4844520"/>
            <a:ext cx="1404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80" name="Straight Arrow Connector 22"/>
          <p:cNvCxnSpPr/>
          <p:nvPr/>
        </p:nvCxnSpPr>
        <p:spPr>
          <a:xfrm>
            <a:off x="11101680" y="4844520"/>
            <a:ext cx="1440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81" name="Straight Arrow Connector 23"/>
          <p:cNvCxnSpPr/>
          <p:nvPr/>
        </p:nvCxnSpPr>
        <p:spPr>
          <a:xfrm>
            <a:off x="3731760" y="364176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82" name="Straight Arrow Connector 24"/>
          <p:cNvCxnSpPr/>
          <p:nvPr/>
        </p:nvCxnSpPr>
        <p:spPr>
          <a:xfrm>
            <a:off x="7959600" y="362520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83" name="Rectangles 121"/>
          <p:cNvSpPr/>
          <p:nvPr/>
        </p:nvSpPr>
        <p:spPr>
          <a:xfrm>
            <a:off x="4177080" y="5072760"/>
            <a:ext cx="3780360" cy="100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s 30"/>
          <p:cNvSpPr/>
          <p:nvPr/>
        </p:nvSpPr>
        <p:spPr>
          <a:xfrm>
            <a:off x="4166280" y="1108440"/>
            <a:ext cx="3791160" cy="475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800" cy="57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s 31"/>
          <p:cNvSpPr/>
          <p:nvPr/>
        </p:nvSpPr>
        <p:spPr>
          <a:xfrm>
            <a:off x="329400" y="646200"/>
            <a:ext cx="11490480" cy="458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s 32"/>
          <p:cNvSpPr/>
          <p:nvPr/>
        </p:nvSpPr>
        <p:spPr>
          <a:xfrm>
            <a:off x="329040" y="6322320"/>
            <a:ext cx="11491200" cy="492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s 33"/>
          <p:cNvSpPr/>
          <p:nvPr/>
        </p:nvSpPr>
        <p:spPr>
          <a:xfrm>
            <a:off x="489600" y="2436120"/>
            <a:ext cx="3216960" cy="2407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s 34"/>
          <p:cNvSpPr/>
          <p:nvPr/>
        </p:nvSpPr>
        <p:spPr>
          <a:xfrm>
            <a:off x="8395200" y="2435400"/>
            <a:ext cx="3244320" cy="24181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rgbClr val="333333"/>
                </a:solidFill>
                <a:latin typeface="Arial"/>
              </a:rPr>
              <a:t>运行时支撑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s 35"/>
          <p:cNvSpPr/>
          <p:nvPr/>
        </p:nvSpPr>
        <p:spPr>
          <a:xfrm>
            <a:off x="4313520" y="3420000"/>
            <a:ext cx="3464640" cy="160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框架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s 105"/>
          <p:cNvSpPr/>
          <p:nvPr/>
        </p:nvSpPr>
        <p:spPr>
          <a:xfrm>
            <a:off x="4313520" y="1108440"/>
            <a:ext cx="3464280" cy="1612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接口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语言组织封装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s 106"/>
          <p:cNvSpPr/>
          <p:nvPr/>
        </p:nvSpPr>
        <p:spPr>
          <a:xfrm>
            <a:off x="1892880" y="5108760"/>
            <a:ext cx="8327520" cy="1209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Rectangles 107"/>
          <p:cNvSpPr/>
          <p:nvPr/>
        </p:nvSpPr>
        <p:spPr>
          <a:xfrm>
            <a:off x="2054160" y="5211720"/>
            <a:ext cx="7982280" cy="1107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模块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s 108"/>
          <p:cNvSpPr/>
          <p:nvPr/>
        </p:nvSpPr>
        <p:spPr>
          <a:xfrm>
            <a:off x="442908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s 109"/>
          <p:cNvSpPr/>
          <p:nvPr/>
        </p:nvSpPr>
        <p:spPr>
          <a:xfrm>
            <a:off x="555804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s 110"/>
          <p:cNvSpPr/>
          <p:nvPr/>
        </p:nvSpPr>
        <p:spPr>
          <a:xfrm>
            <a:off x="6711480" y="2054520"/>
            <a:ext cx="974160" cy="5464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" name="Straight Arrow Connector 17"/>
          <p:cNvCxnSpPr/>
          <p:nvPr/>
        </p:nvCxnSpPr>
        <p:spPr>
          <a:xfrm>
            <a:off x="960120" y="4844520"/>
            <a:ext cx="1404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98" name="Straight Arrow Connector 18"/>
          <p:cNvCxnSpPr/>
          <p:nvPr/>
        </p:nvCxnSpPr>
        <p:spPr>
          <a:xfrm>
            <a:off x="11101680" y="4844520"/>
            <a:ext cx="1440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99" name="Straight Arrow Connector 19"/>
          <p:cNvCxnSpPr/>
          <p:nvPr/>
        </p:nvCxnSpPr>
        <p:spPr>
          <a:xfrm>
            <a:off x="3731760" y="364176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00" name="Straight Arrow Connector 20"/>
          <p:cNvCxnSpPr/>
          <p:nvPr/>
        </p:nvCxnSpPr>
        <p:spPr>
          <a:xfrm>
            <a:off x="7959600" y="362520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01" name="Rectangles 111"/>
          <p:cNvSpPr/>
          <p:nvPr/>
        </p:nvSpPr>
        <p:spPr>
          <a:xfrm>
            <a:off x="53532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数据类型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地址类型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s 112"/>
          <p:cNvSpPr/>
          <p:nvPr/>
        </p:nvSpPr>
        <p:spPr>
          <a:xfrm>
            <a:off x="161532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衍生类型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堆叠类型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共享类型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s 113"/>
          <p:cNvSpPr/>
          <p:nvPr/>
        </p:nvSpPr>
        <p:spPr>
          <a:xfrm>
            <a:off x="266400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修饰限定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空间限定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时间限定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s 114"/>
          <p:cNvSpPr/>
          <p:nvPr/>
        </p:nvSpPr>
        <p:spPr>
          <a:xfrm>
            <a:off x="4177080" y="5072760"/>
            <a:ext cx="3780360" cy="100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s 38"/>
          <p:cNvSpPr/>
          <p:nvPr/>
        </p:nvSpPr>
        <p:spPr>
          <a:xfrm>
            <a:off x="4166280" y="1108440"/>
            <a:ext cx="3791160" cy="475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800" cy="57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s 39"/>
          <p:cNvSpPr/>
          <p:nvPr/>
        </p:nvSpPr>
        <p:spPr>
          <a:xfrm>
            <a:off x="329400" y="646200"/>
            <a:ext cx="11490480" cy="458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s 40"/>
          <p:cNvSpPr/>
          <p:nvPr/>
        </p:nvSpPr>
        <p:spPr>
          <a:xfrm>
            <a:off x="329040" y="6322320"/>
            <a:ext cx="11491200" cy="492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s 41"/>
          <p:cNvSpPr/>
          <p:nvPr/>
        </p:nvSpPr>
        <p:spPr>
          <a:xfrm>
            <a:off x="489600" y="2436120"/>
            <a:ext cx="3216960" cy="2407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ctangles 42"/>
          <p:cNvSpPr/>
          <p:nvPr/>
        </p:nvSpPr>
        <p:spPr>
          <a:xfrm>
            <a:off x="8395200" y="2435400"/>
            <a:ext cx="3244320" cy="24181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rgbClr val="333333"/>
                </a:solidFill>
                <a:latin typeface="Arial"/>
              </a:rPr>
              <a:t>运行时支撑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ectangles 43"/>
          <p:cNvSpPr/>
          <p:nvPr/>
        </p:nvSpPr>
        <p:spPr>
          <a:xfrm>
            <a:off x="4313520" y="3420000"/>
            <a:ext cx="3464640" cy="160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框架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s 92"/>
          <p:cNvSpPr/>
          <p:nvPr/>
        </p:nvSpPr>
        <p:spPr>
          <a:xfrm>
            <a:off x="4313520" y="1108440"/>
            <a:ext cx="3464280" cy="1612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接口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语言组织封装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s 93"/>
          <p:cNvSpPr/>
          <p:nvPr/>
        </p:nvSpPr>
        <p:spPr>
          <a:xfrm>
            <a:off x="1892880" y="5108760"/>
            <a:ext cx="8327520" cy="1209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" name="Rectangles 94"/>
          <p:cNvSpPr/>
          <p:nvPr/>
        </p:nvSpPr>
        <p:spPr>
          <a:xfrm>
            <a:off x="2054160" y="5211720"/>
            <a:ext cx="7982280" cy="1107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模块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s 95"/>
          <p:cNvSpPr/>
          <p:nvPr/>
        </p:nvSpPr>
        <p:spPr>
          <a:xfrm>
            <a:off x="442908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s 96"/>
          <p:cNvSpPr/>
          <p:nvPr/>
        </p:nvSpPr>
        <p:spPr>
          <a:xfrm>
            <a:off x="555804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s 97"/>
          <p:cNvSpPr/>
          <p:nvPr/>
        </p:nvSpPr>
        <p:spPr>
          <a:xfrm>
            <a:off x="6711480" y="2054520"/>
            <a:ext cx="974160" cy="5464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" name="Straight Arrow Connector 13"/>
          <p:cNvCxnSpPr/>
          <p:nvPr/>
        </p:nvCxnSpPr>
        <p:spPr>
          <a:xfrm>
            <a:off x="960120" y="4844520"/>
            <a:ext cx="1404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19" name="Straight Arrow Connector 14"/>
          <p:cNvCxnSpPr/>
          <p:nvPr/>
        </p:nvCxnSpPr>
        <p:spPr>
          <a:xfrm>
            <a:off x="11101680" y="4844520"/>
            <a:ext cx="1440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20" name="Straight Arrow Connector 15"/>
          <p:cNvCxnSpPr/>
          <p:nvPr/>
        </p:nvCxnSpPr>
        <p:spPr>
          <a:xfrm>
            <a:off x="3731760" y="364176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21" name="Straight Arrow Connector 16"/>
          <p:cNvCxnSpPr/>
          <p:nvPr/>
        </p:nvCxnSpPr>
        <p:spPr>
          <a:xfrm>
            <a:off x="7959600" y="362520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22" name="Rectangles 98"/>
          <p:cNvSpPr/>
          <p:nvPr/>
        </p:nvSpPr>
        <p:spPr>
          <a:xfrm>
            <a:off x="53532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数据类型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地址类型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s 99"/>
          <p:cNvSpPr/>
          <p:nvPr/>
        </p:nvSpPr>
        <p:spPr>
          <a:xfrm>
            <a:off x="161532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衍生类型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堆叠类型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共享类型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s 100"/>
          <p:cNvSpPr/>
          <p:nvPr/>
        </p:nvSpPr>
        <p:spPr>
          <a:xfrm>
            <a:off x="266400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修饰限定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空间限定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时间限定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s 101"/>
          <p:cNvSpPr/>
          <p:nvPr/>
        </p:nvSpPr>
        <p:spPr>
          <a:xfrm>
            <a:off x="3600000" y="5400000"/>
            <a:ext cx="974160" cy="825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继承计算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汇编运算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内联汇编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s 102"/>
          <p:cNvSpPr/>
          <p:nvPr/>
        </p:nvSpPr>
        <p:spPr>
          <a:xfrm>
            <a:off x="6943320" y="5400000"/>
            <a:ext cx="974160" cy="825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衍生计算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类型运算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内置函数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s 103"/>
          <p:cNvSpPr/>
          <p:nvPr/>
        </p:nvSpPr>
        <p:spPr>
          <a:xfrm>
            <a:off x="8599320" y="5400000"/>
            <a:ext cx="974160" cy="82548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复杂计算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支撑衍生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高阶数学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s 104"/>
          <p:cNvSpPr/>
          <p:nvPr/>
        </p:nvSpPr>
        <p:spPr>
          <a:xfrm>
            <a:off x="4177080" y="5072760"/>
            <a:ext cx="3780360" cy="100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s 44"/>
          <p:cNvSpPr/>
          <p:nvPr/>
        </p:nvSpPr>
        <p:spPr>
          <a:xfrm>
            <a:off x="4166280" y="1108440"/>
            <a:ext cx="3791160" cy="475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800" cy="57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s 45"/>
          <p:cNvSpPr/>
          <p:nvPr/>
        </p:nvSpPr>
        <p:spPr>
          <a:xfrm>
            <a:off x="329400" y="646200"/>
            <a:ext cx="11490480" cy="458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s 46"/>
          <p:cNvSpPr/>
          <p:nvPr/>
        </p:nvSpPr>
        <p:spPr>
          <a:xfrm>
            <a:off x="329040" y="6322320"/>
            <a:ext cx="11491200" cy="492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s 47"/>
          <p:cNvSpPr/>
          <p:nvPr/>
        </p:nvSpPr>
        <p:spPr>
          <a:xfrm>
            <a:off x="489600" y="2436120"/>
            <a:ext cx="3216960" cy="2407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s 48"/>
          <p:cNvSpPr/>
          <p:nvPr/>
        </p:nvSpPr>
        <p:spPr>
          <a:xfrm>
            <a:off x="8395200" y="2435400"/>
            <a:ext cx="3244320" cy="24181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rgbClr val="333333"/>
                </a:solidFill>
                <a:latin typeface="Arial"/>
              </a:rPr>
              <a:t>运行时支撑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s 49"/>
          <p:cNvSpPr/>
          <p:nvPr/>
        </p:nvSpPr>
        <p:spPr>
          <a:xfrm>
            <a:off x="4313520" y="3420000"/>
            <a:ext cx="3464640" cy="160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框架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s 50"/>
          <p:cNvSpPr/>
          <p:nvPr/>
        </p:nvSpPr>
        <p:spPr>
          <a:xfrm>
            <a:off x="4313520" y="1108440"/>
            <a:ext cx="3464280" cy="1612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接口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语言组织封装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ectangles 51"/>
          <p:cNvSpPr/>
          <p:nvPr/>
        </p:nvSpPr>
        <p:spPr>
          <a:xfrm>
            <a:off x="1892880" y="5108760"/>
            <a:ext cx="8327520" cy="1209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8" name="Rectangles 78"/>
          <p:cNvSpPr/>
          <p:nvPr/>
        </p:nvSpPr>
        <p:spPr>
          <a:xfrm>
            <a:off x="2054160" y="5211720"/>
            <a:ext cx="7982280" cy="1107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模块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ectangles 79"/>
          <p:cNvSpPr/>
          <p:nvPr/>
        </p:nvSpPr>
        <p:spPr>
          <a:xfrm>
            <a:off x="442908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s 80"/>
          <p:cNvSpPr/>
          <p:nvPr/>
        </p:nvSpPr>
        <p:spPr>
          <a:xfrm>
            <a:off x="555804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s 81"/>
          <p:cNvSpPr/>
          <p:nvPr/>
        </p:nvSpPr>
        <p:spPr>
          <a:xfrm>
            <a:off x="6711480" y="2054520"/>
            <a:ext cx="974160" cy="5464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2" name="Straight Arrow Connector 9"/>
          <p:cNvCxnSpPr/>
          <p:nvPr/>
        </p:nvCxnSpPr>
        <p:spPr>
          <a:xfrm>
            <a:off x="960120" y="4844520"/>
            <a:ext cx="1404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43" name="Straight Arrow Connector 10"/>
          <p:cNvCxnSpPr/>
          <p:nvPr/>
        </p:nvCxnSpPr>
        <p:spPr>
          <a:xfrm>
            <a:off x="11101680" y="4844520"/>
            <a:ext cx="1440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44" name="Straight Arrow Connector 11"/>
          <p:cNvCxnSpPr/>
          <p:nvPr/>
        </p:nvCxnSpPr>
        <p:spPr>
          <a:xfrm>
            <a:off x="3731760" y="364176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45" name="Straight Arrow Connector 12"/>
          <p:cNvCxnSpPr/>
          <p:nvPr/>
        </p:nvCxnSpPr>
        <p:spPr>
          <a:xfrm>
            <a:off x="7959600" y="362520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46" name="Rectangles 82"/>
          <p:cNvSpPr/>
          <p:nvPr/>
        </p:nvSpPr>
        <p:spPr>
          <a:xfrm>
            <a:off x="4402800" y="4140000"/>
            <a:ext cx="974160" cy="8042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变量函数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分支循环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s 83"/>
          <p:cNvSpPr/>
          <p:nvPr/>
        </p:nvSpPr>
        <p:spPr>
          <a:xfrm>
            <a:off x="53532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数据类型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地址类型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s 84"/>
          <p:cNvSpPr/>
          <p:nvPr/>
        </p:nvSpPr>
        <p:spPr>
          <a:xfrm>
            <a:off x="161532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衍生类型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堆叠类型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共享类型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s 85"/>
          <p:cNvSpPr/>
          <p:nvPr/>
        </p:nvSpPr>
        <p:spPr>
          <a:xfrm>
            <a:off x="266400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修饰限定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空间限定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时间限定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s 86"/>
          <p:cNvSpPr/>
          <p:nvPr/>
        </p:nvSpPr>
        <p:spPr>
          <a:xfrm>
            <a:off x="6691320" y="4140000"/>
            <a:ext cx="974160" cy="78948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复杂调度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支撑继承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管理状态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ectangles 87"/>
          <p:cNvSpPr/>
          <p:nvPr/>
        </p:nvSpPr>
        <p:spPr>
          <a:xfrm>
            <a:off x="3600000" y="5400000"/>
            <a:ext cx="974160" cy="825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继承计算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汇编运算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内联汇编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s 88"/>
          <p:cNvSpPr/>
          <p:nvPr/>
        </p:nvSpPr>
        <p:spPr>
          <a:xfrm>
            <a:off x="6943320" y="5400000"/>
            <a:ext cx="974160" cy="825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衍生计算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类型运算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内置函数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s 89"/>
          <p:cNvSpPr/>
          <p:nvPr/>
        </p:nvSpPr>
        <p:spPr>
          <a:xfrm>
            <a:off x="8599320" y="5400000"/>
            <a:ext cx="974160" cy="82548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复杂计算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支撑衍生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高阶数学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ectangles 90"/>
          <p:cNvSpPr/>
          <p:nvPr/>
        </p:nvSpPr>
        <p:spPr>
          <a:xfrm>
            <a:off x="4177080" y="5072760"/>
            <a:ext cx="3780360" cy="100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5" name="Rectangles 91"/>
          <p:cNvSpPr/>
          <p:nvPr/>
        </p:nvSpPr>
        <p:spPr>
          <a:xfrm>
            <a:off x="5551560" y="4129920"/>
            <a:ext cx="974160" cy="825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预处理类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内容处理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动作处理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s 52"/>
          <p:cNvSpPr/>
          <p:nvPr/>
        </p:nvSpPr>
        <p:spPr>
          <a:xfrm>
            <a:off x="4166280" y="1108440"/>
            <a:ext cx="3791160" cy="475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1800" cy="57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ectangles 53"/>
          <p:cNvSpPr/>
          <p:nvPr/>
        </p:nvSpPr>
        <p:spPr>
          <a:xfrm>
            <a:off x="329400" y="646200"/>
            <a:ext cx="11490480" cy="4586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s 54"/>
          <p:cNvSpPr/>
          <p:nvPr/>
        </p:nvSpPr>
        <p:spPr>
          <a:xfrm>
            <a:off x="329040" y="6322320"/>
            <a:ext cx="11491200" cy="492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s 55"/>
          <p:cNvSpPr/>
          <p:nvPr/>
        </p:nvSpPr>
        <p:spPr>
          <a:xfrm>
            <a:off x="489600" y="2436120"/>
            <a:ext cx="3216960" cy="2407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ectangles 56"/>
          <p:cNvSpPr/>
          <p:nvPr/>
        </p:nvSpPr>
        <p:spPr>
          <a:xfrm>
            <a:off x="8395200" y="2435400"/>
            <a:ext cx="3244320" cy="24181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rgbClr val="333333"/>
                </a:solidFill>
                <a:latin typeface="Arial"/>
              </a:rPr>
              <a:t>运行时支撑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ectangles 57"/>
          <p:cNvSpPr/>
          <p:nvPr/>
        </p:nvSpPr>
        <p:spPr>
          <a:xfrm>
            <a:off x="4313520" y="3420000"/>
            <a:ext cx="3464640" cy="1600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框架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ectangles 58"/>
          <p:cNvSpPr/>
          <p:nvPr/>
        </p:nvSpPr>
        <p:spPr>
          <a:xfrm>
            <a:off x="4313520" y="1108440"/>
            <a:ext cx="3464280" cy="1612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接口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语言组织封装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ectangles 59"/>
          <p:cNvSpPr/>
          <p:nvPr/>
        </p:nvSpPr>
        <p:spPr>
          <a:xfrm>
            <a:off x="1892880" y="5108760"/>
            <a:ext cx="8327520" cy="1209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5" name="Rectangles 60"/>
          <p:cNvSpPr/>
          <p:nvPr/>
        </p:nvSpPr>
        <p:spPr>
          <a:xfrm>
            <a:off x="2054160" y="5211720"/>
            <a:ext cx="7982280" cy="1107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模块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Rectangles 61"/>
          <p:cNvSpPr/>
          <p:nvPr/>
        </p:nvSpPr>
        <p:spPr>
          <a:xfrm>
            <a:off x="442908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s 62"/>
          <p:cNvSpPr/>
          <p:nvPr/>
        </p:nvSpPr>
        <p:spPr>
          <a:xfrm>
            <a:off x="5558040" y="2057040"/>
            <a:ext cx="974160" cy="549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s 63"/>
          <p:cNvSpPr/>
          <p:nvPr/>
        </p:nvSpPr>
        <p:spPr>
          <a:xfrm>
            <a:off x="6711480" y="2054520"/>
            <a:ext cx="974160" cy="5464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9" name="Straight Arrow Connector 5"/>
          <p:cNvCxnSpPr/>
          <p:nvPr/>
        </p:nvCxnSpPr>
        <p:spPr>
          <a:xfrm>
            <a:off x="960120" y="4844520"/>
            <a:ext cx="1404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70" name="Straight Arrow Connector 6"/>
          <p:cNvCxnSpPr/>
          <p:nvPr/>
        </p:nvCxnSpPr>
        <p:spPr>
          <a:xfrm>
            <a:off x="11101680" y="4844520"/>
            <a:ext cx="14400" cy="149400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71" name="Straight Arrow Connector 7"/>
          <p:cNvCxnSpPr/>
          <p:nvPr/>
        </p:nvCxnSpPr>
        <p:spPr>
          <a:xfrm>
            <a:off x="3731760" y="364176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72" name="Straight Arrow Connector 8"/>
          <p:cNvCxnSpPr/>
          <p:nvPr/>
        </p:nvCxnSpPr>
        <p:spPr>
          <a:xfrm>
            <a:off x="7959600" y="3625200"/>
            <a:ext cx="450000" cy="756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73" name="Rectangles 64"/>
          <p:cNvSpPr/>
          <p:nvPr/>
        </p:nvSpPr>
        <p:spPr>
          <a:xfrm>
            <a:off x="4402800" y="4140000"/>
            <a:ext cx="974160" cy="80424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变量函数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分支循环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s 65"/>
          <p:cNvSpPr/>
          <p:nvPr/>
        </p:nvSpPr>
        <p:spPr>
          <a:xfrm>
            <a:off x="53532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数据类型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地址类型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s 66"/>
          <p:cNvSpPr/>
          <p:nvPr/>
        </p:nvSpPr>
        <p:spPr>
          <a:xfrm>
            <a:off x="161532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衍生类型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堆叠类型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共享类型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s 67"/>
          <p:cNvSpPr/>
          <p:nvPr/>
        </p:nvSpPr>
        <p:spPr>
          <a:xfrm>
            <a:off x="2664000" y="3420000"/>
            <a:ext cx="974160" cy="897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修饰限定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空间限定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时间限定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s 68"/>
          <p:cNvSpPr/>
          <p:nvPr/>
        </p:nvSpPr>
        <p:spPr>
          <a:xfrm>
            <a:off x="6691320" y="4140000"/>
            <a:ext cx="974160" cy="78948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复杂调度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支撑继承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管理状态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Rectangles 69"/>
          <p:cNvSpPr/>
          <p:nvPr/>
        </p:nvSpPr>
        <p:spPr>
          <a:xfrm>
            <a:off x="3600000" y="5400000"/>
            <a:ext cx="974160" cy="825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继承计算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汇编运算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内联汇编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s 70"/>
          <p:cNvSpPr/>
          <p:nvPr/>
        </p:nvSpPr>
        <p:spPr>
          <a:xfrm>
            <a:off x="6943320" y="5400000"/>
            <a:ext cx="974160" cy="825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衍生计算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类型运算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内置函数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ectangles 71"/>
          <p:cNvSpPr/>
          <p:nvPr/>
        </p:nvSpPr>
        <p:spPr>
          <a:xfrm>
            <a:off x="8599320" y="5400000"/>
            <a:ext cx="974160" cy="82548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复杂计算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支撑衍生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高阶混合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ectangles 72"/>
          <p:cNvSpPr/>
          <p:nvPr/>
        </p:nvSpPr>
        <p:spPr>
          <a:xfrm>
            <a:off x="8496000" y="3528000"/>
            <a:ext cx="974160" cy="7178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拓展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Rectangles 73"/>
          <p:cNvSpPr/>
          <p:nvPr/>
        </p:nvSpPr>
        <p:spPr>
          <a:xfrm>
            <a:off x="10579320" y="3528360"/>
            <a:ext cx="974160" cy="71748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资源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ectangles 74"/>
          <p:cNvSpPr/>
          <p:nvPr/>
        </p:nvSpPr>
        <p:spPr>
          <a:xfrm>
            <a:off x="9540000" y="3528000"/>
            <a:ext cx="974160" cy="9705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运营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Rectangles 75"/>
          <p:cNvSpPr/>
          <p:nvPr/>
        </p:nvSpPr>
        <p:spPr>
          <a:xfrm>
            <a:off x="4177080" y="5072760"/>
            <a:ext cx="3780360" cy="100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5" name="Rectangles 76"/>
          <p:cNvSpPr/>
          <p:nvPr/>
        </p:nvSpPr>
        <p:spPr>
          <a:xfrm>
            <a:off x="5551560" y="4129920"/>
            <a:ext cx="974160" cy="8254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预处理类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内容处理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666666"/>
                </a:solidFill>
                <a:latin typeface="Arial"/>
              </a:rPr>
              <a:t>动作处理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s 77"/>
          <p:cNvSpPr/>
          <p:nvPr/>
        </p:nvSpPr>
        <p:spPr>
          <a:xfrm>
            <a:off x="8784000" y="4356000"/>
            <a:ext cx="2518560" cy="35820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语言宿主虚拟机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</TotalTime>
  <Application>LibreOffice/24.2.7.2$Linux_RISCV64 LibreOffice_project/420$Build-2</Application>
  <AppVersion>15.0000</AppVersion>
  <Words>756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2026-07-05T00:27:39Z</dcterms:created>
  <dc:creator/>
  <dc:description/>
  <dc:language>zh-CN</dc:language>
  <cp:lastModifiedBy/>
  <dcterms:modified xsi:type="dcterms:W3CDTF">2026-07-26T10:17:01Z</dcterms:modified>
  <cp:revision>730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