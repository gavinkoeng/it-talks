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449" r:id="rId3"/>
    <p:sldId id="455" r:id="rId5"/>
    <p:sldId id="454" r:id="rId6"/>
    <p:sldId id="452" r:id="rId7"/>
    <p:sldId id="451" r:id="rId8"/>
    <p:sldId id="450" r:id="rId9"/>
    <p:sldId id="444" r:id="rId10"/>
    <p:sldId id="453" r:id="rId11"/>
    <p:sldId id="448" r:id="rId12"/>
    <p:sldId id="447" r:id="rId13"/>
    <p:sldId id="446" r:id="rId14"/>
    <p:sldId id="445" r:id="rId15"/>
    <p:sldId id="443" r:id="rId16"/>
    <p:sldId id="441" r:id="rId17"/>
    <p:sldId id="440" r:id="rId18"/>
    <p:sldId id="439" r:id="rId19"/>
    <p:sldId id="438" r:id="rId20"/>
    <p:sldId id="456" r:id="rId21"/>
    <p:sldId id="437" r:id="rId22"/>
    <p:sldId id="432" r:id="rId23"/>
    <p:sldId id="428" r:id="rId24"/>
    <p:sldId id="416" r:id="rId25"/>
    <p:sldId id="426" r:id="rId26"/>
    <p:sldId id="420" r:id="rId2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43"/>
        <p:guide pos="388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948690"/>
            <a:ext cx="11647805" cy="5300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bg1">
                    <a:lumMod val="65000"/>
                  </a:schemeClr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bg1">
                    <a:lumMod val="65000"/>
                  </a:schemeClr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bg1">
                    <a:lumMod val="65000"/>
                  </a:schemeClr>
                </a:solidFill>
                <a:sym typeface="+mn-ea"/>
              </a:rPr>
              <a:t>)</a:t>
            </a:r>
            <a:endParaRPr lang="zh-CN" altLang="en-US" sz="2000" b="1">
              <a:solidFill>
                <a:schemeClr val="bg1">
                  <a:lumMod val="65000"/>
                </a:schemeClr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en-US" altLang="zh-CN" sz="2400" b="1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-US" altLang="zh-CN" sz="2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en-US" altLang="zh-CN" sz="2400" b="1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-US" altLang="zh-CN" sz="2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</a:t>
            </a:r>
            <a:r>
              <a:rPr lang="en-US" altLang="zh-CN" sz="2400" b="1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-US" altLang="zh-CN" sz="2400" b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4610" y="2998470"/>
            <a:ext cx="21729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宿主存储传输</a:t>
            </a:r>
            <a:r>
              <a:rPr lang="en-US" altLang="zh-CN" sz="1200" b="1"/>
              <a:t>(</a:t>
            </a:r>
            <a:r>
              <a:rPr lang="zh-CN" altLang="en-US" sz="1200" b="1"/>
              <a:t>含</a:t>
            </a:r>
            <a:r>
              <a:rPr lang="en-US" altLang="zh-CN" sz="1200" b="1"/>
              <a:t>binfmt)</a:t>
            </a:r>
            <a:endParaRPr lang="en-US" altLang="zh-CN" sz="1200" b="1"/>
          </a:p>
        </p:txBody>
      </p:sp>
      <p:sp>
        <p:nvSpPr>
          <p:cNvPr id="26" name="Text Box 25"/>
          <p:cNvSpPr txBox="1"/>
          <p:nvPr/>
        </p:nvSpPr>
        <p:spPr>
          <a:xfrm>
            <a:off x="66675" y="3256915"/>
            <a:ext cx="21602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模拟处理</a:t>
            </a:r>
            <a:r>
              <a:rPr lang="en-US" altLang="zh-CN" sz="1200" b="1"/>
              <a:t>(</a:t>
            </a:r>
            <a:r>
              <a:rPr lang="zh-CN" altLang="en-US" sz="1200" b="1"/>
              <a:t>用户态进程环境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33" name="Text Box 32"/>
          <p:cNvSpPr txBox="1"/>
          <p:nvPr/>
        </p:nvSpPr>
        <p:spPr>
          <a:xfrm>
            <a:off x="8890" y="3524885"/>
            <a:ext cx="2174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 b="1">
                <a:sym typeface="+mn-ea"/>
              </a:rPr>
              <a:t>内处理：模拟指令系统调用</a:t>
            </a:r>
            <a:endParaRPr lang="zh-CN" altLang="en-US" sz="1200" b="1"/>
          </a:p>
          <a:p>
            <a:pPr algn="ctr"/>
            <a:r>
              <a:rPr lang="zh-CN" altLang="en-US" sz="1200" b="1">
                <a:sym typeface="+mn-ea"/>
              </a:rPr>
              <a:t>内传输：加载卸载</a:t>
            </a:r>
            <a:r>
              <a:rPr lang="en-US" altLang="zh-CN" sz="1200" b="1">
                <a:sym typeface="+mn-ea"/>
              </a:rPr>
              <a:t>ELF</a:t>
            </a:r>
            <a:r>
              <a:rPr lang="zh-CN" altLang="en-US" sz="1200" b="1">
                <a:sym typeface="+mn-ea"/>
              </a:rPr>
              <a:t>程序</a:t>
            </a:r>
            <a:endParaRPr lang="zh-CN" altLang="en-US" sz="1200" b="1">
              <a:sym typeface="+mn-ea"/>
            </a:endParaRPr>
          </a:p>
          <a:p>
            <a:pPr algn="ctr"/>
            <a:r>
              <a:rPr lang="zh-CN" altLang="en-US" sz="1200" b="1"/>
              <a:t>内存储：管理内存工作环境</a:t>
            </a:r>
            <a:endParaRPr lang="zh-CN" altLang="en-US" sz="12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20" name="Text Box 19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21" name="Text Box 20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</a:rPr>
              <a:t>(</a:t>
            </a:r>
            <a:r>
              <a:rPr lang="zh-CN" altLang="en-US" b="1">
                <a:solidFill>
                  <a:schemeClr val="tx1"/>
                </a:solidFill>
              </a:rPr>
              <a:t>平台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216910" y="3217545"/>
            <a:ext cx="1871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系统处理内部存储</a:t>
            </a:r>
            <a:endParaRPr lang="zh-CN" altLang="en-US" sz="1400" b="1"/>
          </a:p>
        </p:txBody>
      </p:sp>
      <p:sp>
        <p:nvSpPr>
          <p:cNvPr id="15" name="Text Box 14"/>
          <p:cNvSpPr txBox="1"/>
          <p:nvPr/>
        </p:nvSpPr>
        <p:spPr>
          <a:xfrm>
            <a:off x="10009505" y="3171825"/>
            <a:ext cx="1871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系统处理内部传输</a:t>
            </a:r>
            <a:endParaRPr lang="zh-CN" altLang="en-US" sz="1400" b="1"/>
          </a:p>
        </p:txBody>
      </p:sp>
      <p:sp>
        <p:nvSpPr>
          <p:cNvPr id="16" name="Text Box 15"/>
          <p:cNvSpPr txBox="1"/>
          <p:nvPr/>
        </p:nvSpPr>
        <p:spPr>
          <a:xfrm>
            <a:off x="6173470" y="3651885"/>
            <a:ext cx="2789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系统处理内部计算</a:t>
            </a:r>
            <a:r>
              <a:rPr lang="en-US" altLang="zh-CN" sz="1200" b="1"/>
              <a:t>(</a:t>
            </a:r>
            <a:r>
              <a:rPr lang="zh-CN" altLang="en-US" sz="1200" b="1"/>
              <a:t>抽象设备集合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18" name="Text Box 17"/>
          <p:cNvSpPr txBox="1"/>
          <p:nvPr/>
        </p:nvSpPr>
        <p:spPr>
          <a:xfrm>
            <a:off x="6243955" y="2710180"/>
            <a:ext cx="2600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系统处理内部调度</a:t>
            </a:r>
            <a:r>
              <a:rPr lang="en-US" altLang="zh-CN" sz="1200" b="1"/>
              <a:t>(</a:t>
            </a:r>
            <a:r>
              <a:rPr lang="zh-CN" altLang="en-US" sz="1200" b="1"/>
              <a:t>含接口实现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19" name="Text Box 18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20" name="Text Box 19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21" name="Text Box 20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3216910" y="3217545"/>
            <a:ext cx="1871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系统处理内部存储</a:t>
            </a:r>
            <a:endParaRPr lang="zh-CN" altLang="en-US" sz="1400" b="1"/>
          </a:p>
        </p:txBody>
      </p:sp>
      <p:sp>
        <p:nvSpPr>
          <p:cNvPr id="15" name="Text Box 14"/>
          <p:cNvSpPr txBox="1"/>
          <p:nvPr/>
        </p:nvSpPr>
        <p:spPr>
          <a:xfrm>
            <a:off x="10009505" y="3171825"/>
            <a:ext cx="1871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系统处理内部传输</a:t>
            </a:r>
            <a:endParaRPr lang="zh-CN" altLang="en-US" sz="1400" b="1"/>
          </a:p>
        </p:txBody>
      </p:sp>
      <p:sp>
        <p:nvSpPr>
          <p:cNvPr id="16" name="Text Box 15"/>
          <p:cNvSpPr txBox="1"/>
          <p:nvPr/>
        </p:nvSpPr>
        <p:spPr>
          <a:xfrm>
            <a:off x="6173470" y="3651885"/>
            <a:ext cx="2789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系统处理内部计算</a:t>
            </a:r>
            <a:r>
              <a:rPr lang="en-US" altLang="zh-CN" sz="1200" b="1"/>
              <a:t>(</a:t>
            </a:r>
            <a:r>
              <a:rPr lang="zh-CN" altLang="en-US" sz="1200" b="1"/>
              <a:t>抽象设备集合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18" name="Text Box 17"/>
          <p:cNvSpPr txBox="1"/>
          <p:nvPr/>
        </p:nvSpPr>
        <p:spPr>
          <a:xfrm>
            <a:off x="6243955" y="2710180"/>
            <a:ext cx="2600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系统处理内部调度</a:t>
            </a:r>
            <a:r>
              <a:rPr lang="en-US" altLang="zh-CN" sz="1200" b="1"/>
              <a:t>(</a:t>
            </a:r>
            <a:r>
              <a:rPr lang="zh-CN" altLang="en-US" sz="1200" b="1"/>
              <a:t>含接口实现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19" name="Text Box 18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20" name="Text Box 19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21" name="Text Box 20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9652000" y="3391535"/>
            <a:ext cx="697865" cy="287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audio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9012555" y="3387090"/>
            <a:ext cx="638810" cy="288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authz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80130" y="3122295"/>
            <a:ext cx="675005" cy="2889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fsdev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248150" y="3122295"/>
            <a:ext cx="90614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chardev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354435" y="3385185"/>
            <a:ext cx="52641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net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090545" y="3122930"/>
            <a:ext cx="5276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nbd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2402205" y="3413125"/>
            <a:ext cx="3448050" cy="295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block.c/blockdev.c/blockdev-nbd.c/blockjob.c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10817225" y="3375660"/>
            <a:ext cx="564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02205" y="3111500"/>
            <a:ext cx="7169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574530" y="3106420"/>
            <a:ext cx="231013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event-loop-base.c/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iothread.c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349865" y="3402330"/>
            <a:ext cx="466725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ui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6173470" y="3651885"/>
            <a:ext cx="27895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系统处理内部计算</a:t>
            </a:r>
            <a:r>
              <a:rPr lang="en-US" altLang="zh-CN" sz="1200" b="1"/>
              <a:t>(</a:t>
            </a:r>
            <a:r>
              <a:rPr lang="zh-CN" altLang="en-US" sz="1200" b="1"/>
              <a:t>抽象设备集合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22" name="Text Box 21"/>
          <p:cNvSpPr txBox="1"/>
          <p:nvPr/>
        </p:nvSpPr>
        <p:spPr>
          <a:xfrm>
            <a:off x="6243955" y="2710180"/>
            <a:ext cx="2600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系统处理内部调度</a:t>
            </a:r>
            <a:r>
              <a:rPr lang="en-US" altLang="zh-CN" sz="1200" b="1"/>
              <a:t>(</a:t>
            </a:r>
            <a:r>
              <a:rPr lang="zh-CN" altLang="en-US" sz="1200" b="1"/>
              <a:t>含接口实现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26" name="Text Box 25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29" name="Text Box 28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33" name="Text Box 32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9652000" y="3391535"/>
            <a:ext cx="697865" cy="287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audio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9012555" y="3387090"/>
            <a:ext cx="638810" cy="288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authz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80130" y="3122295"/>
            <a:ext cx="675005" cy="2889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fsdev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31175" y="3764915"/>
            <a:ext cx="1023620" cy="2895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backends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248150" y="3122295"/>
            <a:ext cx="90614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chardev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354435" y="3385185"/>
            <a:ext cx="52641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net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090545" y="3122930"/>
            <a:ext cx="5276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nbd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02070" y="3437890"/>
            <a:ext cx="788035" cy="3016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pc-bios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2402205" y="3413125"/>
            <a:ext cx="3448050" cy="295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block.c/blockdev.c/blockdev-nbd.c/blockjob.c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10817225" y="3375660"/>
            <a:ext cx="564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762240" y="3437890"/>
            <a:ext cx="57975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hw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02205" y="3111500"/>
            <a:ext cx="7169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7179310" y="3437890"/>
            <a:ext cx="582930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roms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5600065" y="3780155"/>
            <a:ext cx="15957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page-vary-system.c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574530" y="3106420"/>
            <a:ext cx="231013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event-loop-base.c/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iothread.c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349865" y="3402330"/>
            <a:ext cx="466725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ui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6243955" y="2710180"/>
            <a:ext cx="2600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系统处理内部调度</a:t>
            </a:r>
            <a:r>
              <a:rPr lang="en-US" altLang="zh-CN" sz="1200" b="1"/>
              <a:t>(</a:t>
            </a:r>
            <a:r>
              <a:rPr lang="zh-CN" altLang="en-US" sz="1200" b="1"/>
              <a:t>含接口实现</a:t>
            </a:r>
            <a:r>
              <a:rPr lang="en-US" altLang="zh-CN" sz="1200" b="1"/>
              <a:t>)</a:t>
            </a:r>
            <a:endParaRPr lang="en-US" altLang="zh-CN" sz="1200" b="1"/>
          </a:p>
        </p:txBody>
      </p:sp>
      <p:sp>
        <p:nvSpPr>
          <p:cNvPr id="26" name="Text Box 25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33" name="Text Box 32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43" name="Text Box 42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9652000" y="3391535"/>
            <a:ext cx="697865" cy="287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audio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9012555" y="3387090"/>
            <a:ext cx="638810" cy="288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authz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80130" y="3122295"/>
            <a:ext cx="675005" cy="2889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fsdev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31175" y="3764915"/>
            <a:ext cx="1023620" cy="2895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backends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248150" y="3122295"/>
            <a:ext cx="90614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chardev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354435" y="3385185"/>
            <a:ext cx="52641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net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090545" y="3122930"/>
            <a:ext cx="5276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nbd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02070" y="3437890"/>
            <a:ext cx="788035" cy="3016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pc-bios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7385050" y="2890520"/>
            <a:ext cx="1165860" cy="308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system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2402205" y="3413125"/>
            <a:ext cx="3448050" cy="295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block.c/blockdev.c/blockdev-nbd.c/blockjob.c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10817225" y="3375660"/>
            <a:ext cx="564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762240" y="3437890"/>
            <a:ext cx="57975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hw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02205" y="3111500"/>
            <a:ext cx="7169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7179310" y="3437890"/>
            <a:ext cx="582930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roms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5600065" y="3780155"/>
            <a:ext cx="15957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page-vary-system.c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574530" y="3106420"/>
            <a:ext cx="231013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event-loop-base.c/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iothread.c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349865" y="3402330"/>
            <a:ext cx="466725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ui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5702300" y="2902585"/>
            <a:ext cx="141160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job.c/job-qmp.c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22" name="Text Box 21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43" name="Text Box 42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9652000" y="3391535"/>
            <a:ext cx="697865" cy="287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audio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9012555" y="3387090"/>
            <a:ext cx="638810" cy="288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authz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80130" y="3122295"/>
            <a:ext cx="675005" cy="2889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fsdev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31175" y="3764915"/>
            <a:ext cx="1023620" cy="2895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backends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248150" y="3122295"/>
            <a:ext cx="90614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chardev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354435" y="3385185"/>
            <a:ext cx="52641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net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090545" y="3122930"/>
            <a:ext cx="5276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nbd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451090" y="2521585"/>
            <a:ext cx="885190" cy="3079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migration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02070" y="3437890"/>
            <a:ext cx="788035" cy="3016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pc-bios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7385050" y="2890520"/>
            <a:ext cx="1165860" cy="308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system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2402205" y="3413125"/>
            <a:ext cx="3448050" cy="295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block.c/blockdev.c/blockdev-nbd.c/blockjob.c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4988560" y="2524760"/>
            <a:ext cx="5911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dump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10817225" y="3375660"/>
            <a:ext cx="564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762240" y="3437890"/>
            <a:ext cx="57975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hw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02205" y="3111500"/>
            <a:ext cx="7169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6218555" y="2517140"/>
            <a:ext cx="118046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monitor/stats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5514975" y="2535555"/>
            <a:ext cx="647700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replay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7179310" y="3437890"/>
            <a:ext cx="582930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roms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5600065" y="3780155"/>
            <a:ext cx="15957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page-vary-system.c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574530" y="3106420"/>
            <a:ext cx="231013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event-loop-base.c/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iothread.c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349865" y="3402330"/>
            <a:ext cx="466725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ui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8301990" y="2513965"/>
            <a:ext cx="1088390" cy="3149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replication.c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5702300" y="2902585"/>
            <a:ext cx="141160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job.c/job-qmp.c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6805295" y="164846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系统处理接口</a:t>
            </a:r>
            <a:endParaRPr lang="zh-CN" altLang="en-US" sz="1400" b="1"/>
          </a:p>
        </p:txBody>
      </p:sp>
      <p:sp>
        <p:nvSpPr>
          <p:cNvPr id="53" name="Text Box 52"/>
          <p:cNvSpPr txBox="1"/>
          <p:nvPr/>
        </p:nvSpPr>
        <p:spPr>
          <a:xfrm>
            <a:off x="3704590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系统存储接口</a:t>
            </a:r>
            <a:endParaRPr lang="zh-CN" altLang="en-US" sz="1400" b="1"/>
          </a:p>
        </p:txBody>
      </p:sp>
      <p:sp>
        <p:nvSpPr>
          <p:cNvPr id="54" name="Text Box 53"/>
          <p:cNvSpPr txBox="1"/>
          <p:nvPr/>
        </p:nvSpPr>
        <p:spPr>
          <a:xfrm>
            <a:off x="9986645" y="1010920"/>
            <a:ext cx="12674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系统传输接口</a:t>
            </a:r>
            <a:endParaRPr lang="zh-CN" altLang="en-US" sz="1400" b="1"/>
          </a:p>
        </p:txBody>
      </p:sp>
      <p:sp>
        <p:nvSpPr>
          <p:cNvPr id="55" name="Rectangles 54"/>
          <p:cNvSpPr/>
          <p:nvPr/>
        </p:nvSpPr>
        <p:spPr>
          <a:xfrm>
            <a:off x="9413875" y="2518410"/>
            <a:ext cx="50609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qga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平台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)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9652000" y="3391535"/>
            <a:ext cx="697865" cy="287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audio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9012555" y="3387090"/>
            <a:ext cx="638810" cy="288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authz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80130" y="3122295"/>
            <a:ext cx="675005" cy="2889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fsdev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31175" y="3764915"/>
            <a:ext cx="1023620" cy="2895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backends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248150" y="3122295"/>
            <a:ext cx="90614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chardev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354435" y="3385185"/>
            <a:ext cx="52641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net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090545" y="3122930"/>
            <a:ext cx="5276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nbd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02070" y="3437890"/>
            <a:ext cx="788035" cy="3016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pc-bios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7385050" y="2890520"/>
            <a:ext cx="1165860" cy="308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system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2402205" y="3413125"/>
            <a:ext cx="3448050" cy="295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block.c/blockdev.c/blockdev-nbd.c/blockjob.c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10817225" y="3375660"/>
            <a:ext cx="564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762240" y="3437890"/>
            <a:ext cx="57975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hw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02205" y="3111500"/>
            <a:ext cx="7169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7179310" y="3437890"/>
            <a:ext cx="582930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roms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5600065" y="3780155"/>
            <a:ext cx="15957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page-vary-system.c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4959350" y="1702435"/>
            <a:ext cx="3655060" cy="2463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qapi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hmp-commands.hx/hmp-commands-info.hx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574530" y="3106420"/>
            <a:ext cx="231013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event-loop-base.c/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iothread.c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349865" y="3402330"/>
            <a:ext cx="466725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ui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5702300" y="2902585"/>
            <a:ext cx="141160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job.c/job-qmp.c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9394825" y="1710690"/>
            <a:ext cx="568325" cy="23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命令行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062210" y="1064895"/>
            <a:ext cx="568325" cy="23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命令行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4294505" y="1064895"/>
            <a:ext cx="568325" cy="23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命令行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7451090" y="2521585"/>
            <a:ext cx="885190" cy="3079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migration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4988560" y="2524760"/>
            <a:ext cx="5911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dump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6218555" y="2517140"/>
            <a:ext cx="118046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monitor/stats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4" name="Rectangles 63"/>
          <p:cNvSpPr/>
          <p:nvPr/>
        </p:nvSpPr>
        <p:spPr>
          <a:xfrm>
            <a:off x="5514975" y="2535555"/>
            <a:ext cx="647700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replay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8301990" y="2513965"/>
            <a:ext cx="1088390" cy="3149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replication.c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9413875" y="2518410"/>
            <a:ext cx="50609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qga</a:t>
            </a:r>
            <a:endParaRPr lang="en-US" altLang="zh-CN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948690"/>
            <a:ext cx="11647805" cy="53003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s 7"/>
          <p:cNvSpPr/>
          <p:nvPr/>
        </p:nvSpPr>
        <p:spPr>
          <a:xfrm>
            <a:off x="41275" y="525780"/>
            <a:ext cx="12085955" cy="6188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endParaRPr lang="zh-CN" altLang="en-US" sz="2400" b="1">
              <a:solidFill>
                <a:schemeClr val="tx1"/>
              </a:solidFill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            </a:t>
            </a:r>
            <a:r>
              <a:rPr lang="zh-CN" altLang="en-US" sz="2400" b="1">
                <a:solidFill>
                  <a:schemeClr val="tx1"/>
                </a:solidFill>
              </a:rPr>
              <a:t>辅助环境</a:t>
            </a:r>
            <a:r>
              <a:rPr lang="en-US" altLang="zh-CN" sz="2400" b="1">
                <a:solidFill>
                  <a:schemeClr val="tx1"/>
                </a:solidFill>
              </a:rPr>
              <a:t>       .</a:t>
            </a:r>
            <a:endParaRPr lang="zh-CN" altLang="en-US" sz="24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248535" y="644525"/>
            <a:ext cx="9788525" cy="34982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zh-CN" altLang="en-US" sz="2000" b="1">
                <a:solidFill>
                  <a:schemeClr val="tx1"/>
                </a:solidFill>
              </a:rPr>
              <a:t>系统模拟环境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sz="2000" b="1">
                <a:solidFill>
                  <a:schemeClr val="tx1"/>
                </a:solidFill>
              </a:rPr>
              <a:t> </a:t>
            </a:r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  <a:p>
            <a:pPr algn="ctr"/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343785" y="3044190"/>
            <a:ext cx="95916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59350" y="1702435"/>
            <a:ext cx="5001260" cy="13423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系统计算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4970145" y="2998470"/>
            <a:ext cx="4990465" cy="76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0062210" y="1064895"/>
            <a:ext cx="1873250" cy="1882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系统传输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8830" y="51435"/>
            <a:ext cx="7835265" cy="46355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95885" y="2530475"/>
            <a:ext cx="2011680" cy="16122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用户模拟环境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2343785" y="1064895"/>
            <a:ext cx="2519045" cy="1897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系统存储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8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718185" y="4279900"/>
            <a:ext cx="10076815" cy="986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模拟引擎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40335" y="3124835"/>
            <a:ext cx="10204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linux-user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12215" y="3124835"/>
            <a:ext cx="8420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bsd-user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16890" y="3651885"/>
            <a:ext cx="1332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common-user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6972935" y="4433570"/>
            <a:ext cx="1626235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FF0000"/>
                </a:solidFill>
              </a:rPr>
              <a:t>tcg</a:t>
            </a:r>
            <a:r>
              <a:rPr lang="en-US" altLang="zh-CN" sz="1000" b="1">
                <a:solidFill>
                  <a:schemeClr val="tx1"/>
                </a:solidFill>
              </a:rPr>
              <a:t>/</a:t>
            </a:r>
            <a:r>
              <a:rPr lang="en-US" altLang="zh-CN" sz="1000" b="1">
                <a:solidFill>
                  <a:srgbClr val="C00000"/>
                </a:solidFill>
              </a:rPr>
              <a:t>target</a:t>
            </a:r>
            <a:r>
              <a:rPr lang="en-US" altLang="zh-CN" sz="1000" b="1">
                <a:solidFill>
                  <a:schemeClr val="tx1"/>
                </a:solidFill>
              </a:rPr>
              <a:t>/fpu/qom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9652000" y="3391535"/>
            <a:ext cx="697865" cy="2870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audio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9012555" y="3387090"/>
            <a:ext cx="638810" cy="2882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authz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3580130" y="3122295"/>
            <a:ext cx="675005" cy="2889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fsdev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8131175" y="3764915"/>
            <a:ext cx="1023620" cy="2895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backends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248150" y="3122295"/>
            <a:ext cx="90614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chardev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1354435" y="3385185"/>
            <a:ext cx="526415" cy="2832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net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3090545" y="3122930"/>
            <a:ext cx="5276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nbd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7969250" y="2521585"/>
            <a:ext cx="885190" cy="30797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migration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87630" y="6287135"/>
            <a:ext cx="2233930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linux-headers/include/stubs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7147560" y="5898515"/>
            <a:ext cx="494220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2299970" y="5898515"/>
            <a:ext cx="2182495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po/version.rc/VERSION/docs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3500755" y="6301105"/>
            <a:ext cx="8589010" cy="30988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6402070" y="3437890"/>
            <a:ext cx="788035" cy="3016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pc-bios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3629025" y="2223135"/>
            <a:ext cx="109347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10115550" y="2480310"/>
            <a:ext cx="176593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qemu-bridge-helper.c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3133725" y="2512695"/>
            <a:ext cx="159702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qemu-img-cmds.hx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7385050" y="2890520"/>
            <a:ext cx="1165860" cy="3086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system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8863330" y="4422775"/>
            <a:ext cx="1089660" cy="3111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host/accel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2460625" y="2175510"/>
            <a:ext cx="104330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qemu-nbd.c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1097895" y="5073015"/>
            <a:ext cx="974725" cy="3124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qemu.sasl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4555490" y="5898515"/>
            <a:ext cx="25285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pythondeps.toml/python/pyvenv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7155" y="5911850"/>
            <a:ext cx="555625" cy="29654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tools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40335" y="5494655"/>
            <a:ext cx="1467485" cy="3238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qemu-keymap.c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717550" y="5901055"/>
            <a:ext cx="1537970" cy="31305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tests/qemu-edid.c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10245090" y="2089150"/>
            <a:ext cx="15170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qemu-io-cmds.c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2473325" y="2710180"/>
            <a:ext cx="5454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2795905" y="1819275"/>
            <a:ext cx="141605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storage</a:t>
            </a:r>
            <a:r>
              <a:rPr lang="en-US" altLang="zh-CN" sz="1000" b="1">
                <a:solidFill>
                  <a:schemeClr val="tx1"/>
                </a:solidFill>
              </a:rPr>
              <a:t>-daemon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2402205" y="3413125"/>
            <a:ext cx="3469005" cy="2959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block.c/blockdev.c/blockdev-nbd.c/blockjob.c/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386965" y="6297930"/>
            <a:ext cx="1049020" cy="30226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clippy.toml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6597015" y="2524760"/>
            <a:ext cx="591185" cy="2914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dump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10817225" y="3375660"/>
            <a:ext cx="564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ebpf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7762240" y="3437890"/>
            <a:ext cx="57975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rgbClr val="C00000"/>
                </a:solidFill>
              </a:rPr>
              <a:t>hw</a:t>
            </a:r>
            <a:endParaRPr lang="en-US" altLang="zh-CN" sz="1000" b="1">
              <a:solidFill>
                <a:srgbClr val="C00000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2402205" y="3111500"/>
            <a:ext cx="7169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block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5017770" y="2514600"/>
            <a:ext cx="1493520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monitor/stats/</a:t>
            </a:r>
            <a:r>
              <a:rPr lang="en-US" altLang="zh-CN" sz="1000" b="1">
                <a:solidFill>
                  <a:schemeClr val="tx1"/>
                </a:solidFill>
              </a:rPr>
              <a:t>qga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7252970" y="2535555"/>
            <a:ext cx="647700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replay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7179310" y="3437890"/>
            <a:ext cx="582930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roms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744855" y="4867275"/>
            <a:ext cx="9953625" cy="3225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cpu-common.c/cpu-target.c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page-vary-common.c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/module-common.c/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0795635" y="5501005"/>
            <a:ext cx="1294130" cy="317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gitdm.config/.*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5600065" y="3780155"/>
            <a:ext cx="15957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page-vary-system.c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600200" y="4434205"/>
            <a:ext cx="2858135" cy="3105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gdbstub/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semihosting/disas/plugins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8183880" y="5516245"/>
            <a:ext cx="2524125" cy="30226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os-posix.c/os-win32.c/os-wasm.c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4959350" y="1702435"/>
            <a:ext cx="3655060" cy="2463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qapi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hmp-commands.hx/hmp-commands-info.hx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729740" y="5509895"/>
            <a:ext cx="3713480" cy="31940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libdecnumber/trace/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trace-events</a:t>
            </a:r>
            <a:r>
              <a:rPr lang="en-US" altLang="zh-CN" sz="1000" b="1">
                <a:solidFill>
                  <a:schemeClr val="tx1"/>
                </a:solidFill>
              </a:rPr>
              <a:t>/util/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crypto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/rust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9574530" y="3106420"/>
            <a:ext cx="2310130" cy="29019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event-loop-base.c/</a:t>
            </a:r>
            <a:r>
              <a:rPr lang="en-US" altLang="zh-CN" sz="1000" b="1">
                <a:solidFill>
                  <a:schemeClr val="tx1"/>
                </a:solidFill>
                <a:sym typeface="+mn-ea"/>
              </a:rPr>
              <a:t>iothread.c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188200" y="5509895"/>
            <a:ext cx="903605" cy="31051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qobject/io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10410190" y="1788795"/>
            <a:ext cx="121158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qemu-io.c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10349865" y="3402330"/>
            <a:ext cx="466725" cy="2705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</a:rPr>
              <a:t>ui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8820150" y="2513965"/>
            <a:ext cx="1088390" cy="3149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replication.c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5702300" y="2902585"/>
            <a:ext cx="1411605" cy="2978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sym typeface="+mn-ea"/>
              </a:rPr>
              <a:t>job.c/job-qmp.c</a:t>
            </a:r>
            <a:endParaRPr lang="en-US" altLang="zh-CN" sz="10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9394825" y="1710690"/>
            <a:ext cx="568325" cy="23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命令行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062210" y="1064895"/>
            <a:ext cx="568325" cy="23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命令行</a:t>
            </a:r>
            <a:endParaRPr lang="zh-CN" altLang="en-US" sz="10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4294505" y="1064895"/>
            <a:ext cx="568325" cy="2381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>
                <a:solidFill>
                  <a:schemeClr val="tx1"/>
                </a:solidFill>
              </a:rPr>
              <a:t>命令行</a:t>
            </a:r>
            <a:endParaRPr lang="zh-CN" altLang="en-US" sz="10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2474595" y="719455"/>
            <a:ext cx="9551670" cy="28727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9673590" y="772795"/>
            <a:ext cx="220789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系统网络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616200" y="2536825"/>
            <a:ext cx="9203690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</a:t>
            </a:r>
            <a:r>
              <a:rPr lang="zh-CN" altLang="en-US" sz="2000" b="1">
                <a:solidFill>
                  <a:schemeClr val="tx1"/>
                </a:solidFill>
              </a:rPr>
              <a:t>系统设施层</a:t>
            </a:r>
            <a:r>
              <a:rPr lang="en-US" altLang="zh-CN" sz="2000" b="1">
                <a:solidFill>
                  <a:schemeClr val="tx1"/>
                </a:solidFill>
              </a:rPr>
              <a:t>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2984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85090" y="1666240"/>
            <a:ext cx="2219960" cy="191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</a:t>
            </a:r>
            <a:r>
              <a:rPr lang="zh-CN" altLang="en-US" sz="2000" b="1">
                <a:solidFill>
                  <a:schemeClr val="tx1"/>
                </a:solidFill>
              </a:rPr>
              <a:t>用户模拟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15565" y="777240"/>
            <a:ext cx="3757930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</a:t>
            </a:r>
            <a:r>
              <a:rPr lang="zh-CN" altLang="en-US" sz="2000" b="1">
                <a:solidFill>
                  <a:schemeClr val="tx1"/>
                </a:solidFill>
              </a:rPr>
              <a:t>系统模拟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467475" y="777240"/>
            <a:ext cx="308800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系统存储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5725" y="3696970"/>
            <a:ext cx="11962130" cy="1472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en-US" altLang="zh-CN" sz="12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 </a:t>
            </a:r>
            <a:r>
              <a:rPr lang="zh-CN" altLang="en-US" sz="2000" b="1">
                <a:solidFill>
                  <a:schemeClr val="tx1"/>
                </a:solidFill>
              </a:rPr>
              <a:t>模拟层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5725" y="5209540"/>
            <a:ext cx="11961495" cy="1406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辅助层</a:t>
            </a:r>
            <a:r>
              <a:rPr lang="en-US" altLang="zh-CN" sz="2000" b="1">
                <a:solidFill>
                  <a:schemeClr val="tx1"/>
                </a:solidFill>
              </a:rPr>
              <a:t>    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29540" y="2423160"/>
            <a:ext cx="10953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55395" y="2423160"/>
            <a:ext cx="9969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bsd-user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06095" y="2950210"/>
            <a:ext cx="1473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common-user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33350" y="3775710"/>
            <a:ext cx="14058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tcg/target/fpu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649845" y="3084830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audio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3770630" y="3088005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authz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8388985" y="3077210"/>
            <a:ext cx="6750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693035" y="3088005"/>
            <a:ext cx="10236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backends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528185" y="3085465"/>
            <a:ext cx="9061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chardev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0631170" y="3074670"/>
            <a:ext cx="5264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1195685" y="3083560"/>
            <a:ext cx="5276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nbd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054475" y="2649855"/>
            <a:ext cx="10648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migration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215900" y="5274310"/>
            <a:ext cx="266509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linux-headers/include/stubs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190240" y="5274310"/>
            <a:ext cx="593852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146165" y="6166485"/>
            <a:ext cx="26771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po/version.rc/VERSION/docs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701165" y="5725795"/>
            <a:ext cx="1021588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097655" y="1903095"/>
            <a:ext cx="9175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pc-bios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6540500" y="1704975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737725" y="1951355"/>
            <a:ext cx="203581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qemu-bridge-helper.c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7562850" y="2048510"/>
            <a:ext cx="18726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qemu-img-cmds.hx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3398520" y="1418590"/>
            <a:ext cx="9080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system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925175" y="4217670"/>
            <a:ext cx="10896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host/accel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0092690" y="1510665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qemu-nbd.c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26695" y="6177280"/>
            <a:ext cx="108585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qemu.sasl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8902065" y="6166485"/>
            <a:ext cx="302577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pythondeps.toml/python/pyvenv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313545" y="5274310"/>
            <a:ext cx="76200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tools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0325735" y="5274310"/>
            <a:ext cx="158051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qemu-keymap.c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3248025" y="6166485"/>
            <a:ext cx="176466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tests/qemu-edid.c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6725920" y="1364615"/>
            <a:ext cx="25101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qemu-io.c/qemu-io-cmds.c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694170" y="2228850"/>
            <a:ext cx="6858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7815580" y="1711325"/>
            <a:ext cx="163449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storage-daemon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5153025" y="2649855"/>
            <a:ext cx="65881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block.c/blockdev.c/blockdev-nbd.c/blockjob.c/job.c/job-qmp.c/replication.c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15900" y="5718175"/>
            <a:ext cx="12166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clippy.toml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6889115" y="4657725"/>
            <a:ext cx="51301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cpu-common.c/cpu-target.c/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iothread.c/module-common.c</a:t>
            </a:r>
            <a:endParaRPr lang="en-US" altLang="zh-CN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9870440" y="3083560"/>
            <a:ext cx="7080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dump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5576570" y="1915795"/>
            <a:ext cx="613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ebpf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2701925" y="1429385"/>
            <a:ext cx="633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hw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9109075" y="3074670"/>
            <a:ext cx="7169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88095" y="4218305"/>
            <a:ext cx="193548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qobject/qom/qapi/io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2766695" y="1892300"/>
            <a:ext cx="5308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qga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5477510" y="3094355"/>
            <a:ext cx="7556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replay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5119370" y="1913890"/>
            <a:ext cx="35814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ui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392805" y="1892300"/>
            <a:ext cx="6184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roms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128270" y="4669790"/>
            <a:ext cx="5869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hmp-commands.hx/hmp-commands-info.hx/page-vary-common.c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1590040" y="3775710"/>
            <a:ext cx="104247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os-posix.c/os-win32.c/os-wasm.c/event-loop-base.c/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684780" y="2649855"/>
            <a:ext cx="13284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400175" y="6171565"/>
            <a:ext cx="175704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gitdm.config/.*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4366895" y="1429385"/>
            <a:ext cx="18878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page-vary-system.c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33350" y="4218305"/>
            <a:ext cx="864108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libdecnumber/trace/util/gdbstub/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semihosting/stats/monitor/disas/plugins/crypto/rust/trace-events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s 3"/>
          <p:cNvSpPr/>
          <p:nvPr/>
        </p:nvSpPr>
        <p:spPr>
          <a:xfrm>
            <a:off x="2474595" y="719455"/>
            <a:ext cx="9551670" cy="28727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9673590" y="772795"/>
            <a:ext cx="220789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系统网络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2616200" y="2536825"/>
            <a:ext cx="9203690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</a:t>
            </a:r>
            <a:r>
              <a:rPr lang="zh-CN" altLang="en-US" sz="2000" b="1">
                <a:solidFill>
                  <a:schemeClr val="tx1"/>
                </a:solidFill>
              </a:rPr>
              <a:t>系统设施</a:t>
            </a:r>
            <a:r>
              <a:rPr lang="en-US" altLang="zh-CN" sz="2000" b="1">
                <a:solidFill>
                  <a:schemeClr val="tx1"/>
                </a:solidFill>
              </a:rPr>
              <a:t>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29845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85090" y="1666240"/>
            <a:ext cx="2219960" cy="1915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</a:t>
            </a:r>
            <a:r>
              <a:rPr lang="zh-CN" altLang="en-US" sz="2000" b="1">
                <a:solidFill>
                  <a:schemeClr val="tx1"/>
                </a:solidFill>
              </a:rPr>
              <a:t>用户模拟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15565" y="777240"/>
            <a:ext cx="3757930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</a:t>
            </a:r>
            <a:r>
              <a:rPr lang="zh-CN" altLang="en-US" sz="2000" b="1">
                <a:solidFill>
                  <a:schemeClr val="tx1"/>
                </a:solidFill>
              </a:rPr>
              <a:t>系统模拟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467475" y="777240"/>
            <a:ext cx="308800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系统存储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5725" y="3696970"/>
            <a:ext cx="11962130" cy="1472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en-US" altLang="zh-CN" sz="12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 </a:t>
            </a:r>
            <a:r>
              <a:rPr lang="zh-CN" altLang="en-US" sz="2000" b="1">
                <a:solidFill>
                  <a:schemeClr val="tx1"/>
                </a:solidFill>
              </a:rPr>
              <a:t>模拟层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5725" y="5209540"/>
            <a:ext cx="11961495" cy="1406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辅助层</a:t>
            </a:r>
            <a:r>
              <a:rPr lang="en-US" altLang="zh-CN" sz="2000" b="1">
                <a:solidFill>
                  <a:schemeClr val="tx1"/>
                </a:solidFill>
              </a:rPr>
              <a:t>    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29540" y="2423160"/>
            <a:ext cx="10953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1255395" y="2423160"/>
            <a:ext cx="9969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bsd-user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06095" y="2950210"/>
            <a:ext cx="1473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common-user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33350" y="3775710"/>
            <a:ext cx="14058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tcg/target/fpu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649845" y="3084830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audio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3770630" y="3088005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authz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8388985" y="3077210"/>
            <a:ext cx="6750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693035" y="3088005"/>
            <a:ext cx="10236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backends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119880" y="2649855"/>
            <a:ext cx="9061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chardev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0631170" y="3074670"/>
            <a:ext cx="5264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1195685" y="3083560"/>
            <a:ext cx="5276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nbd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511675" y="3084830"/>
            <a:ext cx="10648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migration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215900" y="5274310"/>
            <a:ext cx="266509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linux-headers/include/stubs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190240" y="5274310"/>
            <a:ext cx="593852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146165" y="6166485"/>
            <a:ext cx="26771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po/version.rc/VERSION/docs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701165" y="5725795"/>
            <a:ext cx="1021588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097655" y="1903095"/>
            <a:ext cx="9175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pc-bios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6540500" y="1704975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737725" y="1951355"/>
            <a:ext cx="203581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qemu-bridge-helper.c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7562850" y="2048510"/>
            <a:ext cx="18726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qemu-img-cmds.hx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3398520" y="1418590"/>
            <a:ext cx="9080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system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925175" y="4217670"/>
            <a:ext cx="10896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host/accel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0092690" y="1510665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qemu-nbd.c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26695" y="6177280"/>
            <a:ext cx="108585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qemu.sasl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8902065" y="6166485"/>
            <a:ext cx="302577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pythondeps.toml/python/pyvenv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313545" y="5274310"/>
            <a:ext cx="76200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tools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0325735" y="5274310"/>
            <a:ext cx="158051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qemu-keymap.c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3248025" y="6166485"/>
            <a:ext cx="176466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tests/qemu-edid.c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6725920" y="1364615"/>
            <a:ext cx="25101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qemu-io.c/qemu-io-cmds.c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694170" y="2228850"/>
            <a:ext cx="6858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7815580" y="1711325"/>
            <a:ext cx="163449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storage-daemon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5153025" y="2649855"/>
            <a:ext cx="65881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block.c/blockdev.c/blockdev-nbd.c/blockjob.c/job.c/job-qmp.c/replication.c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15900" y="5718175"/>
            <a:ext cx="12166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clippy.toml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6889115" y="4657725"/>
            <a:ext cx="51301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cpu-common.c/cpu-target.c/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iothread.c/module-common.c</a:t>
            </a:r>
            <a:endParaRPr lang="en-US" altLang="zh-CN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9870440" y="3083560"/>
            <a:ext cx="7080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dump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5576570" y="1915795"/>
            <a:ext cx="613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ebpf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2701925" y="1429385"/>
            <a:ext cx="633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hw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9109075" y="3074670"/>
            <a:ext cx="7169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88095" y="4218305"/>
            <a:ext cx="193548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qobject/qom/qapi/io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2766695" y="1892300"/>
            <a:ext cx="5308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qga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5617845" y="3094355"/>
            <a:ext cx="7556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replay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5119370" y="1913890"/>
            <a:ext cx="35814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ui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392805" y="1892300"/>
            <a:ext cx="6184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roms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128270" y="4669790"/>
            <a:ext cx="5869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hmp-commands.hx/hmp-commands-info.hx/page-vary-common.c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1590040" y="3775710"/>
            <a:ext cx="104247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os-posix.c/os-win32.c/os-wasm.c/event-loop-base.c/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684780" y="2649855"/>
            <a:ext cx="13284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400175" y="6171565"/>
            <a:ext cx="175704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gitdm.config/.*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4366895" y="1429385"/>
            <a:ext cx="18878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page-vary-system.c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33350" y="4218305"/>
            <a:ext cx="864108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libdecnumber/trace/util/gdbstub/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semihosting/stats/monitor/disas/plugins/crypto/rust/trace-events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s 16"/>
          <p:cNvSpPr/>
          <p:nvPr/>
        </p:nvSpPr>
        <p:spPr>
          <a:xfrm>
            <a:off x="2659380" y="2569210"/>
            <a:ext cx="938847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系统设施</a:t>
            </a:r>
            <a:r>
              <a:rPr lang="en-US" altLang="zh-CN" sz="2000" b="1">
                <a:solidFill>
                  <a:schemeClr val="tx1"/>
                </a:solidFill>
              </a:rPr>
              <a:t>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85090" y="798830"/>
            <a:ext cx="2359660" cy="2674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qemu-user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58745" y="798830"/>
            <a:ext cx="401637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qemu-system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796405" y="798830"/>
            <a:ext cx="525081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qemu-tools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85725" y="3696970"/>
            <a:ext cx="11962130" cy="1472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       </a:t>
            </a:r>
            <a:r>
              <a:rPr lang="en-US" altLang="zh-CN" sz="12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 </a:t>
            </a:r>
            <a:r>
              <a:rPr lang="zh-CN" altLang="en-US" sz="2000" b="1">
                <a:solidFill>
                  <a:schemeClr val="tx1"/>
                </a:solidFill>
              </a:rPr>
              <a:t>核心层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85725" y="5209540"/>
            <a:ext cx="11961495" cy="1406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辅助层</a:t>
            </a:r>
            <a:r>
              <a:rPr lang="en-US" altLang="zh-CN" sz="2000" b="1">
                <a:solidFill>
                  <a:schemeClr val="tx1"/>
                </a:solidFill>
              </a:rPr>
              <a:t>    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766445" y="1721485"/>
            <a:ext cx="1268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55980" y="2239645"/>
            <a:ext cx="10598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bsd-user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78815" y="2799080"/>
            <a:ext cx="1473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common-user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33350" y="3775710"/>
            <a:ext cx="14058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tcg/target/fpu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617460" y="3117215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audio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3813810" y="3120390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authz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8356600" y="3109595"/>
            <a:ext cx="6750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736215" y="3120390"/>
            <a:ext cx="10236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backends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130675" y="2682240"/>
            <a:ext cx="9061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chardev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0598785" y="3107055"/>
            <a:ext cx="5264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1163300" y="3115945"/>
            <a:ext cx="5276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nbd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554855" y="3117215"/>
            <a:ext cx="10648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migration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215900" y="5274310"/>
            <a:ext cx="266509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linux-headers/include/stubs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093085" y="5274310"/>
            <a:ext cx="593852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6146165" y="6166485"/>
            <a:ext cx="26771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po/version.rc/VERSION/docs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679575" y="5725795"/>
            <a:ext cx="1021588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281170" y="1935480"/>
            <a:ext cx="9175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pc-bios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10448925" y="1359535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8381365" y="1359535"/>
            <a:ext cx="203581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qemu-bridge-helper.c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825355" y="2080895"/>
            <a:ext cx="18726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qemu-img-cmds.hx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3582035" y="1450975"/>
            <a:ext cx="9080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system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10766425" y="4217670"/>
            <a:ext cx="5689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host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1367770" y="4217670"/>
            <a:ext cx="6470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accel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7059295" y="1370330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qemu-nbd.c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26695" y="6177280"/>
            <a:ext cx="108585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qemu.sasl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8902065" y="6166485"/>
            <a:ext cx="302577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pythondeps.toml/python/pyvenv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9183370" y="5274310"/>
            <a:ext cx="68707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tools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10282555" y="5274310"/>
            <a:ext cx="158051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qemu-keymap.c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3248025" y="6166485"/>
            <a:ext cx="176466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tests/qemu-edid.c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7098665" y="1753870"/>
            <a:ext cx="25101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qemu-io.c/qemu-io-cmds.c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931660" y="2261235"/>
            <a:ext cx="6858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10034905" y="1743710"/>
            <a:ext cx="163449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storage-daemon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5109845" y="2682240"/>
            <a:ext cx="65881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block.c/blockdev.c/blockdev-nbd.c/blockjob.c/job.c/job-qmp.c/replication.c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215900" y="5718175"/>
            <a:ext cx="12166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clippy.toml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6889115" y="4657725"/>
            <a:ext cx="51301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cpu-common.c/cpu-target.c/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iothread.c/module-common.c</a:t>
            </a:r>
            <a:endParaRPr lang="en-US" altLang="zh-CN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9838055" y="3115945"/>
            <a:ext cx="7080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dump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5760085" y="1948180"/>
            <a:ext cx="613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ebpf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2885440" y="1461770"/>
            <a:ext cx="633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hw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9076690" y="3107055"/>
            <a:ext cx="7169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8801735" y="4218305"/>
            <a:ext cx="193548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qobject/qom/qapi/io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2950210" y="1924685"/>
            <a:ext cx="5308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qga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5661025" y="3126740"/>
            <a:ext cx="7556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replay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5302885" y="1946275"/>
            <a:ext cx="35814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ui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576320" y="1924685"/>
            <a:ext cx="6184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roms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128270" y="4669790"/>
            <a:ext cx="5869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hmp-commands.hx/hmp-commands-info.hx/page-vary-common.c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1590040" y="3775710"/>
            <a:ext cx="104247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os-posix.c/os-win32.c/os-wasm.c/event-loop-base.c/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target-info.c/target-info-qom.c/target-info-stub.c/qemu-options.hx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727960" y="2682240"/>
            <a:ext cx="13284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1400175" y="6171565"/>
            <a:ext cx="175704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gitdm.config/.*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4550410" y="1461770"/>
            <a:ext cx="18878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page-vary-system.c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4" name="Rectangles 83"/>
          <p:cNvSpPr/>
          <p:nvPr/>
        </p:nvSpPr>
        <p:spPr>
          <a:xfrm>
            <a:off x="133350" y="4218305"/>
            <a:ext cx="864108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libdecnumber/trace/util/gdbstub/</a:t>
            </a:r>
            <a:r>
              <a:rPr lang="en-US" altLang="zh-CN" sz="1200" b="1">
                <a:solidFill>
                  <a:schemeClr val="tx1"/>
                </a:solidFill>
                <a:sym typeface="+mn-ea"/>
              </a:rPr>
              <a:t>semihosting/stats/monitor/disas/plugins/crypto/rust/trace-events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s 16"/>
          <p:cNvSpPr/>
          <p:nvPr/>
        </p:nvSpPr>
        <p:spPr>
          <a:xfrm>
            <a:off x="2659380" y="2569210"/>
            <a:ext cx="9133205" cy="1012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系统设施</a:t>
            </a:r>
            <a:r>
              <a:rPr lang="en-US" altLang="zh-CN" sz="2000" b="1">
                <a:solidFill>
                  <a:schemeClr val="tx1"/>
                </a:solidFill>
              </a:rPr>
              <a:t>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-qemu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403225" y="798830"/>
            <a:ext cx="2041525" cy="26746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qemu-user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2658745" y="798830"/>
            <a:ext cx="368236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qemu-system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612890" y="798830"/>
            <a:ext cx="5179695" cy="1645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qemu-tools</a:t>
            </a:r>
            <a:endParaRPr lang="en-US" altLang="zh-CN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03225" y="3656965"/>
            <a:ext cx="11389995" cy="1472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核心层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03225" y="5209540"/>
            <a:ext cx="11389995" cy="140652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辅助层</a:t>
            </a:r>
            <a:r>
              <a:rPr lang="en-US" altLang="zh-CN" sz="2000" b="1">
                <a:solidFill>
                  <a:schemeClr val="tx1"/>
                </a:solidFill>
              </a:rPr>
              <a:t>         .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766445" y="1721485"/>
            <a:ext cx="1268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55980" y="2239645"/>
            <a:ext cx="10598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bsd-user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678815" y="2799080"/>
            <a:ext cx="14732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common-user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499745" y="4242435"/>
            <a:ext cx="7188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accel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7617460" y="3117215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audio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3813810" y="3120390"/>
            <a:ext cx="6978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authz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8356600" y="3109595"/>
            <a:ext cx="6750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8" name="Rectangles 17"/>
          <p:cNvSpPr/>
          <p:nvPr/>
        </p:nvSpPr>
        <p:spPr>
          <a:xfrm>
            <a:off x="2736215" y="3120390"/>
            <a:ext cx="10236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backends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19" name="Rectangles 18"/>
          <p:cNvSpPr/>
          <p:nvPr/>
        </p:nvSpPr>
        <p:spPr>
          <a:xfrm>
            <a:off x="4130675" y="2682240"/>
            <a:ext cx="9061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chardev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0" name="Rectangles 19"/>
          <p:cNvSpPr/>
          <p:nvPr/>
        </p:nvSpPr>
        <p:spPr>
          <a:xfrm>
            <a:off x="10598785" y="3107055"/>
            <a:ext cx="5264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1163300" y="3115945"/>
            <a:ext cx="5276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nbd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4533265" y="3117215"/>
            <a:ext cx="106489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migration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3" name="Rectangles 22"/>
          <p:cNvSpPr/>
          <p:nvPr/>
        </p:nvSpPr>
        <p:spPr>
          <a:xfrm>
            <a:off x="518160" y="5274310"/>
            <a:ext cx="266509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linux-headers/include/stubs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4" name="Rectangles 23"/>
          <p:cNvSpPr/>
          <p:nvPr/>
        </p:nvSpPr>
        <p:spPr>
          <a:xfrm>
            <a:off x="3319780" y="5274310"/>
            <a:ext cx="593852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LICENSE/MAINTAINERS/README.rst/COPYING/COPYING.LIB/contrib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532130" y="6163310"/>
            <a:ext cx="26771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po/version.rc/VERSION/docs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1496060" y="5725795"/>
            <a:ext cx="1021588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subprojects/run.in/scripts/configure/configs/Kconfig/Kconfig.host/Makefile/meson.build/meson_options.txt/qemu.nsi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4119245" y="1935480"/>
            <a:ext cx="9175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pc-bios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0" name="Rectangles 29"/>
          <p:cNvSpPr/>
          <p:nvPr/>
        </p:nvSpPr>
        <p:spPr>
          <a:xfrm>
            <a:off x="8368030" y="1372870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1" name="Rectangles 30"/>
          <p:cNvSpPr/>
          <p:nvPr/>
        </p:nvSpPr>
        <p:spPr>
          <a:xfrm>
            <a:off x="9676765" y="1359535"/>
            <a:ext cx="203581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qemu-bridge-helper.c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2" name="Rectangles 31"/>
          <p:cNvSpPr/>
          <p:nvPr/>
        </p:nvSpPr>
        <p:spPr>
          <a:xfrm>
            <a:off x="9825355" y="1724660"/>
            <a:ext cx="18726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qemu-img-cmds.hx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3420110" y="1450975"/>
            <a:ext cx="9080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system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1991995" y="4239260"/>
            <a:ext cx="5803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tcg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2669540" y="4239260"/>
            <a:ext cx="7524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target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777875" y="4724400"/>
            <a:ext cx="4691380" cy="3327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target-info.c/target-info-qom.c/target-info-stub.c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7" name="Rectangles 36"/>
          <p:cNvSpPr/>
          <p:nvPr/>
        </p:nvSpPr>
        <p:spPr>
          <a:xfrm>
            <a:off x="3496945" y="4239260"/>
            <a:ext cx="633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qom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7059295" y="1370330"/>
            <a:ext cx="124777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qemu-nbd.c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6224270" y="6166485"/>
            <a:ext cx="1085850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qemu.sasl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1" name="Rectangles 40"/>
          <p:cNvSpPr/>
          <p:nvPr/>
        </p:nvSpPr>
        <p:spPr>
          <a:xfrm>
            <a:off x="6764020" y="4700905"/>
            <a:ext cx="1837690" cy="3238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qemu-options.hx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2" name="Rectangles 41"/>
          <p:cNvSpPr/>
          <p:nvPr/>
        </p:nvSpPr>
        <p:spPr>
          <a:xfrm>
            <a:off x="8686165" y="6166485"/>
            <a:ext cx="302577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pythondeps.toml/python/pyvenv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07510" y="4239260"/>
            <a:ext cx="67564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rust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4" name="Rectangles 43"/>
          <p:cNvSpPr/>
          <p:nvPr/>
        </p:nvSpPr>
        <p:spPr>
          <a:xfrm>
            <a:off x="532130" y="5723255"/>
            <a:ext cx="880745" cy="3778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tools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8374380" y="2088515"/>
            <a:ext cx="158051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qemu-keymap.c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3345180" y="6166485"/>
            <a:ext cx="176466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tests/qemu-edid.c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7098665" y="1732280"/>
            <a:ext cx="2510155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qemu-io.c/qemu-io-cmds.c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6931660" y="2261235"/>
            <a:ext cx="68580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scsi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6044565" y="4220845"/>
            <a:ext cx="13449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semihosting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0" name="Rectangles 49"/>
          <p:cNvSpPr/>
          <p:nvPr/>
        </p:nvSpPr>
        <p:spPr>
          <a:xfrm>
            <a:off x="10078085" y="2089150"/>
            <a:ext cx="1634490" cy="30226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storage-daemon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5109845" y="2682240"/>
            <a:ext cx="65881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block.c/blockdev.c/blockdev-nbd.c/blockjob.c/job.c/job-qmp.c/replication.c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7389495" y="6166485"/>
            <a:ext cx="1216660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clippy.toml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8731250" y="4657725"/>
            <a:ext cx="26149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cpu-common.c/cpu-target.c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7475855" y="4220845"/>
            <a:ext cx="88074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crypto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8467725" y="4217670"/>
            <a:ext cx="6419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disas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9838055" y="3115945"/>
            <a:ext cx="70802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dump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5598160" y="1948180"/>
            <a:ext cx="61341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ebpf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9" name="Rectangles 58"/>
          <p:cNvSpPr/>
          <p:nvPr/>
        </p:nvSpPr>
        <p:spPr>
          <a:xfrm>
            <a:off x="2723515" y="1461770"/>
            <a:ext cx="63373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hw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0" name="Rectangles 59"/>
          <p:cNvSpPr/>
          <p:nvPr/>
        </p:nvSpPr>
        <p:spPr>
          <a:xfrm>
            <a:off x="1309370" y="4239260"/>
            <a:ext cx="5803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fpu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1" name="Rectangles 60"/>
          <p:cNvSpPr/>
          <p:nvPr/>
        </p:nvSpPr>
        <p:spPr>
          <a:xfrm>
            <a:off x="9076690" y="3107055"/>
            <a:ext cx="7169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fsdev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2" name="Rectangles 61"/>
          <p:cNvSpPr/>
          <p:nvPr/>
        </p:nvSpPr>
        <p:spPr>
          <a:xfrm>
            <a:off x="5015865" y="4220845"/>
            <a:ext cx="92773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gdbstub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3" name="Rectangles 62"/>
          <p:cNvSpPr/>
          <p:nvPr/>
        </p:nvSpPr>
        <p:spPr>
          <a:xfrm>
            <a:off x="9237345" y="4217670"/>
            <a:ext cx="4692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5" name="Rectangles 64"/>
          <p:cNvSpPr/>
          <p:nvPr/>
        </p:nvSpPr>
        <p:spPr>
          <a:xfrm>
            <a:off x="9827895" y="4210050"/>
            <a:ext cx="87947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monitor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6" name="Rectangles 65"/>
          <p:cNvSpPr/>
          <p:nvPr/>
        </p:nvSpPr>
        <p:spPr>
          <a:xfrm>
            <a:off x="10834370" y="4220845"/>
            <a:ext cx="8502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plugins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7" name="Rectangles 66"/>
          <p:cNvSpPr/>
          <p:nvPr/>
        </p:nvSpPr>
        <p:spPr>
          <a:xfrm>
            <a:off x="513080" y="3753485"/>
            <a:ext cx="92773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qobject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8" name="Rectangles 67"/>
          <p:cNvSpPr/>
          <p:nvPr/>
        </p:nvSpPr>
        <p:spPr>
          <a:xfrm>
            <a:off x="2788285" y="1924685"/>
            <a:ext cx="5308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qga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69" name="Rectangles 68"/>
          <p:cNvSpPr/>
          <p:nvPr/>
        </p:nvSpPr>
        <p:spPr>
          <a:xfrm>
            <a:off x="5617845" y="3115945"/>
            <a:ext cx="7556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replay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0" name="Rectangles 69"/>
          <p:cNvSpPr/>
          <p:nvPr/>
        </p:nvSpPr>
        <p:spPr>
          <a:xfrm>
            <a:off x="5140960" y="1946275"/>
            <a:ext cx="35814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ui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1" name="Rectangles 70"/>
          <p:cNvSpPr/>
          <p:nvPr/>
        </p:nvSpPr>
        <p:spPr>
          <a:xfrm>
            <a:off x="1572895" y="3753485"/>
            <a:ext cx="7200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util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2" name="Rectangles 71"/>
          <p:cNvSpPr/>
          <p:nvPr/>
        </p:nvSpPr>
        <p:spPr>
          <a:xfrm>
            <a:off x="3414395" y="1924685"/>
            <a:ext cx="6184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roms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3" name="Rectangles 72"/>
          <p:cNvSpPr/>
          <p:nvPr/>
        </p:nvSpPr>
        <p:spPr>
          <a:xfrm>
            <a:off x="2462530" y="3753485"/>
            <a:ext cx="7200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trace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4" name="Rectangles 73"/>
          <p:cNvSpPr/>
          <p:nvPr/>
        </p:nvSpPr>
        <p:spPr>
          <a:xfrm>
            <a:off x="3323590" y="3753485"/>
            <a:ext cx="72009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qapi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5" name="Rectangles 74"/>
          <p:cNvSpPr/>
          <p:nvPr/>
        </p:nvSpPr>
        <p:spPr>
          <a:xfrm>
            <a:off x="4130675" y="3778250"/>
            <a:ext cx="112966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iothread.c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6" name="Rectangles 75"/>
          <p:cNvSpPr/>
          <p:nvPr/>
        </p:nvSpPr>
        <p:spPr>
          <a:xfrm>
            <a:off x="5338445" y="3775075"/>
            <a:ext cx="13284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7" name="Rectangles 76"/>
          <p:cNvSpPr/>
          <p:nvPr/>
        </p:nvSpPr>
        <p:spPr>
          <a:xfrm>
            <a:off x="6800215" y="3778250"/>
            <a:ext cx="465391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os-posix.c/os-win32.c/os-wasm.c/event-loop-base.c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8" name="Rectangles 77"/>
          <p:cNvSpPr/>
          <p:nvPr/>
        </p:nvSpPr>
        <p:spPr>
          <a:xfrm>
            <a:off x="2727960" y="2682240"/>
            <a:ext cx="132842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trace-events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79" name="Rectangles 78"/>
          <p:cNvSpPr/>
          <p:nvPr/>
        </p:nvSpPr>
        <p:spPr>
          <a:xfrm>
            <a:off x="9452610" y="5274310"/>
            <a:ext cx="1892935" cy="3886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gitdm.config/.*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81" name="Rectangles 80"/>
          <p:cNvSpPr/>
          <p:nvPr/>
        </p:nvSpPr>
        <p:spPr>
          <a:xfrm>
            <a:off x="4388485" y="1461770"/>
            <a:ext cx="18878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page-vary-system.c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198620" y="1396365"/>
            <a:ext cx="3794760" cy="47593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处理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广义计算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=SDK+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+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计算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了解开源案例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-Linux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内核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329565" y="901700"/>
            <a:ext cx="11494135" cy="462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上层</a:t>
            </a:r>
            <a:r>
              <a:rPr lang="zh-CN" altLang="en-US" sz="1600" b="1">
                <a:solidFill>
                  <a:schemeClr val="tx1"/>
                </a:solidFill>
              </a:rPr>
              <a:t>（广义用户）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328930" y="6174740"/>
            <a:ext cx="11494770" cy="4965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                                                                                 </a:t>
            </a:r>
            <a:r>
              <a:rPr lang="zh-CN" altLang="en-US" b="1">
                <a:solidFill>
                  <a:schemeClr val="tx1"/>
                </a:solidFill>
              </a:rPr>
              <a:t>底层</a:t>
            </a:r>
            <a:r>
              <a:rPr lang="zh-CN" altLang="en-US" sz="1600" b="1">
                <a:solidFill>
                  <a:schemeClr val="tx1"/>
                </a:solidFill>
              </a:rPr>
              <a:t>（广义硬件）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521970" y="2256155"/>
            <a:ext cx="3220720" cy="2411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存储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8362950" y="2255520"/>
            <a:ext cx="3248025" cy="2421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传输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sz="2000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4345940" y="3784600"/>
            <a:ext cx="3468370" cy="10915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调度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框架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4345940" y="1396365"/>
            <a:ext cx="3467735" cy="161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SDK</a:t>
            </a:r>
            <a:endParaRPr lang="en-US" altLang="zh-CN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接口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)</a:t>
            </a:r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ctr"/>
            <a:endParaRPr lang="en-US" altLang="zh-CN" sz="14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522605" y="4928870"/>
            <a:ext cx="11089005" cy="12134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650875" y="5031740"/>
            <a:ext cx="10852150" cy="11106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  <a:p>
            <a:pPr algn="ctr"/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1" name="Rectangles 50"/>
          <p:cNvSpPr/>
          <p:nvPr/>
        </p:nvSpPr>
        <p:spPr>
          <a:xfrm>
            <a:off x="8790305" y="3620770"/>
            <a:ext cx="126746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net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2" name="Rectangles 51"/>
          <p:cNvSpPr/>
          <p:nvPr/>
        </p:nvSpPr>
        <p:spPr>
          <a:xfrm>
            <a:off x="8567420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ipc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3" name="Rectangles 52"/>
          <p:cNvSpPr/>
          <p:nvPr/>
        </p:nvSpPr>
        <p:spPr>
          <a:xfrm>
            <a:off x="9509125" y="4149725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virt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4" name="Rectangles 53"/>
          <p:cNvSpPr/>
          <p:nvPr/>
        </p:nvSpPr>
        <p:spPr>
          <a:xfrm>
            <a:off x="10352405" y="3631565"/>
            <a:ext cx="87058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sound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10471150" y="4157980"/>
            <a:ext cx="104330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io_uring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6" name="Rectangles 55"/>
          <p:cNvSpPr/>
          <p:nvPr/>
        </p:nvSpPr>
        <p:spPr>
          <a:xfrm>
            <a:off x="803910" y="418211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mm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7" name="Rectangles 56"/>
          <p:cNvSpPr/>
          <p:nvPr/>
        </p:nvSpPr>
        <p:spPr>
          <a:xfrm>
            <a:off x="1068070" y="3613785"/>
            <a:ext cx="2165350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fs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58" name="Rectangles 57"/>
          <p:cNvSpPr/>
          <p:nvPr/>
        </p:nvSpPr>
        <p:spPr>
          <a:xfrm>
            <a:off x="2736850" y="4138930"/>
            <a:ext cx="719455" cy="38862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block</a:t>
            </a:r>
            <a:endParaRPr lang="en-US" altLang="zh-CN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16985</Words>
  <Application>WPS Presentation</Application>
  <PresentationFormat>宽屏</PresentationFormat>
  <Paragraphs>2499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学习架构设计-了解开源案例-qemu</vt:lpstr>
      <vt:lpstr>学习架构设计-了解开源案例-Linux内核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826</cp:revision>
  <dcterms:created xsi:type="dcterms:W3CDTF">2026-05-02T03:41:33Z</dcterms:created>
  <dcterms:modified xsi:type="dcterms:W3CDTF">2026-05-02T03:41:33Z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