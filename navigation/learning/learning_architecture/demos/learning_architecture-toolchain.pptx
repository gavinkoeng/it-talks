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47640" y="1825560"/>
            <a:ext cx="1051020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53EDA2-B0A6-4FD8-A553-F03AAD41CCE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71D375-85D8-479E-89CF-029834063D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47640" y="1825560"/>
            <a:ext cx="1051020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C87A1A0-1033-4136-B9D8-F493CE5F7CB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9860781-B7BD-40B4-91B4-0013A3EB90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47640" y="1825560"/>
            <a:ext cx="512892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33240" y="1825560"/>
            <a:ext cx="512892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FB7071E-DE41-42CB-838E-048BB997B38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CDADE75-FA85-488D-9071-83DA5EBF20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25EF755-B00C-43FD-8AFB-4B82DA2614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E3835B4-F5FF-4BDA-BA38-3BAA26AB236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B9D20B3-CE4C-4FDC-A66C-9099B7B57D4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78BDCB1-7EF6-44A9-B20E-F02759EC6D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zh-CN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单击以编辑标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题文本格式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DC5B672-34EC-4424-9952-595D2B00F4D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1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FA84BD8-CD26-4315-9D2F-E33238D0A57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击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以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编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辑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题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本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格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020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62FA11A-3F31-416F-9559-F47B2450DC4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290E392-EAE2-4159-A4E7-5C0883EC2D9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击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以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编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辑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题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本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格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2856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033240" y="1825560"/>
            <a:ext cx="5128560" cy="434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点击以编辑提纲文本格式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第二提纲级别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第三提纲级别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第四提纲级别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第五提纲级别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第六提纲级别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第七提纲级别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DC60C25-D2A6-46D9-A29E-D7227A2D785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472228A-8D26-4A0F-A3A6-93D9FDCC9B4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0200" cy="132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单击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以编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辑标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题文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本格</a:t>
            </a:r>
            <a:r>
              <a:rPr b="0" lang="zh-CN" sz="1800" spc="-1" strike="noStrike">
                <a:solidFill>
                  <a:srgbClr val="000000"/>
                </a:solidFill>
                <a:latin typeface="Arial"/>
              </a:rPr>
              <a:t>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218B473-ED0A-4417-BAD6-EABC9D9578E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E4BB0F2-6CC9-4468-820D-AB35F928160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直接连接符 7"/>
          <p:cNvCxnSpPr/>
          <p:nvPr/>
        </p:nvCxnSpPr>
        <p:spPr>
          <a:xfrm>
            <a:off x="742680" y="434160"/>
            <a:ext cx="5400" cy="1396800"/>
          </a:xfrm>
          <a:prstGeom prst="straightConnector1">
            <a:avLst/>
          </a:prstGeom>
          <a:ln w="0">
            <a:solidFill>
              <a:srgbClr val="5b9bd5"/>
            </a:solidFill>
          </a:ln>
        </p:spPr>
      </p:cxnSp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61190B8-5F94-4698-97D9-626C9E80D7A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94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&lt;页脚&gt;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84D9690-ABF5-4628-90D5-19FB1305D6A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&lt;编号&gt;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780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&lt;日期/时间&gt;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s 1"/>
          <p:cNvSpPr/>
          <p:nvPr/>
        </p:nvSpPr>
        <p:spPr>
          <a:xfrm>
            <a:off x="1332000" y="1105560"/>
            <a:ext cx="10726560" cy="521424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Shell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    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             </a:t>
            </a:r>
            <a:r>
              <a:rPr b="1" lang="en-US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                                                                                                                    图形系统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串行系统语言                                                                                                                                                并行受限语言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500" spc="-1" strike="noStrike">
                <a:solidFill>
                  <a:schemeClr val="dk1"/>
                </a:solidFill>
                <a:latin typeface="Arial"/>
                <a:ea typeface="Noto Sans CJK SC"/>
              </a:rPr>
              <a:t>  </a:t>
            </a:r>
            <a:r>
              <a:rPr b="1" lang="en-US" sz="1500" spc="-1" strike="noStrike">
                <a:solidFill>
                  <a:srgbClr val="333333"/>
                </a:solidFill>
                <a:latin typeface="Arial"/>
                <a:ea typeface="Noto Sans CJK SC"/>
              </a:rPr>
              <a:t>(</a:t>
            </a:r>
            <a:r>
              <a:rPr b="1" lang="zh-CN" sz="1500" spc="-1" strike="noStrike">
                <a:solidFill>
                  <a:srgbClr val="333333"/>
                </a:solidFill>
                <a:latin typeface="Arial"/>
                <a:ea typeface="Noto Sans CJK SC"/>
              </a:rPr>
              <a:t>含工具链命令</a:t>
            </a:r>
            <a:r>
              <a:rPr b="1" lang="en-US" sz="1500" spc="-1" strike="noStrike">
                <a:solidFill>
                  <a:srgbClr val="333333"/>
                </a:solidFill>
                <a:latin typeface="Arial"/>
                <a:ea typeface="Noto Sans CJK SC"/>
              </a:rPr>
              <a:t>)                                                                                                                         (</a:t>
            </a:r>
            <a:r>
              <a:rPr b="1" lang="zh-CN" sz="1500" spc="-1" strike="noStrike">
                <a:solidFill>
                  <a:srgbClr val="333333"/>
                </a:solidFill>
                <a:latin typeface="Arial"/>
                <a:ea typeface="Noto Sans CJK SC"/>
              </a:rPr>
              <a:t>含集成开发环境</a:t>
            </a:r>
            <a:r>
              <a:rPr b="1" lang="en-US" sz="1500" spc="-1" strike="noStrike">
                <a:solidFill>
                  <a:srgbClr val="333333"/>
                </a:solidFill>
                <a:latin typeface="Arial"/>
                <a:ea typeface="Noto Sans CJK SC"/>
              </a:rPr>
              <a:t>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Noto Sans CJK SC"/>
              </a:rPr>
              <a:t>   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Rectangles 97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Rectangles 98"/>
          <p:cNvSpPr/>
          <p:nvPr/>
        </p:nvSpPr>
        <p:spPr>
          <a:xfrm>
            <a:off x="1332000" y="6322320"/>
            <a:ext cx="10738440" cy="4910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Rectangles 99"/>
          <p:cNvSpPr/>
          <p:nvPr/>
        </p:nvSpPr>
        <p:spPr>
          <a:xfrm>
            <a:off x="4032000" y="1105560"/>
            <a:ext cx="5578560" cy="195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/>
                </a:solidFill>
                <a:latin typeface="Arial"/>
              </a:rPr>
              <a:t>AI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人类语言（串并行）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PlaceHolder 1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2"/>
          <p:cNvSpPr/>
          <p:nvPr/>
        </p:nvSpPr>
        <p:spPr>
          <a:xfrm>
            <a:off x="88560" y="625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3"/>
          <p:cNvSpPr/>
          <p:nvPr/>
        </p:nvSpPr>
        <p:spPr>
          <a:xfrm>
            <a:off x="88920" y="4490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PlaceHolder 5"/>
          <p:cNvSpPr/>
          <p:nvPr/>
        </p:nvSpPr>
        <p:spPr>
          <a:xfrm>
            <a:off x="89280" y="2690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332000" y="3996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s 29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具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链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客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户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具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链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语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言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Rectangles 30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Rectangles 31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9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PlaceHolder 40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PlaceHolder 41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PlaceHolder 42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Rectangles 167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Rectangles 170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Rectangles 171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Rectangles 220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Rectangles 221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Rectangles 223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Rectangles 224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ectangles 231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ectangles 233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s 13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Rectangles 14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s 15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4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PlaceHolder 65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PlaceHolder 66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PlaceHolder 67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Rectangles 228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Rectangles 229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Rectangles 230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ectangles 304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Rectangles 305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ectangles 306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s 307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Rectangles 308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Rectangles 309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Rectangles 310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s 16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Rectangles 17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s 18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59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PlaceHolder 60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PlaceHolder 61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PlaceHolder 62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Rectangles 225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Rectangles 226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Rectangles 227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Rectangles 294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Rectangles 295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Rectangles 296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s 297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Rectangles 298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ectangles 299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ectangles 300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s 301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s 302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Rectangles 303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s 19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Rectangles 20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ectangles 235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54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PlaceHolder 55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PlaceHolder 56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PlaceHolder 57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Rectangles 240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ectangles 279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Rectangles 280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Rectangles 281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Rectangles 282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Rectangles 283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ectangles 284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Rectangles 285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Rectangles 286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s 287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s 288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s 289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s 290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ectangles 291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s 292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Rectangles 293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s 21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Rectangles 22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ectangles 23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9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PlaceHolder 50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PlaceHolder 51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PlaceHolder 52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ectangles 232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Rectangles 234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Rectangles 239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Rectangles 264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Rectangles 265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Rectangles 266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s 267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Rectangles 268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Rectangles 269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tangles 270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ectangles 271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ectangles 272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Rectangles 273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s 274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ectangles 275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Rectangles 276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Rectangles 277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Rectangles 278"/>
          <p:cNvSpPr/>
          <p:nvPr/>
        </p:nvSpPr>
        <p:spPr>
          <a:xfrm>
            <a:off x="4320000" y="5688000"/>
            <a:ext cx="4860000" cy="2880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基础生态封装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s 24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Rectangles 25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ectangles 26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4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PlaceHolder 45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PlaceHolder 46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PlaceHolder 47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Rectangles 27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Rectangles 28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Rectangles 236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Rectangles 237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Rectangles 238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Rectangles 241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ectangles 245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Rectangles 246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ectangles 247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Rectangles 248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ectangles 249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s 250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ectangles 255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ectangles 256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s 257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Rectangles 258"/>
          <p:cNvSpPr/>
          <p:nvPr/>
        </p:nvSpPr>
        <p:spPr>
          <a:xfrm>
            <a:off x="197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生态版本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tangles 259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Rectangles 260"/>
          <p:cNvSpPr/>
          <p:nvPr/>
        </p:nvSpPr>
        <p:spPr>
          <a:xfrm>
            <a:off x="3202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Rectangles 261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ectangles 262"/>
          <p:cNvSpPr/>
          <p:nvPr/>
        </p:nvSpPr>
        <p:spPr>
          <a:xfrm>
            <a:off x="4426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后端可选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汇编转译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语言对接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ectangles 263"/>
          <p:cNvSpPr/>
          <p:nvPr/>
        </p:nvSpPr>
        <p:spPr>
          <a:xfrm>
            <a:off x="4320000" y="5688000"/>
            <a:ext cx="4860000" cy="2880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基础生态封装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s 42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ectangles 43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Rectangles 44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8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PlaceHolder 29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PlaceHolder 30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PlaceHolder 31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ectangles 52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Rectangles 53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ectangles 54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Rectangles 57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Rectangles 58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Rectangles 59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Rectangles 155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Rectangles 156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ectangles 157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ectangles 158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ctangles 159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Rectangles 160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s 161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ectangles 162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ectangles 163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ectangles 164"/>
          <p:cNvSpPr/>
          <p:nvPr/>
        </p:nvSpPr>
        <p:spPr>
          <a:xfrm>
            <a:off x="197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生态版本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Rectangles 165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ectangles 166"/>
          <p:cNvSpPr/>
          <p:nvPr/>
        </p:nvSpPr>
        <p:spPr>
          <a:xfrm>
            <a:off x="3202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s 169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Rectangles 173"/>
          <p:cNvSpPr/>
          <p:nvPr/>
        </p:nvSpPr>
        <p:spPr>
          <a:xfrm>
            <a:off x="7990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语言支撑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类型识别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代码转译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日志处理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Rectangles 174"/>
          <p:cNvSpPr/>
          <p:nvPr/>
        </p:nvSpPr>
        <p:spPr>
          <a:xfrm>
            <a:off x="9214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处理内容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解决错误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处理性能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确保稳定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Rectangles 175"/>
          <p:cNvSpPr/>
          <p:nvPr/>
        </p:nvSpPr>
        <p:spPr>
          <a:xfrm>
            <a:off x="1043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虚机交互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资源监控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调度管理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布局信息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tangles 2"/>
          <p:cNvSpPr/>
          <p:nvPr/>
        </p:nvSpPr>
        <p:spPr>
          <a:xfrm>
            <a:off x="4426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后端可选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汇编转译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语言对接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ectangles 9"/>
          <p:cNvSpPr/>
          <p:nvPr/>
        </p:nvSpPr>
        <p:spPr>
          <a:xfrm>
            <a:off x="4320000" y="5688000"/>
            <a:ext cx="4860000" cy="2880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基础生态封装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Rectangles 45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ectangles 46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Rectangles 47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15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PlaceHolder 16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PlaceHolder 17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PlaceHolder 37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Rectangles 48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Rectangles 49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Rectangles 50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</a:t>
            </a: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ectangles 51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Rectangles 196"/>
          <p:cNvSpPr/>
          <p:nvPr/>
        </p:nvSpPr>
        <p:spPr>
          <a:xfrm>
            <a:off x="5867640" y="608400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ectangles 197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ectangles 198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Rectangles 199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ectangles 200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Rectangles 201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Rectangles 202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Rectangles 203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ectangles 204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tangles 205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tangles 206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Rectangles 207"/>
          <p:cNvSpPr/>
          <p:nvPr/>
        </p:nvSpPr>
        <p:spPr>
          <a:xfrm>
            <a:off x="197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生态版本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Rectangles 208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ectangles 209"/>
          <p:cNvSpPr/>
          <p:nvPr/>
        </p:nvSpPr>
        <p:spPr>
          <a:xfrm>
            <a:off x="3202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Rectangles 210"/>
          <p:cNvSpPr/>
          <p:nvPr/>
        </p:nvSpPr>
        <p:spPr>
          <a:xfrm>
            <a:off x="6660000" y="4752000"/>
            <a:ext cx="871560" cy="8622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交互处理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错误报告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警告处理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信息管理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ectangles 211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Rectangles 212"/>
          <p:cNvSpPr/>
          <p:nvPr/>
        </p:nvSpPr>
        <p:spPr>
          <a:xfrm>
            <a:off x="5868000" y="4752000"/>
            <a:ext cx="2872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性能优化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Rectangles 213"/>
          <p:cNvSpPr/>
          <p:nvPr/>
        </p:nvSpPr>
        <p:spPr>
          <a:xfrm>
            <a:off x="6262200" y="4752000"/>
            <a:ext cx="28980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尺寸优化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ectangles 214"/>
          <p:cNvSpPr/>
          <p:nvPr/>
        </p:nvSpPr>
        <p:spPr>
          <a:xfrm>
            <a:off x="7990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语言支撑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类型识别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代码转译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日志处理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Rectangles 215"/>
          <p:cNvSpPr/>
          <p:nvPr/>
        </p:nvSpPr>
        <p:spPr>
          <a:xfrm>
            <a:off x="9214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处理内容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解决错误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处理性能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确保稳定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ectangles 216"/>
          <p:cNvSpPr/>
          <p:nvPr/>
        </p:nvSpPr>
        <p:spPr>
          <a:xfrm>
            <a:off x="1043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虚机交互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资源监控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调度管理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布局信息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Rectangles 217"/>
          <p:cNvSpPr/>
          <p:nvPr/>
        </p:nvSpPr>
        <p:spPr>
          <a:xfrm>
            <a:off x="4426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后端可选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汇编转译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语言对接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ectangles 218"/>
          <p:cNvSpPr/>
          <p:nvPr/>
        </p:nvSpPr>
        <p:spPr>
          <a:xfrm>
            <a:off x="5796000" y="4536000"/>
            <a:ext cx="1800000" cy="2880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平衡统筹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Rectangles 219"/>
          <p:cNvSpPr/>
          <p:nvPr/>
        </p:nvSpPr>
        <p:spPr>
          <a:xfrm>
            <a:off x="4320000" y="5688000"/>
            <a:ext cx="4860000" cy="2880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基础生态封装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81760" y="4825800"/>
            <a:ext cx="180720" cy="676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s 168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ectangles 172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Rectangles 176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PlaceHolder 33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PlaceHolder 34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PlaceHolder 35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PlaceHolder 36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Rectangles 177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ectangles 178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Rectangles 179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ectangles 180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ectangles 181"/>
          <p:cNvSpPr/>
          <p:nvPr/>
        </p:nvSpPr>
        <p:spPr>
          <a:xfrm>
            <a:off x="5686200" y="6086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Rectangles 182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Rectangles 183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Rectangles 184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Rectangles 185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Rectangles 186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ectangles 187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s 188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ectangles 189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Rectangles 190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ectangles 191"/>
          <p:cNvSpPr/>
          <p:nvPr/>
        </p:nvSpPr>
        <p:spPr>
          <a:xfrm>
            <a:off x="1728000" y="406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Rectangles 192"/>
          <p:cNvSpPr/>
          <p:nvPr/>
        </p:nvSpPr>
        <p:spPr>
          <a:xfrm>
            <a:off x="1978200" y="4716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生态版本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ectangles 193"/>
          <p:cNvSpPr/>
          <p:nvPr/>
        </p:nvSpPr>
        <p:spPr>
          <a:xfrm>
            <a:off x="7740000" y="406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Rectangles 194"/>
          <p:cNvSpPr/>
          <p:nvPr/>
        </p:nvSpPr>
        <p:spPr>
          <a:xfrm>
            <a:off x="3202200" y="4716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ectangles 195"/>
          <p:cNvSpPr/>
          <p:nvPr/>
        </p:nvSpPr>
        <p:spPr>
          <a:xfrm>
            <a:off x="6660000" y="4716000"/>
            <a:ext cx="871560" cy="86220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交互处理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错误报告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警告处理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信息管理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Rectangles 242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ectangles 243"/>
          <p:cNvSpPr/>
          <p:nvPr/>
        </p:nvSpPr>
        <p:spPr>
          <a:xfrm>
            <a:off x="5868000" y="4716000"/>
            <a:ext cx="2872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性能优化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ectangles 244"/>
          <p:cNvSpPr/>
          <p:nvPr/>
        </p:nvSpPr>
        <p:spPr>
          <a:xfrm>
            <a:off x="6262200" y="4716000"/>
            <a:ext cx="28980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尺寸优化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Rectangles 251"/>
          <p:cNvSpPr/>
          <p:nvPr/>
        </p:nvSpPr>
        <p:spPr>
          <a:xfrm>
            <a:off x="7990200" y="4716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语言支撑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类型识别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代码转译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日志处理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tangles 252"/>
          <p:cNvSpPr/>
          <p:nvPr/>
        </p:nvSpPr>
        <p:spPr>
          <a:xfrm>
            <a:off x="9214200" y="4716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处理内容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解决错误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处理性能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确保稳定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ectangles 253"/>
          <p:cNvSpPr/>
          <p:nvPr/>
        </p:nvSpPr>
        <p:spPr>
          <a:xfrm>
            <a:off x="10438200" y="4716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虚机交互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资源监控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调度管理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布局信息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Rectangles 254"/>
          <p:cNvSpPr/>
          <p:nvPr/>
        </p:nvSpPr>
        <p:spPr>
          <a:xfrm>
            <a:off x="4426200" y="4716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后端可选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汇编转译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语言对接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Rectangles 125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ectangles 126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ectangles 127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24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PlaceHolder 25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PlaceHolder 26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PlaceHolder 27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Rectangles 128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Rectangles 129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ectangles 130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（宿主工具链运行环境）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Rectangles 131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（虚拟工具链运行环境）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Rectangles 132"/>
          <p:cNvSpPr/>
          <p:nvPr/>
        </p:nvSpPr>
        <p:spPr>
          <a:xfrm>
            <a:off x="5686200" y="6086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Rectangles 133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Rectangles 134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Rectangles 135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ectangles 136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Rectangles 137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Rectangles 138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ectangles 139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s 140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Rectangles 141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ectangles 142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Rectangles 143"/>
          <p:cNvSpPr/>
          <p:nvPr/>
        </p:nvSpPr>
        <p:spPr>
          <a:xfrm>
            <a:off x="197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生态版本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Rectangles 144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ectangles 145"/>
          <p:cNvSpPr/>
          <p:nvPr/>
        </p:nvSpPr>
        <p:spPr>
          <a:xfrm>
            <a:off x="3202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ectangles 146"/>
          <p:cNvSpPr/>
          <p:nvPr/>
        </p:nvSpPr>
        <p:spPr>
          <a:xfrm>
            <a:off x="4426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交互处理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错误报告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警告处理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信息管理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ectangles 147"/>
          <p:cNvSpPr/>
          <p:nvPr/>
        </p:nvSpPr>
        <p:spPr>
          <a:xfrm>
            <a:off x="5976000" y="5508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Rectangles 148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ectangles 149"/>
          <p:cNvSpPr/>
          <p:nvPr/>
        </p:nvSpPr>
        <p:spPr>
          <a:xfrm>
            <a:off x="5830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性能优化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Rectangles 150"/>
          <p:cNvSpPr/>
          <p:nvPr/>
        </p:nvSpPr>
        <p:spPr>
          <a:xfrm>
            <a:off x="6442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尺寸优化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ectangles 151"/>
          <p:cNvSpPr/>
          <p:nvPr/>
        </p:nvSpPr>
        <p:spPr>
          <a:xfrm>
            <a:off x="7054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ectangles 152"/>
          <p:cNvSpPr/>
          <p:nvPr/>
        </p:nvSpPr>
        <p:spPr>
          <a:xfrm>
            <a:off x="7990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语言支撑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类型识别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代码转译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日志处理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s 153"/>
          <p:cNvSpPr/>
          <p:nvPr/>
        </p:nvSpPr>
        <p:spPr>
          <a:xfrm>
            <a:off x="9214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处理内容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解决错误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处理性能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确保稳定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ectangles 154"/>
          <p:cNvSpPr/>
          <p:nvPr/>
        </p:nvSpPr>
        <p:spPr>
          <a:xfrm>
            <a:off x="1043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虚机交互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资源监控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调度管理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布局信息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s 61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Rectangles 93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Rectangles 94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13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PlaceHolder 21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PlaceHolder 22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PlaceHolder 23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ectangles 95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Rectangles 96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Rectangles 100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chemeClr val="dk1"/>
                </a:solidFill>
                <a:latin typeface="Arial"/>
              </a:rPr>
              <a:t>（宿主工具链服务端）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Rectangles 101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（虚拟工具链服务端）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Rectangles 102"/>
          <p:cNvSpPr/>
          <p:nvPr/>
        </p:nvSpPr>
        <p:spPr>
          <a:xfrm>
            <a:off x="5686200" y="6086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Rectangles 103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Rectangles 104"/>
          <p:cNvSpPr/>
          <p:nvPr/>
        </p:nvSpPr>
        <p:spPr>
          <a:xfrm>
            <a:off x="7740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Rectangles 105"/>
          <p:cNvSpPr/>
          <p:nvPr/>
        </p:nvSpPr>
        <p:spPr>
          <a:xfrm>
            <a:off x="1728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ectangles 106"/>
          <p:cNvSpPr/>
          <p:nvPr/>
        </p:nvSpPr>
        <p:spPr>
          <a:xfrm>
            <a:off x="921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Rectangles 107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ectangles 108"/>
          <p:cNvSpPr/>
          <p:nvPr/>
        </p:nvSpPr>
        <p:spPr>
          <a:xfrm>
            <a:off x="104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Rectangles 109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源码版本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Rectangles 110"/>
          <p:cNvSpPr/>
          <p:nvPr/>
        </p:nvSpPr>
        <p:spPr>
          <a:xfrm>
            <a:off x="323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Rectangles 111"/>
          <p:cNvSpPr/>
          <p:nvPr/>
        </p:nvSpPr>
        <p:spPr>
          <a:xfrm>
            <a:off x="446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ectangles 112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Rectangles 113"/>
          <p:cNvSpPr/>
          <p:nvPr/>
        </p:nvSpPr>
        <p:spPr>
          <a:xfrm>
            <a:off x="197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生态版本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Rectangles 114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Rectangles 115"/>
          <p:cNvSpPr/>
          <p:nvPr/>
        </p:nvSpPr>
        <p:spPr>
          <a:xfrm>
            <a:off x="3202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Rectangles 116"/>
          <p:cNvSpPr/>
          <p:nvPr/>
        </p:nvSpPr>
        <p:spPr>
          <a:xfrm>
            <a:off x="4426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交互处理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错误报告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警告处理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信息管理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ectangles 117"/>
          <p:cNvSpPr/>
          <p:nvPr/>
        </p:nvSpPr>
        <p:spPr>
          <a:xfrm>
            <a:off x="5976000" y="5508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ectangles 118"/>
          <p:cNvSpPr/>
          <p:nvPr/>
        </p:nvSpPr>
        <p:spPr>
          <a:xfrm>
            <a:off x="5976000" y="3780000"/>
            <a:ext cx="14025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Rectangles 119"/>
          <p:cNvSpPr/>
          <p:nvPr/>
        </p:nvSpPr>
        <p:spPr>
          <a:xfrm>
            <a:off x="5830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性能优化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ectangles 120"/>
          <p:cNvSpPr/>
          <p:nvPr/>
        </p:nvSpPr>
        <p:spPr>
          <a:xfrm>
            <a:off x="6442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尺寸优化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Rectangles 121"/>
          <p:cNvSpPr/>
          <p:nvPr/>
        </p:nvSpPr>
        <p:spPr>
          <a:xfrm>
            <a:off x="7054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Rectangles 122"/>
          <p:cNvSpPr/>
          <p:nvPr/>
        </p:nvSpPr>
        <p:spPr>
          <a:xfrm>
            <a:off x="7990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语言支撑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类型识别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代码转译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日志处理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ectangles 123"/>
          <p:cNvSpPr/>
          <p:nvPr/>
        </p:nvSpPr>
        <p:spPr>
          <a:xfrm>
            <a:off x="9214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处理内容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解决错误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处理性能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确保稳定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Rectangles 124"/>
          <p:cNvSpPr/>
          <p:nvPr/>
        </p:nvSpPr>
        <p:spPr>
          <a:xfrm>
            <a:off x="1043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虚机交互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资源监控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调度管理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布局信息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s 62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工具链语言核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广义工具链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Rectangles 63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Rectangles 64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8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PlaceHolder 9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PlaceHolder 11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PlaceHolder 12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ectangles 65"/>
          <p:cNvSpPr/>
          <p:nvPr/>
        </p:nvSpPr>
        <p:spPr>
          <a:xfrm>
            <a:off x="1474200" y="6122520"/>
            <a:ext cx="180108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ectangles 66"/>
          <p:cNvSpPr/>
          <p:nvPr/>
        </p:nvSpPr>
        <p:spPr>
          <a:xfrm>
            <a:off x="10044000" y="612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Rectangles 67"/>
          <p:cNvSpPr/>
          <p:nvPr/>
        </p:nvSpPr>
        <p:spPr>
          <a:xfrm>
            <a:off x="3420000" y="6048000"/>
            <a:ext cx="17985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chemeClr val="dk1"/>
                </a:solidFill>
                <a:latin typeface="Arial"/>
              </a:rPr>
              <a:t>（宿主工具链服务端）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Rectangles 68"/>
          <p:cNvSpPr/>
          <p:nvPr/>
        </p:nvSpPr>
        <p:spPr>
          <a:xfrm>
            <a:off x="8026200" y="6048000"/>
            <a:ext cx="1872360" cy="64656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050" spc="-1" strike="noStrike">
                <a:solidFill>
                  <a:srgbClr val="333333"/>
                </a:solidFill>
                <a:latin typeface="Arial"/>
              </a:rPr>
              <a:t>（虚拟工具链服务端）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Rectangles 69"/>
          <p:cNvSpPr/>
          <p:nvPr/>
        </p:nvSpPr>
        <p:spPr>
          <a:xfrm>
            <a:off x="5686200" y="6086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Rectangles 70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Rectangles 71"/>
          <p:cNvSpPr/>
          <p:nvPr/>
        </p:nvSpPr>
        <p:spPr>
          <a:xfrm>
            <a:off x="1728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客户端交互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Rectangles 72"/>
          <p:cNvSpPr/>
          <p:nvPr/>
        </p:nvSpPr>
        <p:spPr>
          <a:xfrm>
            <a:off x="7740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Rectangles 73"/>
          <p:cNvSpPr/>
          <p:nvPr/>
        </p:nvSpPr>
        <p:spPr>
          <a:xfrm>
            <a:off x="3202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编译链接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Rectangles 74"/>
          <p:cNvSpPr/>
          <p:nvPr/>
        </p:nvSpPr>
        <p:spPr>
          <a:xfrm>
            <a:off x="1978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编辑比对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ectangles 75"/>
          <p:cNvSpPr/>
          <p:nvPr/>
        </p:nvSpPr>
        <p:spPr>
          <a:xfrm>
            <a:off x="4426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调试监控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ectangles 76"/>
          <p:cNvSpPr/>
          <p:nvPr/>
        </p:nvSpPr>
        <p:spPr>
          <a:xfrm>
            <a:off x="799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版本管理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ectangles 77"/>
          <p:cNvSpPr/>
          <p:nvPr/>
        </p:nvSpPr>
        <p:spPr>
          <a:xfrm>
            <a:off x="9250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代码目录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Rectangles 78"/>
          <p:cNvSpPr/>
          <p:nvPr/>
        </p:nvSpPr>
        <p:spPr>
          <a:xfrm>
            <a:off x="10474200" y="234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工程配置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Rectangles 79"/>
          <p:cNvSpPr/>
          <p:nvPr/>
        </p:nvSpPr>
        <p:spPr>
          <a:xfrm>
            <a:off x="1728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语言处理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ectangles 80"/>
          <p:cNvSpPr/>
          <p:nvPr/>
        </p:nvSpPr>
        <p:spPr>
          <a:xfrm>
            <a:off x="1978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语言定义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参考手册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框架类库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版本管理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ectangles 81"/>
          <p:cNvSpPr/>
          <p:nvPr/>
        </p:nvSpPr>
        <p:spPr>
          <a:xfrm>
            <a:off x="7740000" y="3960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运行分析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Rectangles 82"/>
          <p:cNvSpPr/>
          <p:nvPr/>
        </p:nvSpPr>
        <p:spPr>
          <a:xfrm>
            <a:off x="3202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前端转译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词法解析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语法分析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语句处理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Rectangles 83"/>
          <p:cNvSpPr/>
          <p:nvPr/>
        </p:nvSpPr>
        <p:spPr>
          <a:xfrm>
            <a:off x="4426200" y="4608000"/>
            <a:ext cx="972360" cy="827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交互处理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错误报告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警告处理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rgbClr val="333333"/>
                </a:solidFill>
                <a:latin typeface="Arial"/>
              </a:rPr>
              <a:t>信息管理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ectangles 84"/>
          <p:cNvSpPr/>
          <p:nvPr/>
        </p:nvSpPr>
        <p:spPr>
          <a:xfrm>
            <a:off x="6190200" y="5508000"/>
            <a:ext cx="9723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后端转译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ectangles 85"/>
          <p:cNvSpPr/>
          <p:nvPr/>
        </p:nvSpPr>
        <p:spPr>
          <a:xfrm>
            <a:off x="6190200" y="3780000"/>
            <a:ext cx="972360" cy="359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命令参数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360000" y="3780000"/>
            <a:ext cx="180000" cy="42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Rectangles 86"/>
          <p:cNvSpPr/>
          <p:nvPr/>
        </p:nvSpPr>
        <p:spPr>
          <a:xfrm>
            <a:off x="5830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性能优化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ectangles 87"/>
          <p:cNvSpPr/>
          <p:nvPr/>
        </p:nvSpPr>
        <p:spPr>
          <a:xfrm>
            <a:off x="6442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尺寸优化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Rectangles 88"/>
          <p:cNvSpPr/>
          <p:nvPr/>
        </p:nvSpPr>
        <p:spPr>
          <a:xfrm>
            <a:off x="7054200" y="4572000"/>
            <a:ext cx="469080" cy="86328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链接打包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ectangles 89"/>
          <p:cNvSpPr/>
          <p:nvPr/>
        </p:nvSpPr>
        <p:spPr>
          <a:xfrm>
            <a:off x="7990200" y="468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类型转译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ectangles 90"/>
          <p:cNvSpPr/>
          <p:nvPr/>
        </p:nvSpPr>
        <p:spPr>
          <a:xfrm>
            <a:off x="9214200" y="468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代码转译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Rectangles 91"/>
          <p:cNvSpPr/>
          <p:nvPr/>
        </p:nvSpPr>
        <p:spPr>
          <a:xfrm>
            <a:off x="10438200" y="4680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虚机管理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ectangles 92"/>
          <p:cNvSpPr/>
          <p:nvPr/>
        </p:nvSpPr>
        <p:spPr>
          <a:xfrm>
            <a:off x="9250200" y="4788000"/>
            <a:ext cx="972360" cy="610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加载运行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s 32"/>
          <p:cNvSpPr/>
          <p:nvPr/>
        </p:nvSpPr>
        <p:spPr>
          <a:xfrm>
            <a:off x="1332000" y="1105560"/>
            <a:ext cx="10726560" cy="483300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Shell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Shell</a:t>
            </a:r>
            <a:r>
              <a:rPr b="1" lang="zh-CN" sz="18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语言核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Rectangles 33"/>
          <p:cNvSpPr/>
          <p:nvPr/>
        </p:nvSpPr>
        <p:spPr>
          <a:xfrm>
            <a:off x="7740000" y="154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Rectangles 34"/>
          <p:cNvSpPr/>
          <p:nvPr/>
        </p:nvSpPr>
        <p:spPr>
          <a:xfrm>
            <a:off x="1728000" y="1584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客户端传输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3328200" y="-9720"/>
            <a:ext cx="7830000" cy="57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学习架构设计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了解语言案例</a:t>
            </a:r>
            <a:r>
              <a:rPr b="1" lang="en-US" sz="2400" spc="-1" strike="noStrike">
                <a:solidFill>
                  <a:srgbClr val="00b050"/>
                </a:solidFill>
                <a:latin typeface="Arial Black"/>
              </a:rPr>
              <a:t>-Shell</a:t>
            </a: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语言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Rectangles 35"/>
          <p:cNvSpPr/>
          <p:nvPr/>
        </p:nvSpPr>
        <p:spPr>
          <a:xfrm>
            <a:off x="1332000" y="646200"/>
            <a:ext cx="10738080" cy="45684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上层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（人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应用</a:t>
            </a:r>
            <a:r>
              <a:rPr b="1" lang="en-US" sz="1600" spc="-1" strike="noStrike">
                <a:solidFill>
                  <a:schemeClr val="dk1"/>
                </a:solidFill>
                <a:latin typeface="Arial"/>
              </a:rPr>
              <a:t>/AI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客户端）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ectangles 36"/>
          <p:cNvSpPr/>
          <p:nvPr/>
        </p:nvSpPr>
        <p:spPr>
          <a:xfrm>
            <a:off x="1332000" y="5940000"/>
            <a:ext cx="10738440" cy="873360"/>
          </a:xfrm>
          <a:prstGeom prst="rect">
            <a:avLst/>
          </a:prstGeom>
          <a:solidFill>
            <a:srgbClr val="a5a5a5"/>
          </a:solidFill>
          <a:ln>
            <a:solidFill>
              <a:srgbClr val="7a7a7a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800" spc="-1" strike="noStrike">
                <a:solidFill>
                  <a:schemeClr val="dk1"/>
                </a:solidFill>
                <a:latin typeface="Arial"/>
              </a:rPr>
              <a:t>下层</a:t>
            </a:r>
            <a:r>
              <a:rPr b="1" lang="zh-CN" sz="1600" spc="-1" strike="noStrike">
                <a:solidFill>
                  <a:schemeClr val="dk1"/>
                </a:solidFill>
                <a:latin typeface="Arial"/>
              </a:rPr>
              <a:t>（系统）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14"/>
          <p:cNvSpPr/>
          <p:nvPr/>
        </p:nvSpPr>
        <p:spPr>
          <a:xfrm>
            <a:off x="88200" y="602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应用层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PlaceHolder 18"/>
          <p:cNvSpPr/>
          <p:nvPr/>
        </p:nvSpPr>
        <p:spPr>
          <a:xfrm>
            <a:off x="88560" y="6074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系统层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PlaceHolder 19"/>
          <p:cNvSpPr/>
          <p:nvPr/>
        </p:nvSpPr>
        <p:spPr>
          <a:xfrm>
            <a:off x="88920" y="441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业务层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PlaceHolder 20"/>
          <p:cNvSpPr/>
          <p:nvPr/>
        </p:nvSpPr>
        <p:spPr>
          <a:xfrm>
            <a:off x="89280" y="2258280"/>
            <a:ext cx="1206360" cy="5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  <a:tabLst>
                <a:tab algn="l" pos="0"/>
              </a:tabLst>
            </a:pPr>
            <a:r>
              <a:rPr b="1" lang="zh-CN" sz="2400" spc="-1" strike="noStrike">
                <a:solidFill>
                  <a:srgbClr val="00b050"/>
                </a:solidFill>
                <a:latin typeface="Arial Black"/>
              </a:rPr>
              <a:t>交互层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1332000" y="3780000"/>
            <a:ext cx="10728000" cy="360"/>
          </a:xfrm>
          <a:prstGeom prst="line">
            <a:avLst/>
          </a:prstGeom>
          <a:ln w="12600">
            <a:solidFill>
              <a:srgbClr val="000000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Rectangles 37"/>
          <p:cNvSpPr/>
          <p:nvPr/>
        </p:nvSpPr>
        <p:spPr>
          <a:xfrm>
            <a:off x="3346200" y="594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Shell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解释器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ectangles 38"/>
          <p:cNvSpPr/>
          <p:nvPr/>
        </p:nvSpPr>
        <p:spPr>
          <a:xfrm>
            <a:off x="8028000" y="594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图形服务端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Rectangles 39"/>
          <p:cNvSpPr/>
          <p:nvPr/>
        </p:nvSpPr>
        <p:spPr>
          <a:xfrm>
            <a:off x="3346200" y="6410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200" spc="-1" strike="noStrike">
                <a:solidFill>
                  <a:schemeClr val="dk1"/>
                </a:solidFill>
                <a:latin typeface="Arial"/>
              </a:rPr>
              <a:t>C</a:t>
            </a: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运行时支撑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Rectangles 40"/>
          <p:cNvSpPr/>
          <p:nvPr/>
        </p:nvSpPr>
        <p:spPr>
          <a:xfrm>
            <a:off x="8026200" y="6410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广义硬件接口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Rectangles 41"/>
          <p:cNvSpPr/>
          <p:nvPr/>
        </p:nvSpPr>
        <p:spPr>
          <a:xfrm>
            <a:off x="5686200" y="5942520"/>
            <a:ext cx="1872360" cy="356040"/>
          </a:xfrm>
          <a:prstGeom prst="rect">
            <a:avLst/>
          </a:prstGeom>
          <a:solidFill>
            <a:srgbClr val="999999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系统工具集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Rectangles 55"/>
          <p:cNvSpPr/>
          <p:nvPr/>
        </p:nvSpPr>
        <p:spPr>
          <a:xfrm>
            <a:off x="6190200" y="1980000"/>
            <a:ext cx="972360" cy="1438920"/>
          </a:xfrm>
          <a:prstGeom prst="rect">
            <a:avLst/>
          </a:prstGeom>
          <a:solidFill>
            <a:srgbClr val="ffbf00"/>
          </a:solidFill>
          <a:ln>
            <a:solidFill>
              <a:srgbClr val="bc8e0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zh-CN" sz="1200" spc="-1" strike="noStrike">
                <a:solidFill>
                  <a:schemeClr val="dk1"/>
                </a:solidFill>
                <a:latin typeface="Arial"/>
              </a:rPr>
              <a:t>核心程序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ectangles 56"/>
          <p:cNvSpPr/>
          <p:nvPr/>
        </p:nvSpPr>
        <p:spPr>
          <a:xfrm>
            <a:off x="1728000" y="4068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语言核传输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ectangles 60"/>
          <p:cNvSpPr/>
          <p:nvPr/>
        </p:nvSpPr>
        <p:spPr>
          <a:xfrm>
            <a:off x="7740000" y="4032000"/>
            <a:ext cx="3922920" cy="1618920"/>
          </a:xfrm>
          <a:prstGeom prst="rect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zh-CN" sz="1600" spc="-1" strike="noStrike">
                <a:solidFill>
                  <a:schemeClr val="dk1"/>
                </a:solidFill>
                <a:latin typeface="Arial"/>
                <a:ea typeface="Noto Sans CJK SC"/>
              </a:rPr>
              <a:t>语言核存储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1373</TotalTime>
  <Application>LibreOffice/24.2.7.2$Linux_RISCV64 LibreOffice_project/420$Build-2</Application>
  <AppVersion>15.0000</AppVersion>
  <Words>756</Words>
  <Paragraphs>456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2026-07-05T00:27:39Z</dcterms:created>
  <dc:creator/>
  <dc:description/>
  <dc:language>zh-CN</dc:language>
  <cp:lastModifiedBy/>
  <dcterms:modified xsi:type="dcterms:W3CDTF">2026-08-16T19:36:45Z</dcterms:modified>
  <cp:revision>833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  <property fmtid="{D5CDD505-2E9C-101B-9397-08002B2CF9AE}" pid="4" name="PresentationFormat">
    <vt:lpwstr>宽屏</vt:lpwstr>
  </property>
  <property fmtid="{D5CDD505-2E9C-101B-9397-08002B2CF9AE}" pid="5" name="Slides">
    <vt:i4>6</vt:i4>
  </property>
</Properties>
</file>