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416" r:id="rId3"/>
    <p:sldId id="427" r:id="rId5"/>
    <p:sldId id="429" r:id="rId6"/>
    <p:sldId id="428" r:id="rId7"/>
    <p:sldId id="426" r:id="rId8"/>
    <p:sldId id="417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8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1532890" y="800735"/>
            <a:ext cx="8907780" cy="2250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llvm-project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基础工具链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285" y="3191510"/>
            <a:ext cx="5920740" cy="34810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gcc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169025" y="3191510"/>
            <a:ext cx="5750560" cy="34867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binutils-gdb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7460" y="3716655"/>
            <a:ext cx="5477510" cy="2604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" y="3594735"/>
            <a:ext cx="5501005" cy="27616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85" y="901700"/>
            <a:ext cx="863536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1532890" y="800735"/>
            <a:ext cx="8907780" cy="2250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llvm-project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基础工具链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285" y="3191510"/>
            <a:ext cx="5920740" cy="34810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gcc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169025" y="3191510"/>
            <a:ext cx="5750560" cy="34867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binutils-gdb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605530" y="107950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资历：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年轻，架构偏清爽，历史包袱较少。强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6002020" y="3210560"/>
            <a:ext cx="337185" cy="340550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608705" y="404685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资历：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成熟，适配经验足，生态壁垒已成。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602990" y="148717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理念：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求快，半年一版本，开源许可宽松。强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无关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00450" y="451802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理念：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求稳，数年长支持，开源许可严谨。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无关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600450" y="188404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效能：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效率，性能爬坡快，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定制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开发方便。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597910" y="502285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效能：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上限，性能上限高，定制开发困难。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弥补不足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28800" y="1483360"/>
            <a:ext cx="139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时间优先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826260" y="4492625"/>
            <a:ext cx="139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空间优先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1532890" y="800735"/>
            <a:ext cx="8907780" cy="2250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llvm-project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基础工具链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285" y="3191510"/>
            <a:ext cx="5920740" cy="34810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gcc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169025" y="3191510"/>
            <a:ext cx="5750560" cy="34867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binutils-gdb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2125980" y="1537335"/>
            <a:ext cx="2252345" cy="5829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核心组件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静态，空间为主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855845" y="1537335"/>
            <a:ext cx="2306320" cy="582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运行时库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动态，空间为主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1532890" y="800735"/>
            <a:ext cx="8907780" cy="2250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llvm-project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基础工具链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285" y="3191510"/>
            <a:ext cx="5920740" cy="34810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gcc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169025" y="3191510"/>
            <a:ext cx="5750560" cy="34867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binutils-gdb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605530" y="107950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资历：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年轻，架构偏清爽，历史包袱较少。强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6002020" y="3210560"/>
            <a:ext cx="337185" cy="340550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608705" y="404685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资历：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成熟，适配经验足，生态壁垒已成。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602990" y="148717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哲学：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求快，半年一版本，开源许可宽松。强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无关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600450" y="451802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哲学：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求稳，数年长支持，开源许可严谨。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无关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600450" y="1884045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效能：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效率，性能爬坡快，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定制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开发方便。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削弱优势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597910" y="5022850"/>
            <a:ext cx="5960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效能：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上限，性能上限高，定制开发困难。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  <a:sym typeface="+mn-ea"/>
              </a:rPr>
              <a:t>强</a:t>
            </a:r>
            <a:r>
              <a:rPr lang="en-US" altLang="zh-CN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AI</a:t>
            </a:r>
            <a:r>
              <a:rPr lang="zh-CN" altLang="en-US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弥补不足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1828800" y="1483360"/>
            <a:ext cx="139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时间优先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826260" y="4492625"/>
            <a:ext cx="1391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空间优先</a:t>
            </a:r>
            <a:endParaRPr lang="zh-CN" altLang="en-US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1532890" y="4514215"/>
            <a:ext cx="8907780" cy="2250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llvm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基础工具链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248285" y="902970"/>
            <a:ext cx="5738495" cy="34810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gcc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180455" y="902970"/>
            <a:ext cx="5739130" cy="3475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binutils-gdb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endParaRPr lang="en-US" altLang="zh-CN" sz="1600" b="1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7460" y="1428115"/>
            <a:ext cx="5477510" cy="2604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" y="1306195"/>
            <a:ext cx="5501005" cy="27616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85" y="4615180"/>
            <a:ext cx="863536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87616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4613275" y="437388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init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6636385" y="4371975"/>
            <a:ext cx="1092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kernel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1002665" y="5753735"/>
            <a:ext cx="1375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arch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2626360" y="5753735"/>
            <a:ext cx="33394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drivers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9885045" y="5023485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security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4613275" y="521716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748780" y="5215255"/>
            <a:ext cx="8477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rust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7931785" y="502348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certs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70315" y="5017135"/>
            <a:ext cx="8267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crypto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4408805" y="1394460"/>
            <a:ext cx="109220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FF0000"/>
                </a:solidFill>
              </a:rPr>
              <a:t>include</a:t>
            </a:r>
            <a:endParaRPr lang="en-US" altLang="zh-CN" sz="1200" b="1">
              <a:solidFill>
                <a:srgbClr val="FF0000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4408805" y="2223770"/>
            <a:ext cx="1990090" cy="291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Documentation/README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4408805" y="1819910"/>
            <a:ext cx="1092200" cy="3022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samples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4408805" y="2632710"/>
            <a:ext cx="333819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Makefile/Kbuild/Kconfig/scripts/tools/usr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6507480" y="1577975"/>
            <a:ext cx="1250950" cy="9378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COPYING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CREDITS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MAINTAINERS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038985" y="6247130"/>
            <a:ext cx="162369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CPU</a:t>
            </a:r>
            <a:r>
              <a:rPr lang="zh-CN" altLang="en-US" sz="1000" b="1">
                <a:solidFill>
                  <a:schemeClr val="tx1"/>
                </a:solidFill>
              </a:rPr>
              <a:t>端集成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4018915" y="624459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*PU</a:t>
            </a:r>
            <a:r>
              <a:rPr lang="zh-CN" altLang="en-US" sz="1000" b="1">
                <a:solidFill>
                  <a:schemeClr val="tx1"/>
                </a:solidFill>
              </a:rPr>
              <a:t>端处理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5300980" y="6242050"/>
            <a:ext cx="85915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各类总线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6" name="Rectangles 75"/>
          <p:cNvSpPr/>
          <p:nvPr/>
        </p:nvSpPr>
        <p:spPr>
          <a:xfrm>
            <a:off x="6496050" y="6243320"/>
            <a:ext cx="83121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各类设备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2302510" y="2852420"/>
            <a:ext cx="1173480" cy="4908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129155" y="991870"/>
            <a:ext cx="133286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内核文件系统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4612640" y="984885"/>
            <a:ext cx="349250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系统调用</a:t>
            </a:r>
            <a:r>
              <a:rPr lang="en-US" altLang="zh-CN" sz="1000" b="1">
                <a:solidFill>
                  <a:schemeClr val="tx1"/>
                </a:solidFill>
              </a:rPr>
              <a:t>                                 </a:t>
            </a:r>
            <a:r>
              <a:rPr lang="zh-CN" altLang="en-US" sz="1000" b="1">
                <a:solidFill>
                  <a:schemeClr val="tx1"/>
                </a:solidFill>
              </a:rPr>
              <a:t>。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0" name="Rectangles 79"/>
          <p:cNvSpPr/>
          <p:nvPr/>
        </p:nvSpPr>
        <p:spPr>
          <a:xfrm>
            <a:off x="3882390" y="983615"/>
            <a:ext cx="72834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信号处理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8519795" y="2863850"/>
            <a:ext cx="1134110" cy="5118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2" name="Rectangles 81"/>
          <p:cNvSpPr/>
          <p:nvPr/>
        </p:nvSpPr>
        <p:spPr>
          <a:xfrm>
            <a:off x="2736215" y="5031740"/>
            <a:ext cx="1270635" cy="5734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通用计算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6290945" y="5781040"/>
            <a:ext cx="164084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硬件相关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172200" y="102552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910" y="624332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871085" y="5902325"/>
            <a:ext cx="840105" cy="2533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591050" y="3881755"/>
            <a:ext cx="728345" cy="419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调度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12800" y="2863215"/>
            <a:ext cx="922020" cy="4584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617835" y="2863850"/>
            <a:ext cx="728345" cy="447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141845" y="102298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ioctl/fcntl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940800" y="5603875"/>
            <a:ext cx="728345" cy="466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计算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636385" y="3881120"/>
            <a:ext cx="1092835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调度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WPS Presentation</Application>
  <PresentationFormat>宽屏</PresentationFormat>
  <Paragraphs>387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Symbola</vt:lpstr>
      <vt:lpstr>Office Theme</vt:lpstr>
      <vt:lpstr>学习架构设计-了解开源案例-Linux内核</vt:lpstr>
      <vt:lpstr>学习架构设计-了解开源案例-基础工具链</vt:lpstr>
      <vt:lpstr>学习架构设计-了解开源案例-基础工具链</vt:lpstr>
      <vt:lpstr>学习架构设计-了解开源案例-基础工具链</vt:lpstr>
      <vt:lpstr>学习架构设计-了解开源案例-基础工具链</vt:lpstr>
      <vt:lpstr>学习架构设计-了解开源案例-Linux内核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653</cp:revision>
  <dcterms:created xsi:type="dcterms:W3CDTF">2026-05-12T00:04:27Z</dcterms:created>
  <dcterms:modified xsi:type="dcterms:W3CDTF">2026-05-12T00:04:27Z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