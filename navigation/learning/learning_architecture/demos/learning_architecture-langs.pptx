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</p:sldIdLst>
  <p:sldSz cx="12192000" cy="6858000"/>
  <p:notesSz cx="7104063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93751-84AF-4A0C-8DE6-78AF9DAAF6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09940-B2F7-4166-8FA6-4CAE5C9E91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09594DA-0C6A-4F6C-A202-1D57ED9C94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CCCD043-C69B-4F69-AD8E-79C58218F7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8709EA7-B598-49C3-B658-3AC427A310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7846EE9-BE49-4A58-B467-D8E9BE2632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FF40279-3073-45F0-9C24-B5905C8601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E6C2730-8477-41BC-8EAE-1C6C2A0A08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D56B7B9-B00F-4113-82BE-36E725C09D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A372684-813C-41E1-AD9E-EEAE2E2D41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8985"/>
          </a:bodyPr>
          <a:p>
            <a:pPr indent="0" algn="ctr" defTabSz="914400">
              <a:lnSpc>
                <a:spcPct val="13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Click to edit </a:t>
            </a: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Master title </a:t>
            </a: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style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7800" cy="81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Arial Black"/>
              </a:rPr>
              <a:t>Click to edit Master title </a:t>
            </a:r>
            <a:r>
              <a:rPr b="0" lang="en-US" sz="4800" spc="-1" strike="noStrike">
                <a:solidFill>
                  <a:schemeClr val="dk1"/>
                </a:solidFill>
                <a:latin typeface="Arial Black"/>
              </a:rPr>
              <a:t>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第二提纲级别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第三提纲级别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第四提纲级别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第五提纲级别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第六提纲级别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第七提纲级别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3" name="直接连接符 7"/>
          <p:cNvCxnSpPr/>
          <p:nvPr/>
        </p:nvCxnSpPr>
        <p:spPr>
          <a:xfrm>
            <a:off x="742680" y="434160"/>
            <a:ext cx="360" cy="139176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C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li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c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k 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t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o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 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e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d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i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t 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M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a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s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t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e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r 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t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i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t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l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e 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s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t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y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l</a:t>
            </a: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50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全语言汽车建模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Rectangles 1"/>
          <p:cNvSpPr/>
          <p:nvPr/>
        </p:nvSpPr>
        <p:spPr>
          <a:xfrm>
            <a:off x="2042280" y="5298120"/>
            <a:ext cx="9873720" cy="461880"/>
          </a:xfrm>
          <a:prstGeom prst="rect">
            <a:avLst/>
          </a:prstGeom>
          <a:solidFill>
            <a:srgbClr val="5983b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各类汇编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（四轮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发动机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油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箱，传动装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...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itle 2"/>
          <p:cNvSpPr txBox="1"/>
          <p:nvPr/>
        </p:nvSpPr>
        <p:spPr>
          <a:xfrm>
            <a:off x="304200" y="4932000"/>
            <a:ext cx="149580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面向硬件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Title 3"/>
          <p:cNvSpPr txBox="1"/>
          <p:nvPr/>
        </p:nvSpPr>
        <p:spPr>
          <a:xfrm>
            <a:off x="304560" y="4068000"/>
            <a:ext cx="149544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面向系统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Title 4"/>
          <p:cNvSpPr txBox="1"/>
          <p:nvPr/>
        </p:nvSpPr>
        <p:spPr>
          <a:xfrm>
            <a:off x="304920" y="3168000"/>
            <a:ext cx="149508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面向业务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Title 5"/>
          <p:cNvSpPr txBox="1"/>
          <p:nvPr/>
        </p:nvSpPr>
        <p:spPr>
          <a:xfrm>
            <a:off x="305280" y="2268000"/>
            <a:ext cx="149472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与人交互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Rectangles 32"/>
          <p:cNvSpPr/>
          <p:nvPr/>
        </p:nvSpPr>
        <p:spPr>
          <a:xfrm>
            <a:off x="2042280" y="1698120"/>
            <a:ext cx="987372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50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全语言汽车建模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Rectangles 7"/>
          <p:cNvSpPr/>
          <p:nvPr/>
        </p:nvSpPr>
        <p:spPr>
          <a:xfrm>
            <a:off x="2042280" y="5298120"/>
            <a:ext cx="9873720" cy="461880"/>
          </a:xfrm>
          <a:prstGeom prst="rect">
            <a:avLst/>
          </a:prstGeom>
          <a:solidFill>
            <a:srgbClr val="5983b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各类汇编语言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（四轮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发动机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油箱，传动装置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...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s 8"/>
          <p:cNvSpPr/>
          <p:nvPr/>
        </p:nvSpPr>
        <p:spPr>
          <a:xfrm>
            <a:off x="6480000" y="4830120"/>
            <a:ext cx="543600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（方向盘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离合油门刹车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挂挡，底盘骨架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...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s 28"/>
          <p:cNvSpPr/>
          <p:nvPr/>
        </p:nvSpPr>
        <p:spPr>
          <a:xfrm>
            <a:off x="2042280" y="4140000"/>
            <a:ext cx="4437720" cy="115812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C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（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主驾驶位置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人体工程学集成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车头）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s 29"/>
          <p:cNvSpPr/>
          <p:nvPr/>
        </p:nvSpPr>
        <p:spPr>
          <a:xfrm>
            <a:off x="6480000" y="4368240"/>
            <a:ext cx="543600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狭义操作系统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（整车集成中枢，壳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窗，安全防护）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itle 21"/>
          <p:cNvSpPr txBox="1"/>
          <p:nvPr/>
        </p:nvSpPr>
        <p:spPr>
          <a:xfrm>
            <a:off x="304200" y="4932000"/>
            <a:ext cx="149580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面向硬件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Title 22"/>
          <p:cNvSpPr txBox="1"/>
          <p:nvPr/>
        </p:nvSpPr>
        <p:spPr>
          <a:xfrm>
            <a:off x="304560" y="4068000"/>
            <a:ext cx="149544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面向系统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Title 23"/>
          <p:cNvSpPr txBox="1"/>
          <p:nvPr/>
        </p:nvSpPr>
        <p:spPr>
          <a:xfrm>
            <a:off x="304920" y="3168000"/>
            <a:ext cx="149508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面向业务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Title 24"/>
          <p:cNvSpPr txBox="1"/>
          <p:nvPr/>
        </p:nvSpPr>
        <p:spPr>
          <a:xfrm>
            <a:off x="305280" y="2268000"/>
            <a:ext cx="149472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与人交互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Rectangles 30"/>
          <p:cNvSpPr/>
          <p:nvPr/>
        </p:nvSpPr>
        <p:spPr>
          <a:xfrm>
            <a:off x="2042280" y="1698120"/>
            <a:ext cx="987372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s 9"/>
          <p:cNvSpPr/>
          <p:nvPr/>
        </p:nvSpPr>
        <p:spPr>
          <a:xfrm>
            <a:off x="2880000" y="2922120"/>
            <a:ext cx="8460000" cy="1446120"/>
          </a:xfrm>
          <a:prstGeom prst="rect">
            <a:avLst/>
          </a:prstGeom>
          <a:solidFill>
            <a:srgbClr val="5983b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各类高级语言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（各类运营车辆，继承主驾驶理念并增强完善，定制扩展车头车身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50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全语言汽车建模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Rectangles 19"/>
          <p:cNvSpPr/>
          <p:nvPr/>
        </p:nvSpPr>
        <p:spPr>
          <a:xfrm>
            <a:off x="2042280" y="5298120"/>
            <a:ext cx="9873720" cy="461880"/>
          </a:xfrm>
          <a:prstGeom prst="rect">
            <a:avLst/>
          </a:prstGeom>
          <a:solidFill>
            <a:srgbClr val="5983b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各类汇编语言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（四轮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发动机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油箱，传动装置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...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s 20"/>
          <p:cNvSpPr/>
          <p:nvPr/>
        </p:nvSpPr>
        <p:spPr>
          <a:xfrm>
            <a:off x="6480000" y="4830120"/>
            <a:ext cx="543600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（方向盘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离合油门刹车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挂挡，底盘骨架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...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s 21"/>
          <p:cNvSpPr/>
          <p:nvPr/>
        </p:nvSpPr>
        <p:spPr>
          <a:xfrm>
            <a:off x="2042280" y="4140000"/>
            <a:ext cx="4437720" cy="115812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C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（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主驾驶位置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人体工程学集成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车头）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s 22"/>
          <p:cNvSpPr/>
          <p:nvPr/>
        </p:nvSpPr>
        <p:spPr>
          <a:xfrm>
            <a:off x="6480000" y="4368240"/>
            <a:ext cx="543600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狭义操作系统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（整车集成中枢，壳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窗，安全防护）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s 23"/>
          <p:cNvSpPr/>
          <p:nvPr/>
        </p:nvSpPr>
        <p:spPr>
          <a:xfrm>
            <a:off x="3078720" y="3557880"/>
            <a:ext cx="2753280" cy="46188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（车头副驾驶）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s 24"/>
          <p:cNvSpPr/>
          <p:nvPr/>
        </p:nvSpPr>
        <p:spPr>
          <a:xfrm>
            <a:off x="6120000" y="3557880"/>
            <a:ext cx="5040000" cy="46188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C++/rust/go/java/JS/python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车身定制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/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服务舱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itle 17"/>
          <p:cNvSpPr txBox="1"/>
          <p:nvPr/>
        </p:nvSpPr>
        <p:spPr>
          <a:xfrm>
            <a:off x="304200" y="4932000"/>
            <a:ext cx="149580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面向硬件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Title 18"/>
          <p:cNvSpPr txBox="1"/>
          <p:nvPr/>
        </p:nvSpPr>
        <p:spPr>
          <a:xfrm>
            <a:off x="304560" y="4068000"/>
            <a:ext cx="149544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面向系统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Title 19"/>
          <p:cNvSpPr txBox="1"/>
          <p:nvPr/>
        </p:nvSpPr>
        <p:spPr>
          <a:xfrm>
            <a:off x="304920" y="3168000"/>
            <a:ext cx="149508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面向业务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Title 20"/>
          <p:cNvSpPr txBox="1"/>
          <p:nvPr/>
        </p:nvSpPr>
        <p:spPr>
          <a:xfrm>
            <a:off x="305280" y="2268000"/>
            <a:ext cx="149472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与人交互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Rectangles 31"/>
          <p:cNvSpPr/>
          <p:nvPr/>
        </p:nvSpPr>
        <p:spPr>
          <a:xfrm>
            <a:off x="2042280" y="1698120"/>
            <a:ext cx="987372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s 10"/>
          <p:cNvSpPr/>
          <p:nvPr/>
        </p:nvSpPr>
        <p:spPr>
          <a:xfrm>
            <a:off x="2052000" y="2130120"/>
            <a:ext cx="9864000" cy="223812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AI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编程语言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（智能辅助驾驶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s 11"/>
          <p:cNvSpPr/>
          <p:nvPr/>
        </p:nvSpPr>
        <p:spPr>
          <a:xfrm>
            <a:off x="2880000" y="2922120"/>
            <a:ext cx="8460000" cy="1446120"/>
          </a:xfrm>
          <a:prstGeom prst="rect">
            <a:avLst/>
          </a:prstGeom>
          <a:solidFill>
            <a:srgbClr val="5983b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各类高级语言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（各类运营车辆，继承主驾驶理念并增强完善，定制扩展车头车身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50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全语言汽车建模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Rectangles 12"/>
          <p:cNvSpPr/>
          <p:nvPr/>
        </p:nvSpPr>
        <p:spPr>
          <a:xfrm>
            <a:off x="2042280" y="5298120"/>
            <a:ext cx="9873720" cy="461880"/>
          </a:xfrm>
          <a:prstGeom prst="rect">
            <a:avLst/>
          </a:prstGeom>
          <a:solidFill>
            <a:srgbClr val="5983b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各类汇编语言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（四轮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发动机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油箱，传动装置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...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s 13"/>
          <p:cNvSpPr/>
          <p:nvPr/>
        </p:nvSpPr>
        <p:spPr>
          <a:xfrm>
            <a:off x="6480000" y="4830120"/>
            <a:ext cx="543600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HAL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（方向盘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离合油门刹车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挂挡，底盘骨架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...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s 14"/>
          <p:cNvSpPr/>
          <p:nvPr/>
        </p:nvSpPr>
        <p:spPr>
          <a:xfrm>
            <a:off x="2042280" y="4140000"/>
            <a:ext cx="4437720" cy="115812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C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（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主驾驶位置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人体工程学集成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车头）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s 15"/>
          <p:cNvSpPr/>
          <p:nvPr/>
        </p:nvSpPr>
        <p:spPr>
          <a:xfrm>
            <a:off x="6480000" y="4368240"/>
            <a:ext cx="543600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狭义操作系统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（整车集成中枢，壳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窗，安全防护）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s 16"/>
          <p:cNvSpPr/>
          <p:nvPr/>
        </p:nvSpPr>
        <p:spPr>
          <a:xfrm>
            <a:off x="3078720" y="3557880"/>
            <a:ext cx="2753280" cy="46188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（车头副驾驶）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s 17"/>
          <p:cNvSpPr/>
          <p:nvPr/>
        </p:nvSpPr>
        <p:spPr>
          <a:xfrm>
            <a:off x="6120000" y="3557880"/>
            <a:ext cx="5040000" cy="46188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C++/rust/go/java/JS/python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车身定制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/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服务舱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itle 12"/>
          <p:cNvSpPr txBox="1"/>
          <p:nvPr/>
        </p:nvSpPr>
        <p:spPr>
          <a:xfrm>
            <a:off x="304200" y="4932000"/>
            <a:ext cx="149580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面向硬件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Title 13"/>
          <p:cNvSpPr txBox="1"/>
          <p:nvPr/>
        </p:nvSpPr>
        <p:spPr>
          <a:xfrm>
            <a:off x="304560" y="4068000"/>
            <a:ext cx="149544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面向系统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" name="Title 14"/>
          <p:cNvSpPr txBox="1"/>
          <p:nvPr/>
        </p:nvSpPr>
        <p:spPr>
          <a:xfrm>
            <a:off x="304920" y="3168000"/>
            <a:ext cx="149508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面向业务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" name="Title 15"/>
          <p:cNvSpPr txBox="1"/>
          <p:nvPr/>
        </p:nvSpPr>
        <p:spPr>
          <a:xfrm>
            <a:off x="305280" y="2268000"/>
            <a:ext cx="1494720" cy="581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与人交互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Rectangles 18"/>
          <p:cNvSpPr/>
          <p:nvPr/>
        </p:nvSpPr>
        <p:spPr>
          <a:xfrm>
            <a:off x="2042280" y="1698120"/>
            <a:ext cx="9873720" cy="4618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2026-07-10T21:23:38Z</dcterms:modified>
  <cp:revision>713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