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434" r:id="rId3"/>
    <p:sldId id="440" r:id="rId5"/>
    <p:sldId id="439" r:id="rId6"/>
    <p:sldId id="438" r:id="rId7"/>
    <p:sldId id="437" r:id="rId8"/>
    <p:sldId id="436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70"/>
        <p:guide pos="384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166235" y="1396365"/>
            <a:ext cx="3794760" cy="4759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广义计算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=SDK+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调度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了解语言案例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汇编语言</a:t>
            </a:r>
            <a:endParaRPr lang="en-US" altLang="zh-CN">
              <a:solidFill>
                <a:srgbClr val="00B050"/>
              </a:solidFill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34085"/>
            <a:ext cx="11494135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上层</a:t>
            </a:r>
            <a:r>
              <a:rPr lang="zh-CN" altLang="en-US" sz="1600" b="1">
                <a:solidFill>
                  <a:schemeClr val="tx1"/>
                </a:solidFill>
              </a:rPr>
              <a:t>（软件）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142355"/>
            <a:ext cx="11494770" cy="4965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底层</a:t>
            </a:r>
            <a:r>
              <a:rPr lang="zh-CN" altLang="en-US" sz="1600" b="1">
                <a:solidFill>
                  <a:schemeClr val="tx1"/>
                </a:solidFill>
              </a:rPr>
              <a:t>（电路）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489585" y="2256155"/>
            <a:ext cx="3220720" cy="2411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存储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8395335" y="2255520"/>
            <a:ext cx="3248025" cy="2421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传输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4313555" y="3752215"/>
            <a:ext cx="3468370" cy="1091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调度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框架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313555" y="1396365"/>
            <a:ext cx="3467735" cy="1616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SDK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接口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语言组织封装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1892935" y="4928870"/>
            <a:ext cx="8331200" cy="12134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2054225" y="5031740"/>
            <a:ext cx="7985760" cy="111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960120" y="4664710"/>
            <a:ext cx="10795" cy="1490345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1101705" y="4664710"/>
            <a:ext cx="10795" cy="1490345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731895" y="3462020"/>
            <a:ext cx="446405" cy="381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7959725" y="3445510"/>
            <a:ext cx="446405" cy="381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166235" y="1396365"/>
            <a:ext cx="3794760" cy="4759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广义计算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=SDK+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调度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了解语言案例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汇编语言</a:t>
            </a:r>
            <a:endParaRPr lang="en-US" altLang="zh-CN">
              <a:solidFill>
                <a:srgbClr val="00B050"/>
              </a:solidFill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34085"/>
            <a:ext cx="11494135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上层</a:t>
            </a:r>
            <a:r>
              <a:rPr lang="zh-CN" altLang="en-US" sz="1600" b="1">
                <a:solidFill>
                  <a:schemeClr val="tx1"/>
                </a:solidFill>
              </a:rPr>
              <a:t>（软件）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142355"/>
            <a:ext cx="11494770" cy="4965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底层</a:t>
            </a:r>
            <a:r>
              <a:rPr lang="zh-CN" altLang="en-US" sz="1600" b="1">
                <a:solidFill>
                  <a:schemeClr val="tx1"/>
                </a:solidFill>
              </a:rPr>
              <a:t>（电路）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489585" y="2256155"/>
            <a:ext cx="3220720" cy="2411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存储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8395335" y="2255520"/>
            <a:ext cx="3248025" cy="2421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传输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4313555" y="3752215"/>
            <a:ext cx="3468370" cy="1091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调度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框架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313555" y="1396365"/>
            <a:ext cx="3467735" cy="1616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SDK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接口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语言组织封装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1892935" y="4928870"/>
            <a:ext cx="8331200" cy="12134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2054225" y="5031740"/>
            <a:ext cx="7985760" cy="111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4429125" y="2345055"/>
            <a:ext cx="977900" cy="5524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词法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(+</a:t>
            </a:r>
            <a:r>
              <a:rPr lang="zh-CN" altLang="en-US" sz="1200" b="1">
                <a:solidFill>
                  <a:schemeClr val="tx1"/>
                </a:solidFill>
              </a:rPr>
              <a:t>信息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5558155" y="2345055"/>
            <a:ext cx="977900" cy="5524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语法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(+</a:t>
            </a:r>
            <a:r>
              <a:rPr lang="zh-CN" altLang="en-US" sz="1200" b="1">
                <a:solidFill>
                  <a:schemeClr val="tx1"/>
                </a:solidFill>
              </a:rPr>
              <a:t>空间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6711315" y="2342515"/>
            <a:ext cx="977900" cy="5499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语句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(+</a:t>
            </a:r>
            <a:r>
              <a:rPr lang="zh-CN" altLang="en-US" sz="1200" b="1">
                <a:solidFill>
                  <a:schemeClr val="tx1"/>
                </a:solidFill>
              </a:rPr>
              <a:t>时间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960120" y="4664710"/>
            <a:ext cx="10795" cy="1490345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1101705" y="4664710"/>
            <a:ext cx="10795" cy="1490345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731895" y="3462020"/>
            <a:ext cx="446405" cy="381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7959725" y="3445510"/>
            <a:ext cx="446405" cy="381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166235" y="1396365"/>
            <a:ext cx="3794760" cy="4759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广义计算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=SDK+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调度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了解语言案例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汇编语言</a:t>
            </a:r>
            <a:endParaRPr lang="en-US" altLang="zh-CN">
              <a:solidFill>
                <a:srgbClr val="00B050"/>
              </a:solidFill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34085"/>
            <a:ext cx="11494135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上层</a:t>
            </a:r>
            <a:r>
              <a:rPr lang="zh-CN" altLang="en-US" sz="1600" b="1">
                <a:solidFill>
                  <a:schemeClr val="tx1"/>
                </a:solidFill>
              </a:rPr>
              <a:t>（软件）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142355"/>
            <a:ext cx="11494770" cy="4965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底层</a:t>
            </a:r>
            <a:r>
              <a:rPr lang="zh-CN" altLang="en-US" sz="1600" b="1">
                <a:solidFill>
                  <a:schemeClr val="tx1"/>
                </a:solidFill>
              </a:rPr>
              <a:t>（电路）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489585" y="2256155"/>
            <a:ext cx="3220720" cy="2411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存储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8395335" y="2255520"/>
            <a:ext cx="3248025" cy="2421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传输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4313555" y="3752215"/>
            <a:ext cx="3468370" cy="1091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调度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框架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313555" y="1396365"/>
            <a:ext cx="3467735" cy="1616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SDK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接口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语言组织封装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1892935" y="4928870"/>
            <a:ext cx="8331200" cy="12134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2054225" y="5031740"/>
            <a:ext cx="7985760" cy="111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5428615" y="5702300"/>
            <a:ext cx="125857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数值处理运算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3474720" y="5703570"/>
            <a:ext cx="1258570" cy="3829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原生基础运算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7456170" y="5718810"/>
            <a:ext cx="125857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比较判定运算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4429125" y="2345055"/>
            <a:ext cx="977900" cy="5524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词法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(+</a:t>
            </a:r>
            <a:r>
              <a:rPr lang="zh-CN" altLang="en-US" sz="1200" b="1">
                <a:solidFill>
                  <a:schemeClr val="tx1"/>
                </a:solidFill>
              </a:rPr>
              <a:t>信息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5558155" y="2345055"/>
            <a:ext cx="977900" cy="5524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语法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(+</a:t>
            </a:r>
            <a:r>
              <a:rPr lang="zh-CN" altLang="en-US" sz="1200" b="1">
                <a:solidFill>
                  <a:schemeClr val="tx1"/>
                </a:solidFill>
              </a:rPr>
              <a:t>空间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6711315" y="2342515"/>
            <a:ext cx="977900" cy="5499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语句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(+</a:t>
            </a:r>
            <a:r>
              <a:rPr lang="zh-CN" altLang="en-US" sz="1200" b="1">
                <a:solidFill>
                  <a:schemeClr val="tx1"/>
                </a:solidFill>
              </a:rPr>
              <a:t>时间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960120" y="4664710"/>
            <a:ext cx="10795" cy="1490345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1101705" y="4664710"/>
            <a:ext cx="10795" cy="1490345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731895" y="3462020"/>
            <a:ext cx="446405" cy="381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7959725" y="3445510"/>
            <a:ext cx="446405" cy="381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166235" y="1396365"/>
            <a:ext cx="3794760" cy="4759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广义计算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=SDK+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调度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了解语言案例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汇编语言</a:t>
            </a:r>
            <a:endParaRPr lang="en-US" altLang="zh-CN">
              <a:solidFill>
                <a:srgbClr val="00B050"/>
              </a:solidFill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34085"/>
            <a:ext cx="11494135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上层</a:t>
            </a:r>
            <a:r>
              <a:rPr lang="zh-CN" altLang="en-US" sz="1600" b="1">
                <a:solidFill>
                  <a:schemeClr val="tx1"/>
                </a:solidFill>
              </a:rPr>
              <a:t>（软件）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142355"/>
            <a:ext cx="11494770" cy="4965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底层</a:t>
            </a:r>
            <a:r>
              <a:rPr lang="zh-CN" altLang="en-US" sz="1600" b="1">
                <a:solidFill>
                  <a:schemeClr val="tx1"/>
                </a:solidFill>
              </a:rPr>
              <a:t>（电路）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489585" y="2256155"/>
            <a:ext cx="3220720" cy="2411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存储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8395335" y="2255520"/>
            <a:ext cx="3248025" cy="2421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传输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4313555" y="3752215"/>
            <a:ext cx="3468370" cy="1091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调度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框架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313555" y="1396365"/>
            <a:ext cx="3467735" cy="1616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SDK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接口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语言组织封装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1892935" y="4928870"/>
            <a:ext cx="8331200" cy="12134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2054225" y="5031740"/>
            <a:ext cx="7985760" cy="111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1612900" y="3223260"/>
            <a:ext cx="957580" cy="5499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通用寄存器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读写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2668270" y="3223260"/>
            <a:ext cx="958215" cy="5397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控制寄存器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读写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564515" y="3232150"/>
            <a:ext cx="949325" cy="5410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状态寄存器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读写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5428615" y="5702300"/>
            <a:ext cx="125857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数值处理运算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3474720" y="5703570"/>
            <a:ext cx="1258570" cy="3829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原生基础运算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7456170" y="5718810"/>
            <a:ext cx="125857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比较判定运算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4429125" y="2345055"/>
            <a:ext cx="977900" cy="5524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词法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(+</a:t>
            </a:r>
            <a:r>
              <a:rPr lang="zh-CN" altLang="en-US" sz="1200" b="1">
                <a:solidFill>
                  <a:schemeClr val="tx1"/>
                </a:solidFill>
              </a:rPr>
              <a:t>信息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5558155" y="2345055"/>
            <a:ext cx="977900" cy="5524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语法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(+</a:t>
            </a:r>
            <a:r>
              <a:rPr lang="zh-CN" altLang="en-US" sz="1200" b="1">
                <a:solidFill>
                  <a:schemeClr val="tx1"/>
                </a:solidFill>
              </a:rPr>
              <a:t>空间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6711315" y="2342515"/>
            <a:ext cx="977900" cy="5499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语句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(+</a:t>
            </a:r>
            <a:r>
              <a:rPr lang="zh-CN" altLang="en-US" sz="1200" b="1">
                <a:solidFill>
                  <a:schemeClr val="tx1"/>
                </a:solidFill>
              </a:rPr>
              <a:t>时间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960120" y="4664710"/>
            <a:ext cx="10795" cy="1490345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1101705" y="4664710"/>
            <a:ext cx="10795" cy="1490345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731895" y="3462020"/>
            <a:ext cx="446405" cy="381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7959725" y="3445510"/>
            <a:ext cx="446405" cy="381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166235" y="1396365"/>
            <a:ext cx="3794760" cy="4759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广义计算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=SDK+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调度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了解语言案例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汇编语言</a:t>
            </a:r>
            <a:endParaRPr lang="en-US" altLang="zh-CN">
              <a:solidFill>
                <a:srgbClr val="00B050"/>
              </a:solidFill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34085"/>
            <a:ext cx="11494135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上层</a:t>
            </a:r>
            <a:r>
              <a:rPr lang="zh-CN" altLang="en-US" sz="1600" b="1">
                <a:solidFill>
                  <a:schemeClr val="tx1"/>
                </a:solidFill>
              </a:rPr>
              <a:t>（软件）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142355"/>
            <a:ext cx="11494770" cy="4965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底层</a:t>
            </a:r>
            <a:r>
              <a:rPr lang="zh-CN" altLang="en-US" sz="1600" b="1">
                <a:solidFill>
                  <a:schemeClr val="tx1"/>
                </a:solidFill>
              </a:rPr>
              <a:t>（电路）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489585" y="2256155"/>
            <a:ext cx="3220720" cy="2411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存储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8395335" y="2255520"/>
            <a:ext cx="3248025" cy="2421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传输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4313555" y="3752215"/>
            <a:ext cx="3468370" cy="1091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调度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框架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313555" y="1396365"/>
            <a:ext cx="3467735" cy="1616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SDK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接口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语言组织封装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1892935" y="4928870"/>
            <a:ext cx="8331200" cy="12134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2054225" y="5031740"/>
            <a:ext cx="7985760" cy="111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1612900" y="3223260"/>
            <a:ext cx="957580" cy="5499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通用寄存器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读写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2668270" y="3223260"/>
            <a:ext cx="958215" cy="5397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控制寄存器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读写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564515" y="3232150"/>
            <a:ext cx="949325" cy="5410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状态寄存器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读写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9580880" y="3244850"/>
            <a:ext cx="869950" cy="5054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内存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读写映射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10631805" y="3234690"/>
            <a:ext cx="909320" cy="5384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 b="1">
                <a:solidFill>
                  <a:schemeClr val="tx1"/>
                </a:solidFill>
              </a:rPr>
              <a:t>内存</a:t>
            </a:r>
            <a:endParaRPr lang="zh-CN" sz="1200" b="1">
              <a:solidFill>
                <a:schemeClr val="tx1"/>
              </a:solidFill>
            </a:endParaRPr>
          </a:p>
          <a:p>
            <a:pPr algn="ctr"/>
            <a:r>
              <a:rPr lang="zh-CN" sz="1200" b="1">
                <a:solidFill>
                  <a:schemeClr val="tx1"/>
                </a:solidFill>
              </a:rPr>
              <a:t>同步处理</a:t>
            </a:r>
            <a:endParaRPr lang="zh-CN" sz="12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8490585" y="3245485"/>
            <a:ext cx="950595" cy="5283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内存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缓存刷新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5428615" y="5702300"/>
            <a:ext cx="125857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数值处理运算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3474720" y="5703570"/>
            <a:ext cx="1258570" cy="3829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原生基础运算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7456170" y="5718810"/>
            <a:ext cx="125857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比较判定运算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4429125" y="2345055"/>
            <a:ext cx="977900" cy="5524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词法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(+</a:t>
            </a:r>
            <a:r>
              <a:rPr lang="zh-CN" altLang="en-US" sz="1200" b="1">
                <a:solidFill>
                  <a:schemeClr val="tx1"/>
                </a:solidFill>
              </a:rPr>
              <a:t>信息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5558155" y="2345055"/>
            <a:ext cx="977900" cy="5524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语法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(+</a:t>
            </a:r>
            <a:r>
              <a:rPr lang="zh-CN" altLang="en-US" sz="1200" b="1">
                <a:solidFill>
                  <a:schemeClr val="tx1"/>
                </a:solidFill>
              </a:rPr>
              <a:t>空间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6711315" y="2342515"/>
            <a:ext cx="977900" cy="5499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语句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(+</a:t>
            </a:r>
            <a:r>
              <a:rPr lang="zh-CN" altLang="en-US" sz="1200" b="1">
                <a:solidFill>
                  <a:schemeClr val="tx1"/>
                </a:solidFill>
              </a:rPr>
              <a:t>时间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960120" y="4664710"/>
            <a:ext cx="10795" cy="1490345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1101705" y="4664710"/>
            <a:ext cx="10795" cy="1490345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731895" y="3462020"/>
            <a:ext cx="446405" cy="381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7959725" y="3445510"/>
            <a:ext cx="446405" cy="381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166235" y="1396365"/>
            <a:ext cx="3794760" cy="4759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广义计算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=SDK+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调度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了解语言案例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汇编语言</a:t>
            </a:r>
            <a:endParaRPr lang="en-US" altLang="zh-CN">
              <a:solidFill>
                <a:srgbClr val="00B050"/>
              </a:solidFill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34085"/>
            <a:ext cx="11494135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上层</a:t>
            </a:r>
            <a:r>
              <a:rPr lang="zh-CN" altLang="en-US" sz="1600" b="1">
                <a:solidFill>
                  <a:schemeClr val="tx1"/>
                </a:solidFill>
              </a:rPr>
              <a:t>（软件）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142355"/>
            <a:ext cx="11494770" cy="4965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底层</a:t>
            </a:r>
            <a:r>
              <a:rPr lang="zh-CN" altLang="en-US" sz="1600" b="1">
                <a:solidFill>
                  <a:schemeClr val="tx1"/>
                </a:solidFill>
              </a:rPr>
              <a:t>（电路）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489585" y="2256155"/>
            <a:ext cx="3220720" cy="2411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存储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8395335" y="2255520"/>
            <a:ext cx="3248025" cy="2421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传输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4313555" y="3752215"/>
            <a:ext cx="3468370" cy="1091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调度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框架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313555" y="1396365"/>
            <a:ext cx="3467735" cy="1616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SDK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接口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语言组织封装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1892935" y="4928870"/>
            <a:ext cx="8331200" cy="12134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2054225" y="5031740"/>
            <a:ext cx="7985760" cy="111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1612900" y="3223260"/>
            <a:ext cx="957580" cy="5499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通用寄存器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读写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2668270" y="3223260"/>
            <a:ext cx="958215" cy="5397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控制寄存器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读写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564515" y="3232150"/>
            <a:ext cx="949325" cy="5410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状态寄存器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读写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9580880" y="3244850"/>
            <a:ext cx="869950" cy="5054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内存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读写映射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10631805" y="3234690"/>
            <a:ext cx="909320" cy="5384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 b="1">
                <a:solidFill>
                  <a:schemeClr val="tx1"/>
                </a:solidFill>
              </a:rPr>
              <a:t>内存</a:t>
            </a:r>
            <a:endParaRPr lang="zh-CN" sz="1200" b="1">
              <a:solidFill>
                <a:schemeClr val="tx1"/>
              </a:solidFill>
            </a:endParaRPr>
          </a:p>
          <a:p>
            <a:pPr algn="ctr"/>
            <a:r>
              <a:rPr lang="zh-CN" sz="1200" b="1">
                <a:solidFill>
                  <a:schemeClr val="tx1"/>
                </a:solidFill>
              </a:rPr>
              <a:t>同步处理</a:t>
            </a:r>
            <a:endParaRPr lang="zh-CN" sz="12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8490585" y="3245485"/>
            <a:ext cx="950595" cy="5283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内存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缓存刷新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408170" y="4388485"/>
            <a:ext cx="97790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函数堆栈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5574665" y="4385945"/>
            <a:ext cx="97790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软件异常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5428615" y="5702300"/>
            <a:ext cx="125857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数值处理运算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3474720" y="5703570"/>
            <a:ext cx="1258570" cy="3829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原生基础运算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7456170" y="5718810"/>
            <a:ext cx="125857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比较判定运算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6741160" y="4388485"/>
            <a:ext cx="97790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通用跳转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4429125" y="2345055"/>
            <a:ext cx="977900" cy="5524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词法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(+</a:t>
            </a:r>
            <a:r>
              <a:rPr lang="zh-CN" altLang="en-US" sz="1200" b="1">
                <a:solidFill>
                  <a:schemeClr val="tx1"/>
                </a:solidFill>
              </a:rPr>
              <a:t>信息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5558155" y="2345055"/>
            <a:ext cx="977900" cy="5524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语法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(+</a:t>
            </a:r>
            <a:r>
              <a:rPr lang="zh-CN" altLang="en-US" sz="1200" b="1">
                <a:solidFill>
                  <a:schemeClr val="tx1"/>
                </a:solidFill>
              </a:rPr>
              <a:t>空间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6711315" y="2342515"/>
            <a:ext cx="977900" cy="5499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语句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(+</a:t>
            </a:r>
            <a:r>
              <a:rPr lang="zh-CN" altLang="en-US" sz="1200" b="1">
                <a:solidFill>
                  <a:schemeClr val="tx1"/>
                </a:solidFill>
              </a:rPr>
              <a:t>时间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4187190" y="4872355"/>
            <a:ext cx="3773170" cy="76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960120" y="4664710"/>
            <a:ext cx="10795" cy="1490345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1101705" y="4664710"/>
            <a:ext cx="10795" cy="1490345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731895" y="3462020"/>
            <a:ext cx="446405" cy="381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7959725" y="3445510"/>
            <a:ext cx="446405" cy="381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</Words>
  <Application>WPS Presentation</Application>
  <PresentationFormat>宽屏</PresentationFormat>
  <Paragraphs>456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DejaVu Sans</vt:lpstr>
      <vt:lpstr>文泉驿正黑</vt:lpstr>
      <vt:lpstr>Arial Black</vt:lpstr>
      <vt:lpstr>微软雅黑</vt:lpstr>
      <vt:lpstr>宋体</vt:lpstr>
      <vt:lpstr>Arial Unicode MS</vt:lpstr>
      <vt:lpstr>MathJax_Vector</vt:lpstr>
      <vt:lpstr>Office Theme</vt:lpstr>
      <vt:lpstr>学习架构设计-了解语言案例-汇编指令集</vt:lpstr>
      <vt:lpstr>学习架构设计-了解语言案例-汇编语言</vt:lpstr>
      <vt:lpstr>学习架构设计-了解语言案例-汇编语言</vt:lpstr>
      <vt:lpstr>学习架构设计-了解语言案例-汇编语言</vt:lpstr>
      <vt:lpstr>学习架构设计-了解语言案例-汇编语言</vt:lpstr>
      <vt:lpstr>学习架构设计-了解语言案例-汇编语言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681</cp:revision>
  <dcterms:created xsi:type="dcterms:W3CDTF">2026-07-05T00:27:39Z</dcterms:created>
  <dcterms:modified xsi:type="dcterms:W3CDTF">2026-07-05T00:27:39Z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