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47640" y="1825560"/>
            <a:ext cx="10510920" cy="434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22F025F-7391-41F2-9F5A-9080EE37B1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6E99299-77F6-4A76-93FF-C80AFA5C83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0920" cy="434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5EEF81E-D3D9-4CC8-B6A7-D36A0E8701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94FBF2C-C78A-4F6E-AA32-7D78EEABF6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29280" cy="434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033600" y="1825560"/>
            <a:ext cx="5129280" cy="434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CB08C5B-5628-4F83-A4C3-A44AE13FAC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2C9FB13-C627-4D26-8365-E28DA7C826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65ED1EA-6364-4712-A493-23C77DEB2E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A849B1F7-3F8C-4149-ABB0-72FCDA6520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1935558F-3543-42D6-8F03-374016D72A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E5F7CACE-23C3-4C26-B6B5-A2C4924933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辑标题文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1890D9E-1959-4655-BEC6-C14F6F63A79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2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DFEB46E-C3EE-4439-A9A2-BDF94C1F8F2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编辑标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题文本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10510920" cy="434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65B73A3-B34B-4ABB-9BDB-A93510E8DD2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905BC66-5626-412B-AE2C-E6E97751D52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击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以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编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辑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标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题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文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本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格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5128920" cy="434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033600" y="1825560"/>
            <a:ext cx="5128920" cy="434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347271E-0E28-43D2-B617-7C5B14720E0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28F4BD4-CF35-4C97-BDBC-A20011E9F3B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标题文本格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B6CE90B-D215-4000-8570-C08CD85BCC1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9E24DA1-2E3F-4FC9-B8D2-8EA0613B064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7"/>
          <p:cNvCxnSpPr/>
          <p:nvPr/>
        </p:nvCxnSpPr>
        <p:spPr>
          <a:xfrm>
            <a:off x="742680" y="434160"/>
            <a:ext cx="4680" cy="1396080"/>
          </a:xfrm>
          <a:prstGeom prst="straightConnector1">
            <a:avLst/>
          </a:prstGeom>
          <a:ln w="0">
            <a:solidFill>
              <a:srgbClr val="5b9bd5"/>
            </a:solidFill>
          </a:ln>
        </p:spPr>
      </p:cxnSp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21A776E-D3E0-43D0-918E-DD3DD31D3D8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F59CF02-3482-485A-92DD-1144648BC76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720" cy="57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高级语言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概览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Rectangles 5"/>
          <p:cNvSpPr/>
          <p:nvPr/>
        </p:nvSpPr>
        <p:spPr>
          <a:xfrm>
            <a:off x="329400" y="646200"/>
            <a:ext cx="11489400" cy="4575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Rectangles 3"/>
          <p:cNvSpPr/>
          <p:nvPr/>
        </p:nvSpPr>
        <p:spPr>
          <a:xfrm>
            <a:off x="329040" y="6322320"/>
            <a:ext cx="11490120" cy="4917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Rectangles 4"/>
          <p:cNvSpPr/>
          <p:nvPr/>
        </p:nvSpPr>
        <p:spPr>
          <a:xfrm>
            <a:off x="329400" y="1105560"/>
            <a:ext cx="10649160" cy="52149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各个高级语言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整合系统支撑能力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提供辅助业务功能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营造业务生态环境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Rectangles 1"/>
          <p:cNvSpPr/>
          <p:nvPr/>
        </p:nvSpPr>
        <p:spPr>
          <a:xfrm>
            <a:off x="10980000" y="1105200"/>
            <a:ext cx="826560" cy="5229360"/>
          </a:xfrm>
          <a:prstGeom prst="rect">
            <a:avLst/>
          </a:prstGeom>
          <a:solidFill>
            <a:srgbClr val="5b9bd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工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具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链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s 59"/>
          <p:cNvSpPr/>
          <p:nvPr/>
        </p:nvSpPr>
        <p:spPr>
          <a:xfrm>
            <a:off x="4166280" y="1108440"/>
            <a:ext cx="3790080" cy="4290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720" cy="57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高级语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言概览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Rectangles 60"/>
          <p:cNvSpPr/>
          <p:nvPr/>
        </p:nvSpPr>
        <p:spPr>
          <a:xfrm>
            <a:off x="329400" y="646200"/>
            <a:ext cx="11489400" cy="4575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Rectangles 61"/>
          <p:cNvSpPr/>
          <p:nvPr/>
        </p:nvSpPr>
        <p:spPr>
          <a:xfrm>
            <a:off x="329040" y="5958360"/>
            <a:ext cx="11490120" cy="85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Rectangles 62"/>
          <p:cNvSpPr/>
          <p:nvPr/>
        </p:nvSpPr>
        <p:spPr>
          <a:xfrm>
            <a:off x="8409600" y="2004120"/>
            <a:ext cx="3215880" cy="2406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运行支撑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Rectangles 63"/>
          <p:cNvSpPr/>
          <p:nvPr/>
        </p:nvSpPr>
        <p:spPr>
          <a:xfrm>
            <a:off x="475200" y="2003400"/>
            <a:ext cx="3243240" cy="2417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业务语言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Rectangles 64"/>
          <p:cNvSpPr/>
          <p:nvPr/>
        </p:nvSpPr>
        <p:spPr>
          <a:xfrm>
            <a:off x="4313520" y="2700000"/>
            <a:ext cx="3463560" cy="1943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落地规划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Rectangles 65"/>
          <p:cNvSpPr/>
          <p:nvPr/>
        </p:nvSpPr>
        <p:spPr>
          <a:xfrm>
            <a:off x="4313520" y="1108440"/>
            <a:ext cx="3463200" cy="14108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语言封装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Rectangles 66"/>
          <p:cNvSpPr/>
          <p:nvPr/>
        </p:nvSpPr>
        <p:spPr>
          <a:xfrm>
            <a:off x="1892880" y="4748760"/>
            <a:ext cx="8326440" cy="1208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Rectangles 67"/>
          <p:cNvSpPr/>
          <p:nvPr/>
        </p:nvSpPr>
        <p:spPr>
          <a:xfrm>
            <a:off x="2054160" y="4851720"/>
            <a:ext cx="7981200" cy="1105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基础生态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1" name="Straight Arrow Connector 5"/>
          <p:cNvCxnSpPr/>
          <p:nvPr/>
        </p:nvCxnSpPr>
        <p:spPr>
          <a:xfrm>
            <a:off x="960120" y="4448520"/>
            <a:ext cx="1512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62" name="Straight Arrow Connector 6"/>
          <p:cNvCxnSpPr/>
          <p:nvPr/>
        </p:nvCxnSpPr>
        <p:spPr>
          <a:xfrm>
            <a:off x="11101680" y="4448520"/>
            <a:ext cx="1548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63" name="Straight Arrow Connector 7"/>
          <p:cNvCxnSpPr/>
          <p:nvPr/>
        </p:nvCxnSpPr>
        <p:spPr>
          <a:xfrm>
            <a:off x="3731760" y="320976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64" name="Straight Arrow Connector 8"/>
          <p:cNvCxnSpPr/>
          <p:nvPr/>
        </p:nvCxnSpPr>
        <p:spPr>
          <a:xfrm>
            <a:off x="7959600" y="319320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65" name="Rectangles 71"/>
          <p:cNvSpPr/>
          <p:nvPr/>
        </p:nvSpPr>
        <p:spPr>
          <a:xfrm>
            <a:off x="4177080" y="4712760"/>
            <a:ext cx="3779280" cy="993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6" name="Rectangles 72"/>
          <p:cNvSpPr/>
          <p:nvPr/>
        </p:nvSpPr>
        <p:spPr>
          <a:xfrm>
            <a:off x="269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Rectangles 73"/>
          <p:cNvSpPr/>
          <p:nvPr/>
        </p:nvSpPr>
        <p:spPr>
          <a:xfrm>
            <a:off x="73803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Rectangles 74"/>
          <p:cNvSpPr/>
          <p:nvPr/>
        </p:nvSpPr>
        <p:spPr>
          <a:xfrm>
            <a:off x="269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Rectangles 75"/>
          <p:cNvSpPr/>
          <p:nvPr/>
        </p:nvSpPr>
        <p:spPr>
          <a:xfrm>
            <a:off x="737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Rectangles 76"/>
          <p:cNvSpPr/>
          <p:nvPr/>
        </p:nvSpPr>
        <p:spPr>
          <a:xfrm>
            <a:off x="503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s 18"/>
          <p:cNvSpPr/>
          <p:nvPr/>
        </p:nvSpPr>
        <p:spPr>
          <a:xfrm>
            <a:off x="4166280" y="1108440"/>
            <a:ext cx="3790080" cy="4290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720" cy="57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高级语言概览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Rectangles 19"/>
          <p:cNvSpPr/>
          <p:nvPr/>
        </p:nvSpPr>
        <p:spPr>
          <a:xfrm>
            <a:off x="329400" y="646200"/>
            <a:ext cx="11489400" cy="4575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ectangles 20"/>
          <p:cNvSpPr/>
          <p:nvPr/>
        </p:nvSpPr>
        <p:spPr>
          <a:xfrm>
            <a:off x="329040" y="5958360"/>
            <a:ext cx="11490120" cy="85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s 81"/>
          <p:cNvSpPr/>
          <p:nvPr/>
        </p:nvSpPr>
        <p:spPr>
          <a:xfrm>
            <a:off x="8409600" y="2004120"/>
            <a:ext cx="3215880" cy="2406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运行支撑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Rectangles 82"/>
          <p:cNvSpPr/>
          <p:nvPr/>
        </p:nvSpPr>
        <p:spPr>
          <a:xfrm>
            <a:off x="475200" y="2003400"/>
            <a:ext cx="3243240" cy="2417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业务语言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Rectangles 83"/>
          <p:cNvSpPr/>
          <p:nvPr/>
        </p:nvSpPr>
        <p:spPr>
          <a:xfrm>
            <a:off x="4313520" y="2700000"/>
            <a:ext cx="3463560" cy="1943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落地规划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Rectangles 384"/>
          <p:cNvSpPr/>
          <p:nvPr/>
        </p:nvSpPr>
        <p:spPr>
          <a:xfrm>
            <a:off x="4313520" y="1108440"/>
            <a:ext cx="3463200" cy="14108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语言封装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Rectangles 385"/>
          <p:cNvSpPr/>
          <p:nvPr/>
        </p:nvSpPr>
        <p:spPr>
          <a:xfrm>
            <a:off x="1892880" y="4748760"/>
            <a:ext cx="8326440" cy="1208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0" name="Rectangles 386"/>
          <p:cNvSpPr/>
          <p:nvPr/>
        </p:nvSpPr>
        <p:spPr>
          <a:xfrm>
            <a:off x="2054160" y="4851720"/>
            <a:ext cx="7981200" cy="1105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基础生态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Rectangles 387"/>
          <p:cNvSpPr/>
          <p:nvPr/>
        </p:nvSpPr>
        <p:spPr>
          <a:xfrm>
            <a:off x="555804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ectangles 388"/>
          <p:cNvSpPr/>
          <p:nvPr/>
        </p:nvSpPr>
        <p:spPr>
          <a:xfrm>
            <a:off x="6711480" y="1838520"/>
            <a:ext cx="973080" cy="5454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3" name="Straight Arrow Connector 53"/>
          <p:cNvCxnSpPr/>
          <p:nvPr/>
        </p:nvCxnSpPr>
        <p:spPr>
          <a:xfrm>
            <a:off x="960120" y="4448520"/>
            <a:ext cx="1512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84" name="Straight Arrow Connector 54"/>
          <p:cNvCxnSpPr/>
          <p:nvPr/>
        </p:nvCxnSpPr>
        <p:spPr>
          <a:xfrm>
            <a:off x="11101680" y="4448520"/>
            <a:ext cx="1548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85" name="Straight Arrow Connector 55"/>
          <p:cNvCxnSpPr/>
          <p:nvPr/>
        </p:nvCxnSpPr>
        <p:spPr>
          <a:xfrm>
            <a:off x="3731760" y="320976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86" name="Straight Arrow Connector 56"/>
          <p:cNvCxnSpPr/>
          <p:nvPr/>
        </p:nvCxnSpPr>
        <p:spPr>
          <a:xfrm>
            <a:off x="7959600" y="319320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87" name="Rectangles 389"/>
          <p:cNvSpPr/>
          <p:nvPr/>
        </p:nvSpPr>
        <p:spPr>
          <a:xfrm>
            <a:off x="4177080" y="4712760"/>
            <a:ext cx="3779280" cy="993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Rectangles 390"/>
          <p:cNvSpPr/>
          <p:nvPr/>
        </p:nvSpPr>
        <p:spPr>
          <a:xfrm>
            <a:off x="269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Rectangles 391"/>
          <p:cNvSpPr/>
          <p:nvPr/>
        </p:nvSpPr>
        <p:spPr>
          <a:xfrm>
            <a:off x="73803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Rectangles 392"/>
          <p:cNvSpPr/>
          <p:nvPr/>
        </p:nvSpPr>
        <p:spPr>
          <a:xfrm>
            <a:off x="269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Rectangles 393"/>
          <p:cNvSpPr/>
          <p:nvPr/>
        </p:nvSpPr>
        <p:spPr>
          <a:xfrm>
            <a:off x="737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Rectangles 394"/>
          <p:cNvSpPr/>
          <p:nvPr/>
        </p:nvSpPr>
        <p:spPr>
          <a:xfrm>
            <a:off x="503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Rectangles 395"/>
          <p:cNvSpPr/>
          <p:nvPr/>
        </p:nvSpPr>
        <p:spPr>
          <a:xfrm>
            <a:off x="439308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词法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s 21"/>
          <p:cNvSpPr/>
          <p:nvPr/>
        </p:nvSpPr>
        <p:spPr>
          <a:xfrm>
            <a:off x="4166280" y="1108440"/>
            <a:ext cx="3790080" cy="4290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720" cy="57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高级语言概览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Rectangles 22"/>
          <p:cNvSpPr/>
          <p:nvPr/>
        </p:nvSpPr>
        <p:spPr>
          <a:xfrm>
            <a:off x="329400" y="646200"/>
            <a:ext cx="11489400" cy="4575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s 23"/>
          <p:cNvSpPr/>
          <p:nvPr/>
        </p:nvSpPr>
        <p:spPr>
          <a:xfrm>
            <a:off x="329040" y="5958360"/>
            <a:ext cx="11490120" cy="85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ectangles 24"/>
          <p:cNvSpPr/>
          <p:nvPr/>
        </p:nvSpPr>
        <p:spPr>
          <a:xfrm>
            <a:off x="8409600" y="2004120"/>
            <a:ext cx="3215880" cy="2406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运行支撑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Rectangles 25"/>
          <p:cNvSpPr/>
          <p:nvPr/>
        </p:nvSpPr>
        <p:spPr>
          <a:xfrm>
            <a:off x="475200" y="2003400"/>
            <a:ext cx="3243240" cy="2417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业务语言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Rectangles 26"/>
          <p:cNvSpPr/>
          <p:nvPr/>
        </p:nvSpPr>
        <p:spPr>
          <a:xfrm>
            <a:off x="4313520" y="2700000"/>
            <a:ext cx="3463560" cy="1943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落地规划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Rectangles 84"/>
          <p:cNvSpPr/>
          <p:nvPr/>
        </p:nvSpPr>
        <p:spPr>
          <a:xfrm>
            <a:off x="4313520" y="1108440"/>
            <a:ext cx="3463200" cy="14108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语言封装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Rectangles 85"/>
          <p:cNvSpPr/>
          <p:nvPr/>
        </p:nvSpPr>
        <p:spPr>
          <a:xfrm>
            <a:off x="1892880" y="4748760"/>
            <a:ext cx="8326440" cy="1208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3" name="Rectangles 86"/>
          <p:cNvSpPr/>
          <p:nvPr/>
        </p:nvSpPr>
        <p:spPr>
          <a:xfrm>
            <a:off x="2054160" y="4851720"/>
            <a:ext cx="7981200" cy="1105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基础生态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Rectangles 87"/>
          <p:cNvSpPr/>
          <p:nvPr/>
        </p:nvSpPr>
        <p:spPr>
          <a:xfrm>
            <a:off x="555804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ectangles 88"/>
          <p:cNvSpPr/>
          <p:nvPr/>
        </p:nvSpPr>
        <p:spPr>
          <a:xfrm>
            <a:off x="6711480" y="1838520"/>
            <a:ext cx="973080" cy="5454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6" name="Straight Arrow Connector 49"/>
          <p:cNvCxnSpPr/>
          <p:nvPr/>
        </p:nvCxnSpPr>
        <p:spPr>
          <a:xfrm>
            <a:off x="960120" y="4448520"/>
            <a:ext cx="1512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07" name="Straight Arrow Connector 50"/>
          <p:cNvCxnSpPr/>
          <p:nvPr/>
        </p:nvCxnSpPr>
        <p:spPr>
          <a:xfrm>
            <a:off x="11101680" y="4448520"/>
            <a:ext cx="1548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08" name="Straight Arrow Connector 51"/>
          <p:cNvCxnSpPr/>
          <p:nvPr/>
        </p:nvCxnSpPr>
        <p:spPr>
          <a:xfrm>
            <a:off x="3731760" y="320976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09" name="Straight Arrow Connector 52"/>
          <p:cNvCxnSpPr/>
          <p:nvPr/>
        </p:nvCxnSpPr>
        <p:spPr>
          <a:xfrm>
            <a:off x="7959600" y="319320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110" name="Rectangles 89"/>
          <p:cNvSpPr/>
          <p:nvPr/>
        </p:nvSpPr>
        <p:spPr>
          <a:xfrm>
            <a:off x="4177080" y="4712760"/>
            <a:ext cx="3779280" cy="993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1" name="Rectangles 375"/>
          <p:cNvSpPr/>
          <p:nvPr/>
        </p:nvSpPr>
        <p:spPr>
          <a:xfrm>
            <a:off x="269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Rectangles 376"/>
          <p:cNvSpPr/>
          <p:nvPr/>
        </p:nvSpPr>
        <p:spPr>
          <a:xfrm>
            <a:off x="73803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Rectangles 377"/>
          <p:cNvSpPr/>
          <p:nvPr/>
        </p:nvSpPr>
        <p:spPr>
          <a:xfrm>
            <a:off x="269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Rectangles 378"/>
          <p:cNvSpPr/>
          <p:nvPr/>
        </p:nvSpPr>
        <p:spPr>
          <a:xfrm>
            <a:off x="737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Rectangles 379"/>
          <p:cNvSpPr/>
          <p:nvPr/>
        </p:nvSpPr>
        <p:spPr>
          <a:xfrm>
            <a:off x="503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Rectangles 380"/>
          <p:cNvSpPr/>
          <p:nvPr/>
        </p:nvSpPr>
        <p:spPr>
          <a:xfrm>
            <a:off x="439308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词法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ectangles 381"/>
          <p:cNvSpPr/>
          <p:nvPr/>
        </p:nvSpPr>
        <p:spPr>
          <a:xfrm>
            <a:off x="2808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基础业务封装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ectangles 382"/>
          <p:cNvSpPr/>
          <p:nvPr/>
        </p:nvSpPr>
        <p:spPr>
          <a:xfrm>
            <a:off x="5256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底层系统封装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ectangles 383"/>
          <p:cNvSpPr/>
          <p:nvPr/>
        </p:nvSpPr>
        <p:spPr>
          <a:xfrm>
            <a:off x="7596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基础运行封装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s 27"/>
          <p:cNvSpPr/>
          <p:nvPr/>
        </p:nvSpPr>
        <p:spPr>
          <a:xfrm>
            <a:off x="4166280" y="1108440"/>
            <a:ext cx="3790080" cy="4290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720" cy="57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高级语言概览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Rectangles 28"/>
          <p:cNvSpPr/>
          <p:nvPr/>
        </p:nvSpPr>
        <p:spPr>
          <a:xfrm>
            <a:off x="329400" y="646200"/>
            <a:ext cx="11489400" cy="4575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ectangles 29"/>
          <p:cNvSpPr/>
          <p:nvPr/>
        </p:nvSpPr>
        <p:spPr>
          <a:xfrm>
            <a:off x="329040" y="5958360"/>
            <a:ext cx="11490120" cy="85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ectangles 30"/>
          <p:cNvSpPr/>
          <p:nvPr/>
        </p:nvSpPr>
        <p:spPr>
          <a:xfrm>
            <a:off x="8409600" y="2004120"/>
            <a:ext cx="3215880" cy="2406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运行支撑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Rectangles 31"/>
          <p:cNvSpPr/>
          <p:nvPr/>
        </p:nvSpPr>
        <p:spPr>
          <a:xfrm>
            <a:off x="475200" y="2003400"/>
            <a:ext cx="3243240" cy="2417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业务语言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Rectangles 79"/>
          <p:cNvSpPr/>
          <p:nvPr/>
        </p:nvSpPr>
        <p:spPr>
          <a:xfrm>
            <a:off x="4313520" y="2700000"/>
            <a:ext cx="3463560" cy="1943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落地规划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Rectangles 354"/>
          <p:cNvSpPr/>
          <p:nvPr/>
        </p:nvSpPr>
        <p:spPr>
          <a:xfrm>
            <a:off x="4313520" y="1108440"/>
            <a:ext cx="3463200" cy="14108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语言封装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Rectangles 355"/>
          <p:cNvSpPr/>
          <p:nvPr/>
        </p:nvSpPr>
        <p:spPr>
          <a:xfrm>
            <a:off x="1892880" y="4748760"/>
            <a:ext cx="8326440" cy="1208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9" name="Rectangles 356"/>
          <p:cNvSpPr/>
          <p:nvPr/>
        </p:nvSpPr>
        <p:spPr>
          <a:xfrm>
            <a:off x="2054160" y="4851720"/>
            <a:ext cx="7981200" cy="1105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基础生态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Rectangles 357"/>
          <p:cNvSpPr/>
          <p:nvPr/>
        </p:nvSpPr>
        <p:spPr>
          <a:xfrm>
            <a:off x="555804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ectangles 358"/>
          <p:cNvSpPr/>
          <p:nvPr/>
        </p:nvSpPr>
        <p:spPr>
          <a:xfrm>
            <a:off x="6711480" y="1838520"/>
            <a:ext cx="973080" cy="5454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2" name="Straight Arrow Connector 45"/>
          <p:cNvCxnSpPr/>
          <p:nvPr/>
        </p:nvCxnSpPr>
        <p:spPr>
          <a:xfrm>
            <a:off x="960120" y="4448520"/>
            <a:ext cx="1512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33" name="Straight Arrow Connector 46"/>
          <p:cNvCxnSpPr/>
          <p:nvPr/>
        </p:nvCxnSpPr>
        <p:spPr>
          <a:xfrm>
            <a:off x="11101680" y="4448520"/>
            <a:ext cx="1548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34" name="Straight Arrow Connector 47"/>
          <p:cNvCxnSpPr/>
          <p:nvPr/>
        </p:nvCxnSpPr>
        <p:spPr>
          <a:xfrm>
            <a:off x="3731760" y="320976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35" name="Straight Arrow Connector 48"/>
          <p:cNvCxnSpPr/>
          <p:nvPr/>
        </p:nvCxnSpPr>
        <p:spPr>
          <a:xfrm>
            <a:off x="7959600" y="319320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136" name="Rectangles 359"/>
          <p:cNvSpPr/>
          <p:nvPr/>
        </p:nvSpPr>
        <p:spPr>
          <a:xfrm>
            <a:off x="4177080" y="4712760"/>
            <a:ext cx="3779280" cy="993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7" name="Rectangles 360"/>
          <p:cNvSpPr/>
          <p:nvPr/>
        </p:nvSpPr>
        <p:spPr>
          <a:xfrm>
            <a:off x="269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Rectangles 361"/>
          <p:cNvSpPr/>
          <p:nvPr/>
        </p:nvSpPr>
        <p:spPr>
          <a:xfrm>
            <a:off x="73803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Rectangles 362"/>
          <p:cNvSpPr/>
          <p:nvPr/>
        </p:nvSpPr>
        <p:spPr>
          <a:xfrm>
            <a:off x="269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Rectangles 363"/>
          <p:cNvSpPr/>
          <p:nvPr/>
        </p:nvSpPr>
        <p:spPr>
          <a:xfrm>
            <a:off x="737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Rectangles 364"/>
          <p:cNvSpPr/>
          <p:nvPr/>
        </p:nvSpPr>
        <p:spPr>
          <a:xfrm>
            <a:off x="503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Rectangles 365"/>
          <p:cNvSpPr/>
          <p:nvPr/>
        </p:nvSpPr>
        <p:spPr>
          <a:xfrm>
            <a:off x="439308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词法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ectangles 366"/>
          <p:cNvSpPr/>
          <p:nvPr/>
        </p:nvSpPr>
        <p:spPr>
          <a:xfrm>
            <a:off x="2808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基础业务封装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Rectangles 367"/>
          <p:cNvSpPr/>
          <p:nvPr/>
        </p:nvSpPr>
        <p:spPr>
          <a:xfrm>
            <a:off x="5256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底层系统封装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ectangles 368"/>
          <p:cNvSpPr/>
          <p:nvPr/>
        </p:nvSpPr>
        <p:spPr>
          <a:xfrm>
            <a:off x="7596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基础运行封装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ectangles 369"/>
          <p:cNvSpPr/>
          <p:nvPr/>
        </p:nvSpPr>
        <p:spPr>
          <a:xfrm>
            <a:off x="1188000" y="2736000"/>
            <a:ext cx="1979280" cy="287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紧邻交互层面：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python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ectangles 370"/>
          <p:cNvSpPr/>
          <p:nvPr/>
        </p:nvSpPr>
        <p:spPr>
          <a:xfrm>
            <a:off x="1188000" y="2988000"/>
            <a:ext cx="1979280" cy="251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业务很偏交互：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JS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ectangles 371"/>
          <p:cNvSpPr/>
          <p:nvPr/>
        </p:nvSpPr>
        <p:spPr>
          <a:xfrm>
            <a:off x="1188000" y="3240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正统业务层面：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Java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ectangles 372"/>
          <p:cNvSpPr/>
          <p:nvPr/>
        </p:nvSpPr>
        <p:spPr>
          <a:xfrm>
            <a:off x="1188000" y="3456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业务稍偏系统：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go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ectangles 373"/>
          <p:cNvSpPr/>
          <p:nvPr/>
        </p:nvSpPr>
        <p:spPr>
          <a:xfrm>
            <a:off x="1188000" y="3672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业务更偏系统：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rust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ectangles 374"/>
          <p:cNvSpPr/>
          <p:nvPr/>
        </p:nvSpPr>
        <p:spPr>
          <a:xfrm>
            <a:off x="1188000" y="3888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紧邻系统层面：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C++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s 32"/>
          <p:cNvSpPr/>
          <p:nvPr/>
        </p:nvSpPr>
        <p:spPr>
          <a:xfrm>
            <a:off x="4166280" y="1108440"/>
            <a:ext cx="3790080" cy="4290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720" cy="57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高级语言概览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Rectangles 80"/>
          <p:cNvSpPr/>
          <p:nvPr/>
        </p:nvSpPr>
        <p:spPr>
          <a:xfrm>
            <a:off x="329400" y="646200"/>
            <a:ext cx="11489400" cy="4575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Rectangles 90"/>
          <p:cNvSpPr/>
          <p:nvPr/>
        </p:nvSpPr>
        <p:spPr>
          <a:xfrm>
            <a:off x="329040" y="5958360"/>
            <a:ext cx="11490120" cy="85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Rectangles 91"/>
          <p:cNvSpPr/>
          <p:nvPr/>
        </p:nvSpPr>
        <p:spPr>
          <a:xfrm>
            <a:off x="8409600" y="2004120"/>
            <a:ext cx="3215880" cy="2406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运行支撑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Rectangles 328"/>
          <p:cNvSpPr/>
          <p:nvPr/>
        </p:nvSpPr>
        <p:spPr>
          <a:xfrm>
            <a:off x="475200" y="2003400"/>
            <a:ext cx="3243240" cy="2417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业务语言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Rectangles 329"/>
          <p:cNvSpPr/>
          <p:nvPr/>
        </p:nvSpPr>
        <p:spPr>
          <a:xfrm>
            <a:off x="4313520" y="2700000"/>
            <a:ext cx="3463560" cy="1943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落地规划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Rectangles 330"/>
          <p:cNvSpPr/>
          <p:nvPr/>
        </p:nvSpPr>
        <p:spPr>
          <a:xfrm>
            <a:off x="4313520" y="1108440"/>
            <a:ext cx="3463200" cy="14108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语言封装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Rectangles 331"/>
          <p:cNvSpPr/>
          <p:nvPr/>
        </p:nvSpPr>
        <p:spPr>
          <a:xfrm>
            <a:off x="1892880" y="4748760"/>
            <a:ext cx="8326440" cy="1208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1" name="Rectangles 332"/>
          <p:cNvSpPr/>
          <p:nvPr/>
        </p:nvSpPr>
        <p:spPr>
          <a:xfrm>
            <a:off x="2054160" y="4851720"/>
            <a:ext cx="7981200" cy="1105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基础生态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Rectangles 333"/>
          <p:cNvSpPr/>
          <p:nvPr/>
        </p:nvSpPr>
        <p:spPr>
          <a:xfrm>
            <a:off x="555804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ectangles 334"/>
          <p:cNvSpPr/>
          <p:nvPr/>
        </p:nvSpPr>
        <p:spPr>
          <a:xfrm>
            <a:off x="6711480" y="1838520"/>
            <a:ext cx="973080" cy="5454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4" name="Straight Arrow Connector 41"/>
          <p:cNvCxnSpPr/>
          <p:nvPr/>
        </p:nvCxnSpPr>
        <p:spPr>
          <a:xfrm>
            <a:off x="960120" y="4448520"/>
            <a:ext cx="1512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65" name="Straight Arrow Connector 42"/>
          <p:cNvCxnSpPr/>
          <p:nvPr/>
        </p:nvCxnSpPr>
        <p:spPr>
          <a:xfrm>
            <a:off x="11101680" y="4448520"/>
            <a:ext cx="1548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66" name="Straight Arrow Connector 43"/>
          <p:cNvCxnSpPr/>
          <p:nvPr/>
        </p:nvCxnSpPr>
        <p:spPr>
          <a:xfrm>
            <a:off x="3731760" y="320976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67" name="Straight Arrow Connector 44"/>
          <p:cNvCxnSpPr/>
          <p:nvPr/>
        </p:nvCxnSpPr>
        <p:spPr>
          <a:xfrm>
            <a:off x="7959600" y="319320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168" name="Rectangles 335"/>
          <p:cNvSpPr/>
          <p:nvPr/>
        </p:nvSpPr>
        <p:spPr>
          <a:xfrm>
            <a:off x="4177080" y="4712760"/>
            <a:ext cx="3779280" cy="993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9" name="Rectangles 336"/>
          <p:cNvSpPr/>
          <p:nvPr/>
        </p:nvSpPr>
        <p:spPr>
          <a:xfrm>
            <a:off x="269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Rectangles 337"/>
          <p:cNvSpPr/>
          <p:nvPr/>
        </p:nvSpPr>
        <p:spPr>
          <a:xfrm>
            <a:off x="73803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Rectangles 338"/>
          <p:cNvSpPr/>
          <p:nvPr/>
        </p:nvSpPr>
        <p:spPr>
          <a:xfrm>
            <a:off x="269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Rectangles 339"/>
          <p:cNvSpPr/>
          <p:nvPr/>
        </p:nvSpPr>
        <p:spPr>
          <a:xfrm>
            <a:off x="737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Rectangles 340"/>
          <p:cNvSpPr/>
          <p:nvPr/>
        </p:nvSpPr>
        <p:spPr>
          <a:xfrm>
            <a:off x="503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Rectangles 341"/>
          <p:cNvSpPr/>
          <p:nvPr/>
        </p:nvSpPr>
        <p:spPr>
          <a:xfrm>
            <a:off x="439308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词法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ectangles 342"/>
          <p:cNvSpPr/>
          <p:nvPr/>
        </p:nvSpPr>
        <p:spPr>
          <a:xfrm>
            <a:off x="8568000" y="2808000"/>
            <a:ext cx="2880000" cy="36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扩展：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部署形态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任务粒度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监控统计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ectangles 343"/>
          <p:cNvSpPr/>
          <p:nvPr/>
        </p:nvSpPr>
        <p:spPr>
          <a:xfrm>
            <a:off x="2808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基础业务封装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ectangles 344"/>
          <p:cNvSpPr/>
          <p:nvPr/>
        </p:nvSpPr>
        <p:spPr>
          <a:xfrm>
            <a:off x="5256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底层系统封装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Rectangles 345"/>
          <p:cNvSpPr/>
          <p:nvPr/>
        </p:nvSpPr>
        <p:spPr>
          <a:xfrm>
            <a:off x="7596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基础运行封装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ectangles 346"/>
          <p:cNvSpPr/>
          <p:nvPr/>
        </p:nvSpPr>
        <p:spPr>
          <a:xfrm>
            <a:off x="1188000" y="2736000"/>
            <a:ext cx="1979280" cy="287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紧邻交互层面：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python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Rectangles 347"/>
          <p:cNvSpPr/>
          <p:nvPr/>
        </p:nvSpPr>
        <p:spPr>
          <a:xfrm>
            <a:off x="1188000" y="2988000"/>
            <a:ext cx="1979280" cy="251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业务很偏交互：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JS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ectangles 348"/>
          <p:cNvSpPr/>
          <p:nvPr/>
        </p:nvSpPr>
        <p:spPr>
          <a:xfrm>
            <a:off x="1188000" y="3240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正统业务层面：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Java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ectangles 349"/>
          <p:cNvSpPr/>
          <p:nvPr/>
        </p:nvSpPr>
        <p:spPr>
          <a:xfrm>
            <a:off x="1188000" y="3456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业务稍偏系统：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go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ectangles 350"/>
          <p:cNvSpPr/>
          <p:nvPr/>
        </p:nvSpPr>
        <p:spPr>
          <a:xfrm>
            <a:off x="1188000" y="3672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业务更偏系统：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rust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ectangles 351"/>
          <p:cNvSpPr/>
          <p:nvPr/>
        </p:nvSpPr>
        <p:spPr>
          <a:xfrm>
            <a:off x="1188000" y="3888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紧邻系统层面：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C++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ectangles 352"/>
          <p:cNvSpPr/>
          <p:nvPr/>
        </p:nvSpPr>
        <p:spPr>
          <a:xfrm>
            <a:off x="8568000" y="3240000"/>
            <a:ext cx="2880000" cy="36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整合：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类型管理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调度能力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语言配合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Rectangles 353"/>
          <p:cNvSpPr/>
          <p:nvPr/>
        </p:nvSpPr>
        <p:spPr>
          <a:xfrm>
            <a:off x="8568000" y="3672000"/>
            <a:ext cx="2880000" cy="36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基础：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资源治理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异常处理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性能优化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s 295"/>
          <p:cNvSpPr/>
          <p:nvPr/>
        </p:nvSpPr>
        <p:spPr>
          <a:xfrm>
            <a:off x="4166280" y="1108440"/>
            <a:ext cx="3790080" cy="4290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720" cy="57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高级语言概览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Rectangles 296"/>
          <p:cNvSpPr/>
          <p:nvPr/>
        </p:nvSpPr>
        <p:spPr>
          <a:xfrm>
            <a:off x="329400" y="646200"/>
            <a:ext cx="11489400" cy="4575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ectangles 297"/>
          <p:cNvSpPr/>
          <p:nvPr/>
        </p:nvSpPr>
        <p:spPr>
          <a:xfrm>
            <a:off x="329040" y="5958360"/>
            <a:ext cx="11490120" cy="85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ectangles 298"/>
          <p:cNvSpPr/>
          <p:nvPr/>
        </p:nvSpPr>
        <p:spPr>
          <a:xfrm>
            <a:off x="8409600" y="2004120"/>
            <a:ext cx="3215880" cy="2406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运行支撑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Rectangles 299"/>
          <p:cNvSpPr/>
          <p:nvPr/>
        </p:nvSpPr>
        <p:spPr>
          <a:xfrm>
            <a:off x="475200" y="2003400"/>
            <a:ext cx="3243240" cy="2417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业务语言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Rectangles 300"/>
          <p:cNvSpPr/>
          <p:nvPr/>
        </p:nvSpPr>
        <p:spPr>
          <a:xfrm>
            <a:off x="4313520" y="2700000"/>
            <a:ext cx="3463560" cy="1943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落地规划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Rectangles 301"/>
          <p:cNvSpPr/>
          <p:nvPr/>
        </p:nvSpPr>
        <p:spPr>
          <a:xfrm>
            <a:off x="4313520" y="1108440"/>
            <a:ext cx="3463200" cy="14108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语言封装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Rectangles 302"/>
          <p:cNvSpPr/>
          <p:nvPr/>
        </p:nvSpPr>
        <p:spPr>
          <a:xfrm>
            <a:off x="1892880" y="4748760"/>
            <a:ext cx="8326440" cy="1208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6" name="Rectangles 303"/>
          <p:cNvSpPr/>
          <p:nvPr/>
        </p:nvSpPr>
        <p:spPr>
          <a:xfrm>
            <a:off x="2054160" y="4851720"/>
            <a:ext cx="7981200" cy="1105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基础生态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Rectangles 304"/>
          <p:cNvSpPr/>
          <p:nvPr/>
        </p:nvSpPr>
        <p:spPr>
          <a:xfrm>
            <a:off x="555804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Rectangles 305"/>
          <p:cNvSpPr/>
          <p:nvPr/>
        </p:nvSpPr>
        <p:spPr>
          <a:xfrm>
            <a:off x="6711480" y="1838520"/>
            <a:ext cx="973080" cy="5454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9" name="Straight Arrow Connector 37"/>
          <p:cNvCxnSpPr/>
          <p:nvPr/>
        </p:nvCxnSpPr>
        <p:spPr>
          <a:xfrm>
            <a:off x="960120" y="4448520"/>
            <a:ext cx="1512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200" name="Straight Arrow Connector 38"/>
          <p:cNvCxnSpPr/>
          <p:nvPr/>
        </p:nvCxnSpPr>
        <p:spPr>
          <a:xfrm>
            <a:off x="11101680" y="4448520"/>
            <a:ext cx="1548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201" name="Straight Arrow Connector 39"/>
          <p:cNvCxnSpPr/>
          <p:nvPr/>
        </p:nvCxnSpPr>
        <p:spPr>
          <a:xfrm>
            <a:off x="3731760" y="320976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202" name="Straight Arrow Connector 40"/>
          <p:cNvCxnSpPr/>
          <p:nvPr/>
        </p:nvCxnSpPr>
        <p:spPr>
          <a:xfrm>
            <a:off x="7959600" y="319320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203" name="Rectangles 306"/>
          <p:cNvSpPr/>
          <p:nvPr/>
        </p:nvSpPr>
        <p:spPr>
          <a:xfrm>
            <a:off x="4177080" y="4712760"/>
            <a:ext cx="3779280" cy="993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4" name="Rectangles 307"/>
          <p:cNvSpPr/>
          <p:nvPr/>
        </p:nvSpPr>
        <p:spPr>
          <a:xfrm>
            <a:off x="269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Rectangles 308"/>
          <p:cNvSpPr/>
          <p:nvPr/>
        </p:nvSpPr>
        <p:spPr>
          <a:xfrm>
            <a:off x="73803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Rectangles 309"/>
          <p:cNvSpPr/>
          <p:nvPr/>
        </p:nvSpPr>
        <p:spPr>
          <a:xfrm>
            <a:off x="269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Rectangles 310"/>
          <p:cNvSpPr/>
          <p:nvPr/>
        </p:nvSpPr>
        <p:spPr>
          <a:xfrm>
            <a:off x="737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Rectangles 311"/>
          <p:cNvSpPr/>
          <p:nvPr/>
        </p:nvSpPr>
        <p:spPr>
          <a:xfrm>
            <a:off x="503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Rectangles 312"/>
          <p:cNvSpPr/>
          <p:nvPr/>
        </p:nvSpPr>
        <p:spPr>
          <a:xfrm>
            <a:off x="439308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词法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Rectangles 313"/>
          <p:cNvSpPr/>
          <p:nvPr/>
        </p:nvSpPr>
        <p:spPr>
          <a:xfrm>
            <a:off x="8568000" y="2808000"/>
            <a:ext cx="2880000" cy="36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扩展：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部署形态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任务粒度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监控统计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ectangles 314"/>
          <p:cNvSpPr/>
          <p:nvPr/>
        </p:nvSpPr>
        <p:spPr>
          <a:xfrm>
            <a:off x="5616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角色搭配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主体语言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辅助语言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补充语言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Rectangles 315"/>
          <p:cNvSpPr/>
          <p:nvPr/>
        </p:nvSpPr>
        <p:spPr>
          <a:xfrm>
            <a:off x="2808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基础业务封装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ectangles 316"/>
          <p:cNvSpPr/>
          <p:nvPr/>
        </p:nvSpPr>
        <p:spPr>
          <a:xfrm>
            <a:off x="5256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底层系统封装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Rectangles 317"/>
          <p:cNvSpPr/>
          <p:nvPr/>
        </p:nvSpPr>
        <p:spPr>
          <a:xfrm>
            <a:off x="7596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基础运行封装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Rectangles 318"/>
          <p:cNvSpPr/>
          <p:nvPr/>
        </p:nvSpPr>
        <p:spPr>
          <a:xfrm>
            <a:off x="1188000" y="2736000"/>
            <a:ext cx="1979280" cy="287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紧邻交互层面：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python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ectangles 319"/>
          <p:cNvSpPr/>
          <p:nvPr/>
        </p:nvSpPr>
        <p:spPr>
          <a:xfrm>
            <a:off x="1188000" y="2988000"/>
            <a:ext cx="1979280" cy="251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业务很偏交互：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JS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Rectangles 320"/>
          <p:cNvSpPr/>
          <p:nvPr/>
        </p:nvSpPr>
        <p:spPr>
          <a:xfrm>
            <a:off x="1188000" y="3240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正统业务层面：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Java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Rectangles 321"/>
          <p:cNvSpPr/>
          <p:nvPr/>
        </p:nvSpPr>
        <p:spPr>
          <a:xfrm>
            <a:off x="1188000" y="3456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业务稍偏系统：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go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Rectangles 322"/>
          <p:cNvSpPr/>
          <p:nvPr/>
        </p:nvSpPr>
        <p:spPr>
          <a:xfrm>
            <a:off x="1188000" y="3672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业务更偏系统：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rust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ectangles 323"/>
          <p:cNvSpPr/>
          <p:nvPr/>
        </p:nvSpPr>
        <p:spPr>
          <a:xfrm>
            <a:off x="1188000" y="3888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紧邻系统层面：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C++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ectangles 324"/>
          <p:cNvSpPr/>
          <p:nvPr/>
        </p:nvSpPr>
        <p:spPr>
          <a:xfrm>
            <a:off x="4500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处理依据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语言匹配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生命周期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代码规模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Rectangles 325"/>
          <p:cNvSpPr/>
          <p:nvPr/>
        </p:nvSpPr>
        <p:spPr>
          <a:xfrm>
            <a:off x="6696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存量基础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人员经验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所剩时间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现有代码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ectangles 326"/>
          <p:cNvSpPr/>
          <p:nvPr/>
        </p:nvSpPr>
        <p:spPr>
          <a:xfrm>
            <a:off x="8568000" y="3240000"/>
            <a:ext cx="2880000" cy="36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整合：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类型管理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调度能力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语言配合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Rectangles 327"/>
          <p:cNvSpPr/>
          <p:nvPr/>
        </p:nvSpPr>
        <p:spPr>
          <a:xfrm>
            <a:off x="8568000" y="3672000"/>
            <a:ext cx="2880000" cy="36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基础：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资源治理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异常处理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性能优化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angles 262"/>
          <p:cNvSpPr/>
          <p:nvPr/>
        </p:nvSpPr>
        <p:spPr>
          <a:xfrm>
            <a:off x="4166280" y="1108440"/>
            <a:ext cx="3790080" cy="4290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720" cy="57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高级语言概览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Rectangles 263"/>
          <p:cNvSpPr/>
          <p:nvPr/>
        </p:nvSpPr>
        <p:spPr>
          <a:xfrm>
            <a:off x="329400" y="646200"/>
            <a:ext cx="11489400" cy="4575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Rectangles 264"/>
          <p:cNvSpPr/>
          <p:nvPr/>
        </p:nvSpPr>
        <p:spPr>
          <a:xfrm>
            <a:off x="329040" y="5958360"/>
            <a:ext cx="11490120" cy="85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Rectangles 265"/>
          <p:cNvSpPr/>
          <p:nvPr/>
        </p:nvSpPr>
        <p:spPr>
          <a:xfrm>
            <a:off x="8409600" y="2004120"/>
            <a:ext cx="3215880" cy="2406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运行支撑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Rectangles 266"/>
          <p:cNvSpPr/>
          <p:nvPr/>
        </p:nvSpPr>
        <p:spPr>
          <a:xfrm>
            <a:off x="475200" y="2003400"/>
            <a:ext cx="3243240" cy="2417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业务语言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Rectangles 267"/>
          <p:cNvSpPr/>
          <p:nvPr/>
        </p:nvSpPr>
        <p:spPr>
          <a:xfrm>
            <a:off x="4313520" y="2700000"/>
            <a:ext cx="3463560" cy="1943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落地规划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Rectangles 268"/>
          <p:cNvSpPr/>
          <p:nvPr/>
        </p:nvSpPr>
        <p:spPr>
          <a:xfrm>
            <a:off x="4313520" y="1108440"/>
            <a:ext cx="3463200" cy="14108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语言封装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Rectangles 269"/>
          <p:cNvSpPr/>
          <p:nvPr/>
        </p:nvSpPr>
        <p:spPr>
          <a:xfrm>
            <a:off x="1892880" y="4748760"/>
            <a:ext cx="8326440" cy="1208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4" name="Rectangles 270"/>
          <p:cNvSpPr/>
          <p:nvPr/>
        </p:nvSpPr>
        <p:spPr>
          <a:xfrm>
            <a:off x="2054160" y="4851720"/>
            <a:ext cx="7981200" cy="1105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基础生态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Rectangles 271"/>
          <p:cNvSpPr/>
          <p:nvPr/>
        </p:nvSpPr>
        <p:spPr>
          <a:xfrm>
            <a:off x="555804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Rectangles 272"/>
          <p:cNvSpPr/>
          <p:nvPr/>
        </p:nvSpPr>
        <p:spPr>
          <a:xfrm>
            <a:off x="6711480" y="1838520"/>
            <a:ext cx="973080" cy="5454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7" name="Straight Arrow Connector 33"/>
          <p:cNvCxnSpPr/>
          <p:nvPr/>
        </p:nvCxnSpPr>
        <p:spPr>
          <a:xfrm>
            <a:off x="960120" y="4448520"/>
            <a:ext cx="1512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238" name="Straight Arrow Connector 34"/>
          <p:cNvCxnSpPr/>
          <p:nvPr/>
        </p:nvCxnSpPr>
        <p:spPr>
          <a:xfrm>
            <a:off x="11101680" y="4448520"/>
            <a:ext cx="1548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239" name="Straight Arrow Connector 35"/>
          <p:cNvCxnSpPr/>
          <p:nvPr/>
        </p:nvCxnSpPr>
        <p:spPr>
          <a:xfrm>
            <a:off x="3731760" y="320976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240" name="Straight Arrow Connector 36"/>
          <p:cNvCxnSpPr/>
          <p:nvPr/>
        </p:nvCxnSpPr>
        <p:spPr>
          <a:xfrm>
            <a:off x="7959600" y="319320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241" name="Rectangles 273"/>
          <p:cNvSpPr/>
          <p:nvPr/>
        </p:nvSpPr>
        <p:spPr>
          <a:xfrm>
            <a:off x="4177080" y="4712760"/>
            <a:ext cx="3779280" cy="993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2" name="Rectangles 274"/>
          <p:cNvSpPr/>
          <p:nvPr/>
        </p:nvSpPr>
        <p:spPr>
          <a:xfrm>
            <a:off x="269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Rectangles 275"/>
          <p:cNvSpPr/>
          <p:nvPr/>
        </p:nvSpPr>
        <p:spPr>
          <a:xfrm>
            <a:off x="73803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Rectangles 276"/>
          <p:cNvSpPr/>
          <p:nvPr/>
        </p:nvSpPr>
        <p:spPr>
          <a:xfrm>
            <a:off x="269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Rectangles 277"/>
          <p:cNvSpPr/>
          <p:nvPr/>
        </p:nvSpPr>
        <p:spPr>
          <a:xfrm>
            <a:off x="737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Rectangles 278"/>
          <p:cNvSpPr/>
          <p:nvPr/>
        </p:nvSpPr>
        <p:spPr>
          <a:xfrm>
            <a:off x="503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Rectangles 279"/>
          <p:cNvSpPr/>
          <p:nvPr/>
        </p:nvSpPr>
        <p:spPr>
          <a:xfrm>
            <a:off x="439308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词法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Rectangles 280"/>
          <p:cNvSpPr/>
          <p:nvPr/>
        </p:nvSpPr>
        <p:spPr>
          <a:xfrm>
            <a:off x="8568000" y="2808000"/>
            <a:ext cx="2880000" cy="36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扩展：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部署形态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任务粒度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监控统计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Rectangles 281"/>
          <p:cNvSpPr/>
          <p:nvPr/>
        </p:nvSpPr>
        <p:spPr>
          <a:xfrm>
            <a:off x="5616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角色搭配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主体语言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辅助语言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补充语言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Rectangles 282"/>
          <p:cNvSpPr/>
          <p:nvPr/>
        </p:nvSpPr>
        <p:spPr>
          <a:xfrm>
            <a:off x="2808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基础业务封装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Rectangles 283"/>
          <p:cNvSpPr/>
          <p:nvPr/>
        </p:nvSpPr>
        <p:spPr>
          <a:xfrm>
            <a:off x="5256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底层系统封装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Rectangles 284"/>
          <p:cNvSpPr/>
          <p:nvPr/>
        </p:nvSpPr>
        <p:spPr>
          <a:xfrm>
            <a:off x="7596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基础运行封装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Rectangles 285"/>
          <p:cNvSpPr/>
          <p:nvPr/>
        </p:nvSpPr>
        <p:spPr>
          <a:xfrm>
            <a:off x="1188000" y="2736000"/>
            <a:ext cx="1979280" cy="287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紧邻交互层面：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python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Rectangles 286"/>
          <p:cNvSpPr/>
          <p:nvPr/>
        </p:nvSpPr>
        <p:spPr>
          <a:xfrm>
            <a:off x="1188000" y="2988000"/>
            <a:ext cx="1979280" cy="251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业务很偏交互：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JS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Rectangles 287"/>
          <p:cNvSpPr/>
          <p:nvPr/>
        </p:nvSpPr>
        <p:spPr>
          <a:xfrm>
            <a:off x="1188000" y="3240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正统业务层面：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Java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Rectangles 288"/>
          <p:cNvSpPr/>
          <p:nvPr/>
        </p:nvSpPr>
        <p:spPr>
          <a:xfrm>
            <a:off x="1188000" y="3456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业务稍偏系统：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go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Rectangles 289"/>
          <p:cNvSpPr/>
          <p:nvPr/>
        </p:nvSpPr>
        <p:spPr>
          <a:xfrm>
            <a:off x="1188000" y="3672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业务更偏系统：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rust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Rectangles 290"/>
          <p:cNvSpPr/>
          <p:nvPr/>
        </p:nvSpPr>
        <p:spPr>
          <a:xfrm>
            <a:off x="1188000" y="3888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紧邻系统层面：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C++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Rectangles 291"/>
          <p:cNvSpPr/>
          <p:nvPr/>
        </p:nvSpPr>
        <p:spPr>
          <a:xfrm>
            <a:off x="4500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处理依据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语言匹配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生命周期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代码规模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Rectangles 292"/>
          <p:cNvSpPr/>
          <p:nvPr/>
        </p:nvSpPr>
        <p:spPr>
          <a:xfrm>
            <a:off x="6696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存量基础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人员经验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所剩时间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现有代码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Rectangles 293"/>
          <p:cNvSpPr/>
          <p:nvPr/>
        </p:nvSpPr>
        <p:spPr>
          <a:xfrm>
            <a:off x="8568000" y="3240000"/>
            <a:ext cx="2880000" cy="36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整合：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类型管理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调度能力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语言配合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Rectangles 294"/>
          <p:cNvSpPr/>
          <p:nvPr/>
        </p:nvSpPr>
        <p:spPr>
          <a:xfrm>
            <a:off x="8568000" y="3672000"/>
            <a:ext cx="2880000" cy="36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基础：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资源治理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异常处理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性能优化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s 229"/>
          <p:cNvSpPr/>
          <p:nvPr/>
        </p:nvSpPr>
        <p:spPr>
          <a:xfrm>
            <a:off x="4166280" y="1108440"/>
            <a:ext cx="3790080" cy="4290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720" cy="57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高级语言概览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Rectangles 230"/>
          <p:cNvSpPr/>
          <p:nvPr/>
        </p:nvSpPr>
        <p:spPr>
          <a:xfrm>
            <a:off x="329400" y="646200"/>
            <a:ext cx="11489400" cy="4575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Rectangles 231"/>
          <p:cNvSpPr/>
          <p:nvPr/>
        </p:nvSpPr>
        <p:spPr>
          <a:xfrm>
            <a:off x="329040" y="5958360"/>
            <a:ext cx="11490120" cy="85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Rectangles 232"/>
          <p:cNvSpPr/>
          <p:nvPr/>
        </p:nvSpPr>
        <p:spPr>
          <a:xfrm>
            <a:off x="8409600" y="2004120"/>
            <a:ext cx="3215880" cy="2406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运行支撑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Rectangles 233"/>
          <p:cNvSpPr/>
          <p:nvPr/>
        </p:nvSpPr>
        <p:spPr>
          <a:xfrm>
            <a:off x="475200" y="2003400"/>
            <a:ext cx="3243240" cy="2417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业务语言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Rectangles 234"/>
          <p:cNvSpPr/>
          <p:nvPr/>
        </p:nvSpPr>
        <p:spPr>
          <a:xfrm>
            <a:off x="4313520" y="2700000"/>
            <a:ext cx="3463560" cy="1943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落地规划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Rectangles 235"/>
          <p:cNvSpPr/>
          <p:nvPr/>
        </p:nvSpPr>
        <p:spPr>
          <a:xfrm>
            <a:off x="4313520" y="1108440"/>
            <a:ext cx="3463200" cy="14108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语言封装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Rectangles 236"/>
          <p:cNvSpPr/>
          <p:nvPr/>
        </p:nvSpPr>
        <p:spPr>
          <a:xfrm>
            <a:off x="1892880" y="4748760"/>
            <a:ext cx="8326440" cy="1208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2" name="Rectangles 237"/>
          <p:cNvSpPr/>
          <p:nvPr/>
        </p:nvSpPr>
        <p:spPr>
          <a:xfrm>
            <a:off x="2054160" y="4851720"/>
            <a:ext cx="7981200" cy="1105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基础生态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Rectangles 238"/>
          <p:cNvSpPr/>
          <p:nvPr/>
        </p:nvSpPr>
        <p:spPr>
          <a:xfrm>
            <a:off x="555804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Rectangles 239"/>
          <p:cNvSpPr/>
          <p:nvPr/>
        </p:nvSpPr>
        <p:spPr>
          <a:xfrm>
            <a:off x="6711480" y="1838520"/>
            <a:ext cx="973080" cy="5454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75" name="Straight Arrow Connector 29"/>
          <p:cNvCxnSpPr/>
          <p:nvPr/>
        </p:nvCxnSpPr>
        <p:spPr>
          <a:xfrm>
            <a:off x="960120" y="4448520"/>
            <a:ext cx="1512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276" name="Straight Arrow Connector 30"/>
          <p:cNvCxnSpPr/>
          <p:nvPr/>
        </p:nvCxnSpPr>
        <p:spPr>
          <a:xfrm>
            <a:off x="11101680" y="4448520"/>
            <a:ext cx="1548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277" name="Straight Arrow Connector 31"/>
          <p:cNvCxnSpPr/>
          <p:nvPr/>
        </p:nvCxnSpPr>
        <p:spPr>
          <a:xfrm>
            <a:off x="3731760" y="320976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278" name="Straight Arrow Connector 32"/>
          <p:cNvCxnSpPr/>
          <p:nvPr/>
        </p:nvCxnSpPr>
        <p:spPr>
          <a:xfrm>
            <a:off x="7959600" y="319320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279" name="Rectangles 240"/>
          <p:cNvSpPr/>
          <p:nvPr/>
        </p:nvSpPr>
        <p:spPr>
          <a:xfrm>
            <a:off x="4177080" y="4712760"/>
            <a:ext cx="3779280" cy="993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0" name="Rectangles 241"/>
          <p:cNvSpPr/>
          <p:nvPr/>
        </p:nvSpPr>
        <p:spPr>
          <a:xfrm>
            <a:off x="269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Rectangles 242"/>
          <p:cNvSpPr/>
          <p:nvPr/>
        </p:nvSpPr>
        <p:spPr>
          <a:xfrm>
            <a:off x="73803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Rectangles 243"/>
          <p:cNvSpPr/>
          <p:nvPr/>
        </p:nvSpPr>
        <p:spPr>
          <a:xfrm>
            <a:off x="269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Rectangles 244"/>
          <p:cNvSpPr/>
          <p:nvPr/>
        </p:nvSpPr>
        <p:spPr>
          <a:xfrm>
            <a:off x="737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Rectangles 245"/>
          <p:cNvSpPr/>
          <p:nvPr/>
        </p:nvSpPr>
        <p:spPr>
          <a:xfrm>
            <a:off x="503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Rectangles 246"/>
          <p:cNvSpPr/>
          <p:nvPr/>
        </p:nvSpPr>
        <p:spPr>
          <a:xfrm>
            <a:off x="439308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词法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Rectangles 247"/>
          <p:cNvSpPr/>
          <p:nvPr/>
        </p:nvSpPr>
        <p:spPr>
          <a:xfrm>
            <a:off x="8568000" y="2808000"/>
            <a:ext cx="2880000" cy="36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扩展：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部署形态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任务粒度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监控统计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Rectangles 248"/>
          <p:cNvSpPr/>
          <p:nvPr/>
        </p:nvSpPr>
        <p:spPr>
          <a:xfrm>
            <a:off x="5616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角色搭配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主体语言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辅助语言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补充语言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Rectangles 249"/>
          <p:cNvSpPr/>
          <p:nvPr/>
        </p:nvSpPr>
        <p:spPr>
          <a:xfrm>
            <a:off x="2808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基础业务封装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Rectangles 250"/>
          <p:cNvSpPr/>
          <p:nvPr/>
        </p:nvSpPr>
        <p:spPr>
          <a:xfrm>
            <a:off x="5256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底层系统封装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Rectangles 251"/>
          <p:cNvSpPr/>
          <p:nvPr/>
        </p:nvSpPr>
        <p:spPr>
          <a:xfrm>
            <a:off x="7596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基础运行封装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Rectangles 252"/>
          <p:cNvSpPr/>
          <p:nvPr/>
        </p:nvSpPr>
        <p:spPr>
          <a:xfrm>
            <a:off x="1188000" y="2736000"/>
            <a:ext cx="1979280" cy="287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紧邻交互层面：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python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Rectangles 253"/>
          <p:cNvSpPr/>
          <p:nvPr/>
        </p:nvSpPr>
        <p:spPr>
          <a:xfrm>
            <a:off x="1188000" y="2988000"/>
            <a:ext cx="1979280" cy="251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业务很偏交互：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JS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Rectangles 254"/>
          <p:cNvSpPr/>
          <p:nvPr/>
        </p:nvSpPr>
        <p:spPr>
          <a:xfrm>
            <a:off x="1188000" y="3240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正统业务层面：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Java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Rectangles 255"/>
          <p:cNvSpPr/>
          <p:nvPr/>
        </p:nvSpPr>
        <p:spPr>
          <a:xfrm>
            <a:off x="1188000" y="3456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业务稍偏系统：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go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Rectangles 256"/>
          <p:cNvSpPr/>
          <p:nvPr/>
        </p:nvSpPr>
        <p:spPr>
          <a:xfrm>
            <a:off x="1188000" y="3672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业务更偏系统：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rust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Rectangles 257"/>
          <p:cNvSpPr/>
          <p:nvPr/>
        </p:nvSpPr>
        <p:spPr>
          <a:xfrm>
            <a:off x="1188000" y="3888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紧邻系统层面：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C++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Rectangles 258"/>
          <p:cNvSpPr/>
          <p:nvPr/>
        </p:nvSpPr>
        <p:spPr>
          <a:xfrm>
            <a:off x="4500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处理依据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语言匹配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生命周期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代码规模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Rectangles 259"/>
          <p:cNvSpPr/>
          <p:nvPr/>
        </p:nvSpPr>
        <p:spPr>
          <a:xfrm>
            <a:off x="6696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存量基础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人员经验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所剩时间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现有代码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Rectangles 260"/>
          <p:cNvSpPr/>
          <p:nvPr/>
        </p:nvSpPr>
        <p:spPr>
          <a:xfrm>
            <a:off x="8568000" y="3240000"/>
            <a:ext cx="2880000" cy="36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整合：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类型管理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调度能力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语言配合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Rectangles 261"/>
          <p:cNvSpPr/>
          <p:nvPr/>
        </p:nvSpPr>
        <p:spPr>
          <a:xfrm>
            <a:off x="8568000" y="3672000"/>
            <a:ext cx="2880000" cy="36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基础：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资源治理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异常处理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性能优化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Rectangles 196"/>
          <p:cNvSpPr/>
          <p:nvPr/>
        </p:nvSpPr>
        <p:spPr>
          <a:xfrm>
            <a:off x="4166280" y="1108440"/>
            <a:ext cx="3790080" cy="4290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720" cy="57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高级语言概览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Rectangles 197"/>
          <p:cNvSpPr/>
          <p:nvPr/>
        </p:nvSpPr>
        <p:spPr>
          <a:xfrm>
            <a:off x="329400" y="646200"/>
            <a:ext cx="11489400" cy="4575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Rectangles 198"/>
          <p:cNvSpPr/>
          <p:nvPr/>
        </p:nvSpPr>
        <p:spPr>
          <a:xfrm>
            <a:off x="329040" y="5958360"/>
            <a:ext cx="11490120" cy="85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Rectangles 199"/>
          <p:cNvSpPr/>
          <p:nvPr/>
        </p:nvSpPr>
        <p:spPr>
          <a:xfrm>
            <a:off x="8409600" y="2004120"/>
            <a:ext cx="3215880" cy="2406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运行支撑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Rectangles 200"/>
          <p:cNvSpPr/>
          <p:nvPr/>
        </p:nvSpPr>
        <p:spPr>
          <a:xfrm>
            <a:off x="475200" y="2003400"/>
            <a:ext cx="3243240" cy="2417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业务语言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Rectangles 201"/>
          <p:cNvSpPr/>
          <p:nvPr/>
        </p:nvSpPr>
        <p:spPr>
          <a:xfrm>
            <a:off x="4313520" y="2700000"/>
            <a:ext cx="3463560" cy="1943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落地规划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Rectangles 202"/>
          <p:cNvSpPr/>
          <p:nvPr/>
        </p:nvSpPr>
        <p:spPr>
          <a:xfrm>
            <a:off x="4313520" y="1108440"/>
            <a:ext cx="3463200" cy="14108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语言封装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Rectangles 203"/>
          <p:cNvSpPr/>
          <p:nvPr/>
        </p:nvSpPr>
        <p:spPr>
          <a:xfrm>
            <a:off x="1892880" y="4748760"/>
            <a:ext cx="8326440" cy="1208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0" name="Rectangles 204"/>
          <p:cNvSpPr/>
          <p:nvPr/>
        </p:nvSpPr>
        <p:spPr>
          <a:xfrm>
            <a:off x="2054160" y="4851720"/>
            <a:ext cx="7981200" cy="1105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基础生态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Rectangles 205"/>
          <p:cNvSpPr/>
          <p:nvPr/>
        </p:nvSpPr>
        <p:spPr>
          <a:xfrm>
            <a:off x="555804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Rectangles 206"/>
          <p:cNvSpPr/>
          <p:nvPr/>
        </p:nvSpPr>
        <p:spPr>
          <a:xfrm>
            <a:off x="6711480" y="1838520"/>
            <a:ext cx="973080" cy="5454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13" name="Straight Arrow Connector 25"/>
          <p:cNvCxnSpPr/>
          <p:nvPr/>
        </p:nvCxnSpPr>
        <p:spPr>
          <a:xfrm>
            <a:off x="960120" y="4448520"/>
            <a:ext cx="1512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314" name="Straight Arrow Connector 26"/>
          <p:cNvCxnSpPr/>
          <p:nvPr/>
        </p:nvCxnSpPr>
        <p:spPr>
          <a:xfrm>
            <a:off x="11101680" y="4448520"/>
            <a:ext cx="1548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315" name="Straight Arrow Connector 27"/>
          <p:cNvCxnSpPr/>
          <p:nvPr/>
        </p:nvCxnSpPr>
        <p:spPr>
          <a:xfrm>
            <a:off x="3731760" y="320976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316" name="Straight Arrow Connector 28"/>
          <p:cNvCxnSpPr/>
          <p:nvPr/>
        </p:nvCxnSpPr>
        <p:spPr>
          <a:xfrm>
            <a:off x="7959600" y="319320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317" name="Rectangles 207"/>
          <p:cNvSpPr/>
          <p:nvPr/>
        </p:nvSpPr>
        <p:spPr>
          <a:xfrm>
            <a:off x="4177080" y="4712760"/>
            <a:ext cx="3779280" cy="993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8" name="Rectangles 208"/>
          <p:cNvSpPr/>
          <p:nvPr/>
        </p:nvSpPr>
        <p:spPr>
          <a:xfrm>
            <a:off x="269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Rectangles 209"/>
          <p:cNvSpPr/>
          <p:nvPr/>
        </p:nvSpPr>
        <p:spPr>
          <a:xfrm>
            <a:off x="73803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Rectangles 210"/>
          <p:cNvSpPr/>
          <p:nvPr/>
        </p:nvSpPr>
        <p:spPr>
          <a:xfrm>
            <a:off x="269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Rectangles 211"/>
          <p:cNvSpPr/>
          <p:nvPr/>
        </p:nvSpPr>
        <p:spPr>
          <a:xfrm>
            <a:off x="737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Rectangles 212"/>
          <p:cNvSpPr/>
          <p:nvPr/>
        </p:nvSpPr>
        <p:spPr>
          <a:xfrm>
            <a:off x="503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Rectangles 213"/>
          <p:cNvSpPr/>
          <p:nvPr/>
        </p:nvSpPr>
        <p:spPr>
          <a:xfrm>
            <a:off x="439308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词法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Rectangles 214"/>
          <p:cNvSpPr/>
          <p:nvPr/>
        </p:nvSpPr>
        <p:spPr>
          <a:xfrm>
            <a:off x="8484120" y="2808000"/>
            <a:ext cx="3035880" cy="36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补充扩展：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部署形态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任务粒度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信息统计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Rectangles 215"/>
          <p:cNvSpPr/>
          <p:nvPr/>
        </p:nvSpPr>
        <p:spPr>
          <a:xfrm>
            <a:off x="5616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角色搭配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主体语言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辅助语言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补充语言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Rectangles 216"/>
          <p:cNvSpPr/>
          <p:nvPr/>
        </p:nvSpPr>
        <p:spPr>
          <a:xfrm>
            <a:off x="2808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基础业务封装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Rectangles 217"/>
          <p:cNvSpPr/>
          <p:nvPr/>
        </p:nvSpPr>
        <p:spPr>
          <a:xfrm>
            <a:off x="5256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底层系统封装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Rectangles 218"/>
          <p:cNvSpPr/>
          <p:nvPr/>
        </p:nvSpPr>
        <p:spPr>
          <a:xfrm>
            <a:off x="7596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基础运行封装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Rectangles 219"/>
          <p:cNvSpPr/>
          <p:nvPr/>
        </p:nvSpPr>
        <p:spPr>
          <a:xfrm>
            <a:off x="1188000" y="2736000"/>
            <a:ext cx="1979280" cy="287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紧邻交互层面：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python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Rectangles 220"/>
          <p:cNvSpPr/>
          <p:nvPr/>
        </p:nvSpPr>
        <p:spPr>
          <a:xfrm>
            <a:off x="1188000" y="2988000"/>
            <a:ext cx="1979280" cy="251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业务很偏交互：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JS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Rectangles 221"/>
          <p:cNvSpPr/>
          <p:nvPr/>
        </p:nvSpPr>
        <p:spPr>
          <a:xfrm>
            <a:off x="1188000" y="3240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正统业务层面：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Java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Rectangles 222"/>
          <p:cNvSpPr/>
          <p:nvPr/>
        </p:nvSpPr>
        <p:spPr>
          <a:xfrm>
            <a:off x="1188000" y="3456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业务稍偏系统：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go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Rectangles 223"/>
          <p:cNvSpPr/>
          <p:nvPr/>
        </p:nvSpPr>
        <p:spPr>
          <a:xfrm>
            <a:off x="1188000" y="3672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业务更偏系统：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rust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Rectangles 224"/>
          <p:cNvSpPr/>
          <p:nvPr/>
        </p:nvSpPr>
        <p:spPr>
          <a:xfrm>
            <a:off x="1188000" y="3888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紧邻系统层面：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C++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Rectangles 225"/>
          <p:cNvSpPr/>
          <p:nvPr/>
        </p:nvSpPr>
        <p:spPr>
          <a:xfrm>
            <a:off x="4500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处理依据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语言匹配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生命周期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代码规模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Rectangles 226"/>
          <p:cNvSpPr/>
          <p:nvPr/>
        </p:nvSpPr>
        <p:spPr>
          <a:xfrm>
            <a:off x="6696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存量基础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人员经验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所剩时间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现有代码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Rectangles 227"/>
          <p:cNvSpPr/>
          <p:nvPr/>
        </p:nvSpPr>
        <p:spPr>
          <a:xfrm>
            <a:off x="8484120" y="3240000"/>
            <a:ext cx="3035880" cy="36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必要整合：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类型管理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调度能力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语言配合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Rectangles 228"/>
          <p:cNvSpPr/>
          <p:nvPr/>
        </p:nvSpPr>
        <p:spPr>
          <a:xfrm>
            <a:off x="8484120" y="3672000"/>
            <a:ext cx="3035880" cy="36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完善基础：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资源治理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异常处理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性能优化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Rectangles 68"/>
          <p:cNvSpPr/>
          <p:nvPr/>
        </p:nvSpPr>
        <p:spPr>
          <a:xfrm>
            <a:off x="4166280" y="1108440"/>
            <a:ext cx="3790080" cy="4290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720" cy="57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高级语言概览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Rectangles 78"/>
          <p:cNvSpPr/>
          <p:nvPr/>
        </p:nvSpPr>
        <p:spPr>
          <a:xfrm>
            <a:off x="329400" y="646200"/>
            <a:ext cx="11489400" cy="4575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Rectangles 165"/>
          <p:cNvSpPr/>
          <p:nvPr/>
        </p:nvSpPr>
        <p:spPr>
          <a:xfrm>
            <a:off x="329040" y="5958360"/>
            <a:ext cx="11490120" cy="85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Rectangles 166"/>
          <p:cNvSpPr/>
          <p:nvPr/>
        </p:nvSpPr>
        <p:spPr>
          <a:xfrm>
            <a:off x="8409600" y="2004120"/>
            <a:ext cx="3215880" cy="2406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运行使用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Rectangles 167"/>
          <p:cNvSpPr/>
          <p:nvPr/>
        </p:nvSpPr>
        <p:spPr>
          <a:xfrm>
            <a:off x="475200" y="2003400"/>
            <a:ext cx="3243240" cy="2417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业务语言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Rectangles 168"/>
          <p:cNvSpPr/>
          <p:nvPr/>
        </p:nvSpPr>
        <p:spPr>
          <a:xfrm>
            <a:off x="4313520" y="2700000"/>
            <a:ext cx="3463560" cy="1943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落地规划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Rectangles 169"/>
          <p:cNvSpPr/>
          <p:nvPr/>
        </p:nvSpPr>
        <p:spPr>
          <a:xfrm>
            <a:off x="4313520" y="1108440"/>
            <a:ext cx="3463200" cy="14108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语言封装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Rectangles 170"/>
          <p:cNvSpPr/>
          <p:nvPr/>
        </p:nvSpPr>
        <p:spPr>
          <a:xfrm>
            <a:off x="1892880" y="4748760"/>
            <a:ext cx="8326440" cy="1208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48" name="Rectangles 171"/>
          <p:cNvSpPr/>
          <p:nvPr/>
        </p:nvSpPr>
        <p:spPr>
          <a:xfrm>
            <a:off x="2054160" y="4851720"/>
            <a:ext cx="7981200" cy="1105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基础生态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Rectangles 172"/>
          <p:cNvSpPr/>
          <p:nvPr/>
        </p:nvSpPr>
        <p:spPr>
          <a:xfrm>
            <a:off x="555804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Rectangles 173"/>
          <p:cNvSpPr/>
          <p:nvPr/>
        </p:nvSpPr>
        <p:spPr>
          <a:xfrm>
            <a:off x="6711480" y="1838520"/>
            <a:ext cx="973080" cy="5454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51" name="Straight Arrow Connector 21"/>
          <p:cNvCxnSpPr/>
          <p:nvPr/>
        </p:nvCxnSpPr>
        <p:spPr>
          <a:xfrm>
            <a:off x="960120" y="4448520"/>
            <a:ext cx="1512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352" name="Straight Arrow Connector 22"/>
          <p:cNvCxnSpPr/>
          <p:nvPr/>
        </p:nvCxnSpPr>
        <p:spPr>
          <a:xfrm>
            <a:off x="11101680" y="4448520"/>
            <a:ext cx="1548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353" name="Straight Arrow Connector 23"/>
          <p:cNvCxnSpPr/>
          <p:nvPr/>
        </p:nvCxnSpPr>
        <p:spPr>
          <a:xfrm>
            <a:off x="3731760" y="320976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354" name="Straight Arrow Connector 24"/>
          <p:cNvCxnSpPr/>
          <p:nvPr/>
        </p:nvCxnSpPr>
        <p:spPr>
          <a:xfrm>
            <a:off x="7959600" y="319320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355" name="Rectangles 174"/>
          <p:cNvSpPr/>
          <p:nvPr/>
        </p:nvSpPr>
        <p:spPr>
          <a:xfrm>
            <a:off x="4177080" y="4712760"/>
            <a:ext cx="3779280" cy="993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56" name="Rectangles 175"/>
          <p:cNvSpPr/>
          <p:nvPr/>
        </p:nvSpPr>
        <p:spPr>
          <a:xfrm>
            <a:off x="269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Rectangles 176"/>
          <p:cNvSpPr/>
          <p:nvPr/>
        </p:nvSpPr>
        <p:spPr>
          <a:xfrm>
            <a:off x="73803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Rectangles 177"/>
          <p:cNvSpPr/>
          <p:nvPr/>
        </p:nvSpPr>
        <p:spPr>
          <a:xfrm>
            <a:off x="269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Rectangles 178"/>
          <p:cNvSpPr/>
          <p:nvPr/>
        </p:nvSpPr>
        <p:spPr>
          <a:xfrm>
            <a:off x="737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Rectangles 179"/>
          <p:cNvSpPr/>
          <p:nvPr/>
        </p:nvSpPr>
        <p:spPr>
          <a:xfrm>
            <a:off x="503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Rectangles 180"/>
          <p:cNvSpPr/>
          <p:nvPr/>
        </p:nvSpPr>
        <p:spPr>
          <a:xfrm>
            <a:off x="439308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词法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Rectangles 181"/>
          <p:cNvSpPr/>
          <p:nvPr/>
        </p:nvSpPr>
        <p:spPr>
          <a:xfrm>
            <a:off x="8484120" y="2808000"/>
            <a:ext cx="3035880" cy="36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补充扩展：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部署形态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任务粒度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信息统计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Rectangles 182"/>
          <p:cNvSpPr/>
          <p:nvPr/>
        </p:nvSpPr>
        <p:spPr>
          <a:xfrm>
            <a:off x="5616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角色搭配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主体语言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辅助语言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补充语言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Rectangles 183"/>
          <p:cNvSpPr/>
          <p:nvPr/>
        </p:nvSpPr>
        <p:spPr>
          <a:xfrm>
            <a:off x="2808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基础业务封装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Rectangles 184"/>
          <p:cNvSpPr/>
          <p:nvPr/>
        </p:nvSpPr>
        <p:spPr>
          <a:xfrm>
            <a:off x="5256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底层系统封装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Rectangles 185"/>
          <p:cNvSpPr/>
          <p:nvPr/>
        </p:nvSpPr>
        <p:spPr>
          <a:xfrm>
            <a:off x="7596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基础运行封装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Rectangles 186"/>
          <p:cNvSpPr/>
          <p:nvPr/>
        </p:nvSpPr>
        <p:spPr>
          <a:xfrm>
            <a:off x="1188000" y="2736000"/>
            <a:ext cx="1979280" cy="287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紧邻交互层面：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python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Rectangles 187"/>
          <p:cNvSpPr/>
          <p:nvPr/>
        </p:nvSpPr>
        <p:spPr>
          <a:xfrm>
            <a:off x="1188000" y="2988000"/>
            <a:ext cx="1979280" cy="251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业务很偏交互：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JS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Rectangles 188"/>
          <p:cNvSpPr/>
          <p:nvPr/>
        </p:nvSpPr>
        <p:spPr>
          <a:xfrm>
            <a:off x="1188000" y="3240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正统业务层面：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Java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Rectangles 189"/>
          <p:cNvSpPr/>
          <p:nvPr/>
        </p:nvSpPr>
        <p:spPr>
          <a:xfrm>
            <a:off x="1188000" y="3456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业务稍偏系统：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go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Rectangles 190"/>
          <p:cNvSpPr/>
          <p:nvPr/>
        </p:nvSpPr>
        <p:spPr>
          <a:xfrm>
            <a:off x="1188000" y="3672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业务更偏系统：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rust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Rectangles 191"/>
          <p:cNvSpPr/>
          <p:nvPr/>
        </p:nvSpPr>
        <p:spPr>
          <a:xfrm>
            <a:off x="1188000" y="3888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紧邻系统层面：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C++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Rectangles 192"/>
          <p:cNvSpPr/>
          <p:nvPr/>
        </p:nvSpPr>
        <p:spPr>
          <a:xfrm>
            <a:off x="4500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处理依据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语言匹配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生命周期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代码规模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Rectangles 193"/>
          <p:cNvSpPr/>
          <p:nvPr/>
        </p:nvSpPr>
        <p:spPr>
          <a:xfrm>
            <a:off x="6696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存量基础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人员经验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所剩时间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现有代码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Rectangles 194"/>
          <p:cNvSpPr/>
          <p:nvPr/>
        </p:nvSpPr>
        <p:spPr>
          <a:xfrm>
            <a:off x="8484120" y="3240000"/>
            <a:ext cx="3035880" cy="36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必要整合：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类型管理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调度能力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语言配合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Rectangles 195"/>
          <p:cNvSpPr/>
          <p:nvPr/>
        </p:nvSpPr>
        <p:spPr>
          <a:xfrm>
            <a:off x="8484120" y="3672000"/>
            <a:ext cx="3035880" cy="3600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  <a:ea typeface="Noto Sans CJK SC"/>
              </a:rPr>
              <a:t>完善基础：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资源治理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异常处理</a:t>
            </a:r>
            <a:r>
              <a:rPr b="1" lang="en-US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/</a:t>
            </a:r>
            <a:r>
              <a:rPr b="1" lang="zh-CN" sz="1200" spc="-1" strike="noStrike">
                <a:solidFill>
                  <a:srgbClr val="333333"/>
                </a:solidFill>
                <a:latin typeface="Arial"/>
                <a:ea typeface="Noto Sans CJK SC"/>
              </a:rPr>
              <a:t>性能优化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Rectangles 132"/>
          <p:cNvSpPr/>
          <p:nvPr/>
        </p:nvSpPr>
        <p:spPr>
          <a:xfrm>
            <a:off x="4166280" y="1108440"/>
            <a:ext cx="3790080" cy="4290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720" cy="57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高级语言概览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Rectangles 133"/>
          <p:cNvSpPr/>
          <p:nvPr/>
        </p:nvSpPr>
        <p:spPr>
          <a:xfrm>
            <a:off x="329400" y="646200"/>
            <a:ext cx="11489400" cy="4575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Rectangles 134"/>
          <p:cNvSpPr/>
          <p:nvPr/>
        </p:nvSpPr>
        <p:spPr>
          <a:xfrm>
            <a:off x="329040" y="5958360"/>
            <a:ext cx="11490120" cy="85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Rectangles 135"/>
          <p:cNvSpPr/>
          <p:nvPr/>
        </p:nvSpPr>
        <p:spPr>
          <a:xfrm>
            <a:off x="489600" y="2004120"/>
            <a:ext cx="3215880" cy="2406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环境支撑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Rectangles 136"/>
          <p:cNvSpPr/>
          <p:nvPr/>
        </p:nvSpPr>
        <p:spPr>
          <a:xfrm>
            <a:off x="8395200" y="2003400"/>
            <a:ext cx="3243240" cy="2417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业务能力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Rectangles 137"/>
          <p:cNvSpPr/>
          <p:nvPr/>
        </p:nvSpPr>
        <p:spPr>
          <a:xfrm>
            <a:off x="4313520" y="2700000"/>
            <a:ext cx="3463560" cy="1943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落地规划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调度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Rectangles 138"/>
          <p:cNvSpPr/>
          <p:nvPr/>
        </p:nvSpPr>
        <p:spPr>
          <a:xfrm>
            <a:off x="4313520" y="1108440"/>
            <a:ext cx="3463200" cy="14108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语言封装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（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SDK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）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Rectangles 139"/>
          <p:cNvSpPr/>
          <p:nvPr/>
        </p:nvSpPr>
        <p:spPr>
          <a:xfrm>
            <a:off x="1892880" y="4748760"/>
            <a:ext cx="8326440" cy="1208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86" name="Rectangles 140"/>
          <p:cNvSpPr/>
          <p:nvPr/>
        </p:nvSpPr>
        <p:spPr>
          <a:xfrm>
            <a:off x="2054160" y="4851720"/>
            <a:ext cx="7981200" cy="1105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基础生态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Rectangles 141"/>
          <p:cNvSpPr/>
          <p:nvPr/>
        </p:nvSpPr>
        <p:spPr>
          <a:xfrm>
            <a:off x="602640" y="2993040"/>
            <a:ext cx="899280" cy="966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</a:rPr>
              <a:t>必要补充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性能优化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资源回收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异常处理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Rectangles 142"/>
          <p:cNvSpPr/>
          <p:nvPr/>
        </p:nvSpPr>
        <p:spPr>
          <a:xfrm>
            <a:off x="555804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Rectangles 143"/>
          <p:cNvSpPr/>
          <p:nvPr/>
        </p:nvSpPr>
        <p:spPr>
          <a:xfrm>
            <a:off x="6711480" y="1838520"/>
            <a:ext cx="973080" cy="5454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90" name="Straight Arrow Connector 17"/>
          <p:cNvCxnSpPr/>
          <p:nvPr/>
        </p:nvCxnSpPr>
        <p:spPr>
          <a:xfrm>
            <a:off x="960120" y="4448520"/>
            <a:ext cx="1512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391" name="Straight Arrow Connector 18"/>
          <p:cNvCxnSpPr/>
          <p:nvPr/>
        </p:nvCxnSpPr>
        <p:spPr>
          <a:xfrm>
            <a:off x="11101680" y="4448520"/>
            <a:ext cx="1548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392" name="Straight Arrow Connector 19"/>
          <p:cNvCxnSpPr/>
          <p:nvPr/>
        </p:nvCxnSpPr>
        <p:spPr>
          <a:xfrm>
            <a:off x="3731760" y="320976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393" name="Straight Arrow Connector 20"/>
          <p:cNvCxnSpPr/>
          <p:nvPr/>
        </p:nvCxnSpPr>
        <p:spPr>
          <a:xfrm>
            <a:off x="7959600" y="319320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394" name="Rectangles 144"/>
          <p:cNvSpPr/>
          <p:nvPr/>
        </p:nvSpPr>
        <p:spPr>
          <a:xfrm>
            <a:off x="4177080" y="4712760"/>
            <a:ext cx="3779280" cy="993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95" name="Rectangles 145"/>
          <p:cNvSpPr/>
          <p:nvPr/>
        </p:nvSpPr>
        <p:spPr>
          <a:xfrm>
            <a:off x="269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Rectangles 146"/>
          <p:cNvSpPr/>
          <p:nvPr/>
        </p:nvSpPr>
        <p:spPr>
          <a:xfrm>
            <a:off x="73803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Rectangles 147"/>
          <p:cNvSpPr/>
          <p:nvPr/>
        </p:nvSpPr>
        <p:spPr>
          <a:xfrm>
            <a:off x="269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Rectangles 148"/>
          <p:cNvSpPr/>
          <p:nvPr/>
        </p:nvSpPr>
        <p:spPr>
          <a:xfrm>
            <a:off x="737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Rectangles 149"/>
          <p:cNvSpPr/>
          <p:nvPr/>
        </p:nvSpPr>
        <p:spPr>
          <a:xfrm>
            <a:off x="503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Rectangles 150"/>
          <p:cNvSpPr/>
          <p:nvPr/>
        </p:nvSpPr>
        <p:spPr>
          <a:xfrm>
            <a:off x="439308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词法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Rectangles 151"/>
          <p:cNvSpPr/>
          <p:nvPr/>
        </p:nvSpPr>
        <p:spPr>
          <a:xfrm>
            <a:off x="1656000" y="2993040"/>
            <a:ext cx="899280" cy="966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</a:rPr>
              <a:t>集成完善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调度能力语言整合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类型保真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Rectangles 152"/>
          <p:cNvSpPr/>
          <p:nvPr/>
        </p:nvSpPr>
        <p:spPr>
          <a:xfrm>
            <a:off x="2700000" y="2993040"/>
            <a:ext cx="899280" cy="966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</a:rPr>
              <a:t>辅助新增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任务粒度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部署形态资源统计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Rectangles 153"/>
          <p:cNvSpPr/>
          <p:nvPr/>
        </p:nvSpPr>
        <p:spPr>
          <a:xfrm>
            <a:off x="5616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角色搭配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主体语言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辅助语言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补充语言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Rectangles 154"/>
          <p:cNvSpPr/>
          <p:nvPr/>
        </p:nvSpPr>
        <p:spPr>
          <a:xfrm>
            <a:off x="2808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基础环境封装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Rectangles 155"/>
          <p:cNvSpPr/>
          <p:nvPr/>
        </p:nvSpPr>
        <p:spPr>
          <a:xfrm>
            <a:off x="5256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底层系统封装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Rectangles 156"/>
          <p:cNvSpPr/>
          <p:nvPr/>
        </p:nvSpPr>
        <p:spPr>
          <a:xfrm>
            <a:off x="7596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基础业务封装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Rectangles 157"/>
          <p:cNvSpPr/>
          <p:nvPr/>
        </p:nvSpPr>
        <p:spPr>
          <a:xfrm>
            <a:off x="9108000" y="2736000"/>
            <a:ext cx="1979280" cy="287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紧邻交互层面：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python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Rectangles 158"/>
          <p:cNvSpPr/>
          <p:nvPr/>
        </p:nvSpPr>
        <p:spPr>
          <a:xfrm>
            <a:off x="9108000" y="2988000"/>
            <a:ext cx="1979280" cy="251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业务很偏交互：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JS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Rectangles 159"/>
          <p:cNvSpPr/>
          <p:nvPr/>
        </p:nvSpPr>
        <p:spPr>
          <a:xfrm>
            <a:off x="9108000" y="3240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正统业务层面：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Java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Rectangles 160"/>
          <p:cNvSpPr/>
          <p:nvPr/>
        </p:nvSpPr>
        <p:spPr>
          <a:xfrm>
            <a:off x="9108000" y="3456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业务稍偏系统：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go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Rectangles 161"/>
          <p:cNvSpPr/>
          <p:nvPr/>
        </p:nvSpPr>
        <p:spPr>
          <a:xfrm>
            <a:off x="9108000" y="3672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业务更偏系统：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rust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Rectangles 162"/>
          <p:cNvSpPr/>
          <p:nvPr/>
        </p:nvSpPr>
        <p:spPr>
          <a:xfrm>
            <a:off x="9108000" y="3888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紧邻系统层面：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C++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Rectangles 163"/>
          <p:cNvSpPr/>
          <p:nvPr/>
        </p:nvSpPr>
        <p:spPr>
          <a:xfrm>
            <a:off x="6732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处理依据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语言匹配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生命周期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代码规模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Rectangles 164"/>
          <p:cNvSpPr/>
          <p:nvPr/>
        </p:nvSpPr>
        <p:spPr>
          <a:xfrm>
            <a:off x="4464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存量基础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人员经验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所剩时间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现有代码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Rectangles 99"/>
          <p:cNvSpPr/>
          <p:nvPr/>
        </p:nvSpPr>
        <p:spPr>
          <a:xfrm>
            <a:off x="4166280" y="1108440"/>
            <a:ext cx="3790080" cy="4290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720" cy="57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高级语言概览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Rectangles 100"/>
          <p:cNvSpPr/>
          <p:nvPr/>
        </p:nvSpPr>
        <p:spPr>
          <a:xfrm>
            <a:off x="329400" y="646200"/>
            <a:ext cx="11489400" cy="4575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Rectangles 101"/>
          <p:cNvSpPr/>
          <p:nvPr/>
        </p:nvSpPr>
        <p:spPr>
          <a:xfrm>
            <a:off x="329040" y="5958360"/>
            <a:ext cx="11490120" cy="85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Rectangles 102"/>
          <p:cNvSpPr/>
          <p:nvPr/>
        </p:nvSpPr>
        <p:spPr>
          <a:xfrm>
            <a:off x="489600" y="2004120"/>
            <a:ext cx="3215880" cy="2406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资源整合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Rectangles 103"/>
          <p:cNvSpPr/>
          <p:nvPr/>
        </p:nvSpPr>
        <p:spPr>
          <a:xfrm>
            <a:off x="8395200" y="2003400"/>
            <a:ext cx="3243240" cy="2417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业务能力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Rectangles 104"/>
          <p:cNvSpPr/>
          <p:nvPr/>
        </p:nvSpPr>
        <p:spPr>
          <a:xfrm>
            <a:off x="4313520" y="2700000"/>
            <a:ext cx="3463560" cy="1943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落地规划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调度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Rectangles 105"/>
          <p:cNvSpPr/>
          <p:nvPr/>
        </p:nvSpPr>
        <p:spPr>
          <a:xfrm>
            <a:off x="4313520" y="1108440"/>
            <a:ext cx="3463200" cy="14108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语言封装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（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SDK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）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Rectangles 106"/>
          <p:cNvSpPr/>
          <p:nvPr/>
        </p:nvSpPr>
        <p:spPr>
          <a:xfrm>
            <a:off x="1892880" y="4748760"/>
            <a:ext cx="8326440" cy="1208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24" name="Rectangles 107"/>
          <p:cNvSpPr/>
          <p:nvPr/>
        </p:nvSpPr>
        <p:spPr>
          <a:xfrm>
            <a:off x="2054160" y="4851720"/>
            <a:ext cx="7981200" cy="1105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基础生态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Rectangles 108"/>
          <p:cNvSpPr/>
          <p:nvPr/>
        </p:nvSpPr>
        <p:spPr>
          <a:xfrm>
            <a:off x="602640" y="2993040"/>
            <a:ext cx="899280" cy="966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</a:rPr>
              <a:t>性能优化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</a:rPr>
              <a:t>资源回收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</a:rPr>
              <a:t>类型保真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Rectangles 109"/>
          <p:cNvSpPr/>
          <p:nvPr/>
        </p:nvSpPr>
        <p:spPr>
          <a:xfrm>
            <a:off x="555804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Rectangles 110"/>
          <p:cNvSpPr/>
          <p:nvPr/>
        </p:nvSpPr>
        <p:spPr>
          <a:xfrm>
            <a:off x="6711480" y="1838520"/>
            <a:ext cx="973080" cy="5454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28" name="Straight Arrow Connector 13"/>
          <p:cNvCxnSpPr/>
          <p:nvPr/>
        </p:nvCxnSpPr>
        <p:spPr>
          <a:xfrm>
            <a:off x="960120" y="4448520"/>
            <a:ext cx="1512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429" name="Straight Arrow Connector 14"/>
          <p:cNvCxnSpPr/>
          <p:nvPr/>
        </p:nvCxnSpPr>
        <p:spPr>
          <a:xfrm>
            <a:off x="11101680" y="4448520"/>
            <a:ext cx="1548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430" name="Straight Arrow Connector 15"/>
          <p:cNvCxnSpPr/>
          <p:nvPr/>
        </p:nvCxnSpPr>
        <p:spPr>
          <a:xfrm>
            <a:off x="3731760" y="320976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431" name="Straight Arrow Connector 16"/>
          <p:cNvCxnSpPr/>
          <p:nvPr/>
        </p:nvCxnSpPr>
        <p:spPr>
          <a:xfrm>
            <a:off x="7959600" y="319320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432" name="Rectangles 111"/>
          <p:cNvSpPr/>
          <p:nvPr/>
        </p:nvSpPr>
        <p:spPr>
          <a:xfrm>
            <a:off x="4177080" y="4712760"/>
            <a:ext cx="3779280" cy="993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33" name="Rectangles 112"/>
          <p:cNvSpPr/>
          <p:nvPr/>
        </p:nvSpPr>
        <p:spPr>
          <a:xfrm>
            <a:off x="269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Rectangles 113"/>
          <p:cNvSpPr/>
          <p:nvPr/>
        </p:nvSpPr>
        <p:spPr>
          <a:xfrm>
            <a:off x="73803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Rectangles 114"/>
          <p:cNvSpPr/>
          <p:nvPr/>
        </p:nvSpPr>
        <p:spPr>
          <a:xfrm>
            <a:off x="269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Rectangles 115"/>
          <p:cNvSpPr/>
          <p:nvPr/>
        </p:nvSpPr>
        <p:spPr>
          <a:xfrm>
            <a:off x="737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Rectangles 116"/>
          <p:cNvSpPr/>
          <p:nvPr/>
        </p:nvSpPr>
        <p:spPr>
          <a:xfrm>
            <a:off x="503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Rectangles 117"/>
          <p:cNvSpPr/>
          <p:nvPr/>
        </p:nvSpPr>
        <p:spPr>
          <a:xfrm>
            <a:off x="439308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词法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Rectangles 118"/>
          <p:cNvSpPr/>
          <p:nvPr/>
        </p:nvSpPr>
        <p:spPr>
          <a:xfrm>
            <a:off x="1656000" y="2993040"/>
            <a:ext cx="899280" cy="966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</a:rPr>
              <a:t>调度能力模块整合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</a:rPr>
              <a:t>异常处理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Rectangles 119"/>
          <p:cNvSpPr/>
          <p:nvPr/>
        </p:nvSpPr>
        <p:spPr>
          <a:xfrm>
            <a:off x="2700000" y="2993040"/>
            <a:ext cx="899280" cy="966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</a:rPr>
              <a:t>任务粒度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000000"/>
                </a:solidFill>
                <a:latin typeface="Arial"/>
              </a:rPr>
              <a:t>部署形态资源统计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Rectangles 120"/>
          <p:cNvSpPr/>
          <p:nvPr/>
        </p:nvSpPr>
        <p:spPr>
          <a:xfrm>
            <a:off x="5616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角色搭配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主体语言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辅助语言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补充语言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Rectangles 121"/>
          <p:cNvSpPr/>
          <p:nvPr/>
        </p:nvSpPr>
        <p:spPr>
          <a:xfrm>
            <a:off x="2808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基础资源封装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Rectangles 122"/>
          <p:cNvSpPr/>
          <p:nvPr/>
        </p:nvSpPr>
        <p:spPr>
          <a:xfrm>
            <a:off x="5256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底层系统封装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Rectangles 123"/>
          <p:cNvSpPr/>
          <p:nvPr/>
        </p:nvSpPr>
        <p:spPr>
          <a:xfrm>
            <a:off x="7596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基础业务封装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Rectangles 124"/>
          <p:cNvSpPr/>
          <p:nvPr/>
        </p:nvSpPr>
        <p:spPr>
          <a:xfrm>
            <a:off x="9108000" y="2736000"/>
            <a:ext cx="1979280" cy="287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紧邻交互层面：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python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Rectangles 125"/>
          <p:cNvSpPr/>
          <p:nvPr/>
        </p:nvSpPr>
        <p:spPr>
          <a:xfrm>
            <a:off x="9108000" y="2988000"/>
            <a:ext cx="1979280" cy="251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业务很偏交互：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JS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Rectangles 126"/>
          <p:cNvSpPr/>
          <p:nvPr/>
        </p:nvSpPr>
        <p:spPr>
          <a:xfrm>
            <a:off x="9108000" y="3240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正统业务层面：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Java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Rectangles 127"/>
          <p:cNvSpPr/>
          <p:nvPr/>
        </p:nvSpPr>
        <p:spPr>
          <a:xfrm>
            <a:off x="9108000" y="3456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业务稍偏系统：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go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Rectangles 128"/>
          <p:cNvSpPr/>
          <p:nvPr/>
        </p:nvSpPr>
        <p:spPr>
          <a:xfrm>
            <a:off x="9108000" y="3672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业务更偏系统：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rust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Rectangles 129"/>
          <p:cNvSpPr/>
          <p:nvPr/>
        </p:nvSpPr>
        <p:spPr>
          <a:xfrm>
            <a:off x="9108000" y="3888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紧邻系统层面：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C++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Rectangles 130"/>
          <p:cNvSpPr/>
          <p:nvPr/>
        </p:nvSpPr>
        <p:spPr>
          <a:xfrm>
            <a:off x="6732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处理依据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语言匹配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生命周期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代码规模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Rectangles 131"/>
          <p:cNvSpPr/>
          <p:nvPr/>
        </p:nvSpPr>
        <p:spPr>
          <a:xfrm>
            <a:off x="4464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存量基础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人员经验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所剩时间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现有代码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s 33"/>
          <p:cNvSpPr/>
          <p:nvPr/>
        </p:nvSpPr>
        <p:spPr>
          <a:xfrm>
            <a:off x="4166280" y="1108440"/>
            <a:ext cx="3790080" cy="4290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720" cy="57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高级语言概览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Rectangles 34"/>
          <p:cNvSpPr/>
          <p:nvPr/>
        </p:nvSpPr>
        <p:spPr>
          <a:xfrm>
            <a:off x="329400" y="646200"/>
            <a:ext cx="11489400" cy="4575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Rectangles 35"/>
          <p:cNvSpPr/>
          <p:nvPr/>
        </p:nvSpPr>
        <p:spPr>
          <a:xfrm>
            <a:off x="329040" y="5958360"/>
            <a:ext cx="11490120" cy="8557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Rectangles 36"/>
          <p:cNvSpPr/>
          <p:nvPr/>
        </p:nvSpPr>
        <p:spPr>
          <a:xfrm>
            <a:off x="489600" y="2004120"/>
            <a:ext cx="3215880" cy="2406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资源整合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Rectangles 37"/>
          <p:cNvSpPr/>
          <p:nvPr/>
        </p:nvSpPr>
        <p:spPr>
          <a:xfrm>
            <a:off x="8395200" y="2003400"/>
            <a:ext cx="3243240" cy="24170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业务能力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5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Rectangles 38"/>
          <p:cNvSpPr/>
          <p:nvPr/>
        </p:nvSpPr>
        <p:spPr>
          <a:xfrm>
            <a:off x="4313520" y="2700000"/>
            <a:ext cx="3463560" cy="1943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落地规划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调度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Rectangles 39"/>
          <p:cNvSpPr/>
          <p:nvPr/>
        </p:nvSpPr>
        <p:spPr>
          <a:xfrm>
            <a:off x="4313520" y="1108440"/>
            <a:ext cx="3463200" cy="14108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语言封装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（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SDK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）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Rectangles 40"/>
          <p:cNvSpPr/>
          <p:nvPr/>
        </p:nvSpPr>
        <p:spPr>
          <a:xfrm>
            <a:off x="1892880" y="4748760"/>
            <a:ext cx="8326440" cy="12088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62" name="Rectangles 41"/>
          <p:cNvSpPr/>
          <p:nvPr/>
        </p:nvSpPr>
        <p:spPr>
          <a:xfrm>
            <a:off x="2054160" y="4851720"/>
            <a:ext cx="7981200" cy="1105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基础生态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计算</a:t>
            </a:r>
            <a:r>
              <a:rPr b="1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Rectangles 42"/>
          <p:cNvSpPr/>
          <p:nvPr/>
        </p:nvSpPr>
        <p:spPr>
          <a:xfrm>
            <a:off x="612000" y="2993040"/>
            <a:ext cx="899280" cy="966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性能优化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调度能力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任务粒度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Rectangles 43"/>
          <p:cNvSpPr/>
          <p:nvPr/>
        </p:nvSpPr>
        <p:spPr>
          <a:xfrm>
            <a:off x="555804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Rectangles 44"/>
          <p:cNvSpPr/>
          <p:nvPr/>
        </p:nvSpPr>
        <p:spPr>
          <a:xfrm>
            <a:off x="6711480" y="1838520"/>
            <a:ext cx="973080" cy="5454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语句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66" name="Straight Arrow Connector 9"/>
          <p:cNvCxnSpPr/>
          <p:nvPr/>
        </p:nvCxnSpPr>
        <p:spPr>
          <a:xfrm>
            <a:off x="960120" y="4448520"/>
            <a:ext cx="1512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467" name="Straight Arrow Connector 10"/>
          <p:cNvCxnSpPr/>
          <p:nvPr/>
        </p:nvCxnSpPr>
        <p:spPr>
          <a:xfrm>
            <a:off x="11101680" y="4448520"/>
            <a:ext cx="15480" cy="149508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468" name="Straight Arrow Connector 11"/>
          <p:cNvCxnSpPr/>
          <p:nvPr/>
        </p:nvCxnSpPr>
        <p:spPr>
          <a:xfrm>
            <a:off x="3731760" y="320976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469" name="Straight Arrow Connector 12"/>
          <p:cNvCxnSpPr/>
          <p:nvPr/>
        </p:nvCxnSpPr>
        <p:spPr>
          <a:xfrm>
            <a:off x="7959600" y="3193200"/>
            <a:ext cx="451080" cy="8640"/>
          </a:xfrm>
          <a:prstGeom prst="straightConnector1">
            <a:avLst/>
          </a:prstGeom>
          <a:ln w="28575">
            <a:solidFill>
              <a:srgbClr val="a6a6a6"/>
            </a:solidFill>
            <a:round/>
            <a:headEnd len="med" type="arrow" w="med"/>
            <a:tailEnd len="med" type="arrow" w="med"/>
          </a:ln>
        </p:spPr>
      </p:cxnSp>
      <p:sp>
        <p:nvSpPr>
          <p:cNvPr id="470" name="Rectangles 45"/>
          <p:cNvSpPr/>
          <p:nvPr/>
        </p:nvSpPr>
        <p:spPr>
          <a:xfrm>
            <a:off x="4177080" y="4712760"/>
            <a:ext cx="3779280" cy="993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3729d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71" name="Rectangles 46"/>
          <p:cNvSpPr/>
          <p:nvPr/>
        </p:nvSpPr>
        <p:spPr>
          <a:xfrm>
            <a:off x="269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Rectangles 47"/>
          <p:cNvSpPr/>
          <p:nvPr/>
        </p:nvSpPr>
        <p:spPr>
          <a:xfrm>
            <a:off x="73803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Rectangles 48"/>
          <p:cNvSpPr/>
          <p:nvPr/>
        </p:nvSpPr>
        <p:spPr>
          <a:xfrm>
            <a:off x="269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Rectangles 49"/>
          <p:cNvSpPr/>
          <p:nvPr/>
        </p:nvSpPr>
        <p:spPr>
          <a:xfrm>
            <a:off x="7378560" y="6446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Rectangles 50"/>
          <p:cNvSpPr/>
          <p:nvPr/>
        </p:nvSpPr>
        <p:spPr>
          <a:xfrm>
            <a:off x="5038560" y="5978520"/>
            <a:ext cx="1871280" cy="35496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Rectangles 51"/>
          <p:cNvSpPr/>
          <p:nvPr/>
        </p:nvSpPr>
        <p:spPr>
          <a:xfrm>
            <a:off x="4393080" y="1841040"/>
            <a:ext cx="973080" cy="547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词法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(+</a:t>
            </a:r>
            <a:r>
              <a:rPr b="0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r>
              <a:rPr b="0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Rectangles 52"/>
          <p:cNvSpPr/>
          <p:nvPr/>
        </p:nvSpPr>
        <p:spPr>
          <a:xfrm>
            <a:off x="1656000" y="2993040"/>
            <a:ext cx="899280" cy="966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资源回收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模块整合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部署形态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Rectangles 53"/>
          <p:cNvSpPr/>
          <p:nvPr/>
        </p:nvSpPr>
        <p:spPr>
          <a:xfrm>
            <a:off x="2700000" y="2993040"/>
            <a:ext cx="899280" cy="966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类型保真异常处理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资源统计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Rectangles 54"/>
          <p:cNvSpPr/>
          <p:nvPr/>
        </p:nvSpPr>
        <p:spPr>
          <a:xfrm>
            <a:off x="5616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角色搭配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主体语言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辅助语言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补充语言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Rectangles 55"/>
          <p:cNvSpPr/>
          <p:nvPr/>
        </p:nvSpPr>
        <p:spPr>
          <a:xfrm>
            <a:off x="2808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基础资源封装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Rectangles 56"/>
          <p:cNvSpPr/>
          <p:nvPr/>
        </p:nvSpPr>
        <p:spPr>
          <a:xfrm>
            <a:off x="5256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底层系统封装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Rectangles 57"/>
          <p:cNvSpPr/>
          <p:nvPr/>
        </p:nvSpPr>
        <p:spPr>
          <a:xfrm>
            <a:off x="7596000" y="5472000"/>
            <a:ext cx="1537560" cy="39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基础业务封装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Rectangles 58"/>
          <p:cNvSpPr/>
          <p:nvPr/>
        </p:nvSpPr>
        <p:spPr>
          <a:xfrm>
            <a:off x="9108000" y="2736000"/>
            <a:ext cx="1979280" cy="287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紧邻交互层面：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python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Rectangles 92"/>
          <p:cNvSpPr/>
          <p:nvPr/>
        </p:nvSpPr>
        <p:spPr>
          <a:xfrm>
            <a:off x="9108000" y="2988000"/>
            <a:ext cx="1979280" cy="251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业务很偏交互：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JS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Rectangles 93"/>
          <p:cNvSpPr/>
          <p:nvPr/>
        </p:nvSpPr>
        <p:spPr>
          <a:xfrm>
            <a:off x="9108000" y="3240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正统业务层面：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Java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Rectangles 94"/>
          <p:cNvSpPr/>
          <p:nvPr/>
        </p:nvSpPr>
        <p:spPr>
          <a:xfrm>
            <a:off x="9108000" y="3456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业务稍偏系统：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go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Rectangles 95"/>
          <p:cNvSpPr/>
          <p:nvPr/>
        </p:nvSpPr>
        <p:spPr>
          <a:xfrm>
            <a:off x="9108000" y="3672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业务更偏系统：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rust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Rectangles 96"/>
          <p:cNvSpPr/>
          <p:nvPr/>
        </p:nvSpPr>
        <p:spPr>
          <a:xfrm>
            <a:off x="9108000" y="3888000"/>
            <a:ext cx="1979280" cy="21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紧邻系统层面：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C++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Rectangles 97"/>
          <p:cNvSpPr/>
          <p:nvPr/>
        </p:nvSpPr>
        <p:spPr>
          <a:xfrm>
            <a:off x="6732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处理依据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语言匹配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生命周期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代码规模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Rectangles 98"/>
          <p:cNvSpPr/>
          <p:nvPr/>
        </p:nvSpPr>
        <p:spPr>
          <a:xfrm>
            <a:off x="4464000" y="3497040"/>
            <a:ext cx="899280" cy="93060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存量基础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人员经验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所剩时间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rgbClr val="333333"/>
                </a:solidFill>
                <a:latin typeface="Arial"/>
              </a:rPr>
              <a:t>现有代码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1246</TotalTime>
  <Application>LibreOffice/24.2.7.2$Linux_RISCV64 LibreOffice_project/420$Build-2</Application>
  <AppVersion>15.0000</AppVersion>
  <Words>756</Words>
  <Paragraphs>456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2026-07-05T00:27:39Z</dcterms:created>
  <dc:creator/>
  <dc:description/>
  <dc:language>zh-CN</dc:language>
  <cp:lastModifiedBy/>
  <dcterms:modified xsi:type="dcterms:W3CDTF">2026-08-16T00:11:32Z</dcterms:modified>
  <cp:revision>828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  <property fmtid="{D5CDD505-2E9C-101B-9397-08002B2CF9AE}" pid="4" name="PresentationFormat">
    <vt:lpwstr>宽屏</vt:lpwstr>
  </property>
  <property fmtid="{D5CDD505-2E9C-101B-9397-08002B2CF9AE}" pid="5" name="Slides">
    <vt:i4>6</vt:i4>
  </property>
</Properties>
</file>