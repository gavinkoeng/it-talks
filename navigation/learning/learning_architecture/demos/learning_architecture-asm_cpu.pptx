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382015-969E-40CF-B9C4-AED22C9787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236CCD-E974-494A-9EE8-F4E190218D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0012DE-7953-4F33-92D3-D30E88B5B2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08E89C8-3BE7-4794-9BC4-FEA3B09C8B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30F3F69-2CA2-41AB-AE70-A6E6AE0B57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50123DF-D7CF-4573-982B-B5F6761C19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5DA1F7C-AB85-4EDC-87BB-67C9B6E576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850744C-B92D-4313-A570-700CF6269A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C199920-2A6C-43E7-B5BE-7418E0A8A8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4A90E44-2FDE-4469-8FAF-7676A9A028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0FB085A-E449-4209-8512-2BD102EF0A2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E21A58A-611D-4762-B036-E0C2408E054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12FC725-A3B1-4852-B672-B1A97E483BA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0B55AB2-8AB9-446E-A91F-5370DB102C5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576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E2288E2-29C9-484B-B69E-DAF7762B34C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09FBF69-B4C0-4495-8D21-2E39E8BF151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D7A6628-AE84-4513-AA3D-89E1E349C10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01421AB-856C-481D-B68B-00456DEB36C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720" cy="139212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43F704E-F566-4813-B5A2-6B857ACA22C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B1323C0-E07E-4B2B-A636-4C95061207A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s 115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s 116"/>
          <p:cNvSpPr/>
          <p:nvPr/>
        </p:nvSpPr>
        <p:spPr>
          <a:xfrm>
            <a:off x="329400" y="3814200"/>
            <a:ext cx="885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117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Rectangles 113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ectangles 114"/>
          <p:cNvSpPr/>
          <p:nvPr/>
        </p:nvSpPr>
        <p:spPr>
          <a:xfrm>
            <a:off x="329400" y="3814200"/>
            <a:ext cx="885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ectangles 120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ectangles 218"/>
          <p:cNvSpPr/>
          <p:nvPr/>
        </p:nvSpPr>
        <p:spPr>
          <a:xfrm>
            <a:off x="329400" y="2734200"/>
            <a:ext cx="885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s 219"/>
          <p:cNvSpPr/>
          <p:nvPr/>
        </p:nvSpPr>
        <p:spPr>
          <a:xfrm>
            <a:off x="329400" y="3204000"/>
            <a:ext cx="885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s 191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s 211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s 212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s 213"/>
          <p:cNvSpPr/>
          <p:nvPr/>
        </p:nvSpPr>
        <p:spPr>
          <a:xfrm>
            <a:off x="329400" y="3814200"/>
            <a:ext cx="885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s 214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ectangles 215"/>
          <p:cNvSpPr/>
          <p:nvPr/>
        </p:nvSpPr>
        <p:spPr>
          <a:xfrm>
            <a:off x="329400" y="2734200"/>
            <a:ext cx="885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s 216"/>
          <p:cNvSpPr/>
          <p:nvPr/>
        </p:nvSpPr>
        <p:spPr>
          <a:xfrm>
            <a:off x="329400" y="3204000"/>
            <a:ext cx="885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s 217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s 124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s 184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s 185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s 186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s 187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s 188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s 189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s 190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s 192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s 193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s 202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s 203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204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s 205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s 206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s 207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ectangles 208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s 209"/>
          <p:cNvSpPr/>
          <p:nvPr/>
        </p:nvSpPr>
        <p:spPr>
          <a:xfrm>
            <a:off x="9504000" y="1260000"/>
            <a:ext cx="576000" cy="255420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软件类扩展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s 210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s 121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s 122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s 123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s 194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s 195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s 196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s 197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s 198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s 199"/>
          <p:cNvSpPr/>
          <p:nvPr/>
        </p:nvSpPr>
        <p:spPr>
          <a:xfrm>
            <a:off x="9504000" y="1260000"/>
            <a:ext cx="576000" cy="255420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软件类扩展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s 200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s 201"/>
          <p:cNvSpPr/>
          <p:nvPr/>
        </p:nvSpPr>
        <p:spPr>
          <a:xfrm>
            <a:off x="10728000" y="1260000"/>
            <a:ext cx="863640" cy="539964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布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同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s 125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s 173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s 174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s 175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s 176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s 177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s 178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s 179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s 180"/>
          <p:cNvSpPr/>
          <p:nvPr/>
        </p:nvSpPr>
        <p:spPr>
          <a:xfrm>
            <a:off x="9504000" y="1260000"/>
            <a:ext cx="576000" cy="255420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软件类扩展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s 181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ectangles 182"/>
          <p:cNvSpPr/>
          <p:nvPr/>
        </p:nvSpPr>
        <p:spPr>
          <a:xfrm>
            <a:off x="10728000" y="1260000"/>
            <a:ext cx="863640" cy="539964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布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同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s 183"/>
          <p:cNvSpPr/>
          <p:nvPr/>
        </p:nvSpPr>
        <p:spPr>
          <a:xfrm>
            <a:off x="468000" y="4347720"/>
            <a:ext cx="7847640" cy="83592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汇编语言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（硬件概要设计）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s 126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161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s 162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s 163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164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Rectangles 165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s 166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s 167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ectangles 168"/>
          <p:cNvSpPr/>
          <p:nvPr/>
        </p:nvSpPr>
        <p:spPr>
          <a:xfrm>
            <a:off x="9504000" y="1260000"/>
            <a:ext cx="576000" cy="255420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软件类扩展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s 169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s 170"/>
          <p:cNvSpPr/>
          <p:nvPr/>
        </p:nvSpPr>
        <p:spPr>
          <a:xfrm>
            <a:off x="10728000" y="1260000"/>
            <a:ext cx="863640" cy="539964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布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同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s 171"/>
          <p:cNvSpPr/>
          <p:nvPr/>
        </p:nvSpPr>
        <p:spPr>
          <a:xfrm>
            <a:off x="468000" y="4347720"/>
            <a:ext cx="7847640" cy="83592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汇编语言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（硬件概要设计）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172"/>
          <p:cNvSpPr/>
          <p:nvPr/>
        </p:nvSpPr>
        <p:spPr>
          <a:xfrm>
            <a:off x="612000" y="4752000"/>
            <a:ext cx="7559640" cy="43164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CPU   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（主详细设计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=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核心功能实现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+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概要设计框架落地）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s 127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s 128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s 129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s 130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s 131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s 132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s 153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s 154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s 155"/>
          <p:cNvSpPr/>
          <p:nvPr/>
        </p:nvSpPr>
        <p:spPr>
          <a:xfrm>
            <a:off x="9504000" y="1260000"/>
            <a:ext cx="576000" cy="255420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软件类扩展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s 156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s 157"/>
          <p:cNvSpPr/>
          <p:nvPr/>
        </p:nvSpPr>
        <p:spPr>
          <a:xfrm>
            <a:off x="10728000" y="1260000"/>
            <a:ext cx="863640" cy="539964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布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同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ectangles 158"/>
          <p:cNvSpPr/>
          <p:nvPr/>
        </p:nvSpPr>
        <p:spPr>
          <a:xfrm>
            <a:off x="468000" y="4347720"/>
            <a:ext cx="7847640" cy="83592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汇编语言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（硬件概要设计）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s 159"/>
          <p:cNvSpPr/>
          <p:nvPr/>
        </p:nvSpPr>
        <p:spPr>
          <a:xfrm>
            <a:off x="612000" y="4752000"/>
            <a:ext cx="7559640" cy="43164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CPU   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（主详细设计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=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核心功能实现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+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概要设计框架落地）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s 160"/>
          <p:cNvSpPr/>
          <p:nvPr/>
        </p:nvSpPr>
        <p:spPr>
          <a:xfrm>
            <a:off x="612000" y="5184000"/>
            <a:ext cx="7559640" cy="46764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外围设备（从详细设计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外围功能实现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配套辅助内容完善）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s 133"/>
          <p:cNvSpPr/>
          <p:nvPr/>
        </p:nvSpPr>
        <p:spPr>
          <a:xfrm>
            <a:off x="324000" y="900000"/>
            <a:ext cx="1149876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                                 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系统运行平台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CPU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ectangles 134"/>
          <p:cNvSpPr/>
          <p:nvPr/>
        </p:nvSpPr>
        <p:spPr>
          <a:xfrm>
            <a:off x="324000" y="1368000"/>
            <a:ext cx="9036000" cy="395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广义硬件接口（用户态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策略接口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s 135"/>
          <p:cNvSpPr/>
          <p:nvPr/>
        </p:nvSpPr>
        <p:spPr>
          <a:xfrm>
            <a:off x="329040" y="6142320"/>
            <a:ext cx="8850960" cy="495720"/>
          </a:xfrm>
          <a:prstGeom prst="rect">
            <a:avLst/>
          </a:prstGeom>
          <a:solidFill>
            <a:srgbClr val="80808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s 136"/>
          <p:cNvSpPr/>
          <p:nvPr/>
        </p:nvSpPr>
        <p:spPr>
          <a:xfrm>
            <a:off x="329400" y="3814200"/>
            <a:ext cx="9930600" cy="461520"/>
          </a:xfrm>
          <a:prstGeom prst="rect">
            <a:avLst/>
          </a:prstGeom>
          <a:solidFill>
            <a:srgbClr val="b2b2b2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            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s 137"/>
          <p:cNvSpPr/>
          <p:nvPr/>
        </p:nvSpPr>
        <p:spPr>
          <a:xfrm>
            <a:off x="329040" y="4276080"/>
            <a:ext cx="8850960" cy="185796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单机硬件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s 138"/>
          <p:cNvSpPr/>
          <p:nvPr/>
        </p:nvSpPr>
        <p:spPr>
          <a:xfrm>
            <a:off x="329400" y="2734200"/>
            <a:ext cx="993060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（内核态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HAL -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机制接口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s 139"/>
          <p:cNvSpPr/>
          <p:nvPr/>
        </p:nvSpPr>
        <p:spPr>
          <a:xfrm>
            <a:off x="329400" y="3204000"/>
            <a:ext cx="9930600" cy="60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软件辅助封装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（架构封装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驱动固件）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s 140"/>
          <p:cNvSpPr/>
          <p:nvPr/>
        </p:nvSpPr>
        <p:spPr>
          <a:xfrm>
            <a:off x="329400" y="1764000"/>
            <a:ext cx="11493360" cy="963720"/>
          </a:xfrm>
          <a:prstGeom prst="rect">
            <a:avLst/>
          </a:prstGeom>
          <a:solidFill>
            <a:srgbClr val="5983b0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运行环境构建集成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ectangles 141"/>
          <p:cNvSpPr/>
          <p:nvPr/>
        </p:nvSpPr>
        <p:spPr>
          <a:xfrm>
            <a:off x="9504000" y="1260000"/>
            <a:ext cx="576000" cy="255420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软件类扩展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Rectangles 142"/>
          <p:cNvSpPr/>
          <p:nvPr/>
        </p:nvSpPr>
        <p:spPr>
          <a:xfrm>
            <a:off x="8424000" y="1620000"/>
            <a:ext cx="756000" cy="452232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虚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化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成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ectangles 143"/>
          <p:cNvSpPr/>
          <p:nvPr/>
        </p:nvSpPr>
        <p:spPr>
          <a:xfrm>
            <a:off x="10728000" y="1260000"/>
            <a:ext cx="863640" cy="5399640"/>
          </a:xfrm>
          <a:prstGeom prst="rect">
            <a:avLst/>
          </a:prstGeom>
          <a:solidFill>
            <a:srgbClr val="999999"/>
          </a:solidFill>
          <a:ln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分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布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同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ectangles 144"/>
          <p:cNvSpPr/>
          <p:nvPr/>
        </p:nvSpPr>
        <p:spPr>
          <a:xfrm>
            <a:off x="468000" y="4347720"/>
            <a:ext cx="7847640" cy="83592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汇编语言</a:t>
            </a:r>
            <a:r>
              <a:rPr b="1" lang="zh-CN" sz="1500" spc="-1" strike="noStrike">
                <a:solidFill>
                  <a:schemeClr val="dk1"/>
                </a:solidFill>
                <a:latin typeface="Arial"/>
              </a:rPr>
              <a:t>（硬件概要设计）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s 145"/>
          <p:cNvSpPr/>
          <p:nvPr/>
        </p:nvSpPr>
        <p:spPr>
          <a:xfrm>
            <a:off x="612000" y="4752000"/>
            <a:ext cx="7559640" cy="43164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CPU   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（主详细设计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=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核心功能实现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+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概要设计框架落地）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s 146"/>
          <p:cNvSpPr/>
          <p:nvPr/>
        </p:nvSpPr>
        <p:spPr>
          <a:xfrm>
            <a:off x="612000" y="5184000"/>
            <a:ext cx="7559640" cy="467640"/>
          </a:xfrm>
          <a:prstGeom prst="rect">
            <a:avLst/>
          </a:prstGeom>
          <a:solidFill>
            <a:srgbClr val="ffbf00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外围设备（从详细设计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外围功能实现 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 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配套辅助内容完善）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s 147"/>
          <p:cNvSpPr/>
          <p:nvPr/>
        </p:nvSpPr>
        <p:spPr>
          <a:xfrm>
            <a:off x="8496000" y="1758240"/>
            <a:ext cx="612000" cy="33228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s 148"/>
          <p:cNvSpPr/>
          <p:nvPr/>
        </p:nvSpPr>
        <p:spPr>
          <a:xfrm>
            <a:off x="8568000" y="1902240"/>
            <a:ext cx="468000" cy="18828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s 149"/>
          <p:cNvSpPr/>
          <p:nvPr/>
        </p:nvSpPr>
        <p:spPr>
          <a:xfrm>
            <a:off x="8568000" y="2082240"/>
            <a:ext cx="468000" cy="18828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s 150"/>
          <p:cNvSpPr/>
          <p:nvPr/>
        </p:nvSpPr>
        <p:spPr>
          <a:xfrm>
            <a:off x="10836000" y="4818240"/>
            <a:ext cx="612000" cy="33228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s 151"/>
          <p:cNvSpPr/>
          <p:nvPr/>
        </p:nvSpPr>
        <p:spPr>
          <a:xfrm>
            <a:off x="10908000" y="4962240"/>
            <a:ext cx="468000" cy="18828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s 152"/>
          <p:cNvSpPr/>
          <p:nvPr/>
        </p:nvSpPr>
        <p:spPr>
          <a:xfrm>
            <a:off x="10908000" y="5142240"/>
            <a:ext cx="468000" cy="188280"/>
          </a:xfrm>
          <a:prstGeom prst="rect">
            <a:avLst/>
          </a:prstGeom>
          <a:solidFill>
            <a:srgbClr val="ffbf00"/>
          </a:solidFill>
          <a:ln w="6480"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86760" rIns="86760" tIns="41760" bIns="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s 6"/>
          <p:cNvSpPr/>
          <p:nvPr/>
        </p:nvSpPr>
        <p:spPr>
          <a:xfrm>
            <a:off x="4166280" y="1396440"/>
            <a:ext cx="3794040" cy="4758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328200" y="170280"/>
            <a:ext cx="7834680" cy="5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汇编语言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s 5"/>
          <p:cNvSpPr/>
          <p:nvPr/>
        </p:nvSpPr>
        <p:spPr>
          <a:xfrm>
            <a:off x="329400" y="934200"/>
            <a:ext cx="11493360" cy="4615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（软件）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s 3"/>
          <p:cNvSpPr/>
          <p:nvPr/>
        </p:nvSpPr>
        <p:spPr>
          <a:xfrm>
            <a:off x="329040" y="6142320"/>
            <a:ext cx="11494080" cy="49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底层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（电路）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s 37"/>
          <p:cNvSpPr/>
          <p:nvPr/>
        </p:nvSpPr>
        <p:spPr>
          <a:xfrm>
            <a:off x="489600" y="2256120"/>
            <a:ext cx="3219840" cy="241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ectangles 4"/>
          <p:cNvSpPr/>
          <p:nvPr/>
        </p:nvSpPr>
        <p:spPr>
          <a:xfrm>
            <a:off x="8395200" y="2255400"/>
            <a:ext cx="3247200" cy="242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s 24"/>
          <p:cNvSpPr/>
          <p:nvPr/>
        </p:nvSpPr>
        <p:spPr>
          <a:xfrm>
            <a:off x="4313520" y="3752280"/>
            <a:ext cx="3467520" cy="1090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ectangles 8"/>
          <p:cNvSpPr/>
          <p:nvPr/>
        </p:nvSpPr>
        <p:spPr>
          <a:xfrm>
            <a:off x="4313520" y="1396440"/>
            <a:ext cx="3467160" cy="1615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s 10"/>
          <p:cNvSpPr/>
          <p:nvPr/>
        </p:nvSpPr>
        <p:spPr>
          <a:xfrm>
            <a:off x="1892880" y="4928760"/>
            <a:ext cx="8330400" cy="1212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Rectangles 13"/>
          <p:cNvSpPr/>
          <p:nvPr/>
        </p:nvSpPr>
        <p:spPr>
          <a:xfrm>
            <a:off x="2054160" y="5031720"/>
            <a:ext cx="7985160" cy="11098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ectangles 55"/>
          <p:cNvSpPr/>
          <p:nvPr/>
        </p:nvSpPr>
        <p:spPr>
          <a:xfrm>
            <a:off x="1612800" y="3223440"/>
            <a:ext cx="956880" cy="5493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通用寄存器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读写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s 2"/>
          <p:cNvSpPr/>
          <p:nvPr/>
        </p:nvSpPr>
        <p:spPr>
          <a:xfrm>
            <a:off x="2668320" y="3223440"/>
            <a:ext cx="957600" cy="53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控制寄存器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读写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s 7"/>
          <p:cNvSpPr/>
          <p:nvPr/>
        </p:nvSpPr>
        <p:spPr>
          <a:xfrm>
            <a:off x="564480" y="3232080"/>
            <a:ext cx="948600" cy="5403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状态寄存器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读写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s 9"/>
          <p:cNvSpPr/>
          <p:nvPr/>
        </p:nvSpPr>
        <p:spPr>
          <a:xfrm>
            <a:off x="9581040" y="3244680"/>
            <a:ext cx="869400" cy="5047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内存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读写映射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s 11"/>
          <p:cNvSpPr/>
          <p:nvPr/>
        </p:nvSpPr>
        <p:spPr>
          <a:xfrm>
            <a:off x="10631880" y="3234600"/>
            <a:ext cx="908640" cy="5378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内存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同步处理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12"/>
          <p:cNvSpPr/>
          <p:nvPr/>
        </p:nvSpPr>
        <p:spPr>
          <a:xfrm>
            <a:off x="8490600" y="3245400"/>
            <a:ext cx="950040" cy="527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内存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缓存刷新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14"/>
          <p:cNvSpPr/>
          <p:nvPr/>
        </p:nvSpPr>
        <p:spPr>
          <a:xfrm>
            <a:off x="4408200" y="4388400"/>
            <a:ext cx="977040" cy="388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函数堆栈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s 15"/>
          <p:cNvSpPr/>
          <p:nvPr/>
        </p:nvSpPr>
        <p:spPr>
          <a:xfrm>
            <a:off x="5574600" y="4385880"/>
            <a:ext cx="977040" cy="388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软件异常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s 16"/>
          <p:cNvSpPr/>
          <p:nvPr/>
        </p:nvSpPr>
        <p:spPr>
          <a:xfrm>
            <a:off x="5428440" y="5702400"/>
            <a:ext cx="1257840" cy="388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数值处理运算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s 17"/>
          <p:cNvSpPr/>
          <p:nvPr/>
        </p:nvSpPr>
        <p:spPr>
          <a:xfrm>
            <a:off x="3474720" y="5703480"/>
            <a:ext cx="1257840" cy="3823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原生基础运算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s 18"/>
          <p:cNvSpPr/>
          <p:nvPr/>
        </p:nvSpPr>
        <p:spPr>
          <a:xfrm>
            <a:off x="7456320" y="5718960"/>
            <a:ext cx="1257840" cy="388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比较判定运算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s 20"/>
          <p:cNvSpPr/>
          <p:nvPr/>
        </p:nvSpPr>
        <p:spPr>
          <a:xfrm>
            <a:off x="6741000" y="4388400"/>
            <a:ext cx="977040" cy="388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通用跳转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s 19"/>
          <p:cNvSpPr/>
          <p:nvPr/>
        </p:nvSpPr>
        <p:spPr>
          <a:xfrm>
            <a:off x="4429080" y="2345040"/>
            <a:ext cx="977040" cy="551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s 21"/>
          <p:cNvSpPr/>
          <p:nvPr/>
        </p:nvSpPr>
        <p:spPr>
          <a:xfrm>
            <a:off x="5558040" y="2345040"/>
            <a:ext cx="977040" cy="551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s 22"/>
          <p:cNvSpPr/>
          <p:nvPr/>
        </p:nvSpPr>
        <p:spPr>
          <a:xfrm>
            <a:off x="6711480" y="2342520"/>
            <a:ext cx="977040" cy="5493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s 23"/>
          <p:cNvSpPr/>
          <p:nvPr/>
        </p:nvSpPr>
        <p:spPr>
          <a:xfrm>
            <a:off x="4187160" y="4872240"/>
            <a:ext cx="3772440" cy="7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87" name="Straight Arrow Connector 25"/>
          <p:cNvCxnSpPr/>
          <p:nvPr/>
        </p:nvCxnSpPr>
        <p:spPr>
          <a:xfrm>
            <a:off x="960120" y="4664520"/>
            <a:ext cx="11160" cy="14911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88" name="Straight Arrow Connector 26"/>
          <p:cNvCxnSpPr/>
          <p:nvPr/>
        </p:nvCxnSpPr>
        <p:spPr>
          <a:xfrm>
            <a:off x="11101680" y="4664520"/>
            <a:ext cx="11520" cy="149112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89" name="Straight Arrow Connector 27"/>
          <p:cNvCxnSpPr/>
          <p:nvPr/>
        </p:nvCxnSpPr>
        <p:spPr>
          <a:xfrm>
            <a:off x="3731760" y="3461760"/>
            <a:ext cx="447120" cy="46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90" name="Straight Arrow Connector 28"/>
          <p:cNvCxnSpPr/>
          <p:nvPr/>
        </p:nvCxnSpPr>
        <p:spPr>
          <a:xfrm>
            <a:off x="7959600" y="3445200"/>
            <a:ext cx="447120" cy="46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2026-07-10T10:02:11Z</dcterms:modified>
  <cp:revision>729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