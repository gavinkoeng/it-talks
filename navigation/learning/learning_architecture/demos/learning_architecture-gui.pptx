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0200" cy="132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47640" y="1825560"/>
            <a:ext cx="10510200" cy="434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D03BF49-475F-4E58-B67A-DB75DAAABF5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00EBE90-8DD4-4FAF-B96A-810F66FD4C0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0200" cy="132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0200" cy="434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06EBA06-8DF2-4417-9F45-7ACDFAB16D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77F5C73-8A61-4762-BB3E-D63E74022A8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0200" cy="132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28920" cy="434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033240" y="1825560"/>
            <a:ext cx="5128920" cy="434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200DDBD-5BF8-4845-8276-F22FD0FD6F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C0E49F06-01AB-41C8-9A7A-26A27B4334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0200" cy="132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62465926-63CF-4A8F-8D9B-C1E9DC2E9E2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CFA7BB29-0806-44E1-880A-F02AD923AC6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9BA9681C-176D-4663-9DA7-408F8D51A58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598250C5-A9B8-4296-ABB5-E4856710793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0200" cy="132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094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0528009-695E-48BD-AEB0-7A444233932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3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094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C19044A-A6C5-4BB6-B8FA-CB973DB4785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0200" cy="132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编辑标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题文本</a:t>
            </a: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10510200" cy="434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094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C719C37-40AC-4BD7-97A7-950C47D5C1E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094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52DC7A5-C4AC-4236-B96D-73B47DDB4EB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0200" cy="132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5128560" cy="434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033240" y="1825560"/>
            <a:ext cx="5128560" cy="434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点击以编辑提纲文本格式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第二提纲级别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第三提纲级别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第四提纲级别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第五提纲级别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第六提纲级别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第七提纲级别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094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D27B9EE-7778-4671-9926-B5779041D61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6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094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BBA3724-9188-4214-9B26-8115646F64F7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0200" cy="1320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CN" sz="1800" spc="-1" strike="noStrike">
                <a:solidFill>
                  <a:srgbClr val="000000"/>
                </a:solidFill>
                <a:latin typeface="Arial"/>
              </a:rPr>
              <a:t>单击以编辑标题文本格式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094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0F4247F-4F62-4A3D-9C25-60FFF34500DD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094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FA85E4E-45BD-48C9-92C7-B64C8AB458C1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直接连接符 7"/>
          <p:cNvCxnSpPr/>
          <p:nvPr/>
        </p:nvCxnSpPr>
        <p:spPr>
          <a:xfrm>
            <a:off x="742680" y="434160"/>
            <a:ext cx="5400" cy="1396800"/>
          </a:xfrm>
          <a:prstGeom prst="straightConnector1">
            <a:avLst/>
          </a:prstGeom>
          <a:ln w="0">
            <a:solidFill>
              <a:srgbClr val="5b9bd5"/>
            </a:solidFill>
          </a:ln>
        </p:spPr>
      </p:cxnSp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094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5611841-108B-48DA-A5C4-95BFB1AF183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094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66A0B8C-7F8D-4FDD-A207-4CF4EE9EC333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&lt;编号&gt;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37800" cy="35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s 1"/>
          <p:cNvSpPr/>
          <p:nvPr/>
        </p:nvSpPr>
        <p:spPr>
          <a:xfrm>
            <a:off x="1332000" y="1105560"/>
            <a:ext cx="10726560" cy="521424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Shell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    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             </a:t>
            </a:r>
            <a:r>
              <a:rPr b="1" lang="en-US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                                                                                                                    图形系统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串行系统语言                                                                                                                                                并行受限语言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0000" cy="57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图形系统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Rectangles 97"/>
          <p:cNvSpPr/>
          <p:nvPr/>
        </p:nvSpPr>
        <p:spPr>
          <a:xfrm>
            <a:off x="1332000" y="646200"/>
            <a:ext cx="10738080" cy="4568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应用）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Rectangles 98"/>
          <p:cNvSpPr/>
          <p:nvPr/>
        </p:nvSpPr>
        <p:spPr>
          <a:xfrm>
            <a:off x="1332000" y="6322320"/>
            <a:ext cx="10738440" cy="4910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（系统）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Rectangles 99"/>
          <p:cNvSpPr/>
          <p:nvPr/>
        </p:nvSpPr>
        <p:spPr>
          <a:xfrm>
            <a:off x="4032000" y="1105560"/>
            <a:ext cx="5578560" cy="1953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Arial"/>
              </a:rPr>
              <a:t>AI</a:t>
            </a: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客户端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人类语言（串并行）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PlaceHolder 1"/>
          <p:cNvSpPr/>
          <p:nvPr/>
        </p:nvSpPr>
        <p:spPr>
          <a:xfrm>
            <a:off x="88200" y="602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应用层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2"/>
          <p:cNvSpPr/>
          <p:nvPr/>
        </p:nvSpPr>
        <p:spPr>
          <a:xfrm>
            <a:off x="88560" y="6254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系统层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PlaceHolder 3"/>
          <p:cNvSpPr/>
          <p:nvPr/>
        </p:nvSpPr>
        <p:spPr>
          <a:xfrm>
            <a:off x="88920" y="4490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业务层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PlaceHolder 5"/>
          <p:cNvSpPr/>
          <p:nvPr/>
        </p:nvSpPr>
        <p:spPr>
          <a:xfrm>
            <a:off x="89280" y="2690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交互层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1332000" y="3996000"/>
            <a:ext cx="10728000" cy="360"/>
          </a:xfrm>
          <a:prstGeom prst="line">
            <a:avLst/>
          </a:prstGeom>
          <a:ln w="12600">
            <a:solidFill>
              <a:srgbClr val="000000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s 19"/>
          <p:cNvSpPr/>
          <p:nvPr/>
        </p:nvSpPr>
        <p:spPr>
          <a:xfrm>
            <a:off x="1332000" y="1105560"/>
            <a:ext cx="10726560" cy="4833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图形客户端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图形系统核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0000" cy="57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图形系统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Rectangles 45"/>
          <p:cNvSpPr/>
          <p:nvPr/>
        </p:nvSpPr>
        <p:spPr>
          <a:xfrm>
            <a:off x="1332000" y="646200"/>
            <a:ext cx="10738080" cy="4568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应用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/AI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客户端）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Rectangles 46"/>
          <p:cNvSpPr/>
          <p:nvPr/>
        </p:nvSpPr>
        <p:spPr>
          <a:xfrm>
            <a:off x="1332000" y="5940000"/>
            <a:ext cx="10738440" cy="8733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（系统）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10"/>
          <p:cNvSpPr/>
          <p:nvPr/>
        </p:nvSpPr>
        <p:spPr>
          <a:xfrm>
            <a:off x="88200" y="602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应用层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PlaceHolder 15"/>
          <p:cNvSpPr/>
          <p:nvPr/>
        </p:nvSpPr>
        <p:spPr>
          <a:xfrm>
            <a:off x="88560" y="6074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系统层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PlaceHolder 16"/>
          <p:cNvSpPr/>
          <p:nvPr/>
        </p:nvSpPr>
        <p:spPr>
          <a:xfrm>
            <a:off x="88920" y="4418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业务层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PlaceHolder 17"/>
          <p:cNvSpPr/>
          <p:nvPr/>
        </p:nvSpPr>
        <p:spPr>
          <a:xfrm>
            <a:off x="89280" y="2258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交互层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1332000" y="3780000"/>
            <a:ext cx="10728000" cy="360"/>
          </a:xfrm>
          <a:prstGeom prst="line">
            <a:avLst/>
          </a:prstGeom>
          <a:ln w="12600">
            <a:solidFill>
              <a:srgbClr val="000000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Rectangles 47"/>
          <p:cNvSpPr/>
          <p:nvPr/>
        </p:nvSpPr>
        <p:spPr>
          <a:xfrm>
            <a:off x="3346200" y="5942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Shell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解释器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Rectangles 48"/>
          <p:cNvSpPr/>
          <p:nvPr/>
        </p:nvSpPr>
        <p:spPr>
          <a:xfrm>
            <a:off x="8028000" y="5942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系统工具集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Rectangles 49"/>
          <p:cNvSpPr/>
          <p:nvPr/>
        </p:nvSpPr>
        <p:spPr>
          <a:xfrm>
            <a:off x="3346200" y="6410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运行时支撑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Rectangles 50"/>
          <p:cNvSpPr/>
          <p:nvPr/>
        </p:nvSpPr>
        <p:spPr>
          <a:xfrm>
            <a:off x="8026200" y="6410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广义硬件接口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Rectangles 51"/>
          <p:cNvSpPr/>
          <p:nvPr/>
        </p:nvSpPr>
        <p:spPr>
          <a:xfrm>
            <a:off x="5686200" y="5942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图形服务端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Rectangles 2"/>
          <p:cNvSpPr/>
          <p:nvPr/>
        </p:nvSpPr>
        <p:spPr>
          <a:xfrm>
            <a:off x="1584000" y="1584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交互面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Rectangles 3"/>
          <p:cNvSpPr/>
          <p:nvPr/>
        </p:nvSpPr>
        <p:spPr>
          <a:xfrm>
            <a:off x="8496000" y="1584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资源体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Rectangles 14"/>
          <p:cNvSpPr/>
          <p:nvPr/>
        </p:nvSpPr>
        <p:spPr>
          <a:xfrm>
            <a:off x="1584000" y="3996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语言结构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Rectangles 15"/>
          <p:cNvSpPr/>
          <p:nvPr/>
        </p:nvSpPr>
        <p:spPr>
          <a:xfrm>
            <a:off x="8460000" y="3996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业务运行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s 7"/>
          <p:cNvSpPr/>
          <p:nvPr/>
        </p:nvSpPr>
        <p:spPr>
          <a:xfrm>
            <a:off x="1332000" y="1105560"/>
            <a:ext cx="10726560" cy="4833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图形客户端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图形系统核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0000" cy="57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图形系统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Rectangles 8"/>
          <p:cNvSpPr/>
          <p:nvPr/>
        </p:nvSpPr>
        <p:spPr>
          <a:xfrm>
            <a:off x="1332000" y="646200"/>
            <a:ext cx="10738080" cy="4568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应用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/AI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客户端）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ectangles 9"/>
          <p:cNvSpPr/>
          <p:nvPr/>
        </p:nvSpPr>
        <p:spPr>
          <a:xfrm>
            <a:off x="1332000" y="5940000"/>
            <a:ext cx="10738440" cy="8733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（系统）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6"/>
          <p:cNvSpPr/>
          <p:nvPr/>
        </p:nvSpPr>
        <p:spPr>
          <a:xfrm>
            <a:off x="88200" y="602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应用层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PlaceHolder 47"/>
          <p:cNvSpPr/>
          <p:nvPr/>
        </p:nvSpPr>
        <p:spPr>
          <a:xfrm>
            <a:off x="88560" y="6074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系统层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PlaceHolder 48"/>
          <p:cNvSpPr/>
          <p:nvPr/>
        </p:nvSpPr>
        <p:spPr>
          <a:xfrm>
            <a:off x="88920" y="4418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业务层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PlaceHolder 49"/>
          <p:cNvSpPr/>
          <p:nvPr/>
        </p:nvSpPr>
        <p:spPr>
          <a:xfrm>
            <a:off x="89280" y="2258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交互层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1332000" y="3780000"/>
            <a:ext cx="10728000" cy="360"/>
          </a:xfrm>
          <a:prstGeom prst="line">
            <a:avLst/>
          </a:prstGeom>
          <a:ln w="12600">
            <a:solidFill>
              <a:srgbClr val="000000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Rectangles 211"/>
          <p:cNvSpPr/>
          <p:nvPr/>
        </p:nvSpPr>
        <p:spPr>
          <a:xfrm>
            <a:off x="3346200" y="5942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Shell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解释器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Rectangles 212"/>
          <p:cNvSpPr/>
          <p:nvPr/>
        </p:nvSpPr>
        <p:spPr>
          <a:xfrm>
            <a:off x="8028000" y="5942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系统工具集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Rectangles 213"/>
          <p:cNvSpPr/>
          <p:nvPr/>
        </p:nvSpPr>
        <p:spPr>
          <a:xfrm>
            <a:off x="3346200" y="6410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运行时支撑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Rectangles 214"/>
          <p:cNvSpPr/>
          <p:nvPr/>
        </p:nvSpPr>
        <p:spPr>
          <a:xfrm>
            <a:off x="8026200" y="6410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广义硬件接口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Rectangles 215"/>
          <p:cNvSpPr/>
          <p:nvPr/>
        </p:nvSpPr>
        <p:spPr>
          <a:xfrm>
            <a:off x="5686200" y="5942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图形服务端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Rectangles 216"/>
          <p:cNvSpPr/>
          <p:nvPr/>
        </p:nvSpPr>
        <p:spPr>
          <a:xfrm>
            <a:off x="1584000" y="1584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交互面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Rectangles 217"/>
          <p:cNvSpPr/>
          <p:nvPr/>
        </p:nvSpPr>
        <p:spPr>
          <a:xfrm>
            <a:off x="8496000" y="1584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资源体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Rectangles 218"/>
          <p:cNvSpPr/>
          <p:nvPr/>
        </p:nvSpPr>
        <p:spPr>
          <a:xfrm>
            <a:off x="1800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键鼠与触摸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ectangles 219"/>
          <p:cNvSpPr/>
          <p:nvPr/>
        </p:nvSpPr>
        <p:spPr>
          <a:xfrm>
            <a:off x="2808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调度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动作与响应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Rectangles 220"/>
          <p:cNvSpPr/>
          <p:nvPr/>
        </p:nvSpPr>
        <p:spPr>
          <a:xfrm>
            <a:off x="3816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输出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屏幕与窗口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Rectangles 224"/>
          <p:cNvSpPr/>
          <p:nvPr/>
        </p:nvSpPr>
        <p:spPr>
          <a:xfrm>
            <a:off x="1584000" y="3996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语言结构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Rectangles 225"/>
          <p:cNvSpPr/>
          <p:nvPr/>
        </p:nvSpPr>
        <p:spPr>
          <a:xfrm>
            <a:off x="8460000" y="3996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业务运行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s 29"/>
          <p:cNvSpPr/>
          <p:nvPr/>
        </p:nvSpPr>
        <p:spPr>
          <a:xfrm>
            <a:off x="1332000" y="1105560"/>
            <a:ext cx="10726560" cy="4833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图形客户端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图形系统核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0000" cy="57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图形系统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Rectangles 30"/>
          <p:cNvSpPr/>
          <p:nvPr/>
        </p:nvSpPr>
        <p:spPr>
          <a:xfrm>
            <a:off x="1332000" y="646200"/>
            <a:ext cx="10738080" cy="4568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应用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/AI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客户端）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Rectangles 31"/>
          <p:cNvSpPr/>
          <p:nvPr/>
        </p:nvSpPr>
        <p:spPr>
          <a:xfrm>
            <a:off x="1332000" y="5940000"/>
            <a:ext cx="10738440" cy="8733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（系统）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41"/>
          <p:cNvSpPr/>
          <p:nvPr/>
        </p:nvSpPr>
        <p:spPr>
          <a:xfrm>
            <a:off x="88200" y="602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应用层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PlaceHolder 42"/>
          <p:cNvSpPr/>
          <p:nvPr/>
        </p:nvSpPr>
        <p:spPr>
          <a:xfrm>
            <a:off x="88560" y="6074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系统层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PlaceHolder 43"/>
          <p:cNvSpPr/>
          <p:nvPr/>
        </p:nvSpPr>
        <p:spPr>
          <a:xfrm>
            <a:off x="88920" y="4418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业务层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PlaceHolder 44"/>
          <p:cNvSpPr/>
          <p:nvPr/>
        </p:nvSpPr>
        <p:spPr>
          <a:xfrm>
            <a:off x="89280" y="2258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交互层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1332000" y="3780000"/>
            <a:ext cx="10728000" cy="360"/>
          </a:xfrm>
          <a:prstGeom prst="line">
            <a:avLst/>
          </a:prstGeom>
          <a:ln w="12600">
            <a:solidFill>
              <a:srgbClr val="000000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Rectangles 32"/>
          <p:cNvSpPr/>
          <p:nvPr/>
        </p:nvSpPr>
        <p:spPr>
          <a:xfrm>
            <a:off x="3346200" y="5942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Shell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解释器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Rectangles 33"/>
          <p:cNvSpPr/>
          <p:nvPr/>
        </p:nvSpPr>
        <p:spPr>
          <a:xfrm>
            <a:off x="8028000" y="5942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系统工具集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Rectangles 34"/>
          <p:cNvSpPr/>
          <p:nvPr/>
        </p:nvSpPr>
        <p:spPr>
          <a:xfrm>
            <a:off x="3346200" y="6410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运行时支撑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Rectangles 199"/>
          <p:cNvSpPr/>
          <p:nvPr/>
        </p:nvSpPr>
        <p:spPr>
          <a:xfrm>
            <a:off x="8026200" y="6410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广义硬件接口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Rectangles 200"/>
          <p:cNvSpPr/>
          <p:nvPr/>
        </p:nvSpPr>
        <p:spPr>
          <a:xfrm>
            <a:off x="5686200" y="5942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图形服务端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Rectangles 201"/>
          <p:cNvSpPr/>
          <p:nvPr/>
        </p:nvSpPr>
        <p:spPr>
          <a:xfrm>
            <a:off x="1584000" y="1584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交互面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Rectangles 202"/>
          <p:cNvSpPr/>
          <p:nvPr/>
        </p:nvSpPr>
        <p:spPr>
          <a:xfrm>
            <a:off x="8496000" y="1584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资源体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Rectangles 203"/>
          <p:cNvSpPr/>
          <p:nvPr/>
        </p:nvSpPr>
        <p:spPr>
          <a:xfrm>
            <a:off x="1800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键鼠与触摸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Rectangles 204"/>
          <p:cNvSpPr/>
          <p:nvPr/>
        </p:nvSpPr>
        <p:spPr>
          <a:xfrm>
            <a:off x="2808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调度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动作与响应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Rectangles 205"/>
          <p:cNvSpPr/>
          <p:nvPr/>
        </p:nvSpPr>
        <p:spPr>
          <a:xfrm>
            <a:off x="3816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输出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屏幕与窗口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ectangles 206"/>
          <p:cNvSpPr/>
          <p:nvPr/>
        </p:nvSpPr>
        <p:spPr>
          <a:xfrm>
            <a:off x="8712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文件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文件管理器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Rectangles 207"/>
          <p:cNvSpPr/>
          <p:nvPr/>
        </p:nvSpPr>
        <p:spPr>
          <a:xfrm>
            <a:off x="9720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定制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特殊目录集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ectangles 208"/>
          <p:cNvSpPr/>
          <p:nvPr/>
        </p:nvSpPr>
        <p:spPr>
          <a:xfrm>
            <a:off x="10728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设置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设置管理器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Rectangles 209"/>
          <p:cNvSpPr/>
          <p:nvPr/>
        </p:nvSpPr>
        <p:spPr>
          <a:xfrm>
            <a:off x="1584000" y="3996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语言结构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Rectangles 210"/>
          <p:cNvSpPr/>
          <p:nvPr/>
        </p:nvSpPr>
        <p:spPr>
          <a:xfrm>
            <a:off x="8460000" y="3996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业务运行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s 35"/>
          <p:cNvSpPr/>
          <p:nvPr/>
        </p:nvSpPr>
        <p:spPr>
          <a:xfrm>
            <a:off x="1332000" y="1105560"/>
            <a:ext cx="10726560" cy="4833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图形客户端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图形系统核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0000" cy="57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图形系统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Rectangles 179"/>
          <p:cNvSpPr/>
          <p:nvPr/>
        </p:nvSpPr>
        <p:spPr>
          <a:xfrm>
            <a:off x="1332000" y="646200"/>
            <a:ext cx="10738080" cy="4568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应用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/AI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客户端）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Rectangles 180"/>
          <p:cNvSpPr/>
          <p:nvPr/>
        </p:nvSpPr>
        <p:spPr>
          <a:xfrm>
            <a:off x="1332000" y="5940000"/>
            <a:ext cx="10738440" cy="8733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（系统）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36"/>
          <p:cNvSpPr/>
          <p:nvPr/>
        </p:nvSpPr>
        <p:spPr>
          <a:xfrm>
            <a:off x="88200" y="602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应用层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PlaceHolder 37"/>
          <p:cNvSpPr/>
          <p:nvPr/>
        </p:nvSpPr>
        <p:spPr>
          <a:xfrm>
            <a:off x="88560" y="6074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系统层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PlaceHolder 38"/>
          <p:cNvSpPr/>
          <p:nvPr/>
        </p:nvSpPr>
        <p:spPr>
          <a:xfrm>
            <a:off x="88920" y="4418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业务层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PlaceHolder 39"/>
          <p:cNvSpPr/>
          <p:nvPr/>
        </p:nvSpPr>
        <p:spPr>
          <a:xfrm>
            <a:off x="89280" y="2258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交互层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1332000" y="3780000"/>
            <a:ext cx="10728000" cy="360"/>
          </a:xfrm>
          <a:prstGeom prst="line">
            <a:avLst/>
          </a:prstGeom>
          <a:ln w="12600">
            <a:solidFill>
              <a:srgbClr val="000000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Rectangles 181"/>
          <p:cNvSpPr/>
          <p:nvPr/>
        </p:nvSpPr>
        <p:spPr>
          <a:xfrm>
            <a:off x="3346200" y="5942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Shell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解释器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Rectangles 182"/>
          <p:cNvSpPr/>
          <p:nvPr/>
        </p:nvSpPr>
        <p:spPr>
          <a:xfrm>
            <a:off x="8028000" y="5942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系统工具集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Rectangles 183"/>
          <p:cNvSpPr/>
          <p:nvPr/>
        </p:nvSpPr>
        <p:spPr>
          <a:xfrm>
            <a:off x="3346200" y="6410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运行时支撑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Rectangles 184"/>
          <p:cNvSpPr/>
          <p:nvPr/>
        </p:nvSpPr>
        <p:spPr>
          <a:xfrm>
            <a:off x="8026200" y="6410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广义硬件接口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Rectangles 185"/>
          <p:cNvSpPr/>
          <p:nvPr/>
        </p:nvSpPr>
        <p:spPr>
          <a:xfrm>
            <a:off x="5686200" y="5942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图形服务端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Rectangles 186"/>
          <p:cNvSpPr/>
          <p:nvPr/>
        </p:nvSpPr>
        <p:spPr>
          <a:xfrm>
            <a:off x="1584000" y="1584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交互面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Rectangles 187"/>
          <p:cNvSpPr/>
          <p:nvPr/>
        </p:nvSpPr>
        <p:spPr>
          <a:xfrm>
            <a:off x="8496000" y="1584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资源体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Rectangles 188"/>
          <p:cNvSpPr/>
          <p:nvPr/>
        </p:nvSpPr>
        <p:spPr>
          <a:xfrm>
            <a:off x="1800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键鼠与触摸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Rectangles 189"/>
          <p:cNvSpPr/>
          <p:nvPr/>
        </p:nvSpPr>
        <p:spPr>
          <a:xfrm>
            <a:off x="2808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调度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动作与响应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Rectangles 190"/>
          <p:cNvSpPr/>
          <p:nvPr/>
        </p:nvSpPr>
        <p:spPr>
          <a:xfrm>
            <a:off x="3816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输出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屏幕与窗口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Rectangles 191"/>
          <p:cNvSpPr/>
          <p:nvPr/>
        </p:nvSpPr>
        <p:spPr>
          <a:xfrm>
            <a:off x="8712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文件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文件管理器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Rectangles 192"/>
          <p:cNvSpPr/>
          <p:nvPr/>
        </p:nvSpPr>
        <p:spPr>
          <a:xfrm>
            <a:off x="9720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定制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特殊目录集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Rectangles 193"/>
          <p:cNvSpPr/>
          <p:nvPr/>
        </p:nvSpPr>
        <p:spPr>
          <a:xfrm>
            <a:off x="10728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设置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设置管理器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Rectangles 194"/>
          <p:cNvSpPr/>
          <p:nvPr/>
        </p:nvSpPr>
        <p:spPr>
          <a:xfrm>
            <a:off x="5040000" y="2160000"/>
            <a:ext cx="1007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时序服务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启动锁屏退出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Rectangles 195"/>
          <p:cNvSpPr/>
          <p:nvPr/>
        </p:nvSpPr>
        <p:spPr>
          <a:xfrm>
            <a:off x="6192000" y="2160000"/>
            <a:ext cx="1007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空间布局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桌面面板控件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Rectangles 196"/>
          <p:cNvSpPr/>
          <p:nvPr/>
        </p:nvSpPr>
        <p:spPr>
          <a:xfrm>
            <a:off x="7344000" y="2160000"/>
            <a:ext cx="1007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信息管理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应用窗口状态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Rectangles 197"/>
          <p:cNvSpPr/>
          <p:nvPr/>
        </p:nvSpPr>
        <p:spPr>
          <a:xfrm>
            <a:off x="1584000" y="3996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语言结构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Rectangles 198"/>
          <p:cNvSpPr/>
          <p:nvPr/>
        </p:nvSpPr>
        <p:spPr>
          <a:xfrm>
            <a:off x="8460000" y="3996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业务运行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s 92"/>
          <p:cNvSpPr/>
          <p:nvPr/>
        </p:nvSpPr>
        <p:spPr>
          <a:xfrm>
            <a:off x="1332000" y="1105560"/>
            <a:ext cx="10726560" cy="4833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图形客户端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图形系统核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0000" cy="57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图形系统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Rectangles 158"/>
          <p:cNvSpPr/>
          <p:nvPr/>
        </p:nvSpPr>
        <p:spPr>
          <a:xfrm>
            <a:off x="1332000" y="646200"/>
            <a:ext cx="10738080" cy="4568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应用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/AI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客户端）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Rectangles 159"/>
          <p:cNvSpPr/>
          <p:nvPr/>
        </p:nvSpPr>
        <p:spPr>
          <a:xfrm>
            <a:off x="1332000" y="5940000"/>
            <a:ext cx="10738440" cy="8733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（系统）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1"/>
          <p:cNvSpPr/>
          <p:nvPr/>
        </p:nvSpPr>
        <p:spPr>
          <a:xfrm>
            <a:off x="88200" y="602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应用层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PlaceHolder 32"/>
          <p:cNvSpPr/>
          <p:nvPr/>
        </p:nvSpPr>
        <p:spPr>
          <a:xfrm>
            <a:off x="88560" y="6074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系统层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PlaceHolder 33"/>
          <p:cNvSpPr/>
          <p:nvPr/>
        </p:nvSpPr>
        <p:spPr>
          <a:xfrm>
            <a:off x="88920" y="4418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业务层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PlaceHolder 34"/>
          <p:cNvSpPr/>
          <p:nvPr/>
        </p:nvSpPr>
        <p:spPr>
          <a:xfrm>
            <a:off x="89280" y="2258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交互层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1332000" y="3780000"/>
            <a:ext cx="10728000" cy="360"/>
          </a:xfrm>
          <a:prstGeom prst="line">
            <a:avLst/>
          </a:prstGeom>
          <a:ln w="12600">
            <a:solidFill>
              <a:srgbClr val="000000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Rectangles 160"/>
          <p:cNvSpPr/>
          <p:nvPr/>
        </p:nvSpPr>
        <p:spPr>
          <a:xfrm>
            <a:off x="3346200" y="5942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Shell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解释器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Rectangles 161"/>
          <p:cNvSpPr/>
          <p:nvPr/>
        </p:nvSpPr>
        <p:spPr>
          <a:xfrm>
            <a:off x="8028000" y="5942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系统工具集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Rectangles 162"/>
          <p:cNvSpPr/>
          <p:nvPr/>
        </p:nvSpPr>
        <p:spPr>
          <a:xfrm>
            <a:off x="3346200" y="6410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运行时支撑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Rectangles 163"/>
          <p:cNvSpPr/>
          <p:nvPr/>
        </p:nvSpPr>
        <p:spPr>
          <a:xfrm>
            <a:off x="8026200" y="6410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广义硬件接口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Rectangles 164"/>
          <p:cNvSpPr/>
          <p:nvPr/>
        </p:nvSpPr>
        <p:spPr>
          <a:xfrm>
            <a:off x="5686200" y="5942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图形服务端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Rectangles 165"/>
          <p:cNvSpPr/>
          <p:nvPr/>
        </p:nvSpPr>
        <p:spPr>
          <a:xfrm>
            <a:off x="1584000" y="1584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交互面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Rectangles 166"/>
          <p:cNvSpPr/>
          <p:nvPr/>
        </p:nvSpPr>
        <p:spPr>
          <a:xfrm>
            <a:off x="8496000" y="1584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资源体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Rectangles 167"/>
          <p:cNvSpPr/>
          <p:nvPr/>
        </p:nvSpPr>
        <p:spPr>
          <a:xfrm>
            <a:off x="1800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键鼠与触摸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Rectangles 168"/>
          <p:cNvSpPr/>
          <p:nvPr/>
        </p:nvSpPr>
        <p:spPr>
          <a:xfrm>
            <a:off x="2808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调度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动作与响应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Rectangles 169"/>
          <p:cNvSpPr/>
          <p:nvPr/>
        </p:nvSpPr>
        <p:spPr>
          <a:xfrm>
            <a:off x="3816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输出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屏幕与窗口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Rectangles 170"/>
          <p:cNvSpPr/>
          <p:nvPr/>
        </p:nvSpPr>
        <p:spPr>
          <a:xfrm>
            <a:off x="8712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文件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文件管理器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Rectangles 171"/>
          <p:cNvSpPr/>
          <p:nvPr/>
        </p:nvSpPr>
        <p:spPr>
          <a:xfrm>
            <a:off x="9720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定制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特殊目录集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Rectangles 172"/>
          <p:cNvSpPr/>
          <p:nvPr/>
        </p:nvSpPr>
        <p:spPr>
          <a:xfrm>
            <a:off x="10728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设置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设置管理器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Rectangles 173"/>
          <p:cNvSpPr/>
          <p:nvPr/>
        </p:nvSpPr>
        <p:spPr>
          <a:xfrm>
            <a:off x="5256000" y="3384000"/>
            <a:ext cx="2879280" cy="35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各类应用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Rectangles 174"/>
          <p:cNvSpPr/>
          <p:nvPr/>
        </p:nvSpPr>
        <p:spPr>
          <a:xfrm>
            <a:off x="5040000" y="2160000"/>
            <a:ext cx="1007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时序服务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启动锁屏退出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Rectangles 175"/>
          <p:cNvSpPr/>
          <p:nvPr/>
        </p:nvSpPr>
        <p:spPr>
          <a:xfrm>
            <a:off x="6192000" y="2160000"/>
            <a:ext cx="1007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空间布局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桌面面板控件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Rectangles 176"/>
          <p:cNvSpPr/>
          <p:nvPr/>
        </p:nvSpPr>
        <p:spPr>
          <a:xfrm>
            <a:off x="7344000" y="2160000"/>
            <a:ext cx="1007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信息管理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应用窗口状态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Rectangles 177"/>
          <p:cNvSpPr/>
          <p:nvPr/>
        </p:nvSpPr>
        <p:spPr>
          <a:xfrm>
            <a:off x="1584000" y="3996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语言结构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Rectangles 178"/>
          <p:cNvSpPr/>
          <p:nvPr/>
        </p:nvSpPr>
        <p:spPr>
          <a:xfrm>
            <a:off x="8460000" y="3996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业务运行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Rectangles 134"/>
          <p:cNvSpPr/>
          <p:nvPr/>
        </p:nvSpPr>
        <p:spPr>
          <a:xfrm>
            <a:off x="1332000" y="1105560"/>
            <a:ext cx="10726560" cy="4833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图形客户端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图形系统核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0000" cy="57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图形系统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Rectangles 135"/>
          <p:cNvSpPr/>
          <p:nvPr/>
        </p:nvSpPr>
        <p:spPr>
          <a:xfrm>
            <a:off x="1332000" y="646200"/>
            <a:ext cx="10738080" cy="4568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应用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/AI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客户端）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Rectangles 136"/>
          <p:cNvSpPr/>
          <p:nvPr/>
        </p:nvSpPr>
        <p:spPr>
          <a:xfrm>
            <a:off x="1332000" y="5940000"/>
            <a:ext cx="10738440" cy="8733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（系统）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26"/>
          <p:cNvSpPr/>
          <p:nvPr/>
        </p:nvSpPr>
        <p:spPr>
          <a:xfrm>
            <a:off x="88200" y="602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应用层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PlaceHolder 27"/>
          <p:cNvSpPr/>
          <p:nvPr/>
        </p:nvSpPr>
        <p:spPr>
          <a:xfrm>
            <a:off x="88560" y="6074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系统层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PlaceHolder 28"/>
          <p:cNvSpPr/>
          <p:nvPr/>
        </p:nvSpPr>
        <p:spPr>
          <a:xfrm>
            <a:off x="88920" y="4418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业务层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PlaceHolder 29"/>
          <p:cNvSpPr/>
          <p:nvPr/>
        </p:nvSpPr>
        <p:spPr>
          <a:xfrm>
            <a:off x="89280" y="2258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交互层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1332000" y="3780000"/>
            <a:ext cx="10728000" cy="360"/>
          </a:xfrm>
          <a:prstGeom prst="line">
            <a:avLst/>
          </a:prstGeom>
          <a:ln w="12600">
            <a:solidFill>
              <a:srgbClr val="000000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Rectangles 137"/>
          <p:cNvSpPr/>
          <p:nvPr/>
        </p:nvSpPr>
        <p:spPr>
          <a:xfrm>
            <a:off x="3346200" y="5942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Shell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解释器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Rectangles 138"/>
          <p:cNvSpPr/>
          <p:nvPr/>
        </p:nvSpPr>
        <p:spPr>
          <a:xfrm>
            <a:off x="8028000" y="5942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系统工具集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Rectangles 139"/>
          <p:cNvSpPr/>
          <p:nvPr/>
        </p:nvSpPr>
        <p:spPr>
          <a:xfrm>
            <a:off x="3346200" y="6410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运行时支撑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Rectangles 140"/>
          <p:cNvSpPr/>
          <p:nvPr/>
        </p:nvSpPr>
        <p:spPr>
          <a:xfrm>
            <a:off x="8026200" y="6410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广义硬件接口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Rectangles 141"/>
          <p:cNvSpPr/>
          <p:nvPr/>
        </p:nvSpPr>
        <p:spPr>
          <a:xfrm>
            <a:off x="5686200" y="5942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图形服务端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Rectangles 142"/>
          <p:cNvSpPr/>
          <p:nvPr/>
        </p:nvSpPr>
        <p:spPr>
          <a:xfrm>
            <a:off x="1584000" y="1584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交互面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Rectangles 143"/>
          <p:cNvSpPr/>
          <p:nvPr/>
        </p:nvSpPr>
        <p:spPr>
          <a:xfrm>
            <a:off x="8496000" y="1584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资源体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Rectangles 144"/>
          <p:cNvSpPr/>
          <p:nvPr/>
        </p:nvSpPr>
        <p:spPr>
          <a:xfrm>
            <a:off x="1800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键鼠与触摸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Rectangles 145"/>
          <p:cNvSpPr/>
          <p:nvPr/>
        </p:nvSpPr>
        <p:spPr>
          <a:xfrm>
            <a:off x="2808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调度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动作与响应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Rectangles 146"/>
          <p:cNvSpPr/>
          <p:nvPr/>
        </p:nvSpPr>
        <p:spPr>
          <a:xfrm>
            <a:off x="3816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输出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屏幕与窗口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Rectangles 147"/>
          <p:cNvSpPr/>
          <p:nvPr/>
        </p:nvSpPr>
        <p:spPr>
          <a:xfrm>
            <a:off x="8712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文件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文件管理器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Rectangles 148"/>
          <p:cNvSpPr/>
          <p:nvPr/>
        </p:nvSpPr>
        <p:spPr>
          <a:xfrm>
            <a:off x="9720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定制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特殊目录集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Rectangles 149"/>
          <p:cNvSpPr/>
          <p:nvPr/>
        </p:nvSpPr>
        <p:spPr>
          <a:xfrm>
            <a:off x="10728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设置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设置管理器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Rectangles 150"/>
          <p:cNvSpPr/>
          <p:nvPr/>
        </p:nvSpPr>
        <p:spPr>
          <a:xfrm>
            <a:off x="5256000" y="3384000"/>
            <a:ext cx="2879280" cy="35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各类应用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Rectangles 151"/>
          <p:cNvSpPr/>
          <p:nvPr/>
        </p:nvSpPr>
        <p:spPr>
          <a:xfrm>
            <a:off x="5040000" y="2160000"/>
            <a:ext cx="1007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时序服务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启动锁屏退出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Rectangles 152"/>
          <p:cNvSpPr/>
          <p:nvPr/>
        </p:nvSpPr>
        <p:spPr>
          <a:xfrm>
            <a:off x="6192000" y="2160000"/>
            <a:ext cx="1007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空间布局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桌面面板控件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Rectangles 153"/>
          <p:cNvSpPr/>
          <p:nvPr/>
        </p:nvSpPr>
        <p:spPr>
          <a:xfrm>
            <a:off x="7344000" y="2160000"/>
            <a:ext cx="1007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信息管理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应用窗口状态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Rectangles 154"/>
          <p:cNvSpPr/>
          <p:nvPr/>
        </p:nvSpPr>
        <p:spPr>
          <a:xfrm>
            <a:off x="1584000" y="3996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语言结构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Rectangles 155"/>
          <p:cNvSpPr/>
          <p:nvPr/>
        </p:nvSpPr>
        <p:spPr>
          <a:xfrm>
            <a:off x="8460000" y="3996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业务运行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Rectangles 156"/>
          <p:cNvSpPr/>
          <p:nvPr/>
        </p:nvSpPr>
        <p:spPr>
          <a:xfrm>
            <a:off x="5256000" y="3816000"/>
            <a:ext cx="2879280" cy="287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SDK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Rectangles 157"/>
          <p:cNvSpPr/>
          <p:nvPr/>
        </p:nvSpPr>
        <p:spPr>
          <a:xfrm>
            <a:off x="5220000" y="5616000"/>
            <a:ext cx="2879280" cy="25092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系统封装扩展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Rectangles 76"/>
          <p:cNvSpPr/>
          <p:nvPr/>
        </p:nvSpPr>
        <p:spPr>
          <a:xfrm>
            <a:off x="1332000" y="1105560"/>
            <a:ext cx="10726560" cy="4833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图形客户端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图形系统核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0000" cy="57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图形系统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Rectangles 77"/>
          <p:cNvSpPr/>
          <p:nvPr/>
        </p:nvSpPr>
        <p:spPr>
          <a:xfrm>
            <a:off x="1332000" y="646200"/>
            <a:ext cx="10738080" cy="4568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应用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/AI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客户端）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Rectangles 78"/>
          <p:cNvSpPr/>
          <p:nvPr/>
        </p:nvSpPr>
        <p:spPr>
          <a:xfrm>
            <a:off x="1332000" y="5940000"/>
            <a:ext cx="10738440" cy="8733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（系统）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21"/>
          <p:cNvSpPr/>
          <p:nvPr/>
        </p:nvSpPr>
        <p:spPr>
          <a:xfrm>
            <a:off x="88200" y="602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应用层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PlaceHolder 22"/>
          <p:cNvSpPr/>
          <p:nvPr/>
        </p:nvSpPr>
        <p:spPr>
          <a:xfrm>
            <a:off x="88560" y="6074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系统层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PlaceHolder 23"/>
          <p:cNvSpPr/>
          <p:nvPr/>
        </p:nvSpPr>
        <p:spPr>
          <a:xfrm>
            <a:off x="88920" y="4418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业务层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PlaceHolder 24"/>
          <p:cNvSpPr/>
          <p:nvPr/>
        </p:nvSpPr>
        <p:spPr>
          <a:xfrm>
            <a:off x="89280" y="2258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交互层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"/>
          <p:cNvSpPr/>
          <p:nvPr/>
        </p:nvSpPr>
        <p:spPr>
          <a:xfrm>
            <a:off x="1332000" y="3780000"/>
            <a:ext cx="10728000" cy="360"/>
          </a:xfrm>
          <a:prstGeom prst="line">
            <a:avLst/>
          </a:prstGeom>
          <a:ln w="12600">
            <a:solidFill>
              <a:srgbClr val="000000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Rectangles 79"/>
          <p:cNvSpPr/>
          <p:nvPr/>
        </p:nvSpPr>
        <p:spPr>
          <a:xfrm>
            <a:off x="3346200" y="5942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Shell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解释器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Rectangles 80"/>
          <p:cNvSpPr/>
          <p:nvPr/>
        </p:nvSpPr>
        <p:spPr>
          <a:xfrm>
            <a:off x="8028000" y="5942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系统工具集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Rectangles 81"/>
          <p:cNvSpPr/>
          <p:nvPr/>
        </p:nvSpPr>
        <p:spPr>
          <a:xfrm>
            <a:off x="3346200" y="6410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运行时支撑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Rectangles 82"/>
          <p:cNvSpPr/>
          <p:nvPr/>
        </p:nvSpPr>
        <p:spPr>
          <a:xfrm>
            <a:off x="8026200" y="6410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广义硬件接口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Rectangles 83"/>
          <p:cNvSpPr/>
          <p:nvPr/>
        </p:nvSpPr>
        <p:spPr>
          <a:xfrm>
            <a:off x="5686200" y="5942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图形服务端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Rectangles 84"/>
          <p:cNvSpPr/>
          <p:nvPr/>
        </p:nvSpPr>
        <p:spPr>
          <a:xfrm>
            <a:off x="1584000" y="1584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交互面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Rectangles 85"/>
          <p:cNvSpPr/>
          <p:nvPr/>
        </p:nvSpPr>
        <p:spPr>
          <a:xfrm>
            <a:off x="8496000" y="1584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资源体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Rectangles 86"/>
          <p:cNvSpPr/>
          <p:nvPr/>
        </p:nvSpPr>
        <p:spPr>
          <a:xfrm>
            <a:off x="1800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键鼠与触摸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Rectangles 87"/>
          <p:cNvSpPr/>
          <p:nvPr/>
        </p:nvSpPr>
        <p:spPr>
          <a:xfrm>
            <a:off x="2808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调度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动作与响应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Rectangles 88"/>
          <p:cNvSpPr/>
          <p:nvPr/>
        </p:nvSpPr>
        <p:spPr>
          <a:xfrm>
            <a:off x="3816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输出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屏幕与窗口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Rectangles 89"/>
          <p:cNvSpPr/>
          <p:nvPr/>
        </p:nvSpPr>
        <p:spPr>
          <a:xfrm>
            <a:off x="8712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文件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文件管理器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Rectangles 90"/>
          <p:cNvSpPr/>
          <p:nvPr/>
        </p:nvSpPr>
        <p:spPr>
          <a:xfrm>
            <a:off x="9720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定制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特殊目录集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Rectangles 91"/>
          <p:cNvSpPr/>
          <p:nvPr/>
        </p:nvSpPr>
        <p:spPr>
          <a:xfrm>
            <a:off x="10728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设置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设置管理器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Rectangles 93"/>
          <p:cNvSpPr/>
          <p:nvPr/>
        </p:nvSpPr>
        <p:spPr>
          <a:xfrm>
            <a:off x="5256000" y="3384000"/>
            <a:ext cx="2879280" cy="35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各类应用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Rectangles 94"/>
          <p:cNvSpPr/>
          <p:nvPr/>
        </p:nvSpPr>
        <p:spPr>
          <a:xfrm>
            <a:off x="5040000" y="2160000"/>
            <a:ext cx="1007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时序服务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启动锁屏退出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Rectangles 95"/>
          <p:cNvSpPr/>
          <p:nvPr/>
        </p:nvSpPr>
        <p:spPr>
          <a:xfrm>
            <a:off x="6192000" y="2160000"/>
            <a:ext cx="1007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空间布局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桌面面板控件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Rectangles 96"/>
          <p:cNvSpPr/>
          <p:nvPr/>
        </p:nvSpPr>
        <p:spPr>
          <a:xfrm>
            <a:off x="7344000" y="2160000"/>
            <a:ext cx="1007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信息管理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应用窗口状态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Rectangles 100"/>
          <p:cNvSpPr/>
          <p:nvPr/>
        </p:nvSpPr>
        <p:spPr>
          <a:xfrm>
            <a:off x="1584000" y="3996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语言结构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Rectangles 101"/>
          <p:cNvSpPr/>
          <p:nvPr/>
        </p:nvSpPr>
        <p:spPr>
          <a:xfrm>
            <a:off x="8460000" y="3996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业务运行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Rectangles 129"/>
          <p:cNvSpPr/>
          <p:nvPr/>
        </p:nvSpPr>
        <p:spPr>
          <a:xfrm>
            <a:off x="1800000" y="4680000"/>
            <a:ext cx="899280" cy="75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动作与组合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词法与语法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Rectangles 130"/>
          <p:cNvSpPr/>
          <p:nvPr/>
        </p:nvSpPr>
        <p:spPr>
          <a:xfrm>
            <a:off x="3816000" y="4680000"/>
            <a:ext cx="899280" cy="75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输出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图元与组合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词法与语法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Rectangles 131"/>
          <p:cNvSpPr/>
          <p:nvPr/>
        </p:nvSpPr>
        <p:spPr>
          <a:xfrm>
            <a:off x="2808000" y="4680000"/>
            <a:ext cx="899280" cy="75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调度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横纵向联动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语句话执行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Rectangles 132"/>
          <p:cNvSpPr/>
          <p:nvPr/>
        </p:nvSpPr>
        <p:spPr>
          <a:xfrm>
            <a:off x="5256000" y="3816000"/>
            <a:ext cx="2879280" cy="287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SDK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Rectangles 133"/>
          <p:cNvSpPr/>
          <p:nvPr/>
        </p:nvSpPr>
        <p:spPr>
          <a:xfrm>
            <a:off x="5220000" y="5616000"/>
            <a:ext cx="2879280" cy="25092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系统封装扩展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tangles 24"/>
          <p:cNvSpPr/>
          <p:nvPr/>
        </p:nvSpPr>
        <p:spPr>
          <a:xfrm>
            <a:off x="1332000" y="1105560"/>
            <a:ext cx="10726560" cy="4833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图形客户端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图形系统核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0000" cy="57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图形系统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Rectangles 25"/>
          <p:cNvSpPr/>
          <p:nvPr/>
        </p:nvSpPr>
        <p:spPr>
          <a:xfrm>
            <a:off x="1332000" y="646200"/>
            <a:ext cx="10738080" cy="4568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应用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/AI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客户端）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Rectangles 26"/>
          <p:cNvSpPr/>
          <p:nvPr/>
        </p:nvSpPr>
        <p:spPr>
          <a:xfrm>
            <a:off x="1332000" y="5940000"/>
            <a:ext cx="10738440" cy="8733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（系统）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14"/>
          <p:cNvSpPr/>
          <p:nvPr/>
        </p:nvSpPr>
        <p:spPr>
          <a:xfrm>
            <a:off x="88200" y="602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应用层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PlaceHolder 18"/>
          <p:cNvSpPr/>
          <p:nvPr/>
        </p:nvSpPr>
        <p:spPr>
          <a:xfrm>
            <a:off x="88560" y="6074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系统层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PlaceHolder 19"/>
          <p:cNvSpPr/>
          <p:nvPr/>
        </p:nvSpPr>
        <p:spPr>
          <a:xfrm>
            <a:off x="88920" y="4418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业务层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PlaceHolder 20"/>
          <p:cNvSpPr/>
          <p:nvPr/>
        </p:nvSpPr>
        <p:spPr>
          <a:xfrm>
            <a:off x="89280" y="2258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交互层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"/>
          <p:cNvSpPr/>
          <p:nvPr/>
        </p:nvSpPr>
        <p:spPr>
          <a:xfrm>
            <a:off x="1332000" y="3780000"/>
            <a:ext cx="10728000" cy="360"/>
          </a:xfrm>
          <a:prstGeom prst="line">
            <a:avLst/>
          </a:prstGeom>
          <a:ln w="12600">
            <a:solidFill>
              <a:srgbClr val="000000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Rectangles 102"/>
          <p:cNvSpPr/>
          <p:nvPr/>
        </p:nvSpPr>
        <p:spPr>
          <a:xfrm>
            <a:off x="3346200" y="5942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Shell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解释器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Rectangles 103"/>
          <p:cNvSpPr/>
          <p:nvPr/>
        </p:nvSpPr>
        <p:spPr>
          <a:xfrm>
            <a:off x="8028000" y="5942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系统工具集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Rectangles 104"/>
          <p:cNvSpPr/>
          <p:nvPr/>
        </p:nvSpPr>
        <p:spPr>
          <a:xfrm>
            <a:off x="3346200" y="6410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运行时支撑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Rectangles 105"/>
          <p:cNvSpPr/>
          <p:nvPr/>
        </p:nvSpPr>
        <p:spPr>
          <a:xfrm>
            <a:off x="8026200" y="6410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广义硬件接口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Rectangles 106"/>
          <p:cNvSpPr/>
          <p:nvPr/>
        </p:nvSpPr>
        <p:spPr>
          <a:xfrm>
            <a:off x="5686200" y="5942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图形服务端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Rectangles 107"/>
          <p:cNvSpPr/>
          <p:nvPr/>
        </p:nvSpPr>
        <p:spPr>
          <a:xfrm>
            <a:off x="1584000" y="1584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交互面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Rectangles 108"/>
          <p:cNvSpPr/>
          <p:nvPr/>
        </p:nvSpPr>
        <p:spPr>
          <a:xfrm>
            <a:off x="8496000" y="1584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资源体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Rectangles 109"/>
          <p:cNvSpPr/>
          <p:nvPr/>
        </p:nvSpPr>
        <p:spPr>
          <a:xfrm>
            <a:off x="1800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键鼠与触摸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Rectangles 110"/>
          <p:cNvSpPr/>
          <p:nvPr/>
        </p:nvSpPr>
        <p:spPr>
          <a:xfrm>
            <a:off x="2808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调度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动作与响应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Rectangles 111"/>
          <p:cNvSpPr/>
          <p:nvPr/>
        </p:nvSpPr>
        <p:spPr>
          <a:xfrm>
            <a:off x="3816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输出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屏幕与窗口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Rectangles 112"/>
          <p:cNvSpPr/>
          <p:nvPr/>
        </p:nvSpPr>
        <p:spPr>
          <a:xfrm>
            <a:off x="8712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文件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文件管理器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Rectangles 113"/>
          <p:cNvSpPr/>
          <p:nvPr/>
        </p:nvSpPr>
        <p:spPr>
          <a:xfrm>
            <a:off x="9720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定制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特殊目录集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Rectangles 114"/>
          <p:cNvSpPr/>
          <p:nvPr/>
        </p:nvSpPr>
        <p:spPr>
          <a:xfrm>
            <a:off x="10728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设置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设置管理器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Rectangles 115"/>
          <p:cNvSpPr/>
          <p:nvPr/>
        </p:nvSpPr>
        <p:spPr>
          <a:xfrm>
            <a:off x="5256000" y="3384000"/>
            <a:ext cx="2879280" cy="35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各类应用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Rectangles 116"/>
          <p:cNvSpPr/>
          <p:nvPr/>
        </p:nvSpPr>
        <p:spPr>
          <a:xfrm>
            <a:off x="5040000" y="2160000"/>
            <a:ext cx="1007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时序服务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启动锁屏退出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Rectangles 117"/>
          <p:cNvSpPr/>
          <p:nvPr/>
        </p:nvSpPr>
        <p:spPr>
          <a:xfrm>
            <a:off x="6192000" y="2160000"/>
            <a:ext cx="1007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空间布局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桌面面板控件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Rectangles 118"/>
          <p:cNvSpPr/>
          <p:nvPr/>
        </p:nvSpPr>
        <p:spPr>
          <a:xfrm>
            <a:off x="7344000" y="2160000"/>
            <a:ext cx="1007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信息管理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应用窗口状态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Rectangles 119"/>
          <p:cNvSpPr/>
          <p:nvPr/>
        </p:nvSpPr>
        <p:spPr>
          <a:xfrm>
            <a:off x="1584000" y="3996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语言结构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Rectangles 120"/>
          <p:cNvSpPr/>
          <p:nvPr/>
        </p:nvSpPr>
        <p:spPr>
          <a:xfrm>
            <a:off x="8460000" y="3996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业务运行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Rectangles 121"/>
          <p:cNvSpPr/>
          <p:nvPr/>
        </p:nvSpPr>
        <p:spPr>
          <a:xfrm>
            <a:off x="1800000" y="4680000"/>
            <a:ext cx="899280" cy="75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动作与组合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词法与语法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Rectangles 122"/>
          <p:cNvSpPr/>
          <p:nvPr/>
        </p:nvSpPr>
        <p:spPr>
          <a:xfrm>
            <a:off x="3816000" y="4680000"/>
            <a:ext cx="899280" cy="75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输出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图元与组合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词法与语法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Rectangles 123"/>
          <p:cNvSpPr/>
          <p:nvPr/>
        </p:nvSpPr>
        <p:spPr>
          <a:xfrm>
            <a:off x="2808000" y="4680000"/>
            <a:ext cx="899280" cy="75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调度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横纵向联动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语句话执行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Rectangles 124"/>
          <p:cNvSpPr/>
          <p:nvPr/>
        </p:nvSpPr>
        <p:spPr>
          <a:xfrm>
            <a:off x="5256000" y="3816000"/>
            <a:ext cx="2879280" cy="287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SDK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Rectangles 125"/>
          <p:cNvSpPr/>
          <p:nvPr/>
        </p:nvSpPr>
        <p:spPr>
          <a:xfrm>
            <a:off x="5220000" y="5616000"/>
            <a:ext cx="2879280" cy="25092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系统封装扩展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Rectangles 126"/>
          <p:cNvSpPr/>
          <p:nvPr/>
        </p:nvSpPr>
        <p:spPr>
          <a:xfrm>
            <a:off x="8676000" y="4680000"/>
            <a:ext cx="899280" cy="75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对接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输入转译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输出转译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Rectangles 127"/>
          <p:cNvSpPr/>
          <p:nvPr/>
        </p:nvSpPr>
        <p:spPr>
          <a:xfrm>
            <a:off x="9684000" y="4680000"/>
            <a:ext cx="899280" cy="75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管理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进度状态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工作启停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Rectangles 128"/>
          <p:cNvSpPr/>
          <p:nvPr/>
        </p:nvSpPr>
        <p:spPr>
          <a:xfrm>
            <a:off x="10728000" y="4680000"/>
            <a:ext cx="899280" cy="75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工作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专项交互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业务计算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Rectangles 36"/>
          <p:cNvSpPr/>
          <p:nvPr/>
        </p:nvSpPr>
        <p:spPr>
          <a:xfrm>
            <a:off x="1332000" y="1105560"/>
            <a:ext cx="10726560" cy="4833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图形客户端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图形系统核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3328200" y="-9720"/>
            <a:ext cx="7830000" cy="57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学习架构设计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了解语言案例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图形系统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Rectangles 37"/>
          <p:cNvSpPr/>
          <p:nvPr/>
        </p:nvSpPr>
        <p:spPr>
          <a:xfrm>
            <a:off x="1332000" y="646200"/>
            <a:ext cx="10738080" cy="45684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上层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（人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应用</a:t>
            </a:r>
            <a:r>
              <a:rPr b="1" lang="en-US" sz="1600" spc="-1" strike="noStrike">
                <a:solidFill>
                  <a:schemeClr val="dk1"/>
                </a:solidFill>
                <a:latin typeface="Arial"/>
              </a:rPr>
              <a:t>/AI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客户端）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Rectangles 38"/>
          <p:cNvSpPr/>
          <p:nvPr/>
        </p:nvSpPr>
        <p:spPr>
          <a:xfrm>
            <a:off x="1332000" y="5940000"/>
            <a:ext cx="10738440" cy="8733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下层</a:t>
            </a: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（系统）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7"/>
          <p:cNvSpPr/>
          <p:nvPr/>
        </p:nvSpPr>
        <p:spPr>
          <a:xfrm>
            <a:off x="88200" y="602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应用层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PlaceHolder 8"/>
          <p:cNvSpPr/>
          <p:nvPr/>
        </p:nvSpPr>
        <p:spPr>
          <a:xfrm>
            <a:off x="88560" y="6074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系统层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PlaceHolder 9"/>
          <p:cNvSpPr/>
          <p:nvPr/>
        </p:nvSpPr>
        <p:spPr>
          <a:xfrm>
            <a:off x="88920" y="4418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业务层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PlaceHolder 11"/>
          <p:cNvSpPr/>
          <p:nvPr/>
        </p:nvSpPr>
        <p:spPr>
          <a:xfrm>
            <a:off x="89280" y="2258280"/>
            <a:ext cx="1206360" cy="5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90000"/>
              </a:lnSpc>
              <a:tabLst>
                <a:tab algn="l" pos="0"/>
              </a:tabLst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交互层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1332000" y="3780000"/>
            <a:ext cx="10728000" cy="360"/>
          </a:xfrm>
          <a:prstGeom prst="line">
            <a:avLst/>
          </a:prstGeom>
          <a:ln w="12600">
            <a:solidFill>
              <a:srgbClr val="000000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Rectangles 39"/>
          <p:cNvSpPr/>
          <p:nvPr/>
        </p:nvSpPr>
        <p:spPr>
          <a:xfrm>
            <a:off x="3346200" y="5942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Shell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解释器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Rectangles 40"/>
          <p:cNvSpPr/>
          <p:nvPr/>
        </p:nvSpPr>
        <p:spPr>
          <a:xfrm>
            <a:off x="8028000" y="5942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系统工具集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Rectangles 41"/>
          <p:cNvSpPr/>
          <p:nvPr/>
        </p:nvSpPr>
        <p:spPr>
          <a:xfrm>
            <a:off x="3346200" y="6410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C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运行时支撑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Rectangles 42"/>
          <p:cNvSpPr/>
          <p:nvPr/>
        </p:nvSpPr>
        <p:spPr>
          <a:xfrm>
            <a:off x="8026200" y="6410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广义硬件接口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Rectangles 43"/>
          <p:cNvSpPr/>
          <p:nvPr/>
        </p:nvSpPr>
        <p:spPr>
          <a:xfrm>
            <a:off x="5686200" y="5942520"/>
            <a:ext cx="1872360" cy="356040"/>
          </a:xfrm>
          <a:prstGeom prst="rect">
            <a:avLst/>
          </a:prstGeom>
          <a:solidFill>
            <a:srgbClr val="999999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图形服务端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Rectangles 44"/>
          <p:cNvSpPr/>
          <p:nvPr/>
        </p:nvSpPr>
        <p:spPr>
          <a:xfrm>
            <a:off x="1584000" y="1584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交互面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Rectangles 52"/>
          <p:cNvSpPr/>
          <p:nvPr/>
        </p:nvSpPr>
        <p:spPr>
          <a:xfrm>
            <a:off x="8496000" y="1584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资源体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Rectangles 53"/>
          <p:cNvSpPr/>
          <p:nvPr/>
        </p:nvSpPr>
        <p:spPr>
          <a:xfrm>
            <a:off x="1800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键鼠与触摸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Rectangles 54"/>
          <p:cNvSpPr/>
          <p:nvPr/>
        </p:nvSpPr>
        <p:spPr>
          <a:xfrm>
            <a:off x="2808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调度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动作与响应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Rectangles 55"/>
          <p:cNvSpPr/>
          <p:nvPr/>
        </p:nvSpPr>
        <p:spPr>
          <a:xfrm>
            <a:off x="3816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输出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屏幕与窗口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Rectangles 56"/>
          <p:cNvSpPr/>
          <p:nvPr/>
        </p:nvSpPr>
        <p:spPr>
          <a:xfrm>
            <a:off x="8712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文件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文件管理器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Rectangles 57"/>
          <p:cNvSpPr/>
          <p:nvPr/>
        </p:nvSpPr>
        <p:spPr>
          <a:xfrm>
            <a:off x="9720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定制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特殊目录集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Rectangles 58"/>
          <p:cNvSpPr/>
          <p:nvPr/>
        </p:nvSpPr>
        <p:spPr>
          <a:xfrm>
            <a:off x="10728000" y="2304000"/>
            <a:ext cx="899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设置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设置管理器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Rectangles 59"/>
          <p:cNvSpPr/>
          <p:nvPr/>
        </p:nvSpPr>
        <p:spPr>
          <a:xfrm>
            <a:off x="5256000" y="3384000"/>
            <a:ext cx="2879280" cy="35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各类应用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Rectangles 60"/>
          <p:cNvSpPr/>
          <p:nvPr/>
        </p:nvSpPr>
        <p:spPr>
          <a:xfrm>
            <a:off x="5040000" y="2160000"/>
            <a:ext cx="1007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时序服务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启动锁屏退出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Rectangles 61"/>
          <p:cNvSpPr/>
          <p:nvPr/>
        </p:nvSpPr>
        <p:spPr>
          <a:xfrm>
            <a:off x="6192000" y="2160000"/>
            <a:ext cx="1007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空间布局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桌面面板控件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Rectangles 62"/>
          <p:cNvSpPr/>
          <p:nvPr/>
        </p:nvSpPr>
        <p:spPr>
          <a:xfrm>
            <a:off x="7344000" y="2160000"/>
            <a:ext cx="1007280" cy="719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信息管理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应用窗口状态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Rectangles 63"/>
          <p:cNvSpPr/>
          <p:nvPr/>
        </p:nvSpPr>
        <p:spPr>
          <a:xfrm>
            <a:off x="1584000" y="3996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语言结构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Rectangles 64"/>
          <p:cNvSpPr/>
          <p:nvPr/>
        </p:nvSpPr>
        <p:spPr>
          <a:xfrm>
            <a:off x="8460000" y="3996000"/>
            <a:ext cx="3311280" cy="161892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  <a:ea typeface="Noto Sans CJK SC"/>
              </a:rPr>
              <a:t>业务运行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Rectangles 65"/>
          <p:cNvSpPr/>
          <p:nvPr/>
        </p:nvSpPr>
        <p:spPr>
          <a:xfrm>
            <a:off x="1800000" y="4680000"/>
            <a:ext cx="899280" cy="75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动作与组合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词法与语法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Rectangles 66"/>
          <p:cNvSpPr/>
          <p:nvPr/>
        </p:nvSpPr>
        <p:spPr>
          <a:xfrm>
            <a:off x="3816000" y="4680000"/>
            <a:ext cx="899280" cy="75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输出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图元与组合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词法与语法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Rectangles 67"/>
          <p:cNvSpPr/>
          <p:nvPr/>
        </p:nvSpPr>
        <p:spPr>
          <a:xfrm>
            <a:off x="2808000" y="4680000"/>
            <a:ext cx="899280" cy="75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调度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横纵向联动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语句话执行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Rectangles 68"/>
          <p:cNvSpPr/>
          <p:nvPr/>
        </p:nvSpPr>
        <p:spPr>
          <a:xfrm>
            <a:off x="5256000" y="3816000"/>
            <a:ext cx="2879280" cy="287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SDK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Rectangles 69"/>
          <p:cNvSpPr/>
          <p:nvPr/>
        </p:nvSpPr>
        <p:spPr>
          <a:xfrm>
            <a:off x="5220000" y="5616000"/>
            <a:ext cx="2879280" cy="25092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系统封装扩展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Rectangles 70"/>
          <p:cNvSpPr/>
          <p:nvPr/>
        </p:nvSpPr>
        <p:spPr>
          <a:xfrm>
            <a:off x="8676000" y="4680000"/>
            <a:ext cx="899280" cy="75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对接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输入转译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输出转译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Rectangles 71"/>
          <p:cNvSpPr/>
          <p:nvPr/>
        </p:nvSpPr>
        <p:spPr>
          <a:xfrm>
            <a:off x="9684000" y="4680000"/>
            <a:ext cx="899280" cy="75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管理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进度状态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工作启停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Rectangles 72"/>
          <p:cNvSpPr/>
          <p:nvPr/>
        </p:nvSpPr>
        <p:spPr>
          <a:xfrm>
            <a:off x="10728000" y="4680000"/>
            <a:ext cx="899280" cy="75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工作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专项交互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业务计算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Rectangles 73"/>
          <p:cNvSpPr/>
          <p:nvPr/>
        </p:nvSpPr>
        <p:spPr>
          <a:xfrm>
            <a:off x="5220000" y="4680000"/>
            <a:ext cx="899280" cy="75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定时触发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异步触发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Rectangles 74"/>
          <p:cNvSpPr/>
          <p:nvPr/>
        </p:nvSpPr>
        <p:spPr>
          <a:xfrm>
            <a:off x="6228000" y="4680000"/>
            <a:ext cx="899280" cy="75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空间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图形触发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动作触发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Rectangles 75"/>
          <p:cNvSpPr/>
          <p:nvPr/>
        </p:nvSpPr>
        <p:spPr>
          <a:xfrm>
            <a:off x="7236000" y="4680000"/>
            <a:ext cx="899280" cy="755280"/>
          </a:xfrm>
          <a:prstGeom prst="rect">
            <a:avLst/>
          </a:prstGeom>
          <a:solidFill>
            <a:srgbClr val="ffbf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信息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状态管理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lang="zh-CN" sz="1050" spc="-1" strike="noStrike">
                <a:solidFill>
                  <a:schemeClr val="dk1"/>
                </a:solidFill>
                <a:latin typeface="Arial"/>
              </a:rPr>
              <a:t>功能触发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1238</TotalTime>
  <Application>LibreOffice/24.2.7.2$Linux_RISCV64 LibreOffice_project/420$Build-2</Application>
  <AppVersion>15.0000</AppVersion>
  <Words>756</Words>
  <Paragraphs>456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2026-07-05T00:27:39Z</dcterms:created>
  <dc:creator/>
  <dc:description/>
  <dc:language>zh-CN</dc:language>
  <cp:lastModifiedBy/>
  <dcterms:modified xsi:type="dcterms:W3CDTF">2026-08-07T21:29:06Z</dcterms:modified>
  <cp:revision>819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  <property fmtid="{D5CDD505-2E9C-101B-9397-08002B2CF9AE}" pid="4" name="PresentationFormat">
    <vt:lpwstr>宽屏</vt:lpwstr>
  </property>
  <property fmtid="{D5CDD505-2E9C-101B-9397-08002B2CF9AE}" pid="5" name="Slides">
    <vt:i4>6</vt:i4>
  </property>
</Properties>
</file>