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E52874-9D73-4873-B145-BDB0A37AFE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EF4555-38C0-4DBE-A6B0-669C7375FD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BFB6E69-4F2C-4175-A622-CF058389D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B728869-333A-4845-9627-B9C342CC2B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036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5040" y="1825560"/>
            <a:ext cx="513036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1EEF6EB-4F99-411B-BF28-D7A05C74D9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7A3FEDA-0CBD-480F-8D44-2DEB844C0E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B77888E-AFD7-4C13-B165-F8D4ADBCA2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A842A12-DD4D-4824-88C2-2A1C12F2E9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6327821-A710-46FC-978C-4D74D519E0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6711F3D-93FB-4E8E-B254-8CBDA8C8DF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F841EC5-B0D9-4D2B-99B9-D9CDBA1BC1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5458AC8-17BC-43E9-A43A-44ED5E8450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211EF6B-E5B5-4315-803B-4DE017F04D1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8A47BFC-F4F0-4212-8C2C-287246D300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3000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5040" y="1825560"/>
            <a:ext cx="5130000" cy="434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29C20A5-4EE8-4216-BF62-79C11A797FE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03ACCB1-9C4E-4BC9-8ADA-405ABC8E303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8226F3C-24DA-4112-AAD1-102E3490BE5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C14F97B-DDF7-4B2A-B08A-B1339356EBE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2520" cy="139392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A20B8F-E26F-4DB8-8A0E-441B7A6BB01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0C92B1-2BD2-4E4B-B03B-0892F263006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s 61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62"/>
          <p:cNvSpPr/>
          <p:nvPr/>
        </p:nvSpPr>
        <p:spPr>
          <a:xfrm>
            <a:off x="329040" y="1141920"/>
            <a:ext cx="10650960" cy="515808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ectangles 70"/>
          <p:cNvSpPr/>
          <p:nvPr/>
        </p:nvSpPr>
        <p:spPr>
          <a:xfrm>
            <a:off x="329400" y="6298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ectangles 60"/>
          <p:cNvSpPr/>
          <p:nvPr/>
        </p:nvSpPr>
        <p:spPr>
          <a:xfrm>
            <a:off x="10980000" y="1141920"/>
            <a:ext cx="828000" cy="515808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s 71"/>
          <p:cNvSpPr/>
          <p:nvPr/>
        </p:nvSpPr>
        <p:spPr>
          <a:xfrm>
            <a:off x="2736000" y="1142280"/>
            <a:ext cx="6659640" cy="4651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标准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封装内核态系统调用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提供用户态增值能力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营造理想化标准环境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s 72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ectangles 73"/>
          <p:cNvSpPr/>
          <p:nvPr/>
        </p:nvSpPr>
        <p:spPr>
          <a:xfrm>
            <a:off x="576000" y="5794200"/>
            <a:ext cx="10980000" cy="50580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" name="Straight Arrow Connector 37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56" name="Straight Arrow Connector 38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57" name="Rectangles 74"/>
          <p:cNvSpPr/>
          <p:nvPr/>
        </p:nvSpPr>
        <p:spPr>
          <a:xfrm>
            <a:off x="329400" y="6298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（汇编语言）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s 63"/>
          <p:cNvSpPr/>
          <p:nvPr/>
        </p:nvSpPr>
        <p:spPr>
          <a:xfrm>
            <a:off x="2736000" y="1142280"/>
            <a:ext cx="6659640" cy="4651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标准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封装内核态系统调用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提供用户态增值能力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营造理想化标准环境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s 64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Rectangles 65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ectangles 66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ectangles 67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s 68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持久环境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s 69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" name="Straight Arrow Connector 3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67" name="Rectangles 155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" name="Straight Arrow Connector 13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69" name="Rectangles 157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s 85"/>
          <p:cNvSpPr/>
          <p:nvPr/>
        </p:nvSpPr>
        <p:spPr>
          <a:xfrm>
            <a:off x="2736000" y="1142280"/>
            <a:ext cx="6659640" cy="4651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标准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封装内核态系统调用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提供用户态增值能力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营造理想化标准环境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158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159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s 160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ectangles 161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s 162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s 163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" name="Straight Arrow Connector 14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79" name="Rectangles 164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Straight Arrow Connector 15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81" name="Rectangles 165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s 166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s 82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139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140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s 141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142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143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144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s 145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Rectangles 146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147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Rectangles 148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s 149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s 150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空间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s 151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Straight Arrow Connector 32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99" name="Rectangles 152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Straight Arrow Connector 33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01" name="Rectangles 153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2" name="Straight Arrow Connector 34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3" name="Straight Arrow Connector 35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104" name="Rectangles 154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" name="Straight Arrow Connector 36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s 86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s 87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ectangles 88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s 124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s 125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126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127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ectangles 128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Rectangles 129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s 130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Rectangles 131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s 132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s 133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s 134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" name="Straight Arrow Connector 27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22" name="Rectangles 135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" name="Straight Arrow Connector 28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24" name="Rectangles 136"/>
          <p:cNvSpPr/>
          <p:nvPr/>
        </p:nvSpPr>
        <p:spPr>
          <a:xfrm>
            <a:off x="4644000" y="1476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语言直译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s 137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6" name="Straight Arrow Connector 29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27" name="Straight Arrow Connector 30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128" name="Rectangles 138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9" name="Straight Arrow Connector 31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s 75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s 79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s 80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s 106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107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s 108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ectangles 109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s 110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" name="Rectangles 111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s 112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Rectangles 113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ectangles 114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ectangles 115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s 116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5" name="Straight Arrow Connector 22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46" name="Rectangles 117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" name="Straight Arrow Connector 23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48" name="Rectangles 118"/>
          <p:cNvSpPr/>
          <p:nvPr/>
        </p:nvSpPr>
        <p:spPr>
          <a:xfrm>
            <a:off x="4644000" y="1476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语言直译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s 119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Rectangles 120"/>
          <p:cNvSpPr/>
          <p:nvPr/>
        </p:nvSpPr>
        <p:spPr>
          <a:xfrm>
            <a:off x="4248000" y="4500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混合运算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：时间日期，密钥哈希，变参管理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s 121"/>
          <p:cNvSpPr/>
          <p:nvPr/>
        </p:nvSpPr>
        <p:spPr>
          <a:xfrm>
            <a:off x="4248000" y="5148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基础运算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：内存操作，数学计算，随机数值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s 122"/>
          <p:cNvSpPr/>
          <p:nvPr/>
        </p:nvSpPr>
        <p:spPr>
          <a:xfrm>
            <a:off x="4248000" y="4824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文本运算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：字符串类，类型转换，格式化类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3" name="Straight Arrow Connector 24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54" name="Straight Arrow Connector 25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155" name="Rectangles 123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6" name="Straight Arrow Connector 26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s 58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s 59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s 76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s 77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s 78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s 81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s 83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s 84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" name="Rectangles 90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s 91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8" name="Rectangles 92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s 93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Rectangles 94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s 95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2" name="Straight Arrow Connector 17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73" name="Rectangles 96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4" name="Straight Arrow Connector 18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75" name="Rectangles 97"/>
          <p:cNvSpPr/>
          <p:nvPr/>
        </p:nvSpPr>
        <p:spPr>
          <a:xfrm>
            <a:off x="1116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进程管理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线程管理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98"/>
          <p:cNvSpPr/>
          <p:nvPr/>
        </p:nvSpPr>
        <p:spPr>
          <a:xfrm>
            <a:off x="2088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容器管理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模块管理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99"/>
          <p:cNvSpPr/>
          <p:nvPr/>
        </p:nvSpPr>
        <p:spPr>
          <a:xfrm>
            <a:off x="3060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身份管理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权限管理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s 100"/>
          <p:cNvSpPr/>
          <p:nvPr/>
        </p:nvSpPr>
        <p:spPr>
          <a:xfrm>
            <a:off x="4644000" y="1476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语言直译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s 101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s 102"/>
          <p:cNvSpPr/>
          <p:nvPr/>
        </p:nvSpPr>
        <p:spPr>
          <a:xfrm>
            <a:off x="4248000" y="4500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混合运算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：时间日期，密钥哈希，变参管理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s 103"/>
          <p:cNvSpPr/>
          <p:nvPr/>
        </p:nvSpPr>
        <p:spPr>
          <a:xfrm>
            <a:off x="4248000" y="5148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基础运算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：内存操作，数学计算，随机数值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s 104"/>
          <p:cNvSpPr/>
          <p:nvPr/>
        </p:nvSpPr>
        <p:spPr>
          <a:xfrm>
            <a:off x="4248000" y="4824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文本运算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：字符串类，类型转换，格式化类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" name="Straight Arrow Connector 19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84" name="Straight Arrow Connector 20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185" name="Rectangles 105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6" name="Straight Arrow Connector 21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s 27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解语言案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s 28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ectangles 29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ectangles 30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s 31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s 32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ectangles 33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s 34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Rectangles 35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s 38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Rectangles 41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Rectangles 42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ectangles 43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s 44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2" name="Straight Arrow Connector 7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03" name="Rectangles 45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4" name="Straight Arrow Connector 8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05" name="Rectangles 46"/>
          <p:cNvSpPr/>
          <p:nvPr/>
        </p:nvSpPr>
        <p:spPr>
          <a:xfrm>
            <a:off x="1116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进程管理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线程管理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s 47"/>
          <p:cNvSpPr/>
          <p:nvPr/>
        </p:nvSpPr>
        <p:spPr>
          <a:xfrm>
            <a:off x="9144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环境交互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资源框架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设备管理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s 48"/>
          <p:cNvSpPr/>
          <p:nvPr/>
        </p:nvSpPr>
        <p:spPr>
          <a:xfrm>
            <a:off x="2088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容器管理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模块管理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s 49"/>
          <p:cNvSpPr/>
          <p:nvPr/>
        </p:nvSpPr>
        <p:spPr>
          <a:xfrm>
            <a:off x="3060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身份管理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权限管理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s 50"/>
          <p:cNvSpPr/>
          <p:nvPr/>
        </p:nvSpPr>
        <p:spPr>
          <a:xfrm>
            <a:off x="4644000" y="1476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语言直译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s 51"/>
          <p:cNvSpPr/>
          <p:nvPr/>
        </p:nvSpPr>
        <p:spPr>
          <a:xfrm>
            <a:off x="10116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外部持久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内部共用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任务独享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s 52"/>
          <p:cNvSpPr/>
          <p:nvPr/>
        </p:nvSpPr>
        <p:spPr>
          <a:xfrm>
            <a:off x="8172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跨机交互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本机横向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本机纵向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s 53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ectangles 54"/>
          <p:cNvSpPr/>
          <p:nvPr/>
        </p:nvSpPr>
        <p:spPr>
          <a:xfrm>
            <a:off x="4248000" y="4500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混合运算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：时间日期，密钥哈希，变参管理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s 55"/>
          <p:cNvSpPr/>
          <p:nvPr/>
        </p:nvSpPr>
        <p:spPr>
          <a:xfrm>
            <a:off x="4248000" y="5148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基础运算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：内存操作，数学计算，随机数值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s 56"/>
          <p:cNvSpPr/>
          <p:nvPr/>
        </p:nvSpPr>
        <p:spPr>
          <a:xfrm>
            <a:off x="4248000" y="4824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文本运算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：字符串类，类型转换，格式化类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6" name="Straight Arrow Connector 9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17" name="Straight Arrow Connector 10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218" name="Rectangles 57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9" name="Straight Arrow Connector 16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s 6"/>
          <p:cNvSpPr/>
          <p:nvPr/>
        </p:nvSpPr>
        <p:spPr>
          <a:xfrm>
            <a:off x="4248000" y="1143000"/>
            <a:ext cx="3638520" cy="3859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广义计算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=SDK+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328200" y="26280"/>
            <a:ext cx="7832880" cy="57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-C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运行时支撑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ectangles 5"/>
          <p:cNvSpPr/>
          <p:nvPr/>
        </p:nvSpPr>
        <p:spPr>
          <a:xfrm>
            <a:off x="329400" y="682200"/>
            <a:ext cx="11491560" cy="459720"/>
          </a:xfrm>
          <a:prstGeom prst="rect">
            <a:avLst/>
          </a:prstGeom>
          <a:solidFill>
            <a:srgbClr val="999999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（用户态程序）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ectangles 3"/>
          <p:cNvSpPr/>
          <p:nvPr/>
        </p:nvSpPr>
        <p:spPr>
          <a:xfrm>
            <a:off x="329040" y="5794200"/>
            <a:ext cx="11492280" cy="918720"/>
          </a:xfrm>
          <a:prstGeom prst="rect">
            <a:avLst/>
          </a:prstGeom>
          <a:solidFill>
            <a:srgbClr val="666666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宿主虚拟机）                                                                                           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             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ectangles 37"/>
          <p:cNvSpPr/>
          <p:nvPr/>
        </p:nvSpPr>
        <p:spPr>
          <a:xfrm>
            <a:off x="1080000" y="1608120"/>
            <a:ext cx="2915640" cy="22788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拓展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ectangles 4"/>
          <p:cNvSpPr/>
          <p:nvPr/>
        </p:nvSpPr>
        <p:spPr>
          <a:xfrm>
            <a:off x="8136000" y="1607400"/>
            <a:ext cx="2914920" cy="22795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Rectangles 24"/>
          <p:cNvSpPr/>
          <p:nvPr/>
        </p:nvSpPr>
        <p:spPr>
          <a:xfrm>
            <a:off x="4428000" y="2520000"/>
            <a:ext cx="3279240" cy="143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s 8"/>
          <p:cNvSpPr/>
          <p:nvPr/>
        </p:nvSpPr>
        <p:spPr>
          <a:xfrm>
            <a:off x="4428000" y="1143000"/>
            <a:ext cx="3278880" cy="691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ectangles 10"/>
          <p:cNvSpPr/>
          <p:nvPr/>
        </p:nvSpPr>
        <p:spPr>
          <a:xfrm>
            <a:off x="3456000" y="3996000"/>
            <a:ext cx="5218920" cy="1583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9" name="Rectangles 13"/>
          <p:cNvSpPr/>
          <p:nvPr/>
        </p:nvSpPr>
        <p:spPr>
          <a:xfrm>
            <a:off x="3636000" y="4100760"/>
            <a:ext cx="4858920" cy="142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计算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ectangles 36"/>
          <p:cNvSpPr/>
          <p:nvPr/>
        </p:nvSpPr>
        <p:spPr>
          <a:xfrm>
            <a:off x="4284000" y="3956760"/>
            <a:ext cx="3566520" cy="709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360" bIns="27360" anchor="ctr">
            <a:noAutofit/>
          </a:bodyPr>
          <a:p>
            <a:pPr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1" name="Rectangles 1"/>
          <p:cNvSpPr/>
          <p:nvPr/>
        </p:nvSpPr>
        <p:spPr>
          <a:xfrm>
            <a:off x="4680000" y="5866200"/>
            <a:ext cx="2879280" cy="45972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内核系统调用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s 2"/>
          <p:cNvSpPr/>
          <p:nvPr/>
        </p:nvSpPr>
        <p:spPr>
          <a:xfrm>
            <a:off x="9612000" y="6226200"/>
            <a:ext cx="1978920" cy="43308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内核文件系统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s 7"/>
          <p:cNvSpPr/>
          <p:nvPr/>
        </p:nvSpPr>
        <p:spPr>
          <a:xfrm>
            <a:off x="9612000" y="5794200"/>
            <a:ext cx="208692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根文件系统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s 9"/>
          <p:cNvSpPr/>
          <p:nvPr/>
        </p:nvSpPr>
        <p:spPr>
          <a:xfrm>
            <a:off x="504000" y="5794200"/>
            <a:ext cx="1475280" cy="459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1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号进程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运行环境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5" name="Straight Arrow Connector 1"/>
          <p:cNvCxnSpPr/>
          <p:nvPr/>
        </p:nvCxnSpPr>
        <p:spPr>
          <a:xfrm>
            <a:off x="656280" y="117684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36" name="Rectangles 15"/>
          <p:cNvSpPr/>
          <p:nvPr/>
        </p:nvSpPr>
        <p:spPr>
          <a:xfrm>
            <a:off x="2700000" y="5794200"/>
            <a:ext cx="6731280" cy="143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7" name="Straight Arrow Connector 2"/>
          <p:cNvCxnSpPr/>
          <p:nvPr/>
        </p:nvCxnSpPr>
        <p:spPr>
          <a:xfrm>
            <a:off x="11456640" y="1177200"/>
            <a:ext cx="11880" cy="46054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38" name="Rectangles 16"/>
          <p:cNvSpPr/>
          <p:nvPr/>
        </p:nvSpPr>
        <p:spPr>
          <a:xfrm>
            <a:off x="1116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进程管理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线程管理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s 21"/>
          <p:cNvSpPr/>
          <p:nvPr/>
        </p:nvSpPr>
        <p:spPr>
          <a:xfrm>
            <a:off x="6588000" y="3060000"/>
            <a:ext cx="898920" cy="754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5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主动获取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被动产生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s 22"/>
          <p:cNvSpPr/>
          <p:nvPr/>
        </p:nvSpPr>
        <p:spPr>
          <a:xfrm>
            <a:off x="5616000" y="3060000"/>
            <a:ext cx="898920" cy="754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5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主动选择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被动变换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s 39"/>
          <p:cNvSpPr/>
          <p:nvPr/>
        </p:nvSpPr>
        <p:spPr>
          <a:xfrm>
            <a:off x="9144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环境交互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资源框架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设备管理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s 17"/>
          <p:cNvSpPr/>
          <p:nvPr/>
        </p:nvSpPr>
        <p:spPr>
          <a:xfrm>
            <a:off x="2088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容器管理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模块管理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s 18"/>
          <p:cNvSpPr/>
          <p:nvPr/>
        </p:nvSpPr>
        <p:spPr>
          <a:xfrm>
            <a:off x="3060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身份管理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权限管理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s 19"/>
          <p:cNvSpPr/>
          <p:nvPr/>
        </p:nvSpPr>
        <p:spPr>
          <a:xfrm>
            <a:off x="4644000" y="3060000"/>
            <a:ext cx="898920" cy="754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5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主动准备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被动同步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s 40"/>
          <p:cNvSpPr/>
          <p:nvPr/>
        </p:nvSpPr>
        <p:spPr>
          <a:xfrm>
            <a:off x="4644000" y="1476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语言直译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s 20"/>
          <p:cNvSpPr/>
          <p:nvPr/>
        </p:nvSpPr>
        <p:spPr>
          <a:xfrm>
            <a:off x="10116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外部持久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内部共用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任务独享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s 23"/>
          <p:cNvSpPr/>
          <p:nvPr/>
        </p:nvSpPr>
        <p:spPr>
          <a:xfrm>
            <a:off x="8172000" y="2412000"/>
            <a:ext cx="898920" cy="12589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传输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跨机交互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本机横向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本机纵向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s 25"/>
          <p:cNvSpPr/>
          <p:nvPr/>
        </p:nvSpPr>
        <p:spPr>
          <a:xfrm>
            <a:off x="4680000" y="6254640"/>
            <a:ext cx="4931280" cy="404640"/>
          </a:xfrm>
          <a:prstGeom prst="rect">
            <a:avLst/>
          </a:prstGeom>
          <a:solidFill>
            <a:srgbClr val="808080"/>
          </a:solidFill>
          <a:ln>
            <a:solidFill>
              <a:srgbClr val="666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操作系统内核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ectangles 14"/>
          <p:cNvSpPr/>
          <p:nvPr/>
        </p:nvSpPr>
        <p:spPr>
          <a:xfrm>
            <a:off x="4248000" y="4500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混合运算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：时间日期，密钥哈希，变参管理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s 11"/>
          <p:cNvSpPr/>
          <p:nvPr/>
        </p:nvSpPr>
        <p:spPr>
          <a:xfrm>
            <a:off x="4248000" y="5148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  <a:ea typeface="Noto Sans CJK SC"/>
              </a:rPr>
              <a:t>基础运算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  <a:ea typeface="Noto Sans CJK SC"/>
              </a:rPr>
              <a:t>：内存操作，数学计算，随机数值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s 12"/>
          <p:cNvSpPr/>
          <p:nvPr/>
        </p:nvSpPr>
        <p:spPr>
          <a:xfrm>
            <a:off x="4248000" y="4824000"/>
            <a:ext cx="2878920" cy="3438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文本运算</a:t>
            </a:r>
            <a:r>
              <a:rPr b="1" lang="zh-CN" sz="1050" spc="-1" strike="noStrike">
                <a:solidFill>
                  <a:schemeClr val="dk1"/>
                </a:solidFill>
                <a:latin typeface="Arial"/>
              </a:rPr>
              <a:t>：字符串类，类型转换，格式化类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2" name="Straight Arrow Connector 4"/>
          <p:cNvCxnSpPr/>
          <p:nvPr/>
        </p:nvCxnSpPr>
        <p:spPr>
          <a:xfrm flipH="1">
            <a:off x="92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53" name="Straight Arrow Connector 6"/>
          <p:cNvCxnSpPr/>
          <p:nvPr/>
        </p:nvCxnSpPr>
        <p:spPr>
          <a:xfrm flipH="1">
            <a:off x="2935080" y="3963240"/>
            <a:ext cx="5400" cy="17841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  <p:sp>
        <p:nvSpPr>
          <p:cNvPr id="254" name="Rectangles 26"/>
          <p:cNvSpPr/>
          <p:nvPr/>
        </p:nvSpPr>
        <p:spPr>
          <a:xfrm>
            <a:off x="6120000" y="5578200"/>
            <a:ext cx="1439280" cy="215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Arial"/>
              </a:rPr>
              <a:t>VDSO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5" name="Straight Arrow Connector 5"/>
          <p:cNvCxnSpPr/>
          <p:nvPr/>
        </p:nvCxnSpPr>
        <p:spPr>
          <a:xfrm flipH="1">
            <a:off x="7378560" y="3951720"/>
            <a:ext cx="2520" cy="1843560"/>
          </a:xfrm>
          <a:prstGeom prst="straightConnector1">
            <a:avLst/>
          </a:prstGeom>
          <a:ln w="38160">
            <a:solidFill>
              <a:srgbClr val="ffbf00"/>
            </a:solidFill>
            <a:round/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2026-07-26T00:37:15Z</dcterms:modified>
  <cp:revision>791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