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416" r:id="rId3"/>
    <p:sldId id="426" r:id="rId5"/>
    <p:sldId id="430" r:id="rId6"/>
    <p:sldId id="428" r:id="rId7"/>
    <p:sldId id="43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3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浏览器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8860" y="814070"/>
            <a:ext cx="8327390" cy="29768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205" y="3870325"/>
            <a:ext cx="7713345" cy="281876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/>
        </p:nvSpPr>
        <p:spPr>
          <a:xfrm>
            <a:off x="183515" y="3137535"/>
            <a:ext cx="3274060" cy="13061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600">
                <a:solidFill>
                  <a:srgbClr val="00B050"/>
                </a:solidFill>
              </a:rPr>
              <a:t>我个人使用：</a:t>
            </a:r>
            <a:endParaRPr lang="zh-CN" altLang="en-US" sz="1400">
              <a:solidFill>
                <a:srgbClr val="00B050"/>
              </a:solidFill>
            </a:endParaRPr>
          </a:p>
          <a:p>
            <a:r>
              <a:rPr lang="en-US" altLang="zh-CN" sz="1400">
                <a:solidFill>
                  <a:srgbClr val="FFC000"/>
                </a:solidFill>
                <a:sym typeface="+mn-ea"/>
              </a:rPr>
              <a:t>Linux debian12</a:t>
            </a:r>
            <a:endParaRPr lang="en-US" altLang="zh-CN" sz="1400">
              <a:solidFill>
                <a:srgbClr val="FFC000"/>
              </a:solidFill>
              <a:sym typeface="+mn-ea"/>
            </a:endParaRPr>
          </a:p>
          <a:p>
            <a:r>
              <a:rPr lang="en-US" altLang="zh-CN" sz="1400">
                <a:solidFill>
                  <a:srgbClr val="FFC000"/>
                </a:solidFill>
                <a:sym typeface="+mn-ea"/>
              </a:rPr>
              <a:t>Firefox</a:t>
            </a:r>
            <a:r>
              <a:rPr lang="zh-CN" altLang="en-US" sz="1400">
                <a:solidFill>
                  <a:srgbClr val="FFC000"/>
                </a:solidFill>
                <a:sym typeface="+mn-ea"/>
              </a:rPr>
              <a:t>：普通上网使用</a:t>
            </a:r>
            <a:endParaRPr lang="zh-CN" altLang="en-US" sz="1400">
              <a:solidFill>
                <a:srgbClr val="FFC000"/>
              </a:solidFill>
            </a:endParaRPr>
          </a:p>
          <a:p>
            <a:r>
              <a:rPr lang="en-US" altLang="zh-CN" sz="1400">
                <a:solidFill>
                  <a:srgbClr val="FFC000"/>
                </a:solidFill>
              </a:rPr>
              <a:t>Chromium</a:t>
            </a:r>
            <a:r>
              <a:rPr lang="zh-CN" altLang="en-US" sz="1400">
                <a:solidFill>
                  <a:srgbClr val="FFC000"/>
                </a:solidFill>
              </a:rPr>
              <a:t>：网页微信</a:t>
            </a:r>
            <a:r>
              <a:rPr lang="en-US" altLang="zh-CN" sz="1400">
                <a:solidFill>
                  <a:srgbClr val="FFC000"/>
                </a:solidFill>
              </a:rPr>
              <a:t>+OA</a:t>
            </a:r>
            <a:r>
              <a:rPr lang="zh-CN" altLang="en-US" sz="1400">
                <a:solidFill>
                  <a:srgbClr val="FFC000"/>
                </a:solidFill>
              </a:rPr>
              <a:t>办公</a:t>
            </a:r>
            <a:endParaRPr lang="zh-CN" altLang="en-US" sz="1400">
              <a:solidFill>
                <a:srgbClr val="FFC000"/>
              </a:solidFill>
              <a:sym typeface="+mn-ea"/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207645" y="1061085"/>
            <a:ext cx="3360420" cy="13061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600">
                <a:solidFill>
                  <a:srgbClr val="00B050"/>
                </a:solidFill>
                <a:sym typeface="+mn-ea"/>
              </a:rPr>
              <a:t>Firefox</a:t>
            </a:r>
            <a:r>
              <a:rPr lang="zh-CN" altLang="en-US" sz="1600">
                <a:solidFill>
                  <a:srgbClr val="00B050"/>
                </a:solidFill>
                <a:sym typeface="+mn-ea"/>
              </a:rPr>
              <a:t>：</a:t>
            </a:r>
            <a:endParaRPr lang="zh-CN" altLang="en-US" sz="1600">
              <a:solidFill>
                <a:srgbClr val="00B050"/>
              </a:solidFill>
              <a:sym typeface="+mn-ea"/>
            </a:endParaRPr>
          </a:p>
          <a:p>
            <a:r>
              <a:rPr lang="zh-CN" altLang="en-US" sz="1400">
                <a:solidFill>
                  <a:srgbClr val="00B050"/>
                </a:solidFill>
                <a:sym typeface="+mn-ea"/>
              </a:rPr>
              <a:t>隐私安全，内存占用低，长期运行稳定</a:t>
            </a:r>
            <a:endParaRPr lang="zh-CN" altLang="en-US" sz="1400">
              <a:solidFill>
                <a:srgbClr val="00B050"/>
              </a:solidFill>
              <a:sym typeface="+mn-ea"/>
            </a:endParaRPr>
          </a:p>
          <a:p>
            <a:r>
              <a:rPr lang="zh-CN" altLang="en-US" sz="1400">
                <a:solidFill>
                  <a:srgbClr val="FFC000"/>
                </a:solidFill>
                <a:sym typeface="+mn-ea"/>
              </a:rPr>
              <a:t>市场份额：目前</a:t>
            </a:r>
            <a:r>
              <a:rPr lang="en-US" altLang="zh-CN" sz="1400">
                <a:solidFill>
                  <a:srgbClr val="FFC000"/>
                </a:solidFill>
                <a:sym typeface="+mn-ea"/>
              </a:rPr>
              <a:t>5-6%</a:t>
            </a:r>
            <a:r>
              <a:rPr lang="zh-CN" altLang="en-US" sz="1400">
                <a:solidFill>
                  <a:srgbClr val="FFC000"/>
                </a:solidFill>
                <a:sym typeface="+mn-ea"/>
              </a:rPr>
              <a:t>，中长期</a:t>
            </a:r>
            <a:r>
              <a:rPr lang="en-US" altLang="zh-CN" sz="1400">
                <a:solidFill>
                  <a:srgbClr val="FFC000"/>
                </a:solidFill>
                <a:sym typeface="+mn-ea"/>
              </a:rPr>
              <a:t>8-10%</a:t>
            </a:r>
            <a:endParaRPr lang="en-US" altLang="zh-CN" sz="1400">
              <a:solidFill>
                <a:srgbClr val="FFC000"/>
              </a:solidFill>
              <a:sym typeface="+mn-ea"/>
            </a:endParaRPr>
          </a:p>
          <a:p>
            <a:r>
              <a:rPr lang="zh-CN" altLang="en-US" sz="1400">
                <a:solidFill>
                  <a:srgbClr val="FFC000"/>
                </a:solidFill>
                <a:sym typeface="+mn-ea"/>
              </a:rPr>
              <a:t>编程语言：</a:t>
            </a:r>
            <a:r>
              <a:rPr lang="en-US" altLang="zh-CN" sz="1400">
                <a:solidFill>
                  <a:srgbClr val="FFC000"/>
                </a:solidFill>
                <a:sym typeface="+mn-ea"/>
              </a:rPr>
              <a:t>C++</a:t>
            </a:r>
            <a:r>
              <a:rPr lang="zh-CN" altLang="en-US" sz="1400">
                <a:solidFill>
                  <a:srgbClr val="FFC000"/>
                </a:solidFill>
                <a:sym typeface="+mn-ea"/>
              </a:rPr>
              <a:t>与</a:t>
            </a:r>
            <a:r>
              <a:rPr lang="en-US" altLang="zh-CN" sz="1400">
                <a:solidFill>
                  <a:srgbClr val="FFC000"/>
                </a:solidFill>
                <a:sym typeface="+mn-ea"/>
              </a:rPr>
              <a:t>Rust</a:t>
            </a:r>
            <a:r>
              <a:rPr lang="zh-CN" altLang="en-US" sz="1400">
                <a:solidFill>
                  <a:srgbClr val="FFC000"/>
                </a:solidFill>
                <a:sym typeface="+mn-ea"/>
              </a:rPr>
              <a:t>混合</a:t>
            </a:r>
            <a:endParaRPr lang="zh-CN" altLang="en-US" sz="1400">
              <a:solidFill>
                <a:srgbClr val="FFC000"/>
              </a:solidFill>
              <a:sym typeface="+mn-ea"/>
            </a:endParaRPr>
          </a:p>
          <a:p>
            <a:r>
              <a:rPr lang="zh-CN" altLang="en-US" sz="1400">
                <a:solidFill>
                  <a:srgbClr val="FFC000"/>
                </a:solidFill>
                <a:sym typeface="+mn-ea"/>
              </a:rPr>
              <a:t>平台主场：</a:t>
            </a:r>
            <a:r>
              <a:rPr lang="en-US" altLang="zh-CN" sz="1400">
                <a:solidFill>
                  <a:srgbClr val="FFC000"/>
                </a:solidFill>
                <a:sym typeface="+mn-ea"/>
              </a:rPr>
              <a:t>Linux</a:t>
            </a:r>
            <a:endParaRPr lang="zh-CN" altLang="en-US" sz="1400">
              <a:solidFill>
                <a:srgbClr val="FFC000"/>
              </a:solidFill>
              <a:sym typeface="+mn-ea"/>
            </a:endParaRPr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207645" y="4913630"/>
            <a:ext cx="3526155" cy="13061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600">
                <a:solidFill>
                  <a:srgbClr val="00B050"/>
                </a:solidFill>
                <a:sym typeface="+mn-ea"/>
              </a:rPr>
              <a:t>Chromium</a:t>
            </a:r>
            <a:r>
              <a:rPr lang="zh-CN" altLang="en-US" sz="1600">
                <a:solidFill>
                  <a:srgbClr val="00B050"/>
                </a:solidFill>
                <a:sym typeface="+mn-ea"/>
              </a:rPr>
              <a:t>：</a:t>
            </a:r>
            <a:endParaRPr lang="zh-CN" altLang="en-US" sz="1400">
              <a:solidFill>
                <a:srgbClr val="00B050"/>
              </a:solidFill>
              <a:sym typeface="+mn-ea"/>
            </a:endParaRPr>
          </a:p>
          <a:p>
            <a:r>
              <a:rPr lang="zh-CN" altLang="en-US" sz="1400">
                <a:solidFill>
                  <a:srgbClr val="00B050"/>
                </a:solidFill>
                <a:sym typeface="+mn-ea"/>
              </a:rPr>
              <a:t>商业生态，兼容全覆盖，厂商协议友好</a:t>
            </a:r>
            <a:endParaRPr lang="zh-CN" altLang="en-US" sz="1400">
              <a:solidFill>
                <a:srgbClr val="00B050"/>
              </a:solidFill>
              <a:sym typeface="+mn-ea"/>
            </a:endParaRPr>
          </a:p>
          <a:p>
            <a:r>
              <a:rPr lang="zh-CN" altLang="en-US" sz="1400">
                <a:solidFill>
                  <a:srgbClr val="FFC000"/>
                </a:solidFill>
                <a:sym typeface="+mn-ea"/>
              </a:rPr>
              <a:t>市场份额：目前</a:t>
            </a:r>
            <a:r>
              <a:rPr lang="en-US" altLang="zh-CN" sz="1400">
                <a:solidFill>
                  <a:srgbClr val="FFC000"/>
                </a:solidFill>
                <a:sym typeface="+mn-ea"/>
              </a:rPr>
              <a:t>90%</a:t>
            </a:r>
            <a:r>
              <a:rPr lang="zh-CN" altLang="en-US" sz="1400">
                <a:solidFill>
                  <a:srgbClr val="FFC000"/>
                </a:solidFill>
                <a:sym typeface="+mn-ea"/>
              </a:rPr>
              <a:t>，中长期</a:t>
            </a:r>
            <a:r>
              <a:rPr lang="en-US" altLang="zh-CN" sz="1400">
                <a:solidFill>
                  <a:srgbClr val="FFC000"/>
                </a:solidFill>
                <a:sym typeface="+mn-ea"/>
              </a:rPr>
              <a:t>85%</a:t>
            </a:r>
            <a:r>
              <a:rPr lang="zh-CN" altLang="en-US" sz="1400">
                <a:solidFill>
                  <a:srgbClr val="FFC000"/>
                </a:solidFill>
                <a:sym typeface="+mn-ea"/>
              </a:rPr>
              <a:t>以上</a:t>
            </a:r>
            <a:endParaRPr lang="zh-CN" altLang="en-US" sz="1400">
              <a:solidFill>
                <a:srgbClr val="FFC000"/>
              </a:solidFill>
              <a:sym typeface="+mn-ea"/>
            </a:endParaRPr>
          </a:p>
          <a:p>
            <a:r>
              <a:rPr lang="zh-CN" altLang="en-US" sz="1400">
                <a:solidFill>
                  <a:srgbClr val="FFC000"/>
                </a:solidFill>
                <a:sym typeface="+mn-ea"/>
              </a:rPr>
              <a:t>编程语言：</a:t>
            </a:r>
            <a:r>
              <a:rPr lang="en-US" altLang="zh-CN" sz="1400">
                <a:solidFill>
                  <a:srgbClr val="FFC000"/>
                </a:solidFill>
                <a:sym typeface="+mn-ea"/>
              </a:rPr>
              <a:t>C++</a:t>
            </a:r>
            <a:r>
              <a:rPr lang="zh-CN" altLang="en-US" sz="1400">
                <a:solidFill>
                  <a:srgbClr val="FFC000"/>
                </a:solidFill>
                <a:sym typeface="+mn-ea"/>
              </a:rPr>
              <a:t>为主，有些</a:t>
            </a:r>
            <a:r>
              <a:rPr lang="en-US" altLang="zh-CN" sz="1400">
                <a:solidFill>
                  <a:srgbClr val="FFC000"/>
                </a:solidFill>
                <a:sym typeface="+mn-ea"/>
              </a:rPr>
              <a:t>Rust</a:t>
            </a:r>
            <a:endParaRPr lang="en-US" altLang="zh-CN" sz="1400">
              <a:solidFill>
                <a:srgbClr val="FFC000"/>
              </a:solidFill>
              <a:sym typeface="+mn-ea"/>
            </a:endParaRPr>
          </a:p>
          <a:p>
            <a:r>
              <a:rPr lang="zh-CN" altLang="en-US" sz="1400">
                <a:solidFill>
                  <a:srgbClr val="FFC000"/>
                </a:solidFill>
                <a:sym typeface="+mn-ea"/>
              </a:rPr>
              <a:t>平台主场：</a:t>
            </a:r>
            <a:r>
              <a:rPr lang="en-US" altLang="zh-CN" sz="1400">
                <a:solidFill>
                  <a:srgbClr val="FFC000"/>
                </a:solidFill>
                <a:sym typeface="+mn-ea"/>
              </a:rPr>
              <a:t>Windows/Android/iOS</a:t>
            </a:r>
            <a:endParaRPr lang="en-US" altLang="zh-CN" sz="1400">
              <a:solidFill>
                <a:srgbClr val="FFC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浏览器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57327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辅助环境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94691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基础运行库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485267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构建开发工具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773684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文档与许可</a:t>
            </a:r>
            <a:endParaRPr lang="en-US" altLang="zh-CN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浏览器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57327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辅助环境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65150" y="2256155"/>
            <a:ext cx="10996295" cy="2723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浏览器引擎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565150" y="1022350"/>
            <a:ext cx="2486025" cy="1061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浏览器应用</a:t>
            </a:r>
            <a:r>
              <a:rPr lang="en-US" altLang="zh-CN" sz="2000" b="1">
                <a:solidFill>
                  <a:schemeClr val="tx1"/>
                </a:solidFill>
              </a:rPr>
              <a:t>1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223385" y="1022350"/>
            <a:ext cx="2486025" cy="1061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浏览器应用</a:t>
            </a:r>
            <a:r>
              <a:rPr lang="en-US" altLang="zh-CN" sz="2000" b="1">
                <a:solidFill>
                  <a:schemeClr val="tx1"/>
                </a:solidFill>
              </a:rPr>
              <a:t>2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9075420" y="1022350"/>
            <a:ext cx="2486025" cy="1061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浏览器应用</a:t>
            </a:r>
            <a:r>
              <a:rPr lang="en-US" altLang="zh-CN" sz="2000" b="1">
                <a:solidFill>
                  <a:schemeClr val="tx1"/>
                </a:solidFill>
              </a:rPr>
              <a:t>N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497445" y="1470025"/>
            <a:ext cx="104775" cy="11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7851140" y="1467485"/>
            <a:ext cx="104775" cy="11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204835" y="1464945"/>
            <a:ext cx="104775" cy="11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94691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基础运行库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485267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构建开发工具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773684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文档与许可</a:t>
            </a:r>
            <a:endParaRPr lang="en-US" altLang="zh-CN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浏览器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57327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辅助环境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65150" y="2256155"/>
            <a:ext cx="10996295" cy="2723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浏览器引擎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565150" y="1022350"/>
            <a:ext cx="2486025" cy="1061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浏览器应用</a:t>
            </a:r>
            <a:r>
              <a:rPr lang="en-US" altLang="zh-CN" sz="2000" b="1">
                <a:solidFill>
                  <a:schemeClr val="tx1"/>
                </a:solidFill>
              </a:rPr>
              <a:t>1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223385" y="1022350"/>
            <a:ext cx="2486025" cy="1061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浏览器应用</a:t>
            </a:r>
            <a:r>
              <a:rPr lang="en-US" altLang="zh-CN" sz="2000" b="1">
                <a:solidFill>
                  <a:schemeClr val="tx1"/>
                </a:solidFill>
              </a:rPr>
              <a:t>2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9075420" y="1022350"/>
            <a:ext cx="2486025" cy="1061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浏览器应用</a:t>
            </a:r>
            <a:r>
              <a:rPr lang="en-US" altLang="zh-CN" sz="2000" b="1">
                <a:solidFill>
                  <a:schemeClr val="tx1"/>
                </a:solidFill>
              </a:rPr>
              <a:t>N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497445" y="1470025"/>
            <a:ext cx="104775" cy="11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7851140" y="1467485"/>
            <a:ext cx="104775" cy="11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204835" y="1464945"/>
            <a:ext cx="104775" cy="11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94691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基础运行库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485267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构建开发工具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773684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文档与许可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080770" y="2480310"/>
            <a:ext cx="2971800" cy="1002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128635" y="2458720"/>
            <a:ext cx="2885440" cy="1002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304030" y="2234565"/>
            <a:ext cx="3451860" cy="1909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处理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081405" y="3646805"/>
            <a:ext cx="9933305" cy="731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324985" y="3614420"/>
            <a:ext cx="3415030" cy="12319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7302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浏览器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57327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辅助环境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65150" y="2256155"/>
            <a:ext cx="10996295" cy="2723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浏览器引擎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565150" y="1022350"/>
            <a:ext cx="2486025" cy="1061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浏览器应用</a:t>
            </a:r>
            <a:r>
              <a:rPr lang="en-US" altLang="zh-CN" sz="2000" b="1">
                <a:solidFill>
                  <a:schemeClr val="tx1"/>
                </a:solidFill>
              </a:rPr>
              <a:t>1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223385" y="1022350"/>
            <a:ext cx="2486025" cy="1061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浏览器应用</a:t>
            </a:r>
            <a:r>
              <a:rPr lang="en-US" altLang="zh-CN" sz="2000" b="1">
                <a:solidFill>
                  <a:schemeClr val="tx1"/>
                </a:solidFill>
              </a:rPr>
              <a:t>2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9075420" y="1022350"/>
            <a:ext cx="2486025" cy="1061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浏览器应用</a:t>
            </a:r>
            <a:r>
              <a:rPr lang="en-US" altLang="zh-CN" sz="2000" b="1">
                <a:solidFill>
                  <a:schemeClr val="tx1"/>
                </a:solidFill>
              </a:rPr>
              <a:t>N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497445" y="1470025"/>
            <a:ext cx="104775" cy="11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7851140" y="1467485"/>
            <a:ext cx="104775" cy="11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204835" y="1464945"/>
            <a:ext cx="104775" cy="111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94691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基础运行库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485267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构建开发工具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7736840" y="5283200"/>
            <a:ext cx="2421890" cy="5276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文档与许可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080770" y="2480310"/>
            <a:ext cx="2971800" cy="1002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128635" y="2458720"/>
            <a:ext cx="2885440" cy="1002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304030" y="2234565"/>
            <a:ext cx="3451860" cy="1909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处理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081405" y="3646805"/>
            <a:ext cx="9933305" cy="7315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946910" y="3781425"/>
            <a:ext cx="8212455" cy="462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计算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324985" y="3614420"/>
            <a:ext cx="3415030" cy="12319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4667885" y="2820035"/>
            <a:ext cx="2799715" cy="462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调度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690745" y="2258060"/>
            <a:ext cx="2799715" cy="462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</a:t>
            </a:r>
            <a:endParaRPr lang="zh-CN" alt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WPS Presentation</Application>
  <PresentationFormat>宽屏</PresentationFormat>
  <Paragraphs>191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MathJax_Vector</vt:lpstr>
      <vt:lpstr>Office Theme</vt:lpstr>
      <vt:lpstr>学习架构设计-了解开源案例-浏览器</vt:lpstr>
      <vt:lpstr>学习架构设计-了解开源案例-浏览器</vt:lpstr>
      <vt:lpstr>学习架构设计-了解开源案例-浏览器</vt:lpstr>
      <vt:lpstr>学习架构设计-了解开源案例-浏览器</vt:lpstr>
      <vt:lpstr>学习架构设计-了解开源案例-浏览器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646</cp:revision>
  <dcterms:created xsi:type="dcterms:W3CDTF">2026-05-17T01:51:39Z</dcterms:created>
  <dcterms:modified xsi:type="dcterms:W3CDTF">2026-05-17T01:51:39Z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