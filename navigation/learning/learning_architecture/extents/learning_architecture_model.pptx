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04" r:id="rId3"/>
    <p:sldId id="409" r:id="rId4"/>
    <p:sldId id="406" r:id="rId5"/>
    <p:sldId id="408" r:id="rId6"/>
    <p:sldId id="407" r:id="rId7"/>
    <p:sldId id="405" r:id="rId8"/>
    <p:sldId id="403" r:id="rId9"/>
    <p:sldId id="415" r:id="rId10"/>
    <p:sldId id="416" r:id="rId11"/>
    <p:sldId id="417" r:id="rId12"/>
    <p:sldId id="418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5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4187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运行导向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35572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价值导向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57960" y="2902585"/>
            <a:ext cx="220599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功能视角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信息价值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458595" y="36436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时空约束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约束信息价值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560955" y="363664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运行转换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对接运行导向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44110" y="292290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局部时间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顺序跳转判断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面向对象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对接开发导向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4944110" y="366331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反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堆栈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</a:t>
            </a:r>
            <a:r>
              <a:rPr lang="zh-CN" altLang="en-US" sz="12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046470" y="36563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正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队列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22310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产出导向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428355" y="292036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环境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空间为主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428355" y="366077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属性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空间为主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9530715" y="365379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方法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交互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本层</a:t>
            </a:r>
            <a:r>
              <a:rPr lang="zh-CN" altLang="en-US" b="1">
                <a:solidFill>
                  <a:schemeClr val="tx1"/>
                </a:solidFill>
              </a:rPr>
              <a:t>（价值供给）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本层</a:t>
            </a:r>
            <a:r>
              <a:rPr lang="zh-CN" altLang="en-US" b="1">
                <a:solidFill>
                  <a:schemeClr val="tx1"/>
                </a:solidFill>
              </a:rPr>
              <a:t>（价值供给）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本层</a:t>
            </a:r>
            <a:r>
              <a:rPr lang="zh-CN" altLang="en-US" b="1">
                <a:solidFill>
                  <a:schemeClr val="tx1"/>
                </a:solidFill>
              </a:rPr>
              <a:t>（价值供给）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89305" y="50730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277745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45940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711575" y="5393055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937000" y="5393055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150360" y="5390515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64935" y="4908550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953375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021570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387205" y="5228590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9612630" y="5228590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25990" y="5226050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46899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15428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9882505" y="375666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998710" y="375412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477250" y="290830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60579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229108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2019300" y="375158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2135505" y="374904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614045" y="290322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198620" y="1744345"/>
            <a:ext cx="3794760" cy="40874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110230"/>
            <a:ext cx="3468370" cy="1317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753235"/>
            <a:ext cx="3467735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60502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55231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89305" y="50730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277745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45940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711575" y="5393055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937000" y="5393055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150360" y="5390515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64935" y="4908550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953375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021570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387205" y="5228590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9612630" y="5228590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25990" y="5226050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46899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15428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9882505" y="375666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998710" y="375412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477250" y="290830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60579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229108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2019300" y="375158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2135505" y="374904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614045" y="290322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198620" y="1744345"/>
            <a:ext cx="3794760" cy="40874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110230"/>
            <a:ext cx="3468370" cy="1317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753235"/>
            <a:ext cx="3467735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60502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55231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89305" y="50730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277745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45940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711575" y="5393055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937000" y="5393055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150360" y="5390515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64935" y="4908550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953375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021570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387205" y="5228590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9612630" y="5228590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25990" y="5226050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46899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15428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9882505" y="375666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998710" y="375412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477250" y="290830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60579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229108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2019300" y="375158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2135505" y="374904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614045" y="290322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934085" y="5218430"/>
            <a:ext cx="408940" cy="421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610995" y="5218430"/>
            <a:ext cx="366395" cy="421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48030" y="381190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274445" y="381190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002665" y="3507740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8622665" y="38093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9149080" y="38093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8877300" y="351599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623050" y="52698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49465" y="52698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6877685" y="497649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934720" y="5640070"/>
            <a:ext cx="1042035" cy="17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275080" y="5142865"/>
            <a:ext cx="335915" cy="690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1232535" y="5655945"/>
            <a:ext cx="78740" cy="151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1575435" y="5674995"/>
            <a:ext cx="78740" cy="151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899660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混合类型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（设计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集测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整调）</a:t>
            </a:r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接口建立：人主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r>
              <a:rPr lang="en-US" altLang="zh-CN" sz="1200" b="1">
                <a:solidFill>
                  <a:schemeClr val="tx1"/>
                </a:solidFill>
              </a:rPr>
              <a:t>(15%)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接口小改：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r>
              <a:rPr lang="en-US" altLang="zh-CN" sz="1200" b="1">
                <a:solidFill>
                  <a:schemeClr val="tx1"/>
                </a:solidFill>
              </a:rPr>
              <a:t>(25%)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接口不变：</a:t>
            </a:r>
            <a:r>
              <a:rPr lang="en-US" altLang="zh-CN" sz="1400" b="1">
                <a:solidFill>
                  <a:srgbClr val="C00000"/>
                </a:solidFill>
              </a:rPr>
              <a:t>AI</a:t>
            </a:r>
            <a:r>
              <a:rPr lang="zh-CN" altLang="en-US" sz="1400" b="1">
                <a:solidFill>
                  <a:srgbClr val="C00000"/>
                </a:solidFill>
              </a:rPr>
              <a:t>主全部</a:t>
            </a:r>
            <a:r>
              <a:rPr lang="en-US" altLang="zh-CN" sz="1200" b="1">
                <a:solidFill>
                  <a:srgbClr val="C00000"/>
                </a:solidFill>
              </a:rPr>
              <a:t>(60%)</a:t>
            </a:r>
            <a:endParaRPr lang="en-US" altLang="zh-CN" sz="1200" b="1">
              <a:solidFill>
                <a:srgbClr val="C0000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412875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人主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（需求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发布）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功能建模：人主全部</a:t>
            </a:r>
            <a:endParaRPr lang="zh-CN" altLang="en-US" sz="1400" b="1">
              <a:solidFill>
                <a:srgbClr val="C00000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使用建模：人主全部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模型表达：人主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373110" y="1011555"/>
            <a:ext cx="2426970" cy="173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主人辅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实现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单测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局调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代码实现：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单元测例：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异常处理：人主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899660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混合类型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（设计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集测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整调）</a:t>
            </a:r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接口建立：人主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r>
              <a:rPr lang="en-US" altLang="zh-CN" sz="1200" b="1">
                <a:solidFill>
                  <a:schemeClr val="tx1"/>
                </a:solidFill>
              </a:rPr>
              <a:t>(15%)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接口小改：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r>
              <a:rPr lang="en-US" altLang="zh-CN" sz="1200" b="1">
                <a:solidFill>
                  <a:schemeClr val="tx1"/>
                </a:solidFill>
              </a:rPr>
              <a:t>(25%)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接口不变：</a:t>
            </a:r>
            <a:r>
              <a:rPr lang="en-US" altLang="zh-CN" sz="1400" b="1">
                <a:solidFill>
                  <a:srgbClr val="C00000"/>
                </a:solidFill>
              </a:rPr>
              <a:t>AI</a:t>
            </a:r>
            <a:r>
              <a:rPr lang="zh-CN" altLang="en-US" sz="1400" b="1">
                <a:solidFill>
                  <a:srgbClr val="C00000"/>
                </a:solidFill>
              </a:rPr>
              <a:t>主全部</a:t>
            </a:r>
            <a:r>
              <a:rPr lang="en-US" altLang="zh-CN" sz="1200" b="1">
                <a:solidFill>
                  <a:srgbClr val="C00000"/>
                </a:solidFill>
              </a:rPr>
              <a:t>(60%)</a:t>
            </a:r>
            <a:endParaRPr lang="en-US" altLang="zh-CN" sz="1200" b="1">
              <a:solidFill>
                <a:srgbClr val="C0000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412875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人主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（需求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发布）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功能建模：人主全部</a:t>
            </a:r>
            <a:endParaRPr lang="zh-CN" altLang="en-US" sz="1400" b="1">
              <a:solidFill>
                <a:srgbClr val="C00000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使用建模：人主全部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模型表达：人主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373110" y="1011555"/>
            <a:ext cx="2426970" cy="173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主人辅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实现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单测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局调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代码实现：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单元测例：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异常处理：人主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741045" y="5654675"/>
            <a:ext cx="3291205" cy="10077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版本管理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时间反序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8084185" y="5659120"/>
            <a:ext cx="3436620" cy="10077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演进规划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时间正序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1368</Words>
  <Application>WPS Presentation</Application>
  <PresentationFormat>宽屏</PresentationFormat>
  <Paragraphs>506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Office Theme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学习架构设计-理解体系原理-AI与人</vt:lpstr>
      <vt:lpstr>学习架构设计-理解体系原理-AI与人</vt:lpstr>
      <vt:lpstr>学习架构设计-理解体系原理-AI与人</vt:lpstr>
      <vt:lpstr>学习架构设计-理解体系原理-AI与人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669</cp:revision>
  <dcterms:created xsi:type="dcterms:W3CDTF">2026-04-21T14:35:47Z</dcterms:created>
  <dcterms:modified xsi:type="dcterms:W3CDTF">2026-04-21T14:35:47Z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