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handoutMasterIdLst>
    <p:handoutMasterId r:id="rId8"/>
  </p:handoutMasterIdLst>
  <p:sldIdLst>
    <p:sldId id="385" r:id="rId3"/>
    <p:sldId id="400" r:id="rId4"/>
    <p:sldId id="399" r:id="rId5"/>
    <p:sldId id="398" r:id="rId6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4"/>
        <p:guide pos="3811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handoutMaster" Target="handoutMasters/handoutMaster1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Click to edit Master subtitle style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0945"/>
            <a:ext cx="9848088" cy="811530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>
                <a:sym typeface="+mn-ea"/>
              </a:rPr>
              <a:t>Click to edit Master title style</a:t>
            </a:r>
            <a:endParaRPr lang="zh-CN" altLang="en-US" dirty="0">
              <a:sym typeface="+mn-ea"/>
            </a:endParaRPr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Click to edit Master text styles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cxnSp>
        <p:nvCxnSpPr>
          <p:cNvPr id="8" name="直接连接符 7" hidden="1"/>
          <p:cNvCxnSpPr/>
          <p:nvPr userDrawn="1"/>
        </p:nvCxnSpPr>
        <p:spPr>
          <a:xfrm>
            <a:off x="742950" y="434340"/>
            <a:ext cx="0" cy="1391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Click to edit Master title style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>
                <a:sym typeface="+mn-ea"/>
              </a:rPr>
              <a:t>Click to edit Master text styles</a:t>
            </a:r>
            <a:endParaRPr lang="zh-CN" altLang="en-US" dirty="0">
              <a:sym typeface="+mn-ea"/>
            </a:endParaRPr>
          </a:p>
          <a:p>
            <a:pPr lvl="1"/>
            <a:r>
              <a:rPr lang="zh-CN" altLang="en-US" dirty="0"/>
              <a:t>Second level</a:t>
            </a:r>
            <a:endParaRPr lang="zh-CN" altLang="en-US" dirty="0"/>
          </a:p>
          <a:p>
            <a:pPr lvl="2"/>
            <a:r>
              <a:rPr lang="zh-CN" altLang="en-US" dirty="0"/>
              <a:t>Third level</a:t>
            </a:r>
            <a:endParaRPr lang="zh-CN" altLang="en-US" dirty="0"/>
          </a:p>
          <a:p>
            <a:pPr lvl="3"/>
            <a:r>
              <a:rPr lang="zh-CN" altLang="en-US" dirty="0"/>
              <a:t>Fourth level</a:t>
            </a:r>
            <a:endParaRPr lang="zh-CN" altLang="en-US" dirty="0"/>
          </a:p>
          <a:p>
            <a:pPr lvl="4"/>
            <a:r>
              <a:rPr lang="zh-CN" altLang="en-US" dirty="0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8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8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355725" y="953135"/>
            <a:ext cx="2416175" cy="11385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发布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承接预期投入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对接运行导向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4841240" y="952500"/>
            <a:ext cx="2418080" cy="11398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设计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测试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对接开发导向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328660" y="953135"/>
            <a:ext cx="2411095" cy="1139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实现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开发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重点开发导向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提供实际产出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29" idx="0"/>
            <a:endCxn id="13" idx="2"/>
          </p:cNvCxnSpPr>
          <p:nvPr/>
        </p:nvCxnSpPr>
        <p:spPr>
          <a:xfrm flipV="1">
            <a:off x="2564130" y="2091690"/>
            <a:ext cx="0" cy="66357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4" idx="2"/>
          </p:cNvCxnSpPr>
          <p:nvPr/>
        </p:nvCxnSpPr>
        <p:spPr>
          <a:xfrm flipV="1">
            <a:off x="6050280" y="2092325"/>
            <a:ext cx="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0"/>
            <a:endCxn id="15" idx="2"/>
          </p:cNvCxnSpPr>
          <p:nvPr/>
        </p:nvCxnSpPr>
        <p:spPr>
          <a:xfrm flipV="1">
            <a:off x="9530715" y="2092325"/>
            <a:ext cx="381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4" idx="3"/>
            <a:endCxn id="13" idx="1"/>
          </p:cNvCxnSpPr>
          <p:nvPr/>
        </p:nvCxnSpPr>
        <p:spPr>
          <a:xfrm>
            <a:off x="963295" y="1513205"/>
            <a:ext cx="392430" cy="952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Rectangles 23"/>
          <p:cNvSpPr/>
          <p:nvPr/>
        </p:nvSpPr>
        <p:spPr>
          <a:xfrm>
            <a:off x="305435" y="1188085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预期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投入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1178540" y="1200150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实际产出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stCxn id="14" idx="1"/>
            <a:endCxn id="13" idx="3"/>
          </p:cNvCxnSpPr>
          <p:nvPr/>
        </p:nvCxnSpPr>
        <p:spPr>
          <a:xfrm flipH="1">
            <a:off x="377190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4" idx="3"/>
            <a:endCxn id="15" idx="1"/>
          </p:cNvCxnSpPr>
          <p:nvPr/>
        </p:nvCxnSpPr>
        <p:spPr>
          <a:xfrm>
            <a:off x="725932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1"/>
            <a:endCxn id="15" idx="3"/>
          </p:cNvCxnSpPr>
          <p:nvPr/>
        </p:nvCxnSpPr>
        <p:spPr>
          <a:xfrm flipH="1" flipV="1">
            <a:off x="10739755" y="1522730"/>
            <a:ext cx="438785" cy="25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9" idx="0"/>
            <a:endCxn id="14" idx="2"/>
          </p:cNvCxnSpPr>
          <p:nvPr/>
        </p:nvCxnSpPr>
        <p:spPr>
          <a:xfrm flipV="1">
            <a:off x="2564130" y="2092325"/>
            <a:ext cx="3486150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0"/>
            <a:endCxn id="13" idx="2"/>
          </p:cNvCxnSpPr>
          <p:nvPr/>
        </p:nvCxnSpPr>
        <p:spPr>
          <a:xfrm flipH="1" flipV="1">
            <a:off x="2564130" y="2091690"/>
            <a:ext cx="3486150" cy="66357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0"/>
            <a:endCxn id="15" idx="2"/>
          </p:cNvCxnSpPr>
          <p:nvPr/>
        </p:nvCxnSpPr>
        <p:spPr>
          <a:xfrm flipV="1">
            <a:off x="6050280" y="2092325"/>
            <a:ext cx="348424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9" idx="0"/>
            <a:endCxn id="14" idx="2"/>
          </p:cNvCxnSpPr>
          <p:nvPr/>
        </p:nvCxnSpPr>
        <p:spPr>
          <a:xfrm flipH="1" flipV="1">
            <a:off x="6050280" y="2092325"/>
            <a:ext cx="348043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" name="Rectangles 6"/>
          <p:cNvSpPr/>
          <p:nvPr/>
        </p:nvSpPr>
        <p:spPr>
          <a:xfrm>
            <a:off x="484187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运行导向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28035" y="170180"/>
            <a:ext cx="7835265" cy="582295"/>
          </a:xfrm>
        </p:spPr>
        <p:txBody>
          <a:bodyPr/>
          <a:p>
            <a:r>
              <a:rPr lang="zh-CN" altLang="en-US">
                <a:solidFill>
                  <a:srgbClr val="00B050"/>
                </a:solidFill>
              </a:rPr>
              <a:t>学习架构设计</a:t>
            </a:r>
            <a:r>
              <a:rPr lang="en-US" altLang="zh-CN">
                <a:solidFill>
                  <a:srgbClr val="00B050"/>
                </a:solidFill>
              </a:rPr>
              <a:t>-</a:t>
            </a:r>
            <a:r>
              <a:rPr lang="zh-CN" altLang="en-US">
                <a:solidFill>
                  <a:srgbClr val="00B050"/>
                </a:solidFill>
              </a:rPr>
              <a:t>理解体系原理</a:t>
            </a:r>
            <a:endParaRPr lang="zh-CN" altLang="en-US">
              <a:solidFill>
                <a:srgbClr val="00B050"/>
              </a:solidFill>
            </a:endParaRPr>
          </a:p>
        </p:txBody>
      </p:sp>
      <p:sp>
        <p:nvSpPr>
          <p:cNvPr id="6" name="Rectangles 5"/>
          <p:cNvSpPr/>
          <p:nvPr/>
        </p:nvSpPr>
        <p:spPr>
          <a:xfrm>
            <a:off x="1582420" y="5944870"/>
            <a:ext cx="2896870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信息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8" name="Rectangles 7"/>
          <p:cNvSpPr/>
          <p:nvPr/>
        </p:nvSpPr>
        <p:spPr>
          <a:xfrm>
            <a:off x="4490720" y="5944870"/>
            <a:ext cx="303339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时间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6" name="Rectangles 15"/>
          <p:cNvSpPr/>
          <p:nvPr/>
        </p:nvSpPr>
        <p:spPr>
          <a:xfrm>
            <a:off x="7524115" y="5944870"/>
            <a:ext cx="2972435" cy="53784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空间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7" name="Rectangles 16"/>
          <p:cNvSpPr/>
          <p:nvPr/>
        </p:nvSpPr>
        <p:spPr>
          <a:xfrm>
            <a:off x="1582420" y="5782310"/>
            <a:ext cx="8914765" cy="16256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6" name="Rectangles 25"/>
          <p:cNvSpPr/>
          <p:nvPr/>
        </p:nvSpPr>
        <p:spPr>
          <a:xfrm>
            <a:off x="158242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7" name="Rectangles 26"/>
          <p:cNvSpPr/>
          <p:nvPr/>
        </p:nvSpPr>
        <p:spPr>
          <a:xfrm>
            <a:off x="507365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8" name="Rectangles 27"/>
          <p:cNvSpPr/>
          <p:nvPr/>
        </p:nvSpPr>
        <p:spPr>
          <a:xfrm>
            <a:off x="8564880" y="4878070"/>
            <a:ext cx="1931670" cy="9042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空间为主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时间为辅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信息为辅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9" name="Rectangles 28"/>
          <p:cNvSpPr/>
          <p:nvPr/>
        </p:nvSpPr>
        <p:spPr>
          <a:xfrm>
            <a:off x="1355725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价值导向</a:t>
            </a:r>
            <a:endParaRPr lang="en-US" altLang="zh-CN" b="1">
              <a:solidFill>
                <a:schemeClr val="tx1"/>
              </a:solidFill>
            </a:endParaRPr>
          </a:p>
        </p:txBody>
      </p:sp>
      <p:sp>
        <p:nvSpPr>
          <p:cNvPr id="38" name="Rectangles 37"/>
          <p:cNvSpPr/>
          <p:nvPr/>
        </p:nvSpPr>
        <p:spPr>
          <a:xfrm>
            <a:off x="1457960" y="2902585"/>
            <a:ext cx="220599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功能视角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信息价值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39" name="Rectangles 38"/>
          <p:cNvSpPr/>
          <p:nvPr/>
        </p:nvSpPr>
        <p:spPr>
          <a:xfrm>
            <a:off x="1458595" y="36436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使用视角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时空约束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约束信息价值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0" name="Rectangles 39"/>
          <p:cNvSpPr/>
          <p:nvPr/>
        </p:nvSpPr>
        <p:spPr>
          <a:xfrm>
            <a:off x="2560955" y="363664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实现视角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运行转换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对接运行导向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3" name="Rectangles 2"/>
          <p:cNvSpPr/>
          <p:nvPr/>
        </p:nvSpPr>
        <p:spPr>
          <a:xfrm>
            <a:off x="4944110" y="292290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计算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局部时间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顺序跳转判断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面向对象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对接开发导向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</p:txBody>
      </p:sp>
      <p:sp>
        <p:nvSpPr>
          <p:cNvPr id="4" name="Rectangles 3"/>
          <p:cNvSpPr/>
          <p:nvPr/>
        </p:nvSpPr>
        <p:spPr>
          <a:xfrm>
            <a:off x="4944110" y="366331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存储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反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堆栈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</a:t>
            </a:r>
            <a:r>
              <a:rPr lang="zh-CN" altLang="en-US" sz="1200" b="1">
                <a:solidFill>
                  <a:schemeClr val="tx1"/>
                </a:solidFill>
                <a:sym typeface="+mn-ea"/>
              </a:rPr>
              <a:t>传输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5" name="Rectangles 4"/>
          <p:cNvSpPr/>
          <p:nvPr/>
        </p:nvSpPr>
        <p:spPr>
          <a:xfrm>
            <a:off x="6046470" y="365633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传输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  <a:sym typeface="+mn-ea"/>
              </a:rPr>
              <a:t>正</a:t>
            </a:r>
            <a:r>
              <a:rPr lang="zh-CN" altLang="en-US" sz="1400" b="1">
                <a:solidFill>
                  <a:schemeClr val="tx1"/>
                </a:solidFill>
              </a:rPr>
              <a:t>时</a:t>
            </a:r>
            <a:r>
              <a:rPr lang="en-US" altLang="zh-CN" sz="1200" b="1">
                <a:solidFill>
                  <a:schemeClr val="tx1"/>
                </a:solidFill>
              </a:rPr>
              <a:t>(</a:t>
            </a:r>
            <a:r>
              <a:rPr lang="zh-CN" altLang="en-US" sz="1200" b="1">
                <a:solidFill>
                  <a:schemeClr val="tx1"/>
                </a:solidFill>
              </a:rPr>
              <a:t>队列</a:t>
            </a:r>
            <a:r>
              <a:rPr lang="en-US" altLang="zh-CN" sz="1200" b="1">
                <a:solidFill>
                  <a:schemeClr val="tx1"/>
                </a:solidFill>
              </a:rPr>
              <a:t>)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辅助计算存储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9" name="Rectangles 8"/>
          <p:cNvSpPr/>
          <p:nvPr/>
        </p:nvSpPr>
        <p:spPr>
          <a:xfrm>
            <a:off x="8322310" y="2755265"/>
            <a:ext cx="2416810" cy="212280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endParaRPr lang="zh-CN" altLang="en-US" sz="1000" b="1">
              <a:solidFill>
                <a:schemeClr val="tx1"/>
              </a:solidFill>
            </a:endParaRPr>
          </a:p>
          <a:p>
            <a:pPr algn="ctr"/>
            <a:r>
              <a:rPr lang="zh-CN" altLang="en-US" b="1">
                <a:solidFill>
                  <a:schemeClr val="tx1"/>
                </a:solidFill>
              </a:rPr>
              <a:t>产出导向</a:t>
            </a:r>
            <a:endParaRPr lang="zh-CN" altLang="en-US" b="1">
              <a:solidFill>
                <a:schemeClr val="tx1"/>
              </a:solidFill>
            </a:endParaRPr>
          </a:p>
        </p:txBody>
      </p:sp>
      <p:sp>
        <p:nvSpPr>
          <p:cNvPr id="10" name="Rectangles 9"/>
          <p:cNvSpPr/>
          <p:nvPr/>
        </p:nvSpPr>
        <p:spPr>
          <a:xfrm>
            <a:off x="8428355" y="2920365"/>
            <a:ext cx="220472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环境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外部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空间为主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1" name="Rectangles 10"/>
          <p:cNvSpPr/>
          <p:nvPr/>
        </p:nvSpPr>
        <p:spPr>
          <a:xfrm>
            <a:off x="8428355" y="3660775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属性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内部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  <a:sym typeface="+mn-ea"/>
              </a:rPr>
              <a:t>空间为主</a:t>
            </a:r>
            <a:endParaRPr lang="zh-CN" altLang="en-US" sz="1200" b="1">
              <a:solidFill>
                <a:schemeClr val="tx1"/>
              </a:solidFill>
              <a:sym typeface="+mn-ea"/>
            </a:endParaRPr>
          </a:p>
        </p:txBody>
      </p:sp>
      <p:sp>
        <p:nvSpPr>
          <p:cNvPr id="12" name="Rectangles 11"/>
          <p:cNvSpPr/>
          <p:nvPr/>
        </p:nvSpPr>
        <p:spPr>
          <a:xfrm>
            <a:off x="9530715" y="3653790"/>
            <a:ext cx="1102360" cy="74104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方法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交互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空间为辅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13" name="Rectangles 12"/>
          <p:cNvSpPr/>
          <p:nvPr/>
        </p:nvSpPr>
        <p:spPr>
          <a:xfrm>
            <a:off x="1355725" y="953135"/>
            <a:ext cx="2416175" cy="113855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需求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发布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承接预期投入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对接运行导向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4" name="Rectangles 13"/>
          <p:cNvSpPr/>
          <p:nvPr/>
        </p:nvSpPr>
        <p:spPr>
          <a:xfrm>
            <a:off x="4841240" y="952500"/>
            <a:ext cx="2418080" cy="1139825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设计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测试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承接价值导向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对接开发导向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sp>
        <p:nvSpPr>
          <p:cNvPr id="15" name="Rectangles 14"/>
          <p:cNvSpPr/>
          <p:nvPr/>
        </p:nvSpPr>
        <p:spPr>
          <a:xfrm>
            <a:off x="8328660" y="953135"/>
            <a:ext cx="2411095" cy="113919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b="1">
                <a:solidFill>
                  <a:schemeClr val="tx1"/>
                </a:solidFill>
              </a:rPr>
              <a:t>实现</a:t>
            </a:r>
            <a:r>
              <a:rPr lang="en-US" altLang="zh-CN" b="1">
                <a:solidFill>
                  <a:schemeClr val="tx1"/>
                </a:solidFill>
              </a:rPr>
              <a:t>/</a:t>
            </a:r>
            <a:r>
              <a:rPr lang="zh-CN" altLang="en-US" b="1">
                <a:solidFill>
                  <a:schemeClr val="tx1"/>
                </a:solidFill>
              </a:rPr>
              <a:t>开发</a:t>
            </a:r>
            <a:endParaRPr lang="zh-CN" altLang="en-US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承接运行导向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重点开发导向</a:t>
            </a:r>
            <a:endParaRPr lang="zh-CN" altLang="en-US" sz="1400" b="1">
              <a:solidFill>
                <a:schemeClr val="tx1"/>
              </a:solidFill>
            </a:endParaRPr>
          </a:p>
          <a:p>
            <a:pPr algn="ctr"/>
            <a:r>
              <a:rPr lang="zh-CN" altLang="en-US" sz="1400" b="1">
                <a:solidFill>
                  <a:schemeClr val="tx1"/>
                </a:solidFill>
              </a:rPr>
              <a:t>提供实际产出</a:t>
            </a:r>
            <a:endParaRPr lang="zh-CN" altLang="en-US" sz="1400" b="1">
              <a:solidFill>
                <a:schemeClr val="tx1"/>
              </a:solidFill>
            </a:endParaRPr>
          </a:p>
        </p:txBody>
      </p:sp>
      <p:cxnSp>
        <p:nvCxnSpPr>
          <p:cNvPr id="37" name="Straight Arrow Connector 36"/>
          <p:cNvCxnSpPr>
            <a:stCxn id="29" idx="0"/>
            <a:endCxn id="13" idx="2"/>
          </p:cNvCxnSpPr>
          <p:nvPr/>
        </p:nvCxnSpPr>
        <p:spPr>
          <a:xfrm flipV="1">
            <a:off x="2564130" y="2091690"/>
            <a:ext cx="0" cy="66357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stCxn id="7" idx="0"/>
            <a:endCxn id="14" idx="2"/>
          </p:cNvCxnSpPr>
          <p:nvPr/>
        </p:nvCxnSpPr>
        <p:spPr>
          <a:xfrm flipV="1">
            <a:off x="6050280" y="2092325"/>
            <a:ext cx="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>
            <a:stCxn id="9" idx="0"/>
            <a:endCxn id="15" idx="2"/>
          </p:cNvCxnSpPr>
          <p:nvPr/>
        </p:nvCxnSpPr>
        <p:spPr>
          <a:xfrm flipV="1">
            <a:off x="9530715" y="2092325"/>
            <a:ext cx="3810" cy="6629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24" idx="3"/>
            <a:endCxn id="13" idx="1"/>
          </p:cNvCxnSpPr>
          <p:nvPr/>
        </p:nvCxnSpPr>
        <p:spPr>
          <a:xfrm>
            <a:off x="963295" y="1513205"/>
            <a:ext cx="392430" cy="9525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24" name="Rectangles 23"/>
          <p:cNvSpPr/>
          <p:nvPr/>
        </p:nvSpPr>
        <p:spPr>
          <a:xfrm>
            <a:off x="305435" y="1188085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预期</a:t>
            </a:r>
            <a:endParaRPr lang="zh-CN" altLang="en-US" sz="1600" b="1">
              <a:solidFill>
                <a:schemeClr val="tx1"/>
              </a:solidFill>
            </a:endParaRPr>
          </a:p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投入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sp>
        <p:nvSpPr>
          <p:cNvPr id="25" name="Rectangles 24"/>
          <p:cNvSpPr/>
          <p:nvPr/>
        </p:nvSpPr>
        <p:spPr>
          <a:xfrm>
            <a:off x="11178540" y="1200150"/>
            <a:ext cx="657860" cy="650240"/>
          </a:xfrm>
          <a:prstGeom prst="rect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600" b="1">
                <a:solidFill>
                  <a:schemeClr val="tx1"/>
                </a:solidFill>
              </a:rPr>
              <a:t>实际产出</a:t>
            </a:r>
            <a:endParaRPr lang="zh-CN" altLang="en-US" sz="1600" b="1">
              <a:solidFill>
                <a:schemeClr val="tx1"/>
              </a:solidFill>
            </a:endParaRPr>
          </a:p>
        </p:txBody>
      </p:sp>
      <p:cxnSp>
        <p:nvCxnSpPr>
          <p:cNvPr id="30" name="Straight Arrow Connector 29"/>
          <p:cNvCxnSpPr>
            <a:stCxn id="14" idx="1"/>
            <a:endCxn id="13" idx="3"/>
          </p:cNvCxnSpPr>
          <p:nvPr/>
        </p:nvCxnSpPr>
        <p:spPr>
          <a:xfrm flipH="1">
            <a:off x="377190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>
            <a:stCxn id="14" idx="3"/>
            <a:endCxn id="15" idx="1"/>
          </p:cNvCxnSpPr>
          <p:nvPr/>
        </p:nvCxnSpPr>
        <p:spPr>
          <a:xfrm>
            <a:off x="7259320" y="1522730"/>
            <a:ext cx="1069340" cy="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stCxn id="25" idx="1"/>
            <a:endCxn id="15" idx="3"/>
          </p:cNvCxnSpPr>
          <p:nvPr/>
        </p:nvCxnSpPr>
        <p:spPr>
          <a:xfrm flipH="1" flipV="1">
            <a:off x="10739755" y="1522730"/>
            <a:ext cx="438785" cy="2540"/>
          </a:xfrm>
          <a:prstGeom prst="straightConnector1">
            <a:avLst/>
          </a:prstGeom>
          <a:ln w="28575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29" idx="0"/>
            <a:endCxn id="14" idx="2"/>
          </p:cNvCxnSpPr>
          <p:nvPr/>
        </p:nvCxnSpPr>
        <p:spPr>
          <a:xfrm flipV="1">
            <a:off x="2564130" y="2092325"/>
            <a:ext cx="3486150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7" idx="0"/>
            <a:endCxn id="13" idx="2"/>
          </p:cNvCxnSpPr>
          <p:nvPr/>
        </p:nvCxnSpPr>
        <p:spPr>
          <a:xfrm flipH="1" flipV="1">
            <a:off x="2564130" y="2091690"/>
            <a:ext cx="3486150" cy="663575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>
            <a:stCxn id="7" idx="0"/>
            <a:endCxn id="15" idx="2"/>
          </p:cNvCxnSpPr>
          <p:nvPr/>
        </p:nvCxnSpPr>
        <p:spPr>
          <a:xfrm flipV="1">
            <a:off x="6050280" y="2092325"/>
            <a:ext cx="348424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stCxn id="9" idx="0"/>
            <a:endCxn id="14" idx="2"/>
          </p:cNvCxnSpPr>
          <p:nvPr/>
        </p:nvCxnSpPr>
        <p:spPr>
          <a:xfrm flipH="1" flipV="1">
            <a:off x="6050280" y="2092325"/>
            <a:ext cx="3480435" cy="662940"/>
          </a:xfrm>
          <a:prstGeom prst="straightConnector1">
            <a:avLst/>
          </a:prstGeom>
          <a:ln w="19050">
            <a:headEnd type="arrow" w="med" len="med"/>
            <a:tailEnd type="arrow" w="med" len="med"/>
          </a:ln>
        </p:spPr>
        <p:style>
          <a:lnRef idx="2">
            <a:schemeClr val="accent4"/>
          </a:lnRef>
          <a:fillRef idx="0">
            <a:schemeClr val="accent4"/>
          </a:fillRef>
          <a:effectRef idx="1">
            <a:schemeClr val="accent4"/>
          </a:effectRef>
          <a:fontRef idx="minor">
            <a:schemeClr val="tx1"/>
          </a:fontRef>
        </p:style>
      </p:cxnSp>
      <p:sp>
        <p:nvSpPr>
          <p:cNvPr id="44" name="Rectangles 43"/>
          <p:cNvSpPr/>
          <p:nvPr/>
        </p:nvSpPr>
        <p:spPr>
          <a:xfrm>
            <a:off x="3775710" y="2755265"/>
            <a:ext cx="1063625" cy="481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200" b="1">
                <a:solidFill>
                  <a:schemeClr val="tx1"/>
                </a:solidFill>
              </a:rPr>
              <a:t>AI/</a:t>
            </a:r>
            <a:r>
              <a:rPr lang="zh-CN" altLang="en-US" sz="1200" b="1">
                <a:solidFill>
                  <a:schemeClr val="tx1"/>
                </a:solidFill>
              </a:rPr>
              <a:t>命令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语言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5" name="Rectangles 44"/>
          <p:cNvSpPr/>
          <p:nvPr/>
        </p:nvSpPr>
        <p:spPr>
          <a:xfrm>
            <a:off x="7261225" y="2755265"/>
            <a:ext cx="1055370" cy="47117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系统开发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语言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46" name="Rectangles 45"/>
          <p:cNvSpPr/>
          <p:nvPr/>
        </p:nvSpPr>
        <p:spPr>
          <a:xfrm>
            <a:off x="10739120" y="2755265"/>
            <a:ext cx="1097280" cy="471805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面向对象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语言</a:t>
            </a:r>
            <a:r>
              <a:rPr lang="en-US" altLang="zh-CN" sz="1000" b="1">
                <a:solidFill>
                  <a:schemeClr val="accent5"/>
                </a:solidFill>
                <a:sym typeface="+mn-ea"/>
              </a:rPr>
              <a:t>AI</a:t>
            </a:r>
            <a:endParaRPr lang="en-US" altLang="zh-CN" sz="1000" b="1">
              <a:solidFill>
                <a:schemeClr val="accent5"/>
              </a:solidFill>
              <a:sym typeface="+mn-ea"/>
            </a:endParaRPr>
          </a:p>
        </p:txBody>
      </p:sp>
      <p:sp>
        <p:nvSpPr>
          <p:cNvPr id="47" name="Rectangles 46"/>
          <p:cNvSpPr/>
          <p:nvPr/>
        </p:nvSpPr>
        <p:spPr>
          <a:xfrm>
            <a:off x="292100" y="2750820"/>
            <a:ext cx="1063625" cy="48133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现实抽象</a:t>
            </a:r>
            <a:endParaRPr lang="en-US" altLang="zh-CN" sz="1200" b="1">
              <a:solidFill>
                <a:schemeClr val="tx1"/>
              </a:solidFill>
            </a:endParaRPr>
          </a:p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建模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8" name="Rectangles 47"/>
          <p:cNvSpPr/>
          <p:nvPr/>
        </p:nvSpPr>
        <p:spPr>
          <a:xfrm>
            <a:off x="3771900" y="4565650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  <p:sp>
        <p:nvSpPr>
          <p:cNvPr id="49" name="Rectangles 48"/>
          <p:cNvSpPr/>
          <p:nvPr/>
        </p:nvSpPr>
        <p:spPr>
          <a:xfrm>
            <a:off x="7252970" y="4565650"/>
            <a:ext cx="1063625" cy="320040"/>
          </a:xfrm>
          <a:prstGeom prst="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200" b="1">
                <a:solidFill>
                  <a:schemeClr val="tx1"/>
                </a:solidFill>
              </a:rPr>
              <a:t>模型转换</a:t>
            </a:r>
            <a:endParaRPr lang="zh-CN" altLang="en-US" sz="1200" b="1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宋体"/>
        <a:font script="Hant" typeface="新細明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798</Words>
  <Application>WPS Presentation</Application>
  <PresentationFormat>宽屏</PresentationFormat>
  <Paragraphs>313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5" baseType="lpstr">
      <vt:lpstr>Arial</vt:lpstr>
      <vt:lpstr>宋体</vt:lpstr>
      <vt:lpstr>Wingdings</vt:lpstr>
      <vt:lpstr>DejaVu Sans</vt:lpstr>
      <vt:lpstr>Droid Sans Fallback</vt:lpstr>
      <vt:lpstr>Arial Black</vt:lpstr>
      <vt:lpstr>微软雅黑</vt:lpstr>
      <vt:lpstr>宋体</vt:lpstr>
      <vt:lpstr>Arial Unicode MS</vt:lpstr>
      <vt:lpstr>MathJax_Vector</vt:lpstr>
      <vt:lpstr>Office Theme</vt:lpstr>
      <vt:lpstr>学习架构设计-系统物理原理</vt:lpstr>
      <vt:lpstr>学习架构设计-理解体系原理</vt:lpstr>
      <vt:lpstr>学习架构设计-理解体系原理</vt:lpstr>
      <vt:lpstr>学习架构设计-理解体系原理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gchen</cp:lastModifiedBy>
  <cp:revision>630</cp:revision>
  <dcterms:created xsi:type="dcterms:W3CDTF">2026-04-17T13:07:30Z</dcterms:created>
  <dcterms:modified xsi:type="dcterms:W3CDTF">2026-04-17T13:07:30Z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1033-11.1.0.11723</vt:lpwstr>
  </property>
  <property fmtid="{D5CDD505-2E9C-101B-9397-08002B2CF9AE}" pid="3" name="ICV">
    <vt:lpwstr/>
  </property>
</Properties>
</file>