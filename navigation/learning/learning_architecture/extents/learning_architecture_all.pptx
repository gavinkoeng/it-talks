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15" r:id="rId3"/>
    <p:sldId id="414" r:id="rId4"/>
    <p:sldId id="385" r:id="rId5"/>
    <p:sldId id="400" r:id="rId6"/>
    <p:sldId id="399" r:id="rId7"/>
    <p:sldId id="398" r:id="rId8"/>
    <p:sldId id="405" r:id="rId9"/>
    <p:sldId id="406" r:id="rId10"/>
    <p:sldId id="407" r:id="rId11"/>
    <p:sldId id="408" r:id="rId12"/>
    <p:sldId id="409" r:id="rId13"/>
    <p:sldId id="411" r:id="rId14"/>
    <p:sldId id="412" r:id="rId15"/>
    <p:sldId id="413" r:id="rId16"/>
    <p:sldId id="416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4"/>
        <p:guide pos="381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69240"/>
            <a:ext cx="10515600" cy="1282065"/>
          </a:xfrm>
        </p:spPr>
        <p:txBody>
          <a:bodyPr/>
          <a:p>
            <a:pPr algn="ctr"/>
            <a:r>
              <a:rPr lang="zh-CN" altLang="en-US" sz="4400">
                <a:solidFill>
                  <a:srgbClr val="00B050"/>
                </a:solidFill>
              </a:rPr>
              <a:t>学习架构设计</a:t>
            </a:r>
            <a:endParaRPr lang="en-US" altLang="zh-CN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1637665"/>
            <a:ext cx="10515600" cy="4916805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整体概述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架构实践</a:t>
            </a:r>
            <a:endParaRPr lang="zh-CN" altLang="en-US" sz="3600" b="1">
              <a:solidFill>
                <a:srgbClr val="00B050"/>
              </a:solidFill>
            </a:endParaRPr>
          </a:p>
          <a:p>
            <a:pPr lvl="2" algn="ctr"/>
            <a:r>
              <a:rPr lang="zh-CN" altLang="en-US" sz="2880" b="1">
                <a:solidFill>
                  <a:srgbClr val="00B050"/>
                </a:solidFill>
              </a:rPr>
              <a:t>框架思路</a:t>
            </a:r>
            <a:endParaRPr lang="zh-CN" altLang="en-US" sz="2880" b="1">
              <a:solidFill>
                <a:srgbClr val="00B050"/>
              </a:solidFill>
            </a:endParaRPr>
          </a:p>
          <a:p>
            <a:pPr lvl="2" algn="ctr"/>
            <a:r>
              <a:rPr lang="zh-CN" altLang="en-US" sz="2880" b="1">
                <a:solidFill>
                  <a:srgbClr val="00B050"/>
                </a:solidFill>
              </a:rPr>
              <a:t>集成方法</a:t>
            </a:r>
            <a:endParaRPr lang="zh-CN" altLang="en-US" sz="2880" b="1">
              <a:solidFill>
                <a:srgbClr val="00B050"/>
              </a:solidFill>
            </a:endParaRPr>
          </a:p>
          <a:p>
            <a:pPr lvl="2" algn="ctr"/>
            <a:r>
              <a:rPr lang="zh-CN" altLang="en-US" sz="2880" b="1">
                <a:solidFill>
                  <a:srgbClr val="00B050"/>
                </a:solidFill>
              </a:rPr>
              <a:t>对接实现</a:t>
            </a:r>
            <a:endParaRPr lang="zh-CN" altLang="en-US" sz="32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  <a:sym typeface="+mn-ea"/>
              </a:rPr>
              <a:t>架构管理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人员协同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69240"/>
            <a:ext cx="10515600" cy="1282065"/>
          </a:xfrm>
        </p:spPr>
        <p:txBody>
          <a:bodyPr>
            <a:normAutofit/>
          </a:bodyPr>
          <a:p>
            <a:pPr algn="ctr"/>
            <a:r>
              <a:rPr lang="zh-CN" altLang="en-US" sz="4400">
                <a:solidFill>
                  <a:srgbClr val="00B050"/>
                </a:solidFill>
              </a:rPr>
              <a:t>学习架构设计</a:t>
            </a:r>
            <a:endParaRPr lang="zh-CN" altLang="en-US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765" y="1637665"/>
            <a:ext cx="6944995" cy="4916805"/>
          </a:xfrm>
        </p:spPr>
        <p:txBody>
          <a:bodyPr/>
          <a:p>
            <a:pPr algn="l"/>
            <a:r>
              <a:rPr lang="zh-CN" altLang="en-US" sz="3600" b="1">
                <a:solidFill>
                  <a:srgbClr val="00B050"/>
                </a:solidFill>
                <a:sym typeface="+mn-ea"/>
              </a:rPr>
              <a:t>理解体系原理</a:t>
            </a:r>
            <a:endParaRPr lang="zh-CN" altLang="en-US" sz="3600" b="1">
              <a:solidFill>
                <a:srgbClr val="00B050"/>
              </a:solidFill>
            </a:endParaRPr>
          </a:p>
          <a:p>
            <a:pPr lvl="1" algn="l"/>
            <a:r>
              <a:rPr lang="zh-CN" altLang="en-US" sz="3200" b="1">
                <a:solidFill>
                  <a:srgbClr val="00B050"/>
                </a:solidFill>
                <a:sym typeface="+mn-ea"/>
              </a:rPr>
              <a:t>主体内容</a:t>
            </a:r>
            <a:endParaRPr lang="zh-CN" altLang="en-US" sz="3200" b="1">
              <a:solidFill>
                <a:srgbClr val="00B050"/>
              </a:solidFill>
            </a:endParaRPr>
          </a:p>
          <a:p>
            <a:pPr lvl="1" algn="l"/>
            <a:r>
              <a:rPr lang="zh-CN" altLang="en-US" sz="3200" b="1">
                <a:solidFill>
                  <a:srgbClr val="00B050"/>
                </a:solidFill>
                <a:sym typeface="+mn-ea"/>
              </a:rPr>
              <a:t>通用集成模型</a:t>
            </a:r>
            <a:endParaRPr lang="zh-CN" altLang="en-US" sz="3200" b="1">
              <a:solidFill>
                <a:srgbClr val="00B050"/>
              </a:solidFill>
            </a:endParaRPr>
          </a:p>
          <a:p>
            <a:pPr lvl="1" algn="l"/>
            <a:r>
              <a:rPr lang="en-US" altLang="zh-CN" sz="3200" b="1">
                <a:solidFill>
                  <a:srgbClr val="00B050"/>
                </a:solidFill>
                <a:sym typeface="+mn-ea"/>
              </a:rPr>
              <a:t>AI</a:t>
            </a:r>
            <a:r>
              <a:rPr lang="zh-CN" altLang="en-US" sz="3200" b="1">
                <a:solidFill>
                  <a:srgbClr val="00B050"/>
                </a:solidFill>
                <a:sym typeface="+mn-ea"/>
              </a:rPr>
              <a:t>与人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l"/>
            <a:r>
              <a:rPr lang="zh-CN" altLang="en-US" sz="3600" b="1">
                <a:solidFill>
                  <a:srgbClr val="00B050"/>
                </a:solidFill>
                <a:sym typeface="+mn-ea"/>
              </a:rPr>
              <a:t>了解开源案例</a:t>
            </a:r>
            <a:endParaRPr lang="zh-CN" altLang="en-US" sz="3600" b="1">
              <a:solidFill>
                <a:srgbClr val="00B050"/>
              </a:solidFill>
              <a:sym typeface="+mn-ea"/>
            </a:endParaRPr>
          </a:p>
          <a:p>
            <a:pPr lvl="1" algn="l"/>
            <a:r>
              <a:rPr lang="zh-CN" altLang="en-US" sz="3240" b="1">
                <a:solidFill>
                  <a:srgbClr val="00B050"/>
                </a:solidFill>
              </a:rPr>
              <a:t>整体概述</a:t>
            </a:r>
            <a:endParaRPr lang="zh-CN" altLang="en-US" sz="3240" b="1">
              <a:solidFill>
                <a:srgbClr val="00B050"/>
              </a:solidFill>
            </a:endParaRPr>
          </a:p>
          <a:p>
            <a:pPr lvl="1" algn="l"/>
            <a:r>
              <a:rPr lang="en-US" altLang="zh-CN" sz="3240" b="1">
                <a:solidFill>
                  <a:srgbClr val="00B050"/>
                </a:solidFill>
              </a:rPr>
              <a:t>Linux</a:t>
            </a:r>
            <a:r>
              <a:rPr lang="zh-CN" altLang="en-US" sz="3240" b="1">
                <a:solidFill>
                  <a:srgbClr val="00B050"/>
                </a:solidFill>
              </a:rPr>
              <a:t>内核</a:t>
            </a:r>
            <a:endParaRPr lang="zh-CN" altLang="en-US" sz="3240" b="1">
              <a:solidFill>
                <a:srgbClr val="00B050"/>
              </a:solidFill>
            </a:endParaRPr>
          </a:p>
          <a:p>
            <a:pPr lvl="1" algn="l"/>
            <a:r>
              <a:rPr lang="en-US" altLang="zh-CN" sz="3240" b="1">
                <a:solidFill>
                  <a:srgbClr val="00B050"/>
                </a:solidFill>
              </a:rPr>
              <a:t>...</a:t>
            </a:r>
            <a:endParaRPr lang="zh-CN" altLang="en-US" sz="3240" b="1">
              <a:solidFill>
                <a:srgbClr val="00B050"/>
              </a:solidFill>
            </a:endParaRPr>
          </a:p>
          <a:p>
            <a:pPr lvl="1" algn="l"/>
            <a:endParaRPr lang="zh-CN" altLang="en-US" sz="32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355725" y="953135"/>
            <a:ext cx="2416175" cy="11385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发布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承接预期投入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对接运行导向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4841240" y="952500"/>
            <a:ext cx="2418080" cy="11398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设计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测试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对接开发导向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328660" y="953135"/>
            <a:ext cx="2411095" cy="1139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实现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开发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重点开发导向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提供实际产出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29" idx="0"/>
            <a:endCxn id="13" idx="2"/>
          </p:cNvCxnSpPr>
          <p:nvPr/>
        </p:nvCxnSpPr>
        <p:spPr>
          <a:xfrm flipV="1">
            <a:off x="2564130" y="2091690"/>
            <a:ext cx="0" cy="66357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4" idx="2"/>
          </p:cNvCxnSpPr>
          <p:nvPr/>
        </p:nvCxnSpPr>
        <p:spPr>
          <a:xfrm flipV="1">
            <a:off x="6050280" y="2092325"/>
            <a:ext cx="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0"/>
            <a:endCxn id="15" idx="2"/>
          </p:cNvCxnSpPr>
          <p:nvPr/>
        </p:nvCxnSpPr>
        <p:spPr>
          <a:xfrm flipV="1">
            <a:off x="9530715" y="2092325"/>
            <a:ext cx="381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4" idx="3"/>
            <a:endCxn id="13" idx="1"/>
          </p:cNvCxnSpPr>
          <p:nvPr/>
        </p:nvCxnSpPr>
        <p:spPr>
          <a:xfrm>
            <a:off x="963295" y="1513205"/>
            <a:ext cx="392430" cy="952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Rectangles 23"/>
          <p:cNvSpPr/>
          <p:nvPr/>
        </p:nvSpPr>
        <p:spPr>
          <a:xfrm>
            <a:off x="305435" y="1188085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预期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投入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1178540" y="1200150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实际产出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stCxn id="14" idx="1"/>
            <a:endCxn id="13" idx="3"/>
          </p:cNvCxnSpPr>
          <p:nvPr/>
        </p:nvCxnSpPr>
        <p:spPr>
          <a:xfrm flipH="1">
            <a:off x="377190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4" idx="3"/>
            <a:endCxn id="15" idx="1"/>
          </p:cNvCxnSpPr>
          <p:nvPr/>
        </p:nvCxnSpPr>
        <p:spPr>
          <a:xfrm>
            <a:off x="725932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1"/>
            <a:endCxn id="15" idx="3"/>
          </p:cNvCxnSpPr>
          <p:nvPr/>
        </p:nvCxnSpPr>
        <p:spPr>
          <a:xfrm flipH="1" flipV="1">
            <a:off x="10739755" y="1522730"/>
            <a:ext cx="438785" cy="25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9" idx="0"/>
            <a:endCxn id="14" idx="2"/>
          </p:cNvCxnSpPr>
          <p:nvPr/>
        </p:nvCxnSpPr>
        <p:spPr>
          <a:xfrm flipV="1">
            <a:off x="2564130" y="2092325"/>
            <a:ext cx="3486150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0"/>
            <a:endCxn id="13" idx="2"/>
          </p:cNvCxnSpPr>
          <p:nvPr/>
        </p:nvCxnSpPr>
        <p:spPr>
          <a:xfrm flipH="1" flipV="1">
            <a:off x="2564130" y="2091690"/>
            <a:ext cx="3486150" cy="66357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0"/>
            <a:endCxn id="15" idx="2"/>
          </p:cNvCxnSpPr>
          <p:nvPr/>
        </p:nvCxnSpPr>
        <p:spPr>
          <a:xfrm flipV="1">
            <a:off x="6050280" y="2092325"/>
            <a:ext cx="348424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9" idx="0"/>
            <a:endCxn id="14" idx="2"/>
          </p:cNvCxnSpPr>
          <p:nvPr/>
        </p:nvCxnSpPr>
        <p:spPr>
          <a:xfrm flipH="1" flipV="1">
            <a:off x="6050280" y="2092325"/>
            <a:ext cx="348043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355725" y="953135"/>
            <a:ext cx="2416175" cy="11385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发布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承接预期投入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对接运行导向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4841240" y="952500"/>
            <a:ext cx="2418080" cy="11398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设计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测试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对接开发导向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328660" y="953135"/>
            <a:ext cx="2411095" cy="1139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实现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开发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重点开发导向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提供实际产出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29" idx="0"/>
            <a:endCxn id="13" idx="2"/>
          </p:cNvCxnSpPr>
          <p:nvPr/>
        </p:nvCxnSpPr>
        <p:spPr>
          <a:xfrm flipV="1">
            <a:off x="2564130" y="2091690"/>
            <a:ext cx="0" cy="66357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4" idx="2"/>
          </p:cNvCxnSpPr>
          <p:nvPr/>
        </p:nvCxnSpPr>
        <p:spPr>
          <a:xfrm flipV="1">
            <a:off x="6050280" y="2092325"/>
            <a:ext cx="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0"/>
            <a:endCxn id="15" idx="2"/>
          </p:cNvCxnSpPr>
          <p:nvPr/>
        </p:nvCxnSpPr>
        <p:spPr>
          <a:xfrm flipV="1">
            <a:off x="9530715" y="2092325"/>
            <a:ext cx="381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4" idx="3"/>
            <a:endCxn id="13" idx="1"/>
          </p:cNvCxnSpPr>
          <p:nvPr/>
        </p:nvCxnSpPr>
        <p:spPr>
          <a:xfrm>
            <a:off x="963295" y="1513205"/>
            <a:ext cx="392430" cy="952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Rectangles 23"/>
          <p:cNvSpPr/>
          <p:nvPr/>
        </p:nvSpPr>
        <p:spPr>
          <a:xfrm>
            <a:off x="305435" y="1188085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预期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投入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1178540" y="1200150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实际产出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stCxn id="14" idx="1"/>
            <a:endCxn id="13" idx="3"/>
          </p:cNvCxnSpPr>
          <p:nvPr/>
        </p:nvCxnSpPr>
        <p:spPr>
          <a:xfrm flipH="1">
            <a:off x="377190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4" idx="3"/>
            <a:endCxn id="15" idx="1"/>
          </p:cNvCxnSpPr>
          <p:nvPr/>
        </p:nvCxnSpPr>
        <p:spPr>
          <a:xfrm>
            <a:off x="725932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1"/>
            <a:endCxn id="15" idx="3"/>
          </p:cNvCxnSpPr>
          <p:nvPr/>
        </p:nvCxnSpPr>
        <p:spPr>
          <a:xfrm flipH="1" flipV="1">
            <a:off x="10739755" y="1522730"/>
            <a:ext cx="438785" cy="25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9" idx="0"/>
            <a:endCxn id="14" idx="2"/>
          </p:cNvCxnSpPr>
          <p:nvPr/>
        </p:nvCxnSpPr>
        <p:spPr>
          <a:xfrm flipV="1">
            <a:off x="2564130" y="2092325"/>
            <a:ext cx="3486150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0"/>
            <a:endCxn id="13" idx="2"/>
          </p:cNvCxnSpPr>
          <p:nvPr/>
        </p:nvCxnSpPr>
        <p:spPr>
          <a:xfrm flipH="1" flipV="1">
            <a:off x="2564130" y="2091690"/>
            <a:ext cx="3486150" cy="66357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0"/>
            <a:endCxn id="15" idx="2"/>
          </p:cNvCxnSpPr>
          <p:nvPr/>
        </p:nvCxnSpPr>
        <p:spPr>
          <a:xfrm flipV="1">
            <a:off x="6050280" y="2092325"/>
            <a:ext cx="348424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9" idx="0"/>
            <a:endCxn id="14" idx="2"/>
          </p:cNvCxnSpPr>
          <p:nvPr/>
        </p:nvCxnSpPr>
        <p:spPr>
          <a:xfrm flipH="1" flipV="1">
            <a:off x="6050280" y="2092325"/>
            <a:ext cx="348043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Rectangles 43"/>
          <p:cNvSpPr/>
          <p:nvPr/>
        </p:nvSpPr>
        <p:spPr>
          <a:xfrm>
            <a:off x="3775710" y="2755265"/>
            <a:ext cx="1063625" cy="481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AI/</a:t>
            </a:r>
            <a:r>
              <a:rPr lang="zh-CN" altLang="en-US" sz="1200" b="1">
                <a:solidFill>
                  <a:schemeClr val="tx1"/>
                </a:solidFill>
              </a:rPr>
              <a:t>命令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语言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7261225" y="2755265"/>
            <a:ext cx="1055370" cy="471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系统开发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语言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10739120" y="2755265"/>
            <a:ext cx="1097280" cy="4718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面向对象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语言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292100" y="2750820"/>
            <a:ext cx="1063625" cy="481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现实抽象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建模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771900" y="4565650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252970" y="4565650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本层</a:t>
            </a:r>
            <a:r>
              <a:rPr lang="zh-CN" altLang="en-US" b="1">
                <a:solidFill>
                  <a:schemeClr val="tx1"/>
                </a:solidFill>
              </a:rPr>
              <a:t>（价值供给）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本层</a:t>
            </a:r>
            <a:r>
              <a:rPr lang="zh-CN" altLang="en-US" b="1">
                <a:solidFill>
                  <a:schemeClr val="tx1"/>
                </a:solidFill>
              </a:rPr>
              <a:t>（价值供给）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本层</a:t>
            </a:r>
            <a:r>
              <a:rPr lang="zh-CN" altLang="en-US" b="1">
                <a:solidFill>
                  <a:schemeClr val="tx1"/>
                </a:solidFill>
              </a:rPr>
              <a:t>（价值供给）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89305" y="50730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277745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45940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711575" y="5393055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37000" y="5393055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50360" y="5390515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64935" y="4908550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953375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021570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387205" y="5228590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9612630" y="5228590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25990" y="5226050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46899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15428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882505" y="375666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998710" y="375412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477250" y="290830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0579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229108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2019300" y="375158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2135505" y="374904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614045" y="290322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198620" y="1744345"/>
            <a:ext cx="3794760" cy="40874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110230"/>
            <a:ext cx="3468370" cy="1317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753235"/>
            <a:ext cx="3467735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60502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55231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89305" y="50730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277745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45940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711575" y="5393055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37000" y="5393055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50360" y="5390515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64935" y="4908550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953375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021570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387205" y="5228590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9612630" y="5228590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25990" y="5226050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46899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15428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882505" y="375666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998710" y="375412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477250" y="290830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0579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1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229108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2019300" y="375158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2135505" y="374904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614045" y="290322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s 2"/>
          <p:cNvSpPr/>
          <p:nvPr/>
        </p:nvSpPr>
        <p:spPr>
          <a:xfrm>
            <a:off x="328930" y="1753235"/>
            <a:ext cx="11494770" cy="4077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198620" y="1744345"/>
            <a:ext cx="3794760" cy="40874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通用集成模型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34085"/>
            <a:ext cx="11494135" cy="635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上层</a:t>
            </a:r>
            <a:r>
              <a:rPr lang="zh-CN" altLang="en-US" b="1">
                <a:solidFill>
                  <a:schemeClr val="tx1"/>
                </a:solidFill>
              </a:rPr>
              <a:t>（价值消费）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024880"/>
            <a:ext cx="11494770" cy="6140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底层</a:t>
            </a:r>
            <a:r>
              <a:rPr lang="zh-CN" altLang="en-US" b="1">
                <a:solidFill>
                  <a:schemeClr val="tx1"/>
                </a:solidFill>
              </a:rPr>
              <a:t>（价值支撑）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90445"/>
            <a:ext cx="3220720" cy="2052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86635"/>
            <a:ext cx="3248025" cy="2066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110230"/>
            <a:ext cx="3468370" cy="13176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753235"/>
            <a:ext cx="3467735" cy="6000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60502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220210" y="4552315"/>
            <a:ext cx="3773170" cy="76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470789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789305" y="50730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2277745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4345940" y="5073015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711575" y="5393055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3937000" y="5393055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4150360" y="5390515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64935" y="4908550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7953375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2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021570" y="4908550"/>
            <a:ext cx="1348740" cy="7454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387205" y="5228590"/>
            <a:ext cx="117475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9612630" y="5228590"/>
            <a:ext cx="127000" cy="120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25990" y="5226050"/>
            <a:ext cx="116205" cy="1314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46899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154285" y="343979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9882505" y="375666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9998710" y="375412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8477250" y="290830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0579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2291080" y="3434715"/>
            <a:ext cx="1348740" cy="758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层内价值模块</a:t>
            </a:r>
            <a:r>
              <a:rPr lang="en-US" altLang="zh-CN" sz="1200" b="1">
                <a:solidFill>
                  <a:schemeClr val="tx1"/>
                </a:solidFill>
              </a:rPr>
              <a:t>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2019300" y="375158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2135505" y="3749040"/>
            <a:ext cx="76200" cy="76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614045" y="2903220"/>
            <a:ext cx="3025775" cy="5181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存储框架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934085" y="5218430"/>
            <a:ext cx="408940" cy="421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1610995" y="5218430"/>
            <a:ext cx="366395" cy="4210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48030" y="381190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274445" y="381190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02665" y="3507740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8622665" y="38093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9149080" y="38093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8877300" y="351599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6623050" y="52698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49465" y="526986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6877685" y="4976495"/>
            <a:ext cx="516890" cy="2933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934720" y="5640070"/>
            <a:ext cx="1042035" cy="17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275080" y="5142865"/>
            <a:ext cx="335915" cy="6902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处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理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1232535" y="5655945"/>
            <a:ext cx="78740" cy="151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1575435" y="5674995"/>
            <a:ext cx="78740" cy="1511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899660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混合类型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（设计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集测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整调）</a:t>
            </a:r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接口建立：人主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r>
              <a:rPr lang="en-US" altLang="zh-CN" sz="1200" b="1">
                <a:solidFill>
                  <a:schemeClr val="tx1"/>
                </a:solidFill>
              </a:rPr>
              <a:t>(15%)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接口小改：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r>
              <a:rPr lang="en-US" altLang="zh-CN" sz="1200" b="1">
                <a:solidFill>
                  <a:schemeClr val="tx1"/>
                </a:solidFill>
              </a:rPr>
              <a:t>(25%)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接口不变：</a:t>
            </a:r>
            <a:r>
              <a:rPr lang="en-US" altLang="zh-CN" sz="1400" b="1">
                <a:solidFill>
                  <a:srgbClr val="C00000"/>
                </a:solidFill>
              </a:rPr>
              <a:t>AI</a:t>
            </a:r>
            <a:r>
              <a:rPr lang="zh-CN" altLang="en-US" sz="1400" b="1">
                <a:solidFill>
                  <a:srgbClr val="C00000"/>
                </a:solidFill>
              </a:rPr>
              <a:t>主全部</a:t>
            </a:r>
            <a:r>
              <a:rPr lang="en-US" altLang="zh-CN" sz="1200" b="1">
                <a:solidFill>
                  <a:srgbClr val="C00000"/>
                </a:solidFill>
              </a:rPr>
              <a:t>(60%)</a:t>
            </a:r>
            <a:endParaRPr lang="en-US" altLang="zh-CN" sz="1200" b="1">
              <a:solidFill>
                <a:srgbClr val="C0000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412875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人主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（需求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发布）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功能建模：人主全部</a:t>
            </a:r>
            <a:endParaRPr lang="zh-CN" altLang="en-US" sz="1400" b="1">
              <a:solidFill>
                <a:srgbClr val="C00000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使用建模：人主全部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模型表达：人主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373110" y="1011555"/>
            <a:ext cx="2426970" cy="173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主人辅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实现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单测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局调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代码实现：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单元测例：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异常处理：人主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9521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运行导向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r>
              <a:rPr lang="en-US" altLang="zh-CN">
                <a:solidFill>
                  <a:srgbClr val="00B050"/>
                </a:solidFill>
              </a:rPr>
              <a:t>-AI</a:t>
            </a:r>
            <a:r>
              <a:rPr lang="zh-CN" altLang="en-US">
                <a:solidFill>
                  <a:srgbClr val="00B050"/>
                </a:solidFill>
              </a:rPr>
              <a:t>与人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635760" y="4678045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544060" y="4678045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77455" y="4678045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635760" y="4515485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63576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12699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618220" y="3611245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空间为主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信息为辅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409065" y="2741930"/>
            <a:ext cx="241681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价值导向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75650" y="2743200"/>
            <a:ext cx="2416810" cy="868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产出导向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899660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混合类型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（设计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集测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整调）</a:t>
            </a:r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接口建立：人主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r>
              <a:rPr lang="en-US" altLang="zh-CN" sz="1200" b="1">
                <a:solidFill>
                  <a:schemeClr val="tx1"/>
                </a:solidFill>
              </a:rPr>
              <a:t>(15%)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接口小改：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r>
              <a:rPr lang="en-US" altLang="zh-CN" sz="1200" b="1">
                <a:solidFill>
                  <a:schemeClr val="tx1"/>
                </a:solidFill>
              </a:rPr>
              <a:t>(25%)</a:t>
            </a:r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接口不变：</a:t>
            </a:r>
            <a:r>
              <a:rPr lang="en-US" altLang="zh-CN" sz="1400" b="1">
                <a:solidFill>
                  <a:srgbClr val="C00000"/>
                </a:solidFill>
              </a:rPr>
              <a:t>AI</a:t>
            </a:r>
            <a:r>
              <a:rPr lang="zh-CN" altLang="en-US" sz="1400" b="1">
                <a:solidFill>
                  <a:srgbClr val="C00000"/>
                </a:solidFill>
              </a:rPr>
              <a:t>主全部</a:t>
            </a:r>
            <a:r>
              <a:rPr lang="en-US" altLang="zh-CN" sz="1200" b="1">
                <a:solidFill>
                  <a:srgbClr val="C00000"/>
                </a:solidFill>
              </a:rPr>
              <a:t>(60%)</a:t>
            </a:r>
            <a:endParaRPr lang="en-US" altLang="zh-CN" sz="1200" b="1">
              <a:solidFill>
                <a:srgbClr val="C00000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412875" y="1011555"/>
            <a:ext cx="2426970" cy="1729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人主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辅</a:t>
            </a:r>
            <a:endParaRPr lang="zh-CN" altLang="en-US" sz="16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（需求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发布）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功能建模：人主全部</a:t>
            </a:r>
            <a:endParaRPr lang="zh-CN" altLang="en-US" sz="1400" b="1">
              <a:solidFill>
                <a:srgbClr val="C00000"/>
              </a:solidFill>
            </a:endParaRPr>
          </a:p>
          <a:p>
            <a:pPr algn="ctr"/>
            <a:r>
              <a:rPr lang="zh-CN" altLang="en-US" sz="1400" b="1">
                <a:solidFill>
                  <a:srgbClr val="C00000"/>
                </a:solidFill>
              </a:rPr>
              <a:t>使用建模：人主全部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模型表达：人主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8373110" y="1011555"/>
            <a:ext cx="2426970" cy="17322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主人辅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实现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单测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局调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代码实现：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单元测例：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主人辅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异常处理：人主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82524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306310" y="3298825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741045" y="5654675"/>
            <a:ext cx="3291205" cy="10077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版本管理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时间反序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8084185" y="5659120"/>
            <a:ext cx="3436620" cy="10077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演进规划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时间正序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人主</a:t>
            </a:r>
            <a:r>
              <a:rPr lang="en-US" altLang="zh-CN" sz="1400" b="1">
                <a:solidFill>
                  <a:schemeClr val="tx1"/>
                </a:solidFill>
              </a:rPr>
              <a:t>AI</a:t>
            </a:r>
            <a:r>
              <a:rPr lang="zh-CN" altLang="en-US" sz="1400" b="1">
                <a:solidFill>
                  <a:schemeClr val="tx1"/>
                </a:solidFill>
              </a:rPr>
              <a:t>辅</a:t>
            </a:r>
            <a:endParaRPr lang="zh-CN" altLang="en-US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910" y="189865"/>
            <a:ext cx="10613390" cy="87312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了解开源案例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545" y="905510"/>
            <a:ext cx="11530965" cy="5746750"/>
          </a:xfrm>
        </p:spPr>
        <p:txBody>
          <a:bodyPr>
            <a:normAutofit/>
          </a:bodyPr>
          <a:p>
            <a:r>
              <a:rPr lang="en-US" altLang="zh-CN" b="1">
                <a:solidFill>
                  <a:srgbClr val="00B050"/>
                </a:solidFill>
              </a:rPr>
              <a:t>Linux</a:t>
            </a:r>
            <a:r>
              <a:rPr lang="zh-CN" altLang="en-US" b="1">
                <a:solidFill>
                  <a:srgbClr val="00B050"/>
                </a:solidFill>
              </a:rPr>
              <a:t>内核：</a:t>
            </a:r>
            <a:r>
              <a:rPr lang="en-US" altLang="zh-CN" b="1">
                <a:solidFill>
                  <a:srgbClr val="00B050"/>
                </a:solidFill>
              </a:rPr>
              <a:t>C/</a:t>
            </a:r>
            <a:r>
              <a:rPr lang="zh-CN" altLang="en-US" b="1">
                <a:solidFill>
                  <a:srgbClr val="00B050"/>
                </a:solidFill>
              </a:rPr>
              <a:t>汇编，少量</a:t>
            </a:r>
            <a:r>
              <a:rPr lang="en-US" altLang="zh-CN" b="1">
                <a:solidFill>
                  <a:srgbClr val="00B050"/>
                </a:solidFill>
              </a:rPr>
              <a:t>rust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AOSP/OpenHarmony</a:t>
            </a:r>
            <a:r>
              <a:rPr lang="zh-CN" altLang="en-US" b="1">
                <a:solidFill>
                  <a:srgbClr val="00B050"/>
                </a:solidFill>
              </a:rPr>
              <a:t>：操作系统，各种语言组合（几乎是全集）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GCC/LLVM</a:t>
            </a:r>
            <a:r>
              <a:rPr lang="zh-CN" altLang="en-US" b="1">
                <a:solidFill>
                  <a:srgbClr val="00B050"/>
                </a:solidFill>
              </a:rPr>
              <a:t>：编译器，</a:t>
            </a:r>
            <a:r>
              <a:rPr lang="en-US" altLang="zh-CN" b="1">
                <a:solidFill>
                  <a:srgbClr val="00B050"/>
                </a:solidFill>
              </a:rPr>
              <a:t>gcc</a:t>
            </a:r>
            <a:r>
              <a:rPr lang="zh-CN" altLang="en-US" b="1">
                <a:solidFill>
                  <a:srgbClr val="00B050"/>
                </a:solidFill>
              </a:rPr>
              <a:t>是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为主</a:t>
            </a:r>
            <a:r>
              <a:rPr lang="en-US" altLang="zh-CN" b="1">
                <a:solidFill>
                  <a:srgbClr val="00B050"/>
                </a:solidFill>
              </a:rPr>
              <a:t>C++</a:t>
            </a:r>
            <a:r>
              <a:rPr lang="zh-CN" altLang="en-US" b="1">
                <a:solidFill>
                  <a:srgbClr val="00B050"/>
                </a:solidFill>
              </a:rPr>
              <a:t>为辅，</a:t>
            </a:r>
            <a:r>
              <a:rPr lang="en-US" altLang="zh-CN" b="1">
                <a:solidFill>
                  <a:srgbClr val="00B050"/>
                </a:solidFill>
              </a:rPr>
              <a:t>LLVM</a:t>
            </a:r>
            <a:r>
              <a:rPr lang="zh-CN" altLang="en-US" b="1">
                <a:solidFill>
                  <a:srgbClr val="00B050"/>
                </a:solidFill>
              </a:rPr>
              <a:t>为纯</a:t>
            </a:r>
            <a:r>
              <a:rPr lang="en-US" altLang="zh-CN" b="1">
                <a:solidFill>
                  <a:srgbClr val="00B050"/>
                </a:solidFill>
              </a:rPr>
              <a:t>C++</a:t>
            </a:r>
            <a:r>
              <a:rPr lang="zh-CN" altLang="en-US" b="1">
                <a:solidFill>
                  <a:srgbClr val="00B050"/>
                </a:solidFill>
              </a:rPr>
              <a:t>，需要了解汇编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QEMU</a:t>
            </a:r>
            <a:r>
              <a:rPr lang="zh-CN" altLang="en-US" b="1">
                <a:solidFill>
                  <a:srgbClr val="00B050"/>
                </a:solidFill>
              </a:rPr>
              <a:t>：虚拟机，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，需要熟悉汇编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MySQL</a:t>
            </a:r>
            <a:r>
              <a:rPr lang="zh-CN" altLang="en-US" b="1">
                <a:solidFill>
                  <a:srgbClr val="00B050"/>
                </a:solidFill>
              </a:rPr>
              <a:t>：数据库，</a:t>
            </a:r>
            <a:r>
              <a:rPr lang="en-US" altLang="zh-CN" b="1">
                <a:solidFill>
                  <a:srgbClr val="00B050"/>
                </a:solidFill>
              </a:rPr>
              <a:t>C/C++</a:t>
            </a:r>
            <a:r>
              <a:rPr lang="zh-CN" altLang="en-US" b="1">
                <a:solidFill>
                  <a:srgbClr val="00B050"/>
                </a:solidFill>
              </a:rPr>
              <a:t>，需要熟悉</a:t>
            </a:r>
            <a:r>
              <a:rPr lang="en-US" altLang="zh-CN" b="1">
                <a:solidFill>
                  <a:srgbClr val="00B050"/>
                </a:solidFill>
              </a:rPr>
              <a:t>SQL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Kafka</a:t>
            </a:r>
            <a:r>
              <a:rPr lang="zh-CN" altLang="en-US" b="1">
                <a:solidFill>
                  <a:srgbClr val="00B050"/>
                </a:solidFill>
              </a:rPr>
              <a:t>：消息中间件，</a:t>
            </a:r>
            <a:r>
              <a:rPr lang="en-US" altLang="zh-CN" b="1">
                <a:solidFill>
                  <a:srgbClr val="00B050"/>
                </a:solidFill>
              </a:rPr>
              <a:t>Scala/Java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Chromium/Firefox</a:t>
            </a:r>
            <a:r>
              <a:rPr lang="zh-CN" altLang="en-US" b="1">
                <a:solidFill>
                  <a:srgbClr val="00B050"/>
                </a:solidFill>
              </a:rPr>
              <a:t>：浏览器，</a:t>
            </a:r>
            <a:r>
              <a:rPr lang="en-US" altLang="zh-CN" b="1">
                <a:solidFill>
                  <a:srgbClr val="00B050"/>
                </a:solidFill>
              </a:rPr>
              <a:t>C++/JS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Chromium</a:t>
            </a:r>
            <a:r>
              <a:rPr lang="zh-CN" altLang="en-US" b="1">
                <a:solidFill>
                  <a:srgbClr val="00B050"/>
                </a:solidFill>
              </a:rPr>
              <a:t>少量</a:t>
            </a:r>
            <a:r>
              <a:rPr lang="en-US" altLang="zh-CN" b="1">
                <a:solidFill>
                  <a:srgbClr val="00B050"/>
                </a:solidFill>
              </a:rPr>
              <a:t>rust</a:t>
            </a:r>
            <a:r>
              <a:rPr lang="zh-CN" altLang="en-US" b="1">
                <a:solidFill>
                  <a:srgbClr val="00B050"/>
                </a:solidFill>
              </a:rPr>
              <a:t>，</a:t>
            </a:r>
            <a:r>
              <a:rPr lang="en-US" altLang="zh-CN" b="1">
                <a:solidFill>
                  <a:srgbClr val="00B050"/>
                </a:solidFill>
              </a:rPr>
              <a:t>Firefox</a:t>
            </a:r>
            <a:r>
              <a:rPr lang="zh-CN" altLang="en-US" b="1">
                <a:solidFill>
                  <a:srgbClr val="00B050"/>
                </a:solidFill>
              </a:rPr>
              <a:t>的</a:t>
            </a:r>
            <a:r>
              <a:rPr lang="en-US" altLang="zh-CN" b="1">
                <a:solidFill>
                  <a:srgbClr val="00B050"/>
                </a:solidFill>
              </a:rPr>
              <a:t>rust</a:t>
            </a:r>
            <a:r>
              <a:rPr lang="zh-CN" altLang="en-US" b="1">
                <a:solidFill>
                  <a:srgbClr val="00B050"/>
                </a:solidFill>
              </a:rPr>
              <a:t>明显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LibreOffice</a:t>
            </a:r>
            <a:r>
              <a:rPr lang="zh-CN" altLang="en-US" b="1">
                <a:solidFill>
                  <a:srgbClr val="00B050"/>
                </a:solidFill>
              </a:rPr>
              <a:t>：办公套件（类似于</a:t>
            </a:r>
            <a:r>
              <a:rPr lang="en-US" altLang="zh-CN" b="1">
                <a:solidFill>
                  <a:srgbClr val="00B050"/>
                </a:solidFill>
              </a:rPr>
              <a:t>WPS</a:t>
            </a:r>
            <a:r>
              <a:rPr lang="zh-CN" altLang="en-US" b="1">
                <a:solidFill>
                  <a:srgbClr val="00B050"/>
                </a:solidFill>
              </a:rPr>
              <a:t>和</a:t>
            </a:r>
            <a:r>
              <a:rPr lang="en-US" altLang="zh-CN" b="1">
                <a:solidFill>
                  <a:srgbClr val="00B050"/>
                </a:solidFill>
              </a:rPr>
              <a:t>Microsoft office</a:t>
            </a:r>
            <a:r>
              <a:rPr lang="zh-CN" altLang="en-US" b="1">
                <a:solidFill>
                  <a:srgbClr val="00B050"/>
                </a:solidFill>
              </a:rPr>
              <a:t>），</a:t>
            </a:r>
            <a:r>
              <a:rPr lang="en-US" altLang="zh-CN" b="1">
                <a:solidFill>
                  <a:srgbClr val="00B050"/>
                </a:solidFill>
              </a:rPr>
              <a:t>C++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Docker</a:t>
            </a:r>
            <a:r>
              <a:rPr lang="zh-CN" altLang="en-US" b="1">
                <a:solidFill>
                  <a:srgbClr val="00B050"/>
                </a:solidFill>
              </a:rPr>
              <a:t>：容器，</a:t>
            </a:r>
            <a:r>
              <a:rPr lang="en-US" altLang="zh-CN" b="1">
                <a:solidFill>
                  <a:srgbClr val="00B050"/>
                </a:solidFill>
              </a:rPr>
              <a:t>go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Kubernetes</a:t>
            </a:r>
            <a:r>
              <a:rPr lang="zh-CN" altLang="en-US" b="1">
                <a:solidFill>
                  <a:srgbClr val="00B050"/>
                </a:solidFill>
              </a:rPr>
              <a:t>：集群编排，</a:t>
            </a:r>
            <a:r>
              <a:rPr lang="en-US" altLang="zh-CN" b="1">
                <a:solidFill>
                  <a:srgbClr val="00B050"/>
                </a:solidFill>
              </a:rPr>
              <a:t>go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Tomcat</a:t>
            </a:r>
            <a:r>
              <a:rPr lang="zh-CN" altLang="en-US" b="1">
                <a:solidFill>
                  <a:srgbClr val="00B050"/>
                </a:solidFill>
              </a:rPr>
              <a:t>：中间件，</a:t>
            </a:r>
            <a:r>
              <a:rPr lang="en-US" altLang="zh-CN" b="1">
                <a:solidFill>
                  <a:srgbClr val="00B050"/>
                </a:solidFill>
              </a:rPr>
              <a:t>Java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Supabase</a:t>
            </a:r>
            <a:r>
              <a:rPr lang="zh-CN" altLang="en-US" b="1">
                <a:solidFill>
                  <a:srgbClr val="00B050"/>
                </a:solidFill>
              </a:rPr>
              <a:t>：全栈云平台，</a:t>
            </a:r>
            <a:r>
              <a:rPr lang="en-US" altLang="zh-CN" b="1">
                <a:solidFill>
                  <a:srgbClr val="00B050"/>
                </a:solidFill>
              </a:rPr>
              <a:t>TS(JS)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PyTorch</a:t>
            </a:r>
            <a:r>
              <a:rPr lang="zh-CN" altLang="en-US" b="1">
                <a:solidFill>
                  <a:srgbClr val="00B050"/>
                </a:solidFill>
              </a:rPr>
              <a:t>：深度学习框架，</a:t>
            </a:r>
            <a:r>
              <a:rPr lang="en-US" altLang="zh-CN" b="1">
                <a:solidFill>
                  <a:srgbClr val="00B050"/>
                </a:solidFill>
              </a:rPr>
              <a:t>Python/C++</a:t>
            </a:r>
            <a:endParaRPr lang="en-US" altLang="zh-CN" b="1">
              <a:solidFill>
                <a:srgbClr val="00B050"/>
              </a:solidFill>
            </a:endParaRPr>
          </a:p>
          <a:p>
            <a:r>
              <a:rPr lang="en-US" altLang="zh-CN" b="1">
                <a:solidFill>
                  <a:srgbClr val="00B050"/>
                </a:solidFill>
              </a:rPr>
              <a:t>TensorFlow</a:t>
            </a:r>
            <a:r>
              <a:rPr lang="zh-CN" altLang="en-US" b="1">
                <a:solidFill>
                  <a:srgbClr val="00B050"/>
                </a:solidFill>
              </a:rPr>
              <a:t>：深度学习框架，</a:t>
            </a:r>
            <a:r>
              <a:rPr lang="en-US" altLang="zh-CN" b="1">
                <a:solidFill>
                  <a:srgbClr val="00B050"/>
                </a:solidFill>
              </a:rPr>
              <a:t>Python/C++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2325</Words>
  <Application>WPS Presentation</Application>
  <PresentationFormat>宽屏</PresentationFormat>
  <Paragraphs>739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</vt:lpstr>
      <vt:lpstr>学习架构设计</vt:lpstr>
      <vt:lpstr>学习架构设计-理解体系原理</vt:lpstr>
      <vt:lpstr>学习架构设计-理解体系原理</vt:lpstr>
      <vt:lpstr>学习架构设计-理解体系原理</vt:lpstr>
      <vt:lpstr>学习架构设计-理解体系原理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学习架构设计-理解体系原理-通用集成模型</vt:lpstr>
      <vt:lpstr>学习架构设计-理解体系原理-AI与人</vt:lpstr>
      <vt:lpstr>学习架构设计-理解体系原理-AI与人</vt:lpstr>
      <vt:lpstr>学习架构设计-理解体系原理-AI与人</vt:lpstr>
      <vt:lpstr>学习架构设计-整体概述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648</cp:revision>
  <dcterms:created xsi:type="dcterms:W3CDTF">2026-04-21T15:38:11Z</dcterms:created>
  <dcterms:modified xsi:type="dcterms:W3CDTF">2026-04-21T15:38:11Z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