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09" r:id="rId3"/>
    <p:sldId id="428" r:id="rId4"/>
    <p:sldId id="427" r:id="rId5"/>
    <p:sldId id="426" r:id="rId6"/>
    <p:sldId id="425" r:id="rId7"/>
    <p:sldId id="424" r:id="rId8"/>
    <p:sldId id="423" r:id="rId9"/>
    <p:sldId id="416" r:id="rId10"/>
    <p:sldId id="422" r:id="rId11"/>
    <p:sldId id="421" r:id="rId12"/>
    <p:sldId id="418" r:id="rId13"/>
    <p:sldId id="420" r:id="rId14"/>
    <p:sldId id="419" r:id="rId15"/>
    <p:sldId id="429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71"/>
        <p:guide pos="388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s 13"/>
          <p:cNvSpPr/>
          <p:nvPr/>
        </p:nvSpPr>
        <p:spPr>
          <a:xfrm>
            <a:off x="729615" y="2110105"/>
            <a:ext cx="8340090" cy="1863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业务层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整体结构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729615" y="5828665"/>
            <a:ext cx="8340090" cy="753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硬件层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9615" y="3966210"/>
            <a:ext cx="8340090" cy="1863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系统层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29615" y="1517650"/>
            <a:ext cx="834009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交互层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29615" y="982980"/>
            <a:ext cx="8340090" cy="5492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应用层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/>
        </p:nvSpPr>
        <p:spPr>
          <a:xfrm>
            <a:off x="9697720" y="9899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物理场景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/>
        </p:nvSpPr>
        <p:spPr>
          <a:xfrm>
            <a:off x="9695180" y="216408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6" name="Title 1"/>
          <p:cNvSpPr>
            <a:spLocks noGrp="1"/>
          </p:cNvSpPr>
          <p:nvPr/>
        </p:nvSpPr>
        <p:spPr>
          <a:xfrm>
            <a:off x="9692640" y="343535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8" name="Title 1"/>
          <p:cNvSpPr>
            <a:spLocks noGrp="1"/>
          </p:cNvSpPr>
          <p:nvPr/>
        </p:nvSpPr>
        <p:spPr>
          <a:xfrm>
            <a:off x="9690100" y="548322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9" name="Title 1"/>
          <p:cNvSpPr>
            <a:spLocks noGrp="1"/>
          </p:cNvSpPr>
          <p:nvPr/>
        </p:nvSpPr>
        <p:spPr>
          <a:xfrm>
            <a:off x="9687560" y="59556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硬件场景</a:t>
            </a:r>
            <a:endParaRPr lang="zh-CN" altLang="en-US" sz="20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s 13"/>
          <p:cNvSpPr/>
          <p:nvPr/>
        </p:nvSpPr>
        <p:spPr>
          <a:xfrm>
            <a:off x="729615" y="2110105"/>
            <a:ext cx="8340090" cy="1863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业务层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整体结构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729615" y="5828665"/>
            <a:ext cx="8340090" cy="753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硬件层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9615" y="3966210"/>
            <a:ext cx="8340090" cy="1863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系统层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29615" y="1517650"/>
            <a:ext cx="834009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交互层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29615" y="982980"/>
            <a:ext cx="8340090" cy="5492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应用层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42" name="Title 1"/>
          <p:cNvSpPr>
            <a:spLocks noGrp="1"/>
          </p:cNvSpPr>
          <p:nvPr/>
        </p:nvSpPr>
        <p:spPr>
          <a:xfrm>
            <a:off x="9700260" y="158623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/>
        </p:nvSpPr>
        <p:spPr>
          <a:xfrm>
            <a:off x="9697720" y="9899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物理场景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/>
        </p:nvSpPr>
        <p:spPr>
          <a:xfrm>
            <a:off x="9695180" y="216408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6" name="Title 1"/>
          <p:cNvSpPr>
            <a:spLocks noGrp="1"/>
          </p:cNvSpPr>
          <p:nvPr/>
        </p:nvSpPr>
        <p:spPr>
          <a:xfrm>
            <a:off x="9692640" y="343535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/>
        </p:nvSpPr>
        <p:spPr>
          <a:xfrm>
            <a:off x="9692640" y="415798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8" name="Title 1"/>
          <p:cNvSpPr>
            <a:spLocks noGrp="1"/>
          </p:cNvSpPr>
          <p:nvPr/>
        </p:nvSpPr>
        <p:spPr>
          <a:xfrm>
            <a:off x="9690100" y="548322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9" name="Title 1"/>
          <p:cNvSpPr>
            <a:spLocks noGrp="1"/>
          </p:cNvSpPr>
          <p:nvPr/>
        </p:nvSpPr>
        <p:spPr>
          <a:xfrm>
            <a:off x="9687560" y="59556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硬件场景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30" name="Title 1"/>
          <p:cNvSpPr>
            <a:spLocks noGrp="1"/>
          </p:cNvSpPr>
          <p:nvPr/>
        </p:nvSpPr>
        <p:spPr>
          <a:xfrm>
            <a:off x="9692640" y="279844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s 13"/>
          <p:cNvSpPr/>
          <p:nvPr/>
        </p:nvSpPr>
        <p:spPr>
          <a:xfrm>
            <a:off x="729615" y="2110105"/>
            <a:ext cx="8340090" cy="1863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业务层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整体结构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729615" y="5828665"/>
            <a:ext cx="8340090" cy="753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硬件层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9615" y="3966210"/>
            <a:ext cx="8340090" cy="1863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系统层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340485" y="5967730"/>
            <a:ext cx="3274060" cy="452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各类智能卡端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025515" y="5986145"/>
            <a:ext cx="2356485" cy="452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CPU</a:t>
            </a:r>
            <a:r>
              <a:rPr lang="zh-CN" altLang="en-US" sz="1600" b="1">
                <a:solidFill>
                  <a:schemeClr val="tx1"/>
                </a:solidFill>
              </a:rPr>
              <a:t>端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29615" y="1517650"/>
            <a:ext cx="834009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交互层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29615" y="982980"/>
            <a:ext cx="8340090" cy="5492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应用层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42" name="Title 1"/>
          <p:cNvSpPr>
            <a:spLocks noGrp="1"/>
          </p:cNvSpPr>
          <p:nvPr/>
        </p:nvSpPr>
        <p:spPr>
          <a:xfrm>
            <a:off x="9700260" y="158623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9697720" y="9899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物理场景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9695180" y="216408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9692640" y="343535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/>
        </p:nvSpPr>
        <p:spPr>
          <a:xfrm>
            <a:off x="9692640" y="415798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/>
        </p:nvSpPr>
        <p:spPr>
          <a:xfrm>
            <a:off x="9690100" y="548322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/>
        </p:nvSpPr>
        <p:spPr>
          <a:xfrm>
            <a:off x="9687560" y="59556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硬件场景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30" name="Title 1"/>
          <p:cNvSpPr>
            <a:spLocks noGrp="1"/>
          </p:cNvSpPr>
          <p:nvPr/>
        </p:nvSpPr>
        <p:spPr>
          <a:xfrm>
            <a:off x="9692640" y="279844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s 13"/>
          <p:cNvSpPr/>
          <p:nvPr/>
        </p:nvSpPr>
        <p:spPr>
          <a:xfrm>
            <a:off x="729615" y="2110105"/>
            <a:ext cx="8340090" cy="1863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业务层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整体结构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729615" y="5828665"/>
            <a:ext cx="8340090" cy="753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硬件层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9615" y="3966210"/>
            <a:ext cx="8340090" cy="1863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系统层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517015" y="5407660"/>
            <a:ext cx="6348095" cy="452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sym typeface="+mn-ea"/>
              </a:rPr>
              <a:t>CPU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端内核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内核态驱动与固件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含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AI)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用户态驱动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含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AI)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340485" y="5967730"/>
            <a:ext cx="3274060" cy="452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各类智能卡端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025515" y="5986145"/>
            <a:ext cx="2356485" cy="452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CPU</a:t>
            </a:r>
            <a:r>
              <a:rPr lang="zh-CN" altLang="en-US" sz="1600" b="1">
                <a:solidFill>
                  <a:schemeClr val="tx1"/>
                </a:solidFill>
              </a:rPr>
              <a:t>端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13560" y="4834255"/>
            <a:ext cx="5838190" cy="452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统一运行时存储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统一运行时计算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统一运行时传输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828675" y="4017010"/>
            <a:ext cx="3785235" cy="645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框架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(pytorch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训练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各厂商推理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数学模型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设备适配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6100445" y="4003040"/>
            <a:ext cx="2872740" cy="6165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其他各类对上接口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服务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各类底层系统服务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组件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29615" y="1517650"/>
            <a:ext cx="834009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交互层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29615" y="982980"/>
            <a:ext cx="8340090" cy="5492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应用层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42" name="Title 1"/>
          <p:cNvSpPr>
            <a:spLocks noGrp="1"/>
          </p:cNvSpPr>
          <p:nvPr/>
        </p:nvSpPr>
        <p:spPr>
          <a:xfrm>
            <a:off x="9700260" y="158623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9697720" y="9899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物理场景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9695180" y="216408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9692640" y="343535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/>
        </p:nvSpPr>
        <p:spPr>
          <a:xfrm>
            <a:off x="9692640" y="415798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/>
        </p:nvSpPr>
        <p:spPr>
          <a:xfrm>
            <a:off x="9690100" y="548322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/>
        </p:nvSpPr>
        <p:spPr>
          <a:xfrm>
            <a:off x="9687560" y="59556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硬件场景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30" name="Title 1"/>
          <p:cNvSpPr>
            <a:spLocks noGrp="1"/>
          </p:cNvSpPr>
          <p:nvPr/>
        </p:nvSpPr>
        <p:spPr>
          <a:xfrm>
            <a:off x="9692640" y="279844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s 13"/>
          <p:cNvSpPr/>
          <p:nvPr/>
        </p:nvSpPr>
        <p:spPr>
          <a:xfrm>
            <a:off x="729615" y="2110105"/>
            <a:ext cx="8340090" cy="1863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业务层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整体结构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729615" y="5828665"/>
            <a:ext cx="8340090" cy="753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硬件层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9615" y="3966210"/>
            <a:ext cx="8340090" cy="1863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系统层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517015" y="5407660"/>
            <a:ext cx="6348095" cy="452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sym typeface="+mn-ea"/>
              </a:rPr>
              <a:t>CPU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端内核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内核态驱动与固件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含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AI)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用户态驱动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含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AI)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340485" y="5967730"/>
            <a:ext cx="3274060" cy="452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各类智能卡端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025515" y="5986145"/>
            <a:ext cx="2356485" cy="452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CPU</a:t>
            </a:r>
            <a:r>
              <a:rPr lang="zh-CN" altLang="en-US" sz="1600" b="1">
                <a:solidFill>
                  <a:schemeClr val="tx1"/>
                </a:solidFill>
              </a:rPr>
              <a:t>端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13560" y="4834255"/>
            <a:ext cx="5838190" cy="452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统一运行时存储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统一运行时计算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统一运行时传输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828675" y="4017010"/>
            <a:ext cx="3785235" cy="645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框架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(pytorch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训练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各厂商推理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数学模型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设备适配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6100445" y="4003040"/>
            <a:ext cx="2872740" cy="6165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其他各类对上接口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服务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各类底层系统服务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组件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29615" y="1517650"/>
            <a:ext cx="834009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交互层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29615" y="982980"/>
            <a:ext cx="8340090" cy="5492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应用层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170295" y="2323465"/>
            <a:ext cx="2803525" cy="12198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各类应用服务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各类上层系统服务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835025" y="3234690"/>
            <a:ext cx="3779520" cy="6464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各类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语言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视觉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听觉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专业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...)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数理模型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分布式计算调度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910590" y="2581275"/>
            <a:ext cx="1108710" cy="5829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存储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专用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通用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401695" y="2571115"/>
            <a:ext cx="1134110" cy="5829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传输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专用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通用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2159000" y="2571115"/>
            <a:ext cx="1101090" cy="5829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调度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专用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通用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1828165" y="1924050"/>
            <a:ext cx="1717040" cy="5861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接口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物理模型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数据流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2" name="Title 1"/>
          <p:cNvSpPr>
            <a:spLocks noGrp="1"/>
          </p:cNvSpPr>
          <p:nvPr/>
        </p:nvSpPr>
        <p:spPr>
          <a:xfrm>
            <a:off x="9700260" y="158623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9697720" y="9899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物理场景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9695180" y="216408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9692640" y="343535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/>
        </p:nvSpPr>
        <p:spPr>
          <a:xfrm>
            <a:off x="9692640" y="415798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/>
        </p:nvSpPr>
        <p:spPr>
          <a:xfrm>
            <a:off x="9690100" y="548322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/>
        </p:nvSpPr>
        <p:spPr>
          <a:xfrm>
            <a:off x="9687560" y="59556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硬件场景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30" name="Title 1"/>
          <p:cNvSpPr>
            <a:spLocks noGrp="1"/>
          </p:cNvSpPr>
          <p:nvPr/>
        </p:nvSpPr>
        <p:spPr>
          <a:xfrm>
            <a:off x="9692640" y="279844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s 13"/>
          <p:cNvSpPr/>
          <p:nvPr/>
        </p:nvSpPr>
        <p:spPr>
          <a:xfrm>
            <a:off x="729615" y="2110105"/>
            <a:ext cx="8340090" cy="1863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业务层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整体结构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729615" y="5828665"/>
            <a:ext cx="8340090" cy="753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硬件层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9615" y="3966210"/>
            <a:ext cx="8340090" cy="1863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系统层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517015" y="5407660"/>
            <a:ext cx="6348095" cy="452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sym typeface="+mn-ea"/>
              </a:rPr>
              <a:t>CPU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端内核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内核态驱动与固件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含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AI)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用户态驱动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含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AI)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340485" y="5967730"/>
            <a:ext cx="3274060" cy="452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各类智能卡端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025515" y="5986145"/>
            <a:ext cx="2356485" cy="452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CPU</a:t>
            </a:r>
            <a:r>
              <a:rPr lang="zh-CN" altLang="en-US" sz="1600" b="1">
                <a:solidFill>
                  <a:schemeClr val="tx1"/>
                </a:solidFill>
              </a:rPr>
              <a:t>端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13560" y="4834255"/>
            <a:ext cx="5838190" cy="452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统一运行时存储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统一运行时计算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统一运行时传输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828675" y="4017010"/>
            <a:ext cx="3785235" cy="645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框架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(pytorch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训练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各厂商推理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数学模型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设备适配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6100445" y="4003040"/>
            <a:ext cx="2872740" cy="6165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其他各类对上接口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服务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各类底层系统服务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组件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29615" y="1517650"/>
            <a:ext cx="834009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交互层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29615" y="982980"/>
            <a:ext cx="8340090" cy="5492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应用层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170295" y="2323465"/>
            <a:ext cx="2803525" cy="12198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各类应用服务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各类上层系统服务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835025" y="3234690"/>
            <a:ext cx="3779520" cy="6464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各类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语言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视觉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听觉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专业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...)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数理模型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分布式计算调度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1828165" y="1241425"/>
            <a:ext cx="1717675" cy="605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瘦客户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网页版</a:t>
            </a:r>
            <a:r>
              <a:rPr lang="en-US" altLang="zh-CN" sz="1600" b="1">
                <a:solidFill>
                  <a:schemeClr val="tx1"/>
                </a:solidFill>
              </a:rPr>
              <a:t>AI</a:t>
            </a:r>
            <a:r>
              <a:rPr lang="zh-CN" altLang="en-US" sz="1600" b="1">
                <a:solidFill>
                  <a:schemeClr val="tx1"/>
                </a:solidFill>
              </a:rPr>
              <a:t>交互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910590" y="2581275"/>
            <a:ext cx="1108710" cy="5829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存储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专用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通用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401695" y="2571115"/>
            <a:ext cx="1134110" cy="5829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传输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专用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通用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2159000" y="2571115"/>
            <a:ext cx="1101090" cy="5829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调度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专用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通用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1828165" y="1924050"/>
            <a:ext cx="1717040" cy="5861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接口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物理模型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数据流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2" name="Title 1"/>
          <p:cNvSpPr>
            <a:spLocks noGrp="1"/>
          </p:cNvSpPr>
          <p:nvPr/>
        </p:nvSpPr>
        <p:spPr>
          <a:xfrm>
            <a:off x="9700260" y="158623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9697720" y="9899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物理场景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9695180" y="216408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/>
        </p:nvSpPr>
        <p:spPr>
          <a:xfrm>
            <a:off x="9692640" y="343535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/>
        </p:nvSpPr>
        <p:spPr>
          <a:xfrm>
            <a:off x="9692640" y="415798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/>
        </p:nvSpPr>
        <p:spPr>
          <a:xfrm>
            <a:off x="9690100" y="548322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26" name="Title 1"/>
          <p:cNvSpPr>
            <a:spLocks noGrp="1"/>
          </p:cNvSpPr>
          <p:nvPr/>
        </p:nvSpPr>
        <p:spPr>
          <a:xfrm>
            <a:off x="9687560" y="595566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硬件模型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硬件场景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30" name="Title 1"/>
          <p:cNvSpPr>
            <a:spLocks noGrp="1"/>
          </p:cNvSpPr>
          <p:nvPr/>
        </p:nvSpPr>
        <p:spPr>
          <a:xfrm>
            <a:off x="9692640" y="279844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s 13"/>
          <p:cNvSpPr/>
          <p:nvPr/>
        </p:nvSpPr>
        <p:spPr>
          <a:xfrm>
            <a:off x="729615" y="2110105"/>
            <a:ext cx="8340090" cy="1863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业务层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整体结构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729615" y="5828665"/>
            <a:ext cx="8340090" cy="753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硬件层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9615" y="3966210"/>
            <a:ext cx="8340090" cy="1863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altLang="en-US" sz="2400" b="1">
                <a:solidFill>
                  <a:schemeClr val="tx1"/>
                </a:solidFill>
              </a:rPr>
              <a:t>系统层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517015" y="5407660"/>
            <a:ext cx="6348095" cy="452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sym typeface="+mn-ea"/>
              </a:rPr>
              <a:t>CPU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端内核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内核态驱动与固件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含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AI)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用户态驱动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含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AI)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340485" y="5967730"/>
            <a:ext cx="3274060" cy="452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各类智能卡端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025515" y="5986145"/>
            <a:ext cx="2356485" cy="452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CPU</a:t>
            </a:r>
            <a:r>
              <a:rPr lang="zh-CN" altLang="en-US" sz="1600" b="1">
                <a:solidFill>
                  <a:schemeClr val="tx1"/>
                </a:solidFill>
              </a:rPr>
              <a:t>端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13560" y="4834255"/>
            <a:ext cx="5838190" cy="452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统一运行时存储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统一运行时计算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统一运行时传输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828675" y="4017010"/>
            <a:ext cx="3785235" cy="645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框架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(pytorch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训练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各厂商推理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数学模型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设备适配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6100445" y="4003040"/>
            <a:ext cx="2872740" cy="6165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其他各类对上接口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服务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各类底层系统服务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组件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29615" y="1517650"/>
            <a:ext cx="1079881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交互层</a:t>
            </a:r>
            <a:r>
              <a:rPr lang="en-US" altLang="zh-CN" sz="2400" b="1">
                <a:solidFill>
                  <a:schemeClr val="tx1"/>
                </a:solidFill>
              </a:rPr>
              <a:t>               .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29615" y="982980"/>
            <a:ext cx="10798810" cy="5492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应用层</a:t>
            </a:r>
            <a:r>
              <a:rPr lang="en-US" altLang="zh-CN" sz="2400" b="1">
                <a:solidFill>
                  <a:schemeClr val="tx1"/>
                </a:solidFill>
              </a:rPr>
              <a:t>               .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170295" y="2323465"/>
            <a:ext cx="2803525" cy="12198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各类应用服务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各类上层系统服务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9946640" y="2117725"/>
            <a:ext cx="1581785" cy="43986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其他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 . . .</a:t>
            </a:r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835025" y="3234690"/>
            <a:ext cx="3779520" cy="6464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各类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语言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视觉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听觉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专业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...)</a:t>
            </a:r>
            <a:endParaRPr lang="en-US" altLang="zh-CN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数理模型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分布式计算调度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1828165" y="1241425"/>
            <a:ext cx="1717675" cy="605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瘦客户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网页版</a:t>
            </a:r>
            <a:r>
              <a:rPr lang="en-US" altLang="zh-CN" sz="1600" b="1">
                <a:solidFill>
                  <a:schemeClr val="tx1"/>
                </a:solidFill>
              </a:rPr>
              <a:t>AI</a:t>
            </a:r>
            <a:r>
              <a:rPr lang="zh-CN" altLang="en-US" sz="1600" b="1">
                <a:solidFill>
                  <a:schemeClr val="tx1"/>
                </a:solidFill>
              </a:rPr>
              <a:t>交互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275705" y="1311910"/>
            <a:ext cx="1900555" cy="605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重客户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AI</a:t>
            </a:r>
            <a:r>
              <a:rPr lang="zh-CN" altLang="en-US" sz="1600" b="1">
                <a:solidFill>
                  <a:schemeClr val="tx1"/>
                </a:solidFill>
              </a:rPr>
              <a:t>机器人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973820" y="1290320"/>
            <a:ext cx="1770380" cy="605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胖客户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AI</a:t>
            </a:r>
            <a:r>
              <a:rPr lang="zh-CN" altLang="en-US" sz="1600" b="1">
                <a:solidFill>
                  <a:schemeClr val="tx1"/>
                </a:solidFill>
              </a:rPr>
              <a:t>智能体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910590" y="2581275"/>
            <a:ext cx="1108710" cy="5829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存储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专用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通用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401695" y="2571115"/>
            <a:ext cx="1134110" cy="5829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传输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专用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通用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2159000" y="2571115"/>
            <a:ext cx="1101090" cy="5829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调度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专用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通用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1828165" y="1924050"/>
            <a:ext cx="1717040" cy="5861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接口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物理模型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数据流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核心示例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1097280" y="5796280"/>
            <a:ext cx="8339455" cy="753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框架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1097280" y="3903980"/>
            <a:ext cx="8340090" cy="1541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400" b="1">
              <a:solidFill>
                <a:schemeClr val="tx1"/>
              </a:solidFill>
            </a:endParaRPr>
          </a:p>
          <a:p>
            <a:pPr algn="ctr"/>
            <a:endParaRPr lang="en-US" altLang="zh-CN" sz="24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模型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千问</a:t>
            </a:r>
            <a:r>
              <a:rPr lang="en-US" altLang="zh-CN" b="1">
                <a:solidFill>
                  <a:schemeClr val="tx1"/>
                </a:solidFill>
              </a:rPr>
              <a:t>3</a:t>
            </a:r>
            <a:r>
              <a:rPr lang="zh-CN" altLang="en-US" b="1">
                <a:solidFill>
                  <a:schemeClr val="tx1"/>
                </a:solidFill>
              </a:rPr>
              <a:t>多模态大语言模型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097915" y="2247900"/>
            <a:ext cx="2436495" cy="15208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存储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</a:t>
            </a:r>
            <a:r>
              <a:rPr lang="zh-CN" altLang="en-US" sz="1600" b="1">
                <a:solidFill>
                  <a:schemeClr val="tx1"/>
                </a:solidFill>
              </a:rPr>
              <a:t>理模型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7003415" y="2248535"/>
            <a:ext cx="2444115" cy="15201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传输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物理模型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数理模型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4011295" y="2248535"/>
            <a:ext cx="2515235" cy="15201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调度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物理模型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数理模型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3632200" y="1067435"/>
            <a:ext cx="3241675" cy="1082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接口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物理模型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2" name="Title 1"/>
          <p:cNvSpPr>
            <a:spLocks noGrp="1"/>
          </p:cNvSpPr>
          <p:nvPr/>
        </p:nvSpPr>
        <p:spPr>
          <a:xfrm>
            <a:off x="9700260" y="295021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43" name="Title 1"/>
          <p:cNvSpPr>
            <a:spLocks noGrp="1"/>
          </p:cNvSpPr>
          <p:nvPr/>
        </p:nvSpPr>
        <p:spPr>
          <a:xfrm>
            <a:off x="9697720" y="431863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44" name="Title 1"/>
          <p:cNvSpPr>
            <a:spLocks noGrp="1"/>
          </p:cNvSpPr>
          <p:nvPr/>
        </p:nvSpPr>
        <p:spPr>
          <a:xfrm>
            <a:off x="9695180" y="588137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核心示例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1097280" y="5796280"/>
            <a:ext cx="8339455" cy="753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框架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1097280" y="3903980"/>
            <a:ext cx="8340090" cy="1541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400" b="1">
              <a:solidFill>
                <a:schemeClr val="tx1"/>
              </a:solidFill>
            </a:endParaRPr>
          </a:p>
          <a:p>
            <a:pPr algn="ctr"/>
            <a:endParaRPr lang="en-US" altLang="zh-CN" sz="24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模型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千问</a:t>
            </a:r>
            <a:r>
              <a:rPr lang="en-US" altLang="zh-CN" b="1">
                <a:solidFill>
                  <a:schemeClr val="tx1"/>
                </a:solidFill>
              </a:rPr>
              <a:t>3</a:t>
            </a:r>
            <a:r>
              <a:rPr lang="zh-CN" altLang="en-US" b="1">
                <a:solidFill>
                  <a:schemeClr val="tx1"/>
                </a:solidFill>
              </a:rPr>
              <a:t>多模态大语言模型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097915" y="2247900"/>
            <a:ext cx="2436495" cy="15208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存储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</a:t>
            </a:r>
            <a:r>
              <a:rPr lang="zh-CN" altLang="en-US" sz="1600" b="1">
                <a:solidFill>
                  <a:schemeClr val="tx1"/>
                </a:solidFill>
              </a:rPr>
              <a:t>理模型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7003415" y="2248535"/>
            <a:ext cx="2444115" cy="15201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传输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物理模型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数理模型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4011295" y="2248535"/>
            <a:ext cx="2515235" cy="15201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调度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物理模型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数理模型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3632200" y="1067435"/>
            <a:ext cx="3241675" cy="1082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接口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物理模型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1874520" y="5989955"/>
            <a:ext cx="2297430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sym typeface="+mn-ea"/>
              </a:rPr>
              <a:t>pytorch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训练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6440805" y="5989955"/>
            <a:ext cx="2297430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各厂商推理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4358640" y="2970530"/>
            <a:ext cx="1779905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业务集成调度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4358640" y="3336925"/>
            <a:ext cx="1779905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推理训练调度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1405890" y="2959735"/>
            <a:ext cx="1779905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用户上下文存储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1405890" y="3336925"/>
            <a:ext cx="1779905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用户服务端配置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7070090" y="3324225"/>
            <a:ext cx="2317750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附加功能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分片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流控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...)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7070725" y="2965450"/>
            <a:ext cx="2317750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物理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数理模型相互转换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3802380" y="1714500"/>
            <a:ext cx="2900680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原始数据收发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通道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协议适配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2" name="Title 1"/>
          <p:cNvSpPr>
            <a:spLocks noGrp="1"/>
          </p:cNvSpPr>
          <p:nvPr/>
        </p:nvSpPr>
        <p:spPr>
          <a:xfrm>
            <a:off x="9700260" y="295021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43" name="Title 1"/>
          <p:cNvSpPr>
            <a:spLocks noGrp="1"/>
          </p:cNvSpPr>
          <p:nvPr/>
        </p:nvSpPr>
        <p:spPr>
          <a:xfrm>
            <a:off x="9697720" y="431863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44" name="Title 1"/>
          <p:cNvSpPr>
            <a:spLocks noGrp="1"/>
          </p:cNvSpPr>
          <p:nvPr/>
        </p:nvSpPr>
        <p:spPr>
          <a:xfrm>
            <a:off x="9695180" y="588137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核心示例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1097280" y="5796280"/>
            <a:ext cx="8339455" cy="753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框架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1097280" y="3903980"/>
            <a:ext cx="8340090" cy="1541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400" b="1">
              <a:solidFill>
                <a:schemeClr val="tx1"/>
              </a:solidFill>
            </a:endParaRPr>
          </a:p>
          <a:p>
            <a:pPr algn="ctr"/>
            <a:endParaRPr lang="en-US" altLang="zh-CN" sz="24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模型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千问</a:t>
            </a:r>
            <a:r>
              <a:rPr lang="en-US" altLang="zh-CN" b="1">
                <a:solidFill>
                  <a:schemeClr val="tx1"/>
                </a:solidFill>
              </a:rPr>
              <a:t>3</a:t>
            </a:r>
            <a:r>
              <a:rPr lang="zh-CN" altLang="en-US" b="1">
                <a:solidFill>
                  <a:schemeClr val="tx1"/>
                </a:solidFill>
              </a:rPr>
              <a:t>多模态大语言模型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097915" y="2247900"/>
            <a:ext cx="2436495" cy="15208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存储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</a:t>
            </a:r>
            <a:r>
              <a:rPr lang="zh-CN" altLang="en-US" sz="1600" b="1">
                <a:solidFill>
                  <a:schemeClr val="tx1"/>
                </a:solidFill>
              </a:rPr>
              <a:t>理模型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7003415" y="2248535"/>
            <a:ext cx="2444115" cy="15201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传输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物理模型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数理模型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4011295" y="2248535"/>
            <a:ext cx="2515235" cy="15201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调度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物理模型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数理模型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3632200" y="1067435"/>
            <a:ext cx="3241675" cy="1082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AI</a:t>
            </a:r>
            <a:r>
              <a:rPr lang="zh-CN" altLang="en-US" sz="2400" b="1">
                <a:solidFill>
                  <a:schemeClr val="tx1"/>
                </a:solidFill>
              </a:rPr>
              <a:t>接口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物理模型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4011295" y="4071620"/>
            <a:ext cx="2512060" cy="8089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模型程序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transformers</a:t>
            </a:r>
            <a:endParaRPr lang="en-US" altLang="zh-CN" sz="10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292225" y="4071620"/>
            <a:ext cx="2512060" cy="8089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模型权重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Qwen3-Omni-30B-A3B-Instruct</a:t>
            </a:r>
            <a:endParaRPr lang="en-US" altLang="zh-CN" sz="10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Qwen3-Omni-30B-A3B-Thinking</a:t>
            </a:r>
            <a:endParaRPr lang="en-US" altLang="zh-CN" sz="10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6730365" y="4060825"/>
            <a:ext cx="2512060" cy="8089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使用示例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Qwen3-Omni</a:t>
            </a:r>
            <a:endParaRPr lang="en-US" altLang="zh-CN" sz="10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1874520" y="5989955"/>
            <a:ext cx="2297430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sym typeface="+mn-ea"/>
              </a:rPr>
              <a:t>pytorch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训练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6440805" y="5989955"/>
            <a:ext cx="2297430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各厂商推理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4358640" y="2970530"/>
            <a:ext cx="1779905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业务集成调度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4358640" y="3336925"/>
            <a:ext cx="1779905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推理训练调度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1405890" y="2959735"/>
            <a:ext cx="1779905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用户上下文存储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1405890" y="3336925"/>
            <a:ext cx="1779905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用户服务端配置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7070090" y="3324225"/>
            <a:ext cx="2317750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附加功能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分片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流控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...)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7070725" y="2965450"/>
            <a:ext cx="2317750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物理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数理模型相互转换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3802380" y="1714500"/>
            <a:ext cx="2900680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原始数据收发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通道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协议适配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2" name="Title 1"/>
          <p:cNvSpPr>
            <a:spLocks noGrp="1"/>
          </p:cNvSpPr>
          <p:nvPr/>
        </p:nvSpPr>
        <p:spPr>
          <a:xfrm>
            <a:off x="9700260" y="295021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物理模型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43" name="Title 1"/>
          <p:cNvSpPr>
            <a:spLocks noGrp="1"/>
          </p:cNvSpPr>
          <p:nvPr/>
        </p:nvSpPr>
        <p:spPr>
          <a:xfrm>
            <a:off x="9697720" y="4318635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数理模型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44" name="Title 1"/>
          <p:cNvSpPr>
            <a:spLocks noGrp="1"/>
          </p:cNvSpPr>
          <p:nvPr/>
        </p:nvSpPr>
        <p:spPr>
          <a:xfrm>
            <a:off x="9695180" y="5881370"/>
            <a:ext cx="238125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r>
              <a:rPr lang="en-US" altLang="zh-CN" sz="2000">
                <a:solidFill>
                  <a:srgbClr val="00B050"/>
                </a:solidFill>
              </a:rPr>
              <a:t>/</a:t>
            </a:r>
            <a:r>
              <a:rPr lang="zh-CN" altLang="en-US" sz="2000">
                <a:solidFill>
                  <a:srgbClr val="00B050"/>
                </a:solidFill>
              </a:rPr>
              <a:t>数学模型</a:t>
            </a:r>
            <a:endParaRPr lang="zh-CN" altLang="en-US" sz="20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关键流程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384300" y="5024755"/>
            <a:ext cx="409511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并行计算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5480050" y="5024755"/>
            <a:ext cx="3881120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海量存储（主要是内存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智能卡内存）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951355" y="4604385"/>
            <a:ext cx="6572885" cy="4203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训练（训练模仿）与推理（简单推理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复杂推理）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9857105" y="4683125"/>
            <a:ext cx="217678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数学计算与转换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599565" y="2115820"/>
            <a:ext cx="7375525" cy="2471420"/>
          </a:xfrm>
          <a:prstGeom prst="rect">
            <a:avLst/>
          </a:prstGeom>
          <a:noFill/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00B050"/>
                </a:solidFill>
              </a:rPr>
              <a:t>多模态大语言模型</a:t>
            </a:r>
            <a:r>
              <a:rPr lang="en-US" altLang="zh-CN" sz="2000" b="1">
                <a:solidFill>
                  <a:srgbClr val="00B050"/>
                </a:solidFill>
              </a:rPr>
              <a:t>MLLM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模型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框架整合分析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关键流程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384300" y="5024755"/>
            <a:ext cx="409511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并行计算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5480050" y="5024755"/>
            <a:ext cx="3881120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海量存储（主要是内存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智能卡内存）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951355" y="4604385"/>
            <a:ext cx="6572885" cy="4203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训练（训练模仿）与推理（简单推理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复杂推理）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9862185" y="2863850"/>
            <a:ext cx="217678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数理预处理迭代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9857105" y="4683125"/>
            <a:ext cx="217678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数学计算与转换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599565" y="2115820"/>
            <a:ext cx="7375525" cy="2471420"/>
          </a:xfrm>
          <a:prstGeom prst="rect">
            <a:avLst/>
          </a:prstGeom>
          <a:noFill/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00B050"/>
                </a:solidFill>
              </a:rPr>
              <a:t>多模态大语言模型</a:t>
            </a:r>
            <a:r>
              <a:rPr lang="en-US" altLang="zh-CN" sz="2000" b="1">
                <a:solidFill>
                  <a:srgbClr val="00B050"/>
                </a:solidFill>
              </a:rPr>
              <a:t>MLLM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模型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框架整合分析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2023745" y="291528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编码器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5310505" y="291528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解码器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关键流程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1599565" y="2115820"/>
            <a:ext cx="7375525" cy="2471420"/>
          </a:xfrm>
          <a:prstGeom prst="rect">
            <a:avLst/>
          </a:prstGeom>
          <a:noFill/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00B050"/>
                </a:solidFill>
              </a:rPr>
              <a:t>多模态大语言模型</a:t>
            </a:r>
            <a:r>
              <a:rPr lang="en-US" altLang="zh-CN" sz="2000" b="1">
                <a:solidFill>
                  <a:srgbClr val="00B050"/>
                </a:solidFill>
              </a:rPr>
              <a:t>MLLM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模型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框架整合分析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384300" y="5024755"/>
            <a:ext cx="409511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并行计算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5480050" y="5024755"/>
            <a:ext cx="3881120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海量存储（主要是内存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智能卡内存）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951355" y="4604385"/>
            <a:ext cx="6572885" cy="4203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训练（训练模仿）与推理（简单推理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复杂推理）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9862185" y="2863850"/>
            <a:ext cx="217678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数理预处理迭代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9861550" y="3757295"/>
            <a:ext cx="2174875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数理计算与转换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9857105" y="4683125"/>
            <a:ext cx="217678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数学计算与转换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3923665" y="3335655"/>
            <a:ext cx="3286760" cy="8235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自注意力（模仿阅读谋局）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阅读与写作都基于阅读理解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并行扫描</a:t>
            </a:r>
            <a:r>
              <a:rPr lang="en-US" altLang="zh-CN" sz="1400" b="1">
                <a:solidFill>
                  <a:schemeClr val="tx1"/>
                </a:solidFill>
              </a:rPr>
              <a:t>+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全局关联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确定重点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2023745" y="291528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编码器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5310505" y="291528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解码器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3927475" y="4159885"/>
            <a:ext cx="3286760" cy="4203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前馈神经网络（模仿推理做事）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r>
              <a:rPr lang="zh-CN" altLang="en-US">
                <a:solidFill>
                  <a:srgbClr val="00B050"/>
                </a:solidFill>
              </a:rPr>
              <a:t>运行机理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关键流程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1599565" y="2115820"/>
            <a:ext cx="7375525" cy="2471420"/>
          </a:xfrm>
          <a:prstGeom prst="rect">
            <a:avLst/>
          </a:prstGeom>
          <a:noFill/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00B050"/>
                </a:solidFill>
              </a:rPr>
              <a:t>多模态大语言模型</a:t>
            </a:r>
            <a:r>
              <a:rPr lang="en-US" altLang="zh-CN" sz="2000" b="1">
                <a:solidFill>
                  <a:srgbClr val="00B050"/>
                </a:solidFill>
              </a:rPr>
              <a:t>MLLM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模型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框架整合分析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384300" y="5024755"/>
            <a:ext cx="409511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并行计算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5480050" y="5024755"/>
            <a:ext cx="3881120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海量存储（主要是内存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智能卡内存）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1896745" y="278828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编码器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183505" y="278828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解码器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951355" y="4604385"/>
            <a:ext cx="6572885" cy="4203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训练（训练模仿）与推理（简单推理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复杂推理）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9862185" y="2863850"/>
            <a:ext cx="217678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数理预处理迭代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9861550" y="3757295"/>
            <a:ext cx="2174875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数理计算与转换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9857105" y="4683125"/>
            <a:ext cx="2176780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数学计算与转换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3923665" y="3335655"/>
            <a:ext cx="3286760" cy="8235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自注意力（模仿阅读谋局）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阅读与写作都基于阅读理解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并行扫描</a:t>
            </a:r>
            <a:r>
              <a:rPr lang="en-US" altLang="zh-CN" sz="1400" b="1">
                <a:solidFill>
                  <a:schemeClr val="tx1"/>
                </a:solidFill>
              </a:rPr>
              <a:t>+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全局关联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确定重点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2023745" y="291528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编码器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5310505" y="291528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解码器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3927475" y="4159885"/>
            <a:ext cx="3286760" cy="4203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前馈神经网络（模仿推理做事）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150745" y="304228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编码器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5437505" y="304228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解码器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2812</Words>
  <Application>WPS Presentation</Application>
  <PresentationFormat>宽屏</PresentationFormat>
  <Paragraphs>585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MathJax_Vector</vt:lpstr>
      <vt:lpstr>Office Theme</vt:lpstr>
      <vt:lpstr>学习架构设计-了解AI运行机理-整体结构</vt:lpstr>
      <vt:lpstr>学习架构设计-了解AI运行机理-整体结构</vt:lpstr>
      <vt:lpstr>学习架构设计-了解AI运行机理-整体结构</vt:lpstr>
      <vt:lpstr>学习架构设计-了解AI运行机理-整体结构</vt:lpstr>
      <vt:lpstr>学习架构设计-了解AI运行机理-整体结构</vt:lpstr>
      <vt:lpstr>学习架构设计-了解AI运行机理-整体结构</vt:lpstr>
      <vt:lpstr>学习架构设计-了解AI运行机理-整体结构</vt:lpstr>
      <vt:lpstr>学习架构设计-了解AI运行机理-核心示例</vt:lpstr>
      <vt:lpstr>学习架构设计-了解AI运行机理-核心示例</vt:lpstr>
      <vt:lpstr>学习架构设计-了解AI运行机理-核心示例</vt:lpstr>
      <vt:lpstr>学习架构设计-了解AI运行机理-关键流程</vt:lpstr>
      <vt:lpstr>学习架构设计-了解AI运行机理-关键流程</vt:lpstr>
      <vt:lpstr>学习架构设计-了解AI运行机理-关键流程</vt:lpstr>
      <vt:lpstr>学习架构设计-了解AI运行机理-关键流程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786</cp:revision>
  <dcterms:created xsi:type="dcterms:W3CDTF">2026-05-27T01:04:30Z</dcterms:created>
  <dcterms:modified xsi:type="dcterms:W3CDTF">2026-05-27T01:04:30Z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