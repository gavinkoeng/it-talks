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3"/>
    <p:sldId id="359" r:id="rId4"/>
    <p:sldId id="360" r:id="rId5"/>
    <p:sldId id="277" r:id="rId6"/>
    <p:sldId id="358" r:id="rId7"/>
    <p:sldId id="345" r:id="rId8"/>
    <p:sldId id="351" r:id="rId9"/>
    <p:sldId id="350" r:id="rId10"/>
    <p:sldId id="349" r:id="rId11"/>
    <p:sldId id="346" r:id="rId12"/>
    <p:sldId id="354" r:id="rId13"/>
    <p:sldId id="353" r:id="rId14"/>
    <p:sldId id="352" r:id="rId15"/>
    <p:sldId id="347" r:id="rId16"/>
    <p:sldId id="357" r:id="rId17"/>
    <p:sldId id="356" r:id="rId18"/>
    <p:sldId id="355" r:id="rId19"/>
    <p:sldId id="348" r:id="rId20"/>
    <p:sldId id="363" r:id="rId21"/>
    <p:sldId id="362" r:id="rId22"/>
    <p:sldId id="361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92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949325"/>
            <a:ext cx="10515600" cy="158432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学习软件编程</a:t>
            </a:r>
            <a:endParaRPr lang="zh-CN" altLang="en-US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667635"/>
            <a:ext cx="10515600" cy="3520440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谈概述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旁观者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初学者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入道者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论形势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谈概述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软件编程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谈概述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软件编程是人与计算机沟通交互的关键行为，同时涉及到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全部关键一级内容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工具链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计算机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学习软件编程是学习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的关键着眼点，由此才能更有效更系统地展开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通用性基础内容的各个方面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我的汇编语言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Shell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我的高级语言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语言各视频组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软件编程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谈概述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软件编程是人与计算机沟通交互的关键行为，同时涉及到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全部关键一级内容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工具链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计算机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学习软件编程是学习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的关键着眼点，由此才能更有效更系统地展开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通用性基础内容的各个方面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我的汇编语言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Shell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我的高级语言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语言各视频组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软件编程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内容：个体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隐含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，编程语言，指令，计算机，效果，过程；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差异：</a:t>
            </a:r>
            <a:r>
              <a:rPr lang="en-US" altLang="zh-CN" b="1">
                <a:solidFill>
                  <a:srgbClr val="00B050"/>
                </a:solidFill>
              </a:rPr>
              <a:t>qw</a:t>
            </a:r>
            <a:r>
              <a:rPr lang="zh-CN" altLang="en-US" b="1">
                <a:solidFill>
                  <a:srgbClr val="00B050"/>
                </a:solidFill>
              </a:rPr>
              <a:t>的指令指编程语言的指令，</a:t>
            </a:r>
            <a:r>
              <a:rPr lang="en-US" altLang="zh-CN" b="1">
                <a:solidFill>
                  <a:srgbClr val="00B050"/>
                </a:solidFill>
              </a:rPr>
              <a:t>db</a:t>
            </a:r>
            <a:r>
              <a:rPr lang="zh-CN" altLang="en-US" b="1">
                <a:solidFill>
                  <a:srgbClr val="00B050"/>
                </a:solidFill>
              </a:rPr>
              <a:t>指令指编译后的机器指令，</a:t>
            </a:r>
            <a:r>
              <a:rPr lang="en-US" altLang="zh-CN" b="1">
                <a:solidFill>
                  <a:srgbClr val="00B050"/>
                </a:solidFill>
              </a:rPr>
              <a:t>dp</a:t>
            </a:r>
            <a:r>
              <a:rPr lang="zh-CN" altLang="en-US" b="1">
                <a:solidFill>
                  <a:srgbClr val="00B050"/>
                </a:solidFill>
              </a:rPr>
              <a:t>指令包含二者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个人定义：”人用工具链提供的编程语言和翻译功能，实现与计算机的双向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完整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自动地交互沟通“的过程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谈概述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软件编程是人与计算机沟通交互的关键行为，同时涉及到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全部关键一级内容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工具链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计算机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学习软件编程是学习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的关键着眼点，由此才能更有效更系统地展开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通用性基础内容的各个方面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我的汇编语言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Shell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我的高级语言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语言各视频组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软件编程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内容：个体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隐含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，编程语言，指令，计算机，效果，过程；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差异：</a:t>
            </a:r>
            <a:r>
              <a:rPr lang="en-US" altLang="zh-CN" b="1">
                <a:solidFill>
                  <a:srgbClr val="00B050"/>
                </a:solidFill>
              </a:rPr>
              <a:t>qw</a:t>
            </a:r>
            <a:r>
              <a:rPr lang="zh-CN" altLang="en-US" b="1">
                <a:solidFill>
                  <a:srgbClr val="00B050"/>
                </a:solidFill>
              </a:rPr>
              <a:t>的指令指编程语言的指令，</a:t>
            </a:r>
            <a:r>
              <a:rPr lang="en-US" altLang="zh-CN" b="1">
                <a:solidFill>
                  <a:srgbClr val="00B050"/>
                </a:solidFill>
              </a:rPr>
              <a:t>db</a:t>
            </a:r>
            <a:r>
              <a:rPr lang="zh-CN" altLang="en-US" b="1">
                <a:solidFill>
                  <a:srgbClr val="00B050"/>
                </a:solidFill>
              </a:rPr>
              <a:t>指令指编译后的机器指令，</a:t>
            </a:r>
            <a:r>
              <a:rPr lang="en-US" altLang="zh-CN" b="1">
                <a:solidFill>
                  <a:srgbClr val="00B050"/>
                </a:solidFill>
              </a:rPr>
              <a:t>dp</a:t>
            </a:r>
            <a:r>
              <a:rPr lang="zh-CN" altLang="en-US" b="1">
                <a:solidFill>
                  <a:srgbClr val="00B050"/>
                </a:solidFill>
              </a:rPr>
              <a:t>指令包含二者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个人定义：”人用工具链提供的编程语言和翻译功能，实现与计算机的双向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完整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自动地交互沟通“的过程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分类：程度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旁观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初学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入道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，偏好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后期研发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产品统筹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前期销售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，方向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原理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问题：着眼点与通用性基础内容的关系，重视分类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平衡兴趣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勤奋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，关注核心内容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低效内卷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劳累猝死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核心：解决问题的能力，自主探索的精神，积极向上的态度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尊重理解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个人信用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价值产出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旁观者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37640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旁观者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37640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定位：至少会关注软件编程，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</a:t>
            </a:r>
            <a:r>
              <a:rPr lang="zh-CN" altLang="en-US" sz="1800" b="1">
                <a:solidFill>
                  <a:srgbClr val="00B050"/>
                </a:solidFill>
              </a:rPr>
              <a:t>将来自己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可能”</a:t>
            </a:r>
            <a:r>
              <a:rPr lang="zh-CN" altLang="en-US" sz="1800" b="1">
                <a:solidFill>
                  <a:srgbClr val="00B050"/>
                </a:solidFill>
              </a:rPr>
              <a:t>或者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</a:t>
            </a:r>
            <a:r>
              <a:rPr lang="zh-CN" altLang="en-US" sz="1800" b="1">
                <a:solidFill>
                  <a:srgbClr val="00B050"/>
                </a:solidFill>
              </a:rPr>
              <a:t>目前亲属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例如子女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已经”学习软件编程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互动：小初高公立选修课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大学研究生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感受：比较迷茫，无从下手，害怕被忽悠误导；但暂时还不得不往前走，未来的不确定性非常高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旁观者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37640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定位：至少会关注软件编程，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</a:t>
            </a:r>
            <a:r>
              <a:rPr lang="zh-CN" altLang="en-US" sz="1800" b="1">
                <a:solidFill>
                  <a:srgbClr val="00B050"/>
                </a:solidFill>
              </a:rPr>
              <a:t>将来自己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可能”</a:t>
            </a:r>
            <a:r>
              <a:rPr lang="zh-CN" altLang="en-US" sz="1800" b="1">
                <a:solidFill>
                  <a:srgbClr val="00B050"/>
                </a:solidFill>
              </a:rPr>
              <a:t>或者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</a:t>
            </a:r>
            <a:r>
              <a:rPr lang="zh-CN" altLang="en-US" sz="1800" b="1">
                <a:solidFill>
                  <a:srgbClr val="00B050"/>
                </a:solidFill>
              </a:rPr>
              <a:t>目前亲属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例如子女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已经”学习软件编程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互动：小初高公立选修课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大学研究生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感受：比较迷茫，无从下手，害怕被忽悠误导；但暂时还不得不往前走，未来的不确定性非常高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类别：语言</a:t>
            </a:r>
            <a:r>
              <a:rPr lang="en-US" altLang="zh-CN" b="1">
                <a:solidFill>
                  <a:srgbClr val="00B050"/>
                </a:solidFill>
              </a:rPr>
              <a:t>(C/C++/Python/Mixly)</a:t>
            </a:r>
            <a:r>
              <a:rPr lang="zh-CN" altLang="en-US" b="1">
                <a:solidFill>
                  <a:srgbClr val="00B050"/>
                </a:solidFill>
              </a:rPr>
              <a:t>；人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自发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参与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尝试</a:t>
            </a:r>
            <a:r>
              <a:rPr lang="en-US" altLang="zh-CN" b="1">
                <a:solidFill>
                  <a:srgbClr val="00B050"/>
                </a:solidFill>
              </a:rPr>
              <a:t>, </a:t>
            </a:r>
            <a:r>
              <a:rPr lang="zh-CN" altLang="en-US" b="1">
                <a:solidFill>
                  <a:srgbClr val="00B050"/>
                </a:solidFill>
              </a:rPr>
              <a:t>爱好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就业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辅助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；计算机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前台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后台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嵌入式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难点：遇到挫折或感觉被忽悠时会不知所措；资源匮乏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主要是时间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精力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；无法有效自我管理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管理亲属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核心：初步了解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地图，逐步理解自己或者亲属的真正偏好，初步了解自己或亲属的发展方向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旁观者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37640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定位：至少会关注软件编程，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</a:t>
            </a:r>
            <a:r>
              <a:rPr lang="zh-CN" altLang="en-US" sz="1800" b="1">
                <a:solidFill>
                  <a:srgbClr val="00B050"/>
                </a:solidFill>
              </a:rPr>
              <a:t>将来自己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可能”</a:t>
            </a:r>
            <a:r>
              <a:rPr lang="zh-CN" altLang="en-US" sz="1800" b="1">
                <a:solidFill>
                  <a:srgbClr val="00B050"/>
                </a:solidFill>
              </a:rPr>
              <a:t>或者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</a:t>
            </a:r>
            <a:r>
              <a:rPr lang="zh-CN" altLang="en-US" sz="1800" b="1">
                <a:solidFill>
                  <a:srgbClr val="00B050"/>
                </a:solidFill>
              </a:rPr>
              <a:t>目前亲属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例如子女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已经”学习软件编程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互动：小初高公立选修课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大学研究生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感受：比较迷茫，无从下手，害怕被忽悠误导；但暂时还不得不往前走，未来的不确定性非常高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类别：语言</a:t>
            </a:r>
            <a:r>
              <a:rPr lang="en-US" altLang="zh-CN" b="1">
                <a:solidFill>
                  <a:srgbClr val="00B050"/>
                </a:solidFill>
              </a:rPr>
              <a:t>(C/C++/Python/Mixly)</a:t>
            </a:r>
            <a:r>
              <a:rPr lang="zh-CN" altLang="en-US" b="1">
                <a:solidFill>
                  <a:srgbClr val="00B050"/>
                </a:solidFill>
              </a:rPr>
              <a:t>；人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自发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参与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尝试</a:t>
            </a:r>
            <a:r>
              <a:rPr lang="en-US" altLang="zh-CN" b="1">
                <a:solidFill>
                  <a:srgbClr val="00B050"/>
                </a:solidFill>
              </a:rPr>
              <a:t>, </a:t>
            </a:r>
            <a:r>
              <a:rPr lang="zh-CN" altLang="en-US" b="1">
                <a:solidFill>
                  <a:srgbClr val="00B050"/>
                </a:solidFill>
              </a:rPr>
              <a:t>爱好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就业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辅助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；计算机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前台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后台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嵌入式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难点：遇到挫折或感觉被忽悠时会不知所措；资源匮乏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主要是时间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精力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；无法有效自我管理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管理亲属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核心：初步了解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地图，逐步理解自己或者亲属的真正偏好，初步了解自己或亲属的发展方向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方法：先网上资料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+3</a:t>
            </a:r>
            <a:r>
              <a:rPr lang="zh-CN" altLang="en-US" b="1">
                <a:solidFill>
                  <a:srgbClr val="00B050"/>
                </a:solidFill>
              </a:rPr>
              <a:t>个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辅助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，然后据此进行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初步实践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尝试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，再参与几种互动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至少之一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注意：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有效地管理自己或者亲属；人的特色和偏好的挖掘，其兴趣更多的是参考，核心是勤奋和自律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相关的行业类别众多，大部分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行业人员的主业都不是软件编程；它是着眼点，因此只是学习期间会被额外重视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软件编程的收入，在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众多行业类别里，处于中位数，并不是非常突出。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参考：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的价值产出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程序员看学习教育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程序员的核心属性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程序员与职业规划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85140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初学者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00810"/>
            <a:ext cx="11642090" cy="522986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85140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初学者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00810"/>
            <a:ext cx="11642090" cy="522986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定位：开始学习编程，对于其第一门语言还没有完整熟悉使用的人员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小初高公立选修课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大学研究生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感受：自己选择学习的语言是否真的有价值；自己想学到什么程度；自己日后想干什么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85140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初学者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00810"/>
            <a:ext cx="11642090" cy="522986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定位：开始学习编程，对于其第一门语言还没有完整熟悉使用的人员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小初高公立选修课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大学研究生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感受：自己选择学习的语言是否真的有价值；自己想学到什么程度；自己日后想干什么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(C/C++/Python/Mixly)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自发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尝试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, 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爱好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就业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；计算机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前台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后台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嵌入式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难点：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资源匮乏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主要是时间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精力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；无法有效自我管理；目前学的内容同自己期望要学的内容不匹配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核心：理解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地图，明确自己真正的偏好，规划日后的发展方向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85140"/>
            <a:ext cx="10613390" cy="61468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初学者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00810"/>
            <a:ext cx="11642090" cy="522986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定位：开始学习编程，对于其第一门语言还没有完整熟悉使用的人员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小初高公立选修课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大学研究生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感受：自己选择学习的语言是否真的有价值；自己想学到什么程度；自己日后想干什么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(C/C++/Python/Mixly)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自发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尝试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, 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爱好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就业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；计算机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前台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后台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嵌入式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难点：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资源匮乏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主要是时间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精力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；无法有效自我管理；目前学的内容同自己期望要学的内容不匹配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核心：理解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地图，明确自己真正的偏好，规划日后的发展方向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方法：理论上有明确的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地图，能独立辨别方向；实践方面通过多参与各类互动逐步明确自己真正的偏好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注意：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有效地管理自己的时间和精力；对于个人特色和偏好的挖掘，其兴趣更多的是参考，真正的核心是勤奋和自律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不要有怕被淘汰的心理负担，每个人都是独一无二的，要找到属于自己的节奏和偏好点，不要刻意追求某项指标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三人行必有我师焉，相互学习借鉴是有价值的；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相互协作时，取长补短是常态；</a:t>
            </a:r>
            <a:r>
              <a:rPr lang="zh-CN" altLang="en-US" b="1">
                <a:solidFill>
                  <a:srgbClr val="00B050"/>
                </a:solidFill>
              </a:rPr>
              <a:t>协作不是技术比较，而是价值互换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参考：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地图导航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的价值产出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程序员看学习教育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程序员的核心属性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程序员与职业规划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23215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入道者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197610"/>
            <a:ext cx="11642090" cy="54114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23215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入道者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197610"/>
            <a:ext cx="11642090" cy="54114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定位：至少对一门编程语言已经有了整体了解，并可以初步独立编写一个比较完整的</a:t>
            </a:r>
            <a:r>
              <a:rPr lang="en-US" altLang="zh-CN" sz="1800" b="1">
                <a:solidFill>
                  <a:srgbClr val="00B050"/>
                </a:solidFill>
              </a:rPr>
              <a:t>demo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大学研究生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参加工作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感受：越来越关注自己的技术面子，软件工程像是外部强加给自己的负担，工作压力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强度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时长不可控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23215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入道者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197610"/>
            <a:ext cx="11642090" cy="54114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定位：至少对一门编程语言已经有了整体了解，并可以初步独立编写一个比较完整的</a:t>
            </a:r>
            <a:r>
              <a:rPr lang="en-US" altLang="zh-CN" sz="1800" b="1">
                <a:solidFill>
                  <a:srgbClr val="00B050"/>
                </a:solidFill>
              </a:rPr>
              <a:t>demo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大学研究生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参加工作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感受：越来越关注自己的技术面子，软件工程像是外部强加给自己的负担，工作压力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强度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时长不可控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类别：接触多种编程语言，人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爱好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就业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辅助，后期研发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产品统筹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前期销售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，计算机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原理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难点：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资源匮乏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主要是时间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精力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；无法有效自我管理；很难处理好协作关系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所有的人和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都是对手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锻炼解决问题的能力，培养自主探索的精神，饱含积极乐观的态度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尊重理解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个人信用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价值产出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23215"/>
            <a:ext cx="10613390" cy="6902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入道者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197610"/>
            <a:ext cx="11642090" cy="54114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定位：至少对一门编程语言已经有了整体了解，并可以初步独立编写一个比较完整的</a:t>
            </a:r>
            <a:r>
              <a:rPr lang="en-US" altLang="zh-CN" sz="1800" b="1">
                <a:solidFill>
                  <a:srgbClr val="00B050"/>
                </a:solidFill>
              </a:rPr>
              <a:t>demo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互动：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大学研究生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各类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培训班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参加工作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网上资料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科普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+3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感受：越来越关注自己的技术面子，软件工程像是外部强加给自己的负担，工作压力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强度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时长不可控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类别：接触多种编程语言，人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爱好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就业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辅助，后期研发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产品统筹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前期销售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，计算机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原理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难点：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资源匮乏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主要是时间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精力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；无法有效自我管理；很难处理好协作关系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所有的人和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都是对手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锻炼解决问题的能力，培养自主探索的精神，饱含积极乐观的态度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尊重理解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个人信用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价值产出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方法：根据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明确的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地图，多理解多换位思考；用积极乐观的态度来面对他人的协作和自己的人生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注意：有效地管理好自己的时间和精力，注意体劳结合，有自己中长期的规划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价值产出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应用模型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业务模型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程序员看</a:t>
            </a:r>
            <a:r>
              <a:rPr lang="en-US" altLang="zh-CN" b="1">
                <a:solidFill>
                  <a:srgbClr val="00B050"/>
                </a:solidFill>
              </a:rPr>
              <a:t>35</a:t>
            </a:r>
            <a:r>
              <a:rPr lang="zh-CN" altLang="en-US" b="1">
                <a:solidFill>
                  <a:srgbClr val="00B050"/>
                </a:solidFill>
              </a:rPr>
              <a:t>岁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程序员看加班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程序员看代码编写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程序员看文档编写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程序员看软件工程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程序员看相互协作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程序员的核心属性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程序员的四维时空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程序员与黑客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程序员与岗位职责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程序员与职业规划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论形势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发展：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论形势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位置：语文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态度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数学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通用语言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解决问题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英语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IT(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特色：优势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通用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灵活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；劣势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视力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游戏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误导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核心：锻炼解决问题的能力，培养自主探索的精神，饱含积极乐观的态度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尊重理解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个人信用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发展：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论形势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位置：语文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态度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数学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通用语言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解决问题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英语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IT(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特色：优势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通用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灵活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；劣势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视力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游戏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误导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核心：锻炼解决问题的能力，培养自主探索的精神，饱含积极乐观的态度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尊重理解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个人信用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环境：门槛低，完整成体系的实践环境，可直接完美无缝对接现实的工作和行业产业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角色：无论从事什么行业，无论自己是什么角色，都可以学习了解编程并由此支撑自己的行业和角色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交互：开放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开源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免费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是基石主流，学习是生活习惯，协作是本能反应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发展：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学习软件编程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论形势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64145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位置：语文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态度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数学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通用语言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解决问题</a:t>
            </a:r>
            <a:r>
              <a:rPr lang="en-US" altLang="zh-CN" b="1">
                <a:solidFill>
                  <a:srgbClr val="00B050"/>
                </a:solidFill>
              </a:rPr>
              <a:t>)/</a:t>
            </a:r>
            <a:r>
              <a:rPr lang="zh-CN" altLang="en-US" b="1">
                <a:solidFill>
                  <a:srgbClr val="00B050"/>
                </a:solidFill>
              </a:rPr>
              <a:t>英语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IT(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特色：优势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通用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灵活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；劣势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视力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游戏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误导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核心：锻炼解决问题的能力，培养自主探索的精神，饱含积极乐观的态度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尊重理解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个人信用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环境：门槛低，完整成体系的实践环境，可直接完美无缝对接现实的工作和行业产业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角色：无论从事什么行业，无论自己是什么角色，都可以学习了解编程并由此支撑自己的行业和角色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交互：开放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开源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免费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是基石主流，学习是生活习惯，协作是本能反应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发展：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规模：伴随着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与全行业的不断深入融合，以及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语言的逐步成熟；使得程序员被大幅度广义化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辅助会大幅度促进开放和协作，而且更会使得学习软件编程的理论核心越发突出，越发不可替代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变革：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教育在小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初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高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大学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研究生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成人全阶段都会有变革，我的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程序员与黑客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4633</Words>
  <Application>WPS Presentation</Application>
  <PresentationFormat>宽屏</PresentationFormat>
  <Paragraphs>288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学习软件编程</vt:lpstr>
      <vt:lpstr>学习软件编程-谈概述</vt:lpstr>
      <vt:lpstr>学习软件编程-谈概述</vt:lpstr>
      <vt:lpstr>学习软件编程-谈概述</vt:lpstr>
      <vt:lpstr>学习软件编程-谈概述</vt:lpstr>
      <vt:lpstr>学习软件编程-旁观者</vt:lpstr>
      <vt:lpstr>学习软件编程-旁观者</vt:lpstr>
      <vt:lpstr>学习软件编程-旁观者</vt:lpstr>
      <vt:lpstr>学习软件编程-旁观者</vt:lpstr>
      <vt:lpstr>学习软件编程-初学者</vt:lpstr>
      <vt:lpstr>学习软件编程-初学者</vt:lpstr>
      <vt:lpstr>学习软件编程-初学者</vt:lpstr>
      <vt:lpstr>学习软件编程-初学者</vt:lpstr>
      <vt:lpstr>学习软件编程-入道者</vt:lpstr>
      <vt:lpstr>学习软件编程-入道者</vt:lpstr>
      <vt:lpstr>学习软件编程-入道者</vt:lpstr>
      <vt:lpstr>学习软件编程-入道者</vt:lpstr>
      <vt:lpstr>学习软件编程-论形势</vt:lpstr>
      <vt:lpstr>学习软件编程-论形势</vt:lpstr>
      <vt:lpstr>学习软件编程-论形势</vt:lpstr>
      <vt:lpstr>学习软件编程-论形势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390</cp:revision>
  <dcterms:created xsi:type="dcterms:W3CDTF">2026-01-03T07:52:51Z</dcterms:created>
  <dcterms:modified xsi:type="dcterms:W3CDTF">2026-01-03T07:52:51Z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