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3"/>
    <p:sldId id="277" r:id="rId4"/>
    <p:sldId id="322" r:id="rId5"/>
    <p:sldId id="321" r:id="rId6"/>
    <p:sldId id="320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15" r:id="rId15"/>
    <p:sldId id="325" r:id="rId16"/>
    <p:sldId id="324" r:id="rId17"/>
    <p:sldId id="323" r:id="rId18"/>
    <p:sldId id="335" r:id="rId19"/>
    <p:sldId id="333" r:id="rId20"/>
    <p:sldId id="334" r:id="rId21"/>
    <p:sldId id="316" r:id="rId22"/>
    <p:sldId id="318" r:id="rId23"/>
    <p:sldId id="338" r:id="rId24"/>
    <p:sldId id="337" r:id="rId25"/>
    <p:sldId id="336" r:id="rId2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9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949325"/>
            <a:ext cx="10515600" cy="1584325"/>
          </a:xfrm>
        </p:spPr>
        <p:txBody>
          <a:bodyPr/>
          <a:p>
            <a:pPr algn="ctr"/>
            <a:r>
              <a:rPr lang="en-US" altLang="zh-CN" sz="4400">
                <a:solidFill>
                  <a:srgbClr val="00B050"/>
                </a:solidFill>
              </a:rPr>
              <a:t>IT</a:t>
            </a:r>
            <a:r>
              <a:rPr lang="zh-CN" altLang="en-US" sz="4400">
                <a:solidFill>
                  <a:srgbClr val="00B050"/>
                </a:solidFill>
              </a:rPr>
              <a:t>地图</a:t>
            </a:r>
            <a:endParaRPr lang="zh-CN" altLang="en-US" sz="440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3055620"/>
            <a:ext cx="10515600" cy="3132455"/>
          </a:xfrm>
        </p:spPr>
        <p:txBody>
          <a:bodyPr/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计算机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工具链</a:t>
            </a:r>
            <a:endParaRPr lang="zh-CN" altLang="en-US" sz="3600" b="1">
              <a:solidFill>
                <a:srgbClr val="00B050"/>
              </a:solidFill>
            </a:endParaRPr>
          </a:p>
          <a:p>
            <a:pPr algn="ctr"/>
            <a:r>
              <a:rPr lang="zh-CN" altLang="en-US" sz="3600" b="1">
                <a:solidFill>
                  <a:srgbClr val="00B050"/>
                </a:solidFill>
              </a:rPr>
              <a:t>程序员</a:t>
            </a:r>
            <a:endParaRPr lang="zh-CN" altLang="en-US" sz="3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8105" y="549910"/>
            <a:ext cx="727519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计算机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325" y="1750695"/>
            <a:ext cx="728726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体系原理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平台组件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业务应用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8105" y="549910"/>
            <a:ext cx="727519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计算机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325" y="1750695"/>
            <a:ext cx="728726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体系原理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电脑的硬件模型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电脑的软硬接口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电脑的软件模型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平台组件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sz="1800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业务应用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8105" y="549910"/>
            <a:ext cx="727519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计算机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325" y="1750695"/>
            <a:ext cx="728726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体系原理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电脑的硬件模型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电脑的软硬接口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电脑的软件模型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平台组件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系统的各种组件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业务应用</a:t>
            </a:r>
            <a:endParaRPr lang="zh-CN" altLang="en-US" b="1">
              <a:solidFill>
                <a:srgbClr val="00B050"/>
              </a:solidFill>
            </a:endParaRPr>
          </a:p>
          <a:p>
            <a:pPr marL="457200" lvl="1" indent="0">
              <a:buNone/>
            </a:pP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8105" y="549910"/>
            <a:ext cx="727519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计算机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2325" y="1750695"/>
            <a:ext cx="7560310" cy="4901565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体系原理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电脑的硬件模型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电脑的软硬接口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电脑的软件模型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平台组件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系统的基础平台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系统的扩展平台</a:t>
            </a:r>
            <a:endParaRPr lang="zh-CN" altLang="en-US" sz="1800" b="1">
              <a:solidFill>
                <a:srgbClr val="00B050"/>
              </a:solidFill>
            </a:endParaRPr>
          </a:p>
          <a:p>
            <a:pPr lvl="1"/>
            <a:r>
              <a:rPr lang="zh-CN" altLang="en-US" sz="1800" b="1">
                <a:solidFill>
                  <a:srgbClr val="00B050"/>
                </a:solidFill>
              </a:rPr>
              <a:t>系统的各种组件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业务应用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的业务模型：</a:t>
            </a:r>
            <a:r>
              <a:rPr lang="zh-CN" altLang="en-US" sz="1600" b="1">
                <a:solidFill>
                  <a:srgbClr val="00B050"/>
                </a:solidFill>
              </a:rPr>
              <a:t>专业建模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需求建模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平台环境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集成开发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发展趋势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的应用模型：</a:t>
            </a:r>
            <a:r>
              <a:rPr lang="zh-CN" altLang="en-US" sz="1600" b="1">
                <a:solidFill>
                  <a:srgbClr val="00B050"/>
                </a:solidFill>
              </a:rPr>
              <a:t>价值建模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使用建模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业务模型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规划集成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发展趋势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的价值产出：</a:t>
            </a:r>
            <a:r>
              <a:rPr lang="zh-CN" altLang="en-US" sz="1600" b="1">
                <a:solidFill>
                  <a:srgbClr val="00B050"/>
                </a:solidFill>
              </a:rPr>
              <a:t>个人视角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经济视角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社会视角</a:t>
            </a:r>
            <a:endParaRPr lang="zh-CN" altLang="en-US" sz="1600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691005" y="4521835"/>
            <a:ext cx="1868805" cy="665480"/>
          </a:xfrm>
          <a:prstGeom prst="rect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061575" y="2946400"/>
            <a:ext cx="119697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软件建模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236085" y="2867025"/>
            <a:ext cx="2070735" cy="14433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系统的基础平台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956425" y="29457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C</a:t>
            </a:r>
            <a:r>
              <a:rPr lang="zh-CN" altLang="en-US" sz="2000" b="1">
                <a:solidFill>
                  <a:schemeClr val="tx1"/>
                </a:solidFill>
              </a:rPr>
              <a:t>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642745" y="2953385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Shell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22605" y="295402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平台建模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691005" y="4521835"/>
            <a:ext cx="1868805" cy="665480"/>
          </a:xfrm>
          <a:prstGeom prst="rect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320790" y="3325495"/>
            <a:ext cx="63627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616325" y="3350260"/>
            <a:ext cx="636270" cy="0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061575" y="2946400"/>
            <a:ext cx="119697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软件建模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236085" y="2867025"/>
            <a:ext cx="2070735" cy="14433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系统的基础平台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956425" y="29457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C</a:t>
            </a:r>
            <a:r>
              <a:rPr lang="zh-CN" altLang="en-US" sz="2000" b="1">
                <a:solidFill>
                  <a:schemeClr val="tx1"/>
                </a:solidFill>
              </a:rPr>
              <a:t>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36085" y="1311275"/>
            <a:ext cx="2070735" cy="1554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系统的扩展平台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642745" y="2953385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Shell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956425" y="131127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各高级语言（含协处理）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22605" y="295402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平台建模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642745" y="1311910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人类语言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0061575" y="1311275"/>
            <a:ext cx="120586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集成开发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1691005" y="4521835"/>
            <a:ext cx="1868805" cy="665480"/>
          </a:xfrm>
          <a:prstGeom prst="rect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522605" y="13125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 flipH="1">
            <a:off x="3616325" y="1683385"/>
            <a:ext cx="61976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6320790" y="173482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>
            <a:off x="6320790" y="3325495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3616325" y="335026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061575" y="2946400"/>
            <a:ext cx="119697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软件建模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236085" y="2867025"/>
            <a:ext cx="2070735" cy="14433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系统的基础平台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956425" y="29457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C</a:t>
            </a:r>
            <a:r>
              <a:rPr lang="zh-CN" altLang="en-US" sz="2000" b="1">
                <a:solidFill>
                  <a:schemeClr val="tx1"/>
                </a:solidFill>
              </a:rPr>
              <a:t>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36085" y="1311275"/>
            <a:ext cx="2070735" cy="1554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系统的扩展平台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642745" y="2953385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Shell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956425" y="131127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各高级语言（含协处理）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22605" y="295402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平台建模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642745" y="1311910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人类语言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0061575" y="1311275"/>
            <a:ext cx="120586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集成开发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16325" y="1683385"/>
            <a:ext cx="61976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s 27"/>
          <p:cNvSpPr/>
          <p:nvPr/>
        </p:nvSpPr>
        <p:spPr>
          <a:xfrm>
            <a:off x="1691005" y="4521835"/>
            <a:ext cx="1868805" cy="665480"/>
          </a:xfrm>
          <a:prstGeom prst="rect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522605" y="13125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6320790" y="173482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320790" y="3325495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3616325" y="335026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4234815" y="823595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的业务模型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232275" y="328930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的应用模型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endCxn id="2" idx="3"/>
          </p:cNvCxnSpPr>
          <p:nvPr/>
        </p:nvCxnSpPr>
        <p:spPr>
          <a:xfrm flipH="1" flipV="1">
            <a:off x="6305550" y="1066800"/>
            <a:ext cx="659130" cy="2609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 flipV="1">
            <a:off x="3616960" y="572135"/>
            <a:ext cx="615315" cy="70167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061575" y="2946400"/>
            <a:ext cx="119697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软件建模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236085" y="2867025"/>
            <a:ext cx="2070735" cy="14433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系统的基础平台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956425" y="29457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C</a:t>
            </a:r>
            <a:r>
              <a:rPr lang="zh-CN" altLang="en-US" sz="2000" b="1">
                <a:solidFill>
                  <a:schemeClr val="tx1"/>
                </a:solidFill>
              </a:rPr>
              <a:t>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36085" y="1311275"/>
            <a:ext cx="2070735" cy="1554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系统的扩展平台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642745" y="2953385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Shell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956425" y="131127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各高级语言（含协处理）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22605" y="295402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平台建模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642745" y="1311910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人类语言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0061575" y="1311275"/>
            <a:ext cx="120586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集成开发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16325" y="1683385"/>
            <a:ext cx="61976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s 27"/>
          <p:cNvSpPr/>
          <p:nvPr/>
        </p:nvSpPr>
        <p:spPr>
          <a:xfrm>
            <a:off x="1691005" y="4521835"/>
            <a:ext cx="1868805" cy="665480"/>
          </a:xfrm>
          <a:prstGeom prst="rect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522605" y="13125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6320790" y="173482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320790" y="3325495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6337935" y="3364230"/>
            <a:ext cx="625475" cy="116459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6337935" y="1951355"/>
            <a:ext cx="636270" cy="25342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6327140" y="1800860"/>
            <a:ext cx="629920" cy="113157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6327140" y="2070100"/>
            <a:ext cx="625475" cy="1218565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3616325" y="335026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3609975" y="1746885"/>
            <a:ext cx="603885" cy="121856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3609975" y="3429000"/>
            <a:ext cx="603885" cy="106743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4234815" y="823595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的业务模型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232275" y="328930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的应用模型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endCxn id="2" idx="3"/>
          </p:cNvCxnSpPr>
          <p:nvPr/>
        </p:nvCxnSpPr>
        <p:spPr>
          <a:xfrm flipH="1" flipV="1">
            <a:off x="6305550" y="1066800"/>
            <a:ext cx="659130" cy="2609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 flipV="1">
            <a:off x="3616960" y="572135"/>
            <a:ext cx="615315" cy="70167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061575" y="2946400"/>
            <a:ext cx="119697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软件建模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236085" y="2867025"/>
            <a:ext cx="2070735" cy="14433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系统的基础平台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956425" y="29457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C</a:t>
            </a:r>
            <a:r>
              <a:rPr lang="zh-CN" altLang="en-US" sz="2000" b="1">
                <a:solidFill>
                  <a:schemeClr val="tx1"/>
                </a:solidFill>
              </a:rPr>
              <a:t>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36085" y="1311275"/>
            <a:ext cx="2070735" cy="1554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系统的扩展平台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642745" y="2953385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Shell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956425" y="131127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各高级语言（含协处理）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22605" y="295402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平台建模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642745" y="1311910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人类语言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0061575" y="1311275"/>
            <a:ext cx="120586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集成开发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16325" y="1683385"/>
            <a:ext cx="61976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11900" y="6179820"/>
            <a:ext cx="644525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s 27"/>
          <p:cNvSpPr/>
          <p:nvPr/>
        </p:nvSpPr>
        <p:spPr>
          <a:xfrm>
            <a:off x="1691005" y="4521835"/>
            <a:ext cx="1868805" cy="665480"/>
          </a:xfrm>
          <a:prstGeom prst="rect">
            <a:avLst/>
          </a:prstGeom>
          <a:solidFill>
            <a:schemeClr val="bg1">
              <a:lumMod val="85000"/>
            </a:schemeClr>
          </a:solidFill>
          <a:ln w="101600">
            <a:solidFill>
              <a:schemeClr val="accent4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6337935" y="5078730"/>
            <a:ext cx="618490" cy="110109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3"/>
            <a:endCxn id="40" idx="3"/>
          </p:cNvCxnSpPr>
          <p:nvPr/>
        </p:nvCxnSpPr>
        <p:spPr>
          <a:xfrm flipH="1">
            <a:off x="11181715" y="1682750"/>
            <a:ext cx="85725" cy="4497070"/>
          </a:xfrm>
          <a:prstGeom prst="bentConnector3">
            <a:avLst>
              <a:gd name="adj1" fmla="val -277778"/>
            </a:avLst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522605" y="13125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6956425" y="5808345"/>
            <a:ext cx="3105150" cy="742950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各硬件设计语言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0061575" y="58083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模型实现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6320790" y="173482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320790" y="3325495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6337935" y="3364230"/>
            <a:ext cx="625475" cy="116459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6337935" y="1951355"/>
            <a:ext cx="636270" cy="25342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6327140" y="1800860"/>
            <a:ext cx="629920" cy="113157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6327140" y="2070100"/>
            <a:ext cx="625475" cy="1218565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3616325" y="335026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3609975" y="1746885"/>
            <a:ext cx="603885" cy="121856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3609975" y="3429000"/>
            <a:ext cx="603885" cy="106743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4234815" y="823595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的业务模型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232275" y="328930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的应用模型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endCxn id="2" idx="3"/>
          </p:cNvCxnSpPr>
          <p:nvPr/>
        </p:nvCxnSpPr>
        <p:spPr>
          <a:xfrm flipH="1" flipV="1">
            <a:off x="6305550" y="1066800"/>
            <a:ext cx="659130" cy="2609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 flipV="1">
            <a:off x="3616960" y="572135"/>
            <a:ext cx="615315" cy="70167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ectangles 5"/>
          <p:cNvSpPr/>
          <p:nvPr/>
        </p:nvSpPr>
        <p:spPr>
          <a:xfrm>
            <a:off x="6956425" y="44824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汇编语言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35" name="Rectangles 34"/>
          <p:cNvSpPr/>
          <p:nvPr/>
        </p:nvSpPr>
        <p:spPr>
          <a:xfrm>
            <a:off x="10061575" y="2946400"/>
            <a:ext cx="119697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软件建模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3" name="Rectangles 42"/>
          <p:cNvSpPr/>
          <p:nvPr/>
        </p:nvSpPr>
        <p:spPr>
          <a:xfrm>
            <a:off x="4236085" y="4311015"/>
            <a:ext cx="2070735" cy="1183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电脑的软硬接口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236085" y="2867025"/>
            <a:ext cx="2070735" cy="14433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系统的基础平台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6956425" y="294576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C</a:t>
            </a:r>
            <a:r>
              <a:rPr lang="zh-CN" altLang="en-US" sz="2000" b="1">
                <a:solidFill>
                  <a:schemeClr val="tx1"/>
                </a:solidFill>
              </a:rPr>
              <a:t>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4236085" y="1311275"/>
            <a:ext cx="2070735" cy="155448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系统的扩展平台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1642745" y="2953385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Shell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6956425" y="1311275"/>
            <a:ext cx="310515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各高级语言（含协处理）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522605" y="295402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平台建模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1642745" y="1311910"/>
            <a:ext cx="1973580" cy="74295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人类语言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0061575" y="1311275"/>
            <a:ext cx="1205865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集成开发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4230370" y="5494655"/>
            <a:ext cx="2081530" cy="105664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电脑的硬件模型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 flipH="1">
            <a:off x="3616325" y="1683385"/>
            <a:ext cx="61976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6311900" y="6179820"/>
            <a:ext cx="644525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s 27"/>
          <p:cNvSpPr/>
          <p:nvPr/>
        </p:nvSpPr>
        <p:spPr>
          <a:xfrm>
            <a:off x="1637030" y="4482465"/>
            <a:ext cx="1987550" cy="742950"/>
          </a:xfrm>
          <a:prstGeom prst="rect">
            <a:avLst/>
          </a:prstGeom>
          <a:solidFill>
            <a:schemeClr val="accent4"/>
          </a:solidFill>
          <a:ln w="158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</a:rPr>
              <a:t>UEFI Shell</a:t>
            </a:r>
            <a:endParaRPr lang="en-US" altLang="zh-CN" sz="2000" b="1">
              <a:solidFill>
                <a:schemeClr val="tx1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 flipH="1">
            <a:off x="3613785" y="4853940"/>
            <a:ext cx="622300" cy="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 flipV="1">
            <a:off x="6337935" y="5078730"/>
            <a:ext cx="618490" cy="110109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13" idx="3"/>
            <a:endCxn id="40" idx="3"/>
          </p:cNvCxnSpPr>
          <p:nvPr/>
        </p:nvCxnSpPr>
        <p:spPr>
          <a:xfrm flipH="1">
            <a:off x="11181715" y="1682750"/>
            <a:ext cx="85725" cy="4497070"/>
          </a:xfrm>
          <a:prstGeom prst="bentConnector3">
            <a:avLst>
              <a:gd name="adj1" fmla="val -277778"/>
            </a:avLst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s 32"/>
          <p:cNvSpPr/>
          <p:nvPr/>
        </p:nvSpPr>
        <p:spPr>
          <a:xfrm>
            <a:off x="52006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裸机器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4" name="Rectangles 33"/>
          <p:cNvSpPr/>
          <p:nvPr/>
        </p:nvSpPr>
        <p:spPr>
          <a:xfrm>
            <a:off x="522605" y="13125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使用建模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6" name="Rectangles 35"/>
          <p:cNvSpPr/>
          <p:nvPr/>
        </p:nvSpPr>
        <p:spPr>
          <a:xfrm>
            <a:off x="10061575" y="4483100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主接口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6956425" y="5808345"/>
            <a:ext cx="3105150" cy="742950"/>
          </a:xfrm>
          <a:prstGeom prst="rect">
            <a:avLst/>
          </a:prstGeom>
          <a:solidFill>
            <a:schemeClr val="accent4">
              <a:alpha val="50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</a:rPr>
              <a:t>各硬件设计语言</a:t>
            </a:r>
            <a:endParaRPr lang="zh-CN" altLang="en-US" sz="20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10061575" y="5808345"/>
            <a:ext cx="1120140" cy="7423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模型实现</a:t>
            </a:r>
            <a:endParaRPr lang="zh-CN" altLang="en-US" b="1">
              <a:solidFill>
                <a:schemeClr val="tx1"/>
              </a:solidFill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flipH="1">
            <a:off x="6320790" y="173482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6320790" y="3325495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317615" y="4822190"/>
            <a:ext cx="656590" cy="1143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6337935" y="3364230"/>
            <a:ext cx="625475" cy="116459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 flipV="1">
            <a:off x="6337935" y="1951355"/>
            <a:ext cx="636270" cy="25342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flipH="1" flipV="1">
            <a:off x="6327140" y="1800860"/>
            <a:ext cx="629920" cy="1131570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6327140" y="2070100"/>
            <a:ext cx="625475" cy="1218565"/>
          </a:xfrm>
          <a:prstGeom prst="straightConnector1">
            <a:avLst/>
          </a:prstGeom>
          <a:ln w="19050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H="1">
            <a:off x="3616325" y="3350260"/>
            <a:ext cx="636270" cy="0"/>
          </a:xfrm>
          <a:prstGeom prst="straightConnector1">
            <a:avLst/>
          </a:prstGeom>
          <a:ln w="25400">
            <a:solidFill>
              <a:schemeClr val="accent6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V="1">
            <a:off x="3609975" y="1746885"/>
            <a:ext cx="603885" cy="121856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3609975" y="3429000"/>
            <a:ext cx="603885" cy="106743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s 1"/>
          <p:cNvSpPr/>
          <p:nvPr/>
        </p:nvSpPr>
        <p:spPr>
          <a:xfrm>
            <a:off x="4234815" y="823595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的业务模型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4232275" y="328930"/>
            <a:ext cx="2070735" cy="48641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IT</a:t>
            </a:r>
            <a:r>
              <a:rPr lang="zh-CN" altLang="en-US" b="1">
                <a:solidFill>
                  <a:schemeClr val="tx1"/>
                </a:solidFill>
              </a:rPr>
              <a:t>的应用模型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4" name="Straight Arrow Connector 13"/>
          <p:cNvCxnSpPr>
            <a:endCxn id="2" idx="3"/>
          </p:cNvCxnSpPr>
          <p:nvPr/>
        </p:nvCxnSpPr>
        <p:spPr>
          <a:xfrm flipH="1" flipV="1">
            <a:off x="6305550" y="1066800"/>
            <a:ext cx="659130" cy="26098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7" idx="1"/>
          </p:cNvCxnSpPr>
          <p:nvPr/>
        </p:nvCxnSpPr>
        <p:spPr>
          <a:xfrm flipV="1">
            <a:off x="3616960" y="572135"/>
            <a:ext cx="615315" cy="701675"/>
          </a:xfrm>
          <a:prstGeom prst="straightConnector1">
            <a:avLst/>
          </a:prstGeom>
          <a:ln w="28575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3660140" y="1489710"/>
            <a:ext cx="561340" cy="10795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2" idx="1"/>
          </p:cNvCxnSpPr>
          <p:nvPr/>
        </p:nvCxnSpPr>
        <p:spPr>
          <a:xfrm flipV="1">
            <a:off x="3649345" y="1066800"/>
            <a:ext cx="585470" cy="44450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Box 10"/>
          <p:cNvSpPr txBox="1"/>
          <p:nvPr/>
        </p:nvSpPr>
        <p:spPr>
          <a:xfrm>
            <a:off x="1758950" y="334010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使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用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sp>
        <p:nvSpPr>
          <p:cNvPr id="17" name="Text Box 16"/>
          <p:cNvSpPr txBox="1"/>
          <p:nvPr/>
        </p:nvSpPr>
        <p:spPr>
          <a:xfrm>
            <a:off x="8009890" y="320675"/>
            <a:ext cx="1706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accent6"/>
                </a:solidFill>
              </a:rPr>
              <a:t>开</a:t>
            </a:r>
            <a:r>
              <a:rPr lang="en-US" altLang="zh-CN" sz="2800" b="1">
                <a:solidFill>
                  <a:schemeClr val="accent6"/>
                </a:solidFill>
              </a:rPr>
              <a:t> </a:t>
            </a:r>
            <a:r>
              <a:rPr lang="zh-CN" altLang="en-US" sz="2800" b="1">
                <a:solidFill>
                  <a:schemeClr val="accent6"/>
                </a:solidFill>
              </a:rPr>
              <a:t>发</a:t>
            </a:r>
            <a:endParaRPr lang="zh-CN" altLang="en-US" sz="2800" b="1">
              <a:solidFill>
                <a:schemeClr val="accent6"/>
              </a:solidFill>
            </a:endParaRPr>
          </a:p>
        </p:txBody>
      </p:sp>
      <p:cxnSp>
        <p:nvCxnSpPr>
          <p:cNvPr id="21" name="Straight Arrow Connector 20"/>
          <p:cNvCxnSpPr>
            <a:endCxn id="7" idx="3"/>
          </p:cNvCxnSpPr>
          <p:nvPr/>
        </p:nvCxnSpPr>
        <p:spPr>
          <a:xfrm flipH="1" flipV="1">
            <a:off x="6303010" y="572135"/>
            <a:ext cx="672465" cy="75565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5895" y="172085"/>
            <a:ext cx="717740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工具链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9940" y="1135380"/>
            <a:ext cx="7319645" cy="55168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程序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运行时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5895" y="172085"/>
            <a:ext cx="717740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工具链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9940" y="1135380"/>
            <a:ext cx="7319645" cy="55168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程序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运行时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5895" y="172085"/>
            <a:ext cx="717740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工具链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9940" y="1135380"/>
            <a:ext cx="7319645" cy="55168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程序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程序的编译链接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程序的加载运行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程序的环境转换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运行时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85895" y="172085"/>
            <a:ext cx="7177405" cy="873125"/>
          </a:xfrm>
        </p:spPr>
        <p:txBody>
          <a:bodyPr/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工具链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9940" y="1135380"/>
            <a:ext cx="7319645" cy="5516880"/>
          </a:xfrm>
        </p:spPr>
        <p:txBody>
          <a:bodyPr>
            <a:normAutofit/>
          </a:bodyPr>
          <a:p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我的编程语言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C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我的汇编语言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Shell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我的高级语言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我的</a:t>
            </a:r>
            <a:r>
              <a:rPr lang="en-US" altLang="zh-CN" b="1">
                <a:solidFill>
                  <a:srgbClr val="00B050"/>
                </a:solidFill>
              </a:rPr>
              <a:t>AI</a:t>
            </a:r>
            <a:r>
              <a:rPr lang="zh-CN" altLang="en-US" b="1">
                <a:solidFill>
                  <a:srgbClr val="00B050"/>
                </a:solidFill>
              </a:rPr>
              <a:t>语言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程序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程序的编译链接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程序的加载运行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程序的环境转换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运行时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运行时调试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运行时监控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运行时分析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2700" y="258445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程序员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055" y="786765"/>
            <a:ext cx="7415530" cy="6071870"/>
          </a:xfrm>
        </p:spPr>
        <p:txBody>
          <a:bodyPr>
            <a:normAutofit fontScale="90000" lnSpcReduction="20000"/>
          </a:bodyPr>
          <a:p>
            <a:r>
              <a:rPr lang="zh-CN" altLang="en-US" b="1">
                <a:solidFill>
                  <a:srgbClr val="00B050"/>
                </a:solidFill>
              </a:rPr>
              <a:t>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2700" y="258445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程序员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055" y="786765"/>
            <a:ext cx="7415530" cy="6071870"/>
          </a:xfrm>
        </p:spPr>
        <p:txBody>
          <a:bodyPr>
            <a:normAutofit fontScale="90000" lnSpcReduction="20000"/>
          </a:bodyPr>
          <a:p>
            <a:r>
              <a:rPr lang="zh-CN" altLang="en-US" b="1">
                <a:solidFill>
                  <a:srgbClr val="00B050"/>
                </a:solidFill>
              </a:rPr>
              <a:t>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35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岁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程序员看加班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程序员看学历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程序员看学习教育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程序员看招聘创业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程序员看行业产业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程序员看社会治理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程序员看代码编写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程序员看文档编写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程序员看软件工程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程序员看相互协作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2700" y="258445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程序员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055" y="786765"/>
            <a:ext cx="7415530" cy="6071870"/>
          </a:xfrm>
        </p:spPr>
        <p:txBody>
          <a:bodyPr>
            <a:normAutofit fontScale="90000" lnSpcReduction="20000"/>
          </a:bodyPr>
          <a:p>
            <a:r>
              <a:rPr lang="zh-CN" altLang="en-US" b="1">
                <a:solidFill>
                  <a:srgbClr val="00B050"/>
                </a:solidFill>
              </a:rPr>
              <a:t>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35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岁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程序员看加班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程序员看学历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程序员看学习教育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程序员看招聘创业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程序员看行业产业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程序员看社会治理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程序员看代码编写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程序员看文档编写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程序员看软件工程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程序员看相互协作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程序员的核心属性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程序员的四维时空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程序员的</a:t>
            </a:r>
            <a:r>
              <a:rPr lang="zh-CN" altLang="en-US" b="1">
                <a:solidFill>
                  <a:srgbClr val="00B050"/>
                </a:solidFill>
              </a:rPr>
              <a:t>概要设计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程序员的</a:t>
            </a:r>
            <a:r>
              <a:rPr lang="zh-CN" altLang="en-US" b="1">
                <a:solidFill>
                  <a:srgbClr val="00B050"/>
                </a:solidFill>
              </a:rPr>
              <a:t>编码实现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程序员的</a:t>
            </a:r>
            <a:r>
              <a:rPr lang="zh-CN" altLang="en-US" b="1">
                <a:solidFill>
                  <a:srgbClr val="00B050"/>
                </a:solidFill>
              </a:rPr>
              <a:t>调试测试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  <a:sym typeface="+mn-ea"/>
              </a:rPr>
              <a:t> 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en-US" altLang="zh-CN" b="1">
                <a:solidFill>
                  <a:srgbClr val="00B050"/>
                </a:solidFill>
              </a:rPr>
              <a:t> </a:t>
            </a:r>
            <a:endParaRPr lang="en-US" altLang="zh-CN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2700" y="258445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地图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程序员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055" y="786765"/>
            <a:ext cx="7415530" cy="6071870"/>
          </a:xfrm>
        </p:spPr>
        <p:txBody>
          <a:bodyPr>
            <a:normAutofit fontScale="90000" lnSpcReduction="20000"/>
          </a:bodyPr>
          <a:p>
            <a:r>
              <a:rPr lang="zh-CN" altLang="en-US" b="1">
                <a:solidFill>
                  <a:srgbClr val="00B050"/>
                </a:solidFill>
              </a:rPr>
              <a:t>看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35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岁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AI</a:t>
            </a:r>
            <a:endParaRPr lang="en-US" altLang="zh-CN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程序员看加班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程序员看学历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程序员看学习教育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程序员看招聘创业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程序员看行业产业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程序员看社会治理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程序员看代码编写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程序员看文档编写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程序员看软件工程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程序员看相互协作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的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程序员的核心属性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程序员的四维时空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程序员的</a:t>
            </a:r>
            <a:r>
              <a:rPr lang="zh-CN" altLang="en-US" b="1">
                <a:solidFill>
                  <a:srgbClr val="00B050"/>
                </a:solidFill>
              </a:rPr>
              <a:t>概要设计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程序员的</a:t>
            </a:r>
            <a:r>
              <a:rPr lang="zh-CN" altLang="en-US" b="1">
                <a:solidFill>
                  <a:srgbClr val="00B050"/>
                </a:solidFill>
              </a:rPr>
              <a:t>编码实现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程序员的</a:t>
            </a:r>
            <a:r>
              <a:rPr lang="zh-CN" altLang="en-US" b="1">
                <a:solidFill>
                  <a:srgbClr val="00B050"/>
                </a:solidFill>
              </a:rPr>
              <a:t>调试测试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与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程序员与架构师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程序员与黑客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程序员与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岗位职责</a:t>
            </a:r>
            <a:endParaRPr lang="zh-CN" altLang="en-US" b="1">
              <a:solidFill>
                <a:srgbClr val="00B050"/>
              </a:solidFill>
              <a:sym typeface="+mn-ea"/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  <a:sym typeface="+mn-ea"/>
              </a:rPr>
              <a:t>程序员与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职业规划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710" y="161290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导航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提纲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065" y="657860"/>
            <a:ext cx="7415530" cy="6200775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个人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sz="1600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en-US" altLang="zh-CN" b="1">
              <a:solidFill>
                <a:srgbClr val="00B050"/>
              </a:solidFill>
            </a:endParaRPr>
          </a:p>
          <a:p>
            <a:pPr lvl="2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企业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社会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710" y="161290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导航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提纲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065" y="657860"/>
            <a:ext cx="7415530" cy="6200775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个人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面向研发：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学习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：学习软件编程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学习架构设计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学习黑客技能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理解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：理解操作系统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理解全栈开发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理解软件工程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价值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发展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教育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面向产品：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了解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：了解软件编程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了解操作系统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了解全栈开发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：关注架构设计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关注业务领域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关注软件工程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把握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：把握产品价值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把握产品发展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把握产品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面向销售：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理解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理解软件编程/理解黑客技能/理解架构设计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把握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把握具体需求/把握业务领域/把握软件工程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关注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：关注项目价值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关注项目发展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关注项目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企业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社会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710" y="161290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导航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提纲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065" y="657860"/>
            <a:ext cx="7415530" cy="6200775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个人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面向研发：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学习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：学习软件编程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学习架构设计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学习黑客技能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理解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：理解操作系统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理解全栈开发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理解软件工程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价值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发展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教育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面向产品：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了解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：了解软件编程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了解操作系统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了解全栈开发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：关注架构设计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关注业务领域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关注软件工程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把握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：把握产品价值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把握产品发展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把握产品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面向销售：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理解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理解软件编程/理解黑客技能/理解架构设计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把握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把握具体需求/把握业务领域/把握软件工程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关注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：关注项目价值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关注项目发展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关注项目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企业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能力建设：研发管理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销售管理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运营保障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价值传递：短期渠道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长期品牌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政策对接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投资运作：短期资金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长期投资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价值模式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社会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  <a:p>
            <a:pPr lvl="1"/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5710" y="161290"/>
            <a:ext cx="7340600" cy="367030"/>
          </a:xfrm>
        </p:spPr>
        <p:txBody>
          <a:bodyPr>
            <a:normAutofit fontScale="90000"/>
          </a:bodyPr>
          <a:p>
            <a:r>
              <a:rPr lang="en-US" altLang="zh-CN">
                <a:solidFill>
                  <a:srgbClr val="00B050"/>
                </a:solidFill>
              </a:rPr>
              <a:t>IT</a:t>
            </a:r>
            <a:r>
              <a:rPr lang="zh-CN" altLang="en-US">
                <a:solidFill>
                  <a:srgbClr val="00B050"/>
                </a:solidFill>
              </a:rPr>
              <a:t>导航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提纲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7065" y="657860"/>
            <a:ext cx="7415530" cy="6200775"/>
          </a:xfrm>
        </p:spPr>
        <p:txBody>
          <a:bodyPr>
            <a:normAutofit lnSpcReduction="10000"/>
          </a:bodyPr>
          <a:p>
            <a:r>
              <a:rPr lang="zh-CN" altLang="en-US" b="1">
                <a:solidFill>
                  <a:srgbClr val="00B050"/>
                </a:solidFill>
              </a:rPr>
              <a:t>个人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面向研发：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学习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：学习软件编程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学习架构设计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学习黑客技能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理解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：理解操作系统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理解全栈开发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理解软件工程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价值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发展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教育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面向产品：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了解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：了解软件编程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了解操作系统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了解全栈开发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关注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：关注架构设计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关注业务领域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关注软件工程</a:t>
            </a:r>
            <a:endParaRPr lang="zh-CN" altLang="en-US" sz="1600" b="1">
              <a:solidFill>
                <a:srgbClr val="00B050"/>
              </a:solidFill>
            </a:endParaRPr>
          </a:p>
          <a:p>
            <a:pPr lvl="2"/>
            <a:r>
              <a:rPr lang="zh-CN" altLang="en-US" sz="1600" b="1">
                <a:solidFill>
                  <a:srgbClr val="00B050"/>
                </a:solidFill>
              </a:rPr>
              <a:t>把握</a:t>
            </a:r>
            <a:r>
              <a:rPr lang="en-US" altLang="zh-CN" sz="1600" b="1">
                <a:solidFill>
                  <a:srgbClr val="00B050"/>
                </a:solidFill>
              </a:rPr>
              <a:t>XXX</a:t>
            </a:r>
            <a:r>
              <a:rPr lang="zh-CN" altLang="en-US" sz="1600" b="1">
                <a:solidFill>
                  <a:srgbClr val="00B050"/>
                </a:solidFill>
              </a:rPr>
              <a:t>：把握产品价值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把握产品发展</a:t>
            </a:r>
            <a:r>
              <a:rPr lang="en-US" altLang="zh-CN" sz="1600" b="1">
                <a:solidFill>
                  <a:srgbClr val="00B050"/>
                </a:solidFill>
              </a:rPr>
              <a:t>/</a:t>
            </a:r>
            <a:r>
              <a:rPr lang="zh-CN" altLang="en-US" sz="1600" b="1">
                <a:solidFill>
                  <a:srgbClr val="00B050"/>
                </a:solidFill>
              </a:rPr>
              <a:t>把握产品</a:t>
            </a:r>
            <a:r>
              <a:rPr lang="en-US" altLang="zh-CN" sz="1600" b="1">
                <a:solidFill>
                  <a:srgbClr val="00B050"/>
                </a:solidFill>
              </a:rPr>
              <a:t>IT</a:t>
            </a:r>
            <a:r>
              <a:rPr lang="zh-CN" altLang="en-US" sz="1600" b="1">
                <a:solidFill>
                  <a:srgbClr val="00B050"/>
                </a:solidFill>
              </a:rPr>
              <a:t>化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面向销售：</a:t>
            </a:r>
            <a:endParaRPr lang="zh-CN" altLang="en-US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理解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理解软件编程/理解黑客技能/理解架构设计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把握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</a:t>
            </a:r>
            <a:r>
              <a:rPr lang="en-US" altLang="zh-CN" b="1">
                <a:solidFill>
                  <a:srgbClr val="00B050"/>
                </a:solidFill>
              </a:rPr>
              <a:t>把握具体需求/把握业务领域/把握软件工程</a:t>
            </a:r>
            <a:endParaRPr lang="en-US" altLang="zh-CN" b="1">
              <a:solidFill>
                <a:srgbClr val="00B050"/>
              </a:solidFill>
            </a:endParaRPr>
          </a:p>
          <a:p>
            <a:pPr lvl="2"/>
            <a:r>
              <a:rPr lang="zh-CN" altLang="en-US" b="1">
                <a:solidFill>
                  <a:srgbClr val="00B050"/>
                </a:solidFill>
              </a:rPr>
              <a:t>关注</a:t>
            </a:r>
            <a:r>
              <a:rPr lang="en-US" altLang="zh-CN" b="1">
                <a:solidFill>
                  <a:srgbClr val="00B050"/>
                </a:solidFill>
              </a:rPr>
              <a:t>XXX</a:t>
            </a:r>
            <a:r>
              <a:rPr lang="zh-CN" altLang="en-US" b="1">
                <a:solidFill>
                  <a:srgbClr val="00B050"/>
                </a:solidFill>
              </a:rPr>
              <a:t>：关注项目价值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关注项目发展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关注项目</a:t>
            </a:r>
            <a:r>
              <a:rPr lang="en-US" altLang="zh-CN" b="1">
                <a:solidFill>
                  <a:srgbClr val="00B050"/>
                </a:solidFill>
              </a:rPr>
              <a:t>IT</a:t>
            </a:r>
            <a:r>
              <a:rPr lang="zh-CN" altLang="en-US" b="1">
                <a:solidFill>
                  <a:srgbClr val="00B050"/>
                </a:solidFill>
              </a:rPr>
              <a:t>化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企业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能力建设：研发管理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销售管理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运营保障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价值传递：短期渠道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长期品牌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政策对接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投资运作：短期资金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长期投资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价值模式</a:t>
            </a:r>
            <a:endParaRPr lang="zh-CN" altLang="en-US" b="1">
              <a:solidFill>
                <a:srgbClr val="00B050"/>
              </a:solidFill>
            </a:endParaRPr>
          </a:p>
          <a:p>
            <a:r>
              <a:rPr lang="zh-CN" altLang="en-US" b="1">
                <a:solidFill>
                  <a:srgbClr val="00B050"/>
                </a:solidFill>
              </a:rPr>
              <a:t>社会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生产：个人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企业</a:t>
            </a:r>
            <a:r>
              <a:rPr lang="en-US" altLang="zh-CN" b="1">
                <a:solidFill>
                  <a:srgbClr val="00B050"/>
                </a:solidFill>
              </a:rPr>
              <a:t>/</a:t>
            </a:r>
            <a:r>
              <a:rPr lang="zh-CN" altLang="en-US" b="1">
                <a:solidFill>
                  <a:srgbClr val="00B050"/>
                </a:solidFill>
              </a:rPr>
              <a:t>公共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消费：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企业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公共</a:t>
            </a:r>
            <a:endParaRPr lang="zh-CN" altLang="en-US" b="1">
              <a:solidFill>
                <a:srgbClr val="00B050"/>
              </a:solidFill>
            </a:endParaRPr>
          </a:p>
          <a:p>
            <a:pPr lvl="1"/>
            <a:r>
              <a:rPr lang="zh-CN" altLang="en-US" b="1">
                <a:solidFill>
                  <a:srgbClr val="00B050"/>
                </a:solidFill>
              </a:rPr>
              <a:t>投资：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个人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企业</a:t>
            </a:r>
            <a:r>
              <a:rPr lang="en-US" altLang="zh-CN" b="1">
                <a:solidFill>
                  <a:srgbClr val="00B050"/>
                </a:solidFill>
                <a:sym typeface="+mn-ea"/>
              </a:rPr>
              <a:t>/</a:t>
            </a:r>
            <a:r>
              <a:rPr lang="zh-CN" altLang="en-US" b="1">
                <a:solidFill>
                  <a:srgbClr val="00B050"/>
                </a:solidFill>
                <a:sym typeface="+mn-ea"/>
              </a:rPr>
              <a:t>公共</a:t>
            </a:r>
            <a:endParaRPr lang="zh-CN" altLang="en-US" b="1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WPS Presentation</Application>
  <PresentationFormat>宽屏</PresentationFormat>
  <Paragraphs>592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宋体</vt:lpstr>
      <vt:lpstr>Wingdings</vt:lpstr>
      <vt:lpstr>DejaVu Sans</vt:lpstr>
      <vt:lpstr>Arial Black</vt:lpstr>
      <vt:lpstr>Droid Sans Fallback</vt:lpstr>
      <vt:lpstr>微软雅黑</vt:lpstr>
      <vt:lpstr>宋体</vt:lpstr>
      <vt:lpstr>Arial Unicode MS</vt:lpstr>
      <vt:lpstr>OpenSymbol</vt:lpstr>
      <vt:lpstr>Office Theme</vt:lpstr>
      <vt:lpstr>IT地图</vt:lpstr>
      <vt:lpstr>IT地图-计算机</vt:lpstr>
      <vt:lpstr>IT地图-计算机</vt:lpstr>
      <vt:lpstr>IT地图-计算机</vt:lpstr>
      <vt:lpstr>IT地图-计算机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IT地图-工具链</vt:lpstr>
      <vt:lpstr>IT地图-工具链</vt:lpstr>
      <vt:lpstr>IT地图-工具链</vt:lpstr>
      <vt:lpstr>IT地图-工具链</vt:lpstr>
      <vt:lpstr>IT地图-程序员</vt:lpstr>
      <vt:lpstr>IT地图-程序员</vt:lpstr>
      <vt:lpstr>IT地图-程序员</vt:lpstr>
      <vt:lpstr>IT地图-程序员</vt:lpstr>
      <vt:lpstr>IT导航-提纲</vt:lpstr>
      <vt:lpstr>IT导航-提纲</vt:lpstr>
      <vt:lpstr>IT导航-提纲</vt:lpstr>
      <vt:lpstr>IT导航-提纲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290</cp:revision>
  <dcterms:created xsi:type="dcterms:W3CDTF">2025-12-27T09:42:11Z</dcterms:created>
  <dcterms:modified xsi:type="dcterms:W3CDTF">2025-12-27T09:42:11Z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