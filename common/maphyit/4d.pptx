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13" r:id="rId3"/>
    <p:sldId id="442" r:id="rId4"/>
    <p:sldId id="441" r:id="rId5"/>
    <p:sldId id="406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3060" y="129540"/>
            <a:ext cx="3865880" cy="582295"/>
          </a:xfrm>
        </p:spPr>
        <p:txBody>
          <a:bodyPr/>
          <a:p>
            <a:pPr algn="ctr"/>
            <a:r>
              <a:rPr lang="zh-CN" altLang="en-US">
                <a:solidFill>
                  <a:srgbClr val="00B050"/>
                </a:solidFill>
              </a:rPr>
              <a:t>理解数理</a:t>
            </a:r>
            <a:r>
              <a:rPr lang="en-US" altLang="zh-CN">
                <a:solidFill>
                  <a:srgbClr val="00B050"/>
                </a:solidFill>
              </a:rPr>
              <a:t>IT-</a:t>
            </a:r>
            <a:r>
              <a:rPr lang="zh-CN" altLang="en-US">
                <a:solidFill>
                  <a:srgbClr val="00B050"/>
                </a:solidFill>
              </a:rPr>
              <a:t>感知四维空间</a:t>
            </a:r>
            <a:endParaRPr lang="zh-CN" altLang="en-US">
              <a:solidFill>
                <a:srgbClr val="00B05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60705" y="4880610"/>
            <a:ext cx="4191000" cy="215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V="1">
            <a:off x="2591435" y="2969260"/>
            <a:ext cx="0" cy="3790315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435735" y="3951605"/>
            <a:ext cx="2063115" cy="21170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845945" y="4437380"/>
            <a:ext cx="118745" cy="1079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901190" y="4710430"/>
            <a:ext cx="9525" cy="115252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10715" y="3238500"/>
            <a:ext cx="10795" cy="10045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4805" y="4491355"/>
            <a:ext cx="1252855" cy="107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213610" y="4502150"/>
            <a:ext cx="1309370" cy="254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895985" y="4621530"/>
            <a:ext cx="842645" cy="85280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081530" y="3877945"/>
            <a:ext cx="455930" cy="4298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95935" y="3994785"/>
            <a:ext cx="1144905" cy="3949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381760" y="4581525"/>
            <a:ext cx="299720" cy="16954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153920" y="3832860"/>
            <a:ext cx="1117600" cy="54102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167255" y="4596765"/>
            <a:ext cx="478155" cy="1327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887970" y="4888865"/>
            <a:ext cx="4191000" cy="215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9918700" y="2977515"/>
            <a:ext cx="0" cy="3790315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8763000" y="3959860"/>
            <a:ext cx="2063115" cy="21170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73210" y="4445635"/>
            <a:ext cx="118745" cy="1079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243060" y="4740275"/>
            <a:ext cx="10795" cy="12630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9221470" y="3076575"/>
            <a:ext cx="10795" cy="117729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7785100" y="4480560"/>
            <a:ext cx="1123315" cy="107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9578340" y="4469765"/>
            <a:ext cx="1155065" cy="3238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8108950" y="4718685"/>
            <a:ext cx="929005" cy="85280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9383395" y="3908425"/>
            <a:ext cx="497205" cy="45339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763510" y="3973195"/>
            <a:ext cx="1177290" cy="3994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8638540" y="4588510"/>
            <a:ext cx="323850" cy="16256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523730" y="3832860"/>
            <a:ext cx="1069340" cy="55054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480550" y="4588510"/>
            <a:ext cx="540385" cy="1409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3" name="Title 1"/>
          <p:cNvSpPr>
            <a:spLocks noGrp="1"/>
          </p:cNvSpPr>
          <p:nvPr/>
        </p:nvSpPr>
        <p:spPr>
          <a:xfrm>
            <a:off x="2959100" y="698500"/>
            <a:ext cx="6863715" cy="26587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>
                <a:solidFill>
                  <a:srgbClr val="00B050"/>
                </a:solidFill>
              </a:rPr>
              <a:t>单点建模：</a:t>
            </a:r>
            <a:endParaRPr lang="zh-CN" altLang="en-US" sz="1800">
              <a:solidFill>
                <a:srgbClr val="00B050"/>
              </a:solidFill>
            </a:endParaRPr>
          </a:p>
          <a:p>
            <a:endParaRPr lang="zh-CN" altLang="en-US" sz="800">
              <a:solidFill>
                <a:srgbClr val="00B050"/>
              </a:solidFill>
            </a:endParaRPr>
          </a:p>
          <a:p>
            <a:r>
              <a:rPr lang="en-US" altLang="zh-CN" sz="1600">
                <a:solidFill>
                  <a:schemeClr val="accent4"/>
                </a:solidFill>
              </a:rPr>
              <a:t>       </a:t>
            </a:r>
            <a:r>
              <a:rPr lang="zh-CN" altLang="en-US" sz="1600">
                <a:solidFill>
                  <a:schemeClr val="accent4"/>
                </a:solidFill>
              </a:rPr>
              <a:t>方向</a:t>
            </a:r>
            <a:r>
              <a:rPr lang="en-US" altLang="zh-CN" sz="1600">
                <a:solidFill>
                  <a:schemeClr val="accent4"/>
                </a:solidFill>
              </a:rPr>
              <a:t>/</a:t>
            </a:r>
            <a:r>
              <a:rPr lang="zh-CN" altLang="en-US" sz="1600">
                <a:solidFill>
                  <a:schemeClr val="accent4"/>
                </a:solidFill>
              </a:rPr>
              <a:t>向内向外：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真实方向，</a:t>
            </a:r>
            <a:r>
              <a:rPr lang="zh-CN" altLang="en-US" sz="1600">
                <a:solidFill>
                  <a:schemeClr val="accent4"/>
                </a:solidFill>
              </a:rPr>
              <a:t>正交另外三维，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三维平移旋转无影响</a:t>
            </a:r>
            <a:endParaRPr lang="zh-CN" altLang="en-US" sz="1600">
              <a:solidFill>
                <a:schemeClr val="accent4"/>
              </a:solidFill>
              <a:sym typeface="+mn-ea"/>
            </a:endParaRPr>
          </a:p>
          <a:p>
            <a:endParaRPr lang="zh-CN" altLang="en-US" sz="800">
              <a:solidFill>
                <a:schemeClr val="accent4"/>
              </a:solidFill>
            </a:endParaRPr>
          </a:p>
          <a:p>
            <a:r>
              <a:rPr lang="en-US" altLang="zh-CN" sz="1600">
                <a:solidFill>
                  <a:schemeClr val="accent4"/>
                </a:solidFill>
              </a:rPr>
              <a:t>       </a:t>
            </a:r>
            <a:r>
              <a:rPr lang="zh-CN" altLang="en-US" sz="1600">
                <a:solidFill>
                  <a:schemeClr val="accent4"/>
                </a:solidFill>
              </a:rPr>
              <a:t>大小</a:t>
            </a:r>
            <a:r>
              <a:rPr lang="en-US" altLang="zh-CN" sz="1600">
                <a:solidFill>
                  <a:schemeClr val="accent4"/>
                </a:solidFill>
              </a:rPr>
              <a:t>/</a:t>
            </a:r>
            <a:r>
              <a:rPr lang="zh-CN" altLang="en-US" sz="1600">
                <a:solidFill>
                  <a:schemeClr val="accent4"/>
                </a:solidFill>
              </a:rPr>
              <a:t>收张效果：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线性叠加，真实</a:t>
            </a:r>
            <a:r>
              <a:rPr lang="zh-CN" altLang="en-US" sz="1600">
                <a:solidFill>
                  <a:schemeClr val="accent4"/>
                </a:solidFill>
              </a:rPr>
              <a:t>空间度量，三维平移旋转无影响</a:t>
            </a:r>
            <a:endParaRPr lang="zh-CN" altLang="en-US" sz="1600">
              <a:solidFill>
                <a:schemeClr val="accent4"/>
              </a:solidFill>
            </a:endParaRPr>
          </a:p>
          <a:p>
            <a:endParaRPr lang="zh-CN" altLang="en-US" sz="800">
              <a:solidFill>
                <a:schemeClr val="accent4"/>
              </a:solidFill>
            </a:endParaRPr>
          </a:p>
          <a:p>
            <a:r>
              <a:rPr lang="en-US" altLang="zh-CN" sz="1600">
                <a:solidFill>
                  <a:schemeClr val="accent4"/>
                </a:solidFill>
              </a:rPr>
              <a:t>       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示例</a:t>
            </a:r>
            <a:r>
              <a:rPr lang="en-US" altLang="zh-CN" sz="1600">
                <a:solidFill>
                  <a:schemeClr val="accent4"/>
                </a:solidFill>
                <a:sym typeface="+mn-ea"/>
              </a:rPr>
              <a:t>/</a:t>
            </a:r>
            <a:r>
              <a:rPr lang="zh-CN" altLang="en-US" sz="1600">
                <a:solidFill>
                  <a:schemeClr val="accent4"/>
                </a:solidFill>
              </a:rPr>
              <a:t>经典虚拟：</a:t>
            </a:r>
            <a:endParaRPr lang="zh-CN" altLang="en-US" sz="1600">
              <a:solidFill>
                <a:schemeClr val="accent4"/>
              </a:solidFill>
            </a:endParaRPr>
          </a:p>
          <a:p>
            <a:endParaRPr lang="zh-CN" altLang="en-US" sz="800">
              <a:solidFill>
                <a:schemeClr val="accent4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	</a:t>
            </a:r>
            <a:r>
              <a:rPr lang="zh-CN" altLang="en-US" sz="1400">
                <a:solidFill>
                  <a:schemeClr val="bg1"/>
                </a:solidFill>
              </a:rPr>
              <a:t>经典</a:t>
            </a:r>
            <a:r>
              <a:rPr lang="en-US" altLang="zh-CN" sz="1400">
                <a:solidFill>
                  <a:schemeClr val="bg1"/>
                </a:solidFill>
              </a:rPr>
              <a:t>/</a:t>
            </a:r>
            <a:r>
              <a:rPr lang="zh-CN" altLang="en-US" sz="1400">
                <a:solidFill>
                  <a:schemeClr val="bg1"/>
                </a:solidFill>
              </a:rPr>
              <a:t>三维弯曲：质点牛顿引力场，正负电荷库仑场，积分通量成常量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	</a:t>
            </a:r>
            <a:r>
              <a:rPr lang="zh-CN" altLang="en-US" sz="1400">
                <a:solidFill>
                  <a:schemeClr val="bg1"/>
                </a:solidFill>
              </a:rPr>
              <a:t>虚拟</a:t>
            </a:r>
            <a:r>
              <a:rPr lang="en-US" altLang="zh-CN" sz="1400">
                <a:solidFill>
                  <a:schemeClr val="bg1"/>
                </a:solidFill>
              </a:rPr>
              <a:t>/</a:t>
            </a:r>
            <a:r>
              <a:rPr lang="zh-CN" altLang="en-US" sz="1400">
                <a:solidFill>
                  <a:schemeClr val="bg1"/>
                </a:solidFill>
              </a:rPr>
              <a:t>人脑感知：坐标不变点运动，收张效果同步变，相对运动当变换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	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背景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四维变换：经典无法含四维，虚拟可以含四维，时空分离框三维</a:t>
            </a:r>
            <a:endParaRPr lang="zh-CN" altLang="en-US" sz="800">
              <a:solidFill>
                <a:schemeClr val="bg1"/>
              </a:solidFill>
            </a:endParaRPr>
          </a:p>
          <a:p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rgbClr val="00B050"/>
                </a:solidFill>
              </a:rPr>
              <a:t>叠线面体：点叠加线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叠加面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叠加体，含人脑自我安慰盲点</a:t>
            </a:r>
            <a:endParaRPr lang="zh-CN" altLang="en-US" sz="1800">
              <a:solidFill>
                <a:srgbClr val="00B050"/>
              </a:solidFill>
            </a:endParaRPr>
          </a:p>
          <a:p>
            <a:endParaRPr lang="zh-CN" altLang="en-US" sz="800">
              <a:solidFill>
                <a:srgbClr val="00B050"/>
              </a:solidFill>
            </a:endParaRPr>
          </a:p>
          <a:p>
            <a:r>
              <a:rPr lang="zh-CN" altLang="en-US" sz="1800">
                <a:solidFill>
                  <a:srgbClr val="00B050"/>
                </a:solidFill>
              </a:rPr>
              <a:t>感知原理：眼脑合成，二维</a:t>
            </a:r>
            <a:r>
              <a:rPr lang="en-US" altLang="zh-CN" sz="1800">
                <a:solidFill>
                  <a:srgbClr val="00B050"/>
                </a:solidFill>
              </a:rPr>
              <a:t>+</a:t>
            </a:r>
            <a:r>
              <a:rPr lang="zh-CN" altLang="en-US" sz="1800">
                <a:solidFill>
                  <a:srgbClr val="00B050"/>
                </a:solidFill>
              </a:rPr>
              <a:t>横向叠加三维</a:t>
            </a:r>
            <a:r>
              <a:rPr lang="en-US" altLang="zh-CN" sz="1800">
                <a:solidFill>
                  <a:srgbClr val="00B050"/>
                </a:solidFill>
              </a:rPr>
              <a:t>+</a:t>
            </a:r>
            <a:r>
              <a:rPr lang="zh-CN" altLang="en-US" sz="1800">
                <a:solidFill>
                  <a:srgbClr val="00B050"/>
                </a:solidFill>
              </a:rPr>
              <a:t>纵向统计四维</a:t>
            </a:r>
            <a:endParaRPr lang="zh-CN" altLang="en-US" sz="18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3060" y="129540"/>
            <a:ext cx="3865880" cy="582295"/>
          </a:xfrm>
        </p:spPr>
        <p:txBody>
          <a:bodyPr/>
          <a:p>
            <a:pPr algn="ctr"/>
            <a:r>
              <a:rPr lang="zh-CN" altLang="en-US">
                <a:solidFill>
                  <a:srgbClr val="00B050"/>
                </a:solidFill>
              </a:rPr>
              <a:t>理解数理</a:t>
            </a:r>
            <a:r>
              <a:rPr lang="en-US" altLang="zh-CN">
                <a:solidFill>
                  <a:srgbClr val="00B050"/>
                </a:solidFill>
              </a:rPr>
              <a:t>IT-</a:t>
            </a:r>
            <a:r>
              <a:rPr lang="zh-CN" altLang="en-US">
                <a:solidFill>
                  <a:srgbClr val="00B050"/>
                </a:solidFill>
              </a:rPr>
              <a:t>感知四维空间</a:t>
            </a:r>
            <a:endParaRPr lang="zh-CN" altLang="en-US">
              <a:solidFill>
                <a:srgbClr val="00B05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60705" y="4880610"/>
            <a:ext cx="4191000" cy="215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V="1">
            <a:off x="2591435" y="2969260"/>
            <a:ext cx="0" cy="3790315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435735" y="3951605"/>
            <a:ext cx="2063115" cy="21170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845945" y="4437380"/>
            <a:ext cx="118745" cy="1079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901190" y="4710430"/>
            <a:ext cx="9525" cy="115252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910715" y="3238500"/>
            <a:ext cx="10795" cy="10045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4805" y="4491355"/>
            <a:ext cx="1252855" cy="107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213610" y="4502150"/>
            <a:ext cx="1309370" cy="254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895985" y="4621530"/>
            <a:ext cx="842645" cy="85280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081530" y="3877945"/>
            <a:ext cx="455930" cy="4298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95935" y="3994785"/>
            <a:ext cx="1144905" cy="3949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424940" y="4538345"/>
            <a:ext cx="299720" cy="16954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153920" y="3832860"/>
            <a:ext cx="1117600" cy="54102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167255" y="4596765"/>
            <a:ext cx="478155" cy="1327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887970" y="4888865"/>
            <a:ext cx="4191000" cy="215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9918700" y="2977515"/>
            <a:ext cx="0" cy="3790315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8763000" y="3959860"/>
            <a:ext cx="2063115" cy="21170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73210" y="4445635"/>
            <a:ext cx="118745" cy="1079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243060" y="4740275"/>
            <a:ext cx="10795" cy="12630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9221470" y="3076575"/>
            <a:ext cx="10795" cy="117729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7785100" y="4480560"/>
            <a:ext cx="1123315" cy="107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9578340" y="4469765"/>
            <a:ext cx="1155065" cy="3238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8108950" y="4718685"/>
            <a:ext cx="929005" cy="85280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9383395" y="3908425"/>
            <a:ext cx="497205" cy="45339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763510" y="3973195"/>
            <a:ext cx="1177290" cy="3994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8638540" y="4588510"/>
            <a:ext cx="323850" cy="16256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9523730" y="3832860"/>
            <a:ext cx="1069340" cy="55054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9480550" y="4588510"/>
            <a:ext cx="540385" cy="1409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3" name="Title 1"/>
          <p:cNvSpPr>
            <a:spLocks noGrp="1"/>
          </p:cNvSpPr>
          <p:nvPr/>
        </p:nvSpPr>
        <p:spPr>
          <a:xfrm>
            <a:off x="2959100" y="698500"/>
            <a:ext cx="6863715" cy="265874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>
                <a:solidFill>
                  <a:srgbClr val="00B050"/>
                </a:solidFill>
              </a:rPr>
              <a:t>单点建模：位置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方向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大小，平移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旋转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组合操作</a:t>
            </a:r>
            <a:endParaRPr lang="zh-CN" altLang="en-US" sz="1800">
              <a:solidFill>
                <a:srgbClr val="00B050"/>
              </a:solidFill>
            </a:endParaRPr>
          </a:p>
          <a:p>
            <a:endParaRPr lang="zh-CN" altLang="en-US" sz="800">
              <a:solidFill>
                <a:srgbClr val="00B050"/>
              </a:solidFill>
            </a:endParaRPr>
          </a:p>
          <a:p>
            <a:r>
              <a:rPr lang="en-US" altLang="zh-CN" sz="1600">
                <a:solidFill>
                  <a:schemeClr val="accent4"/>
                </a:solidFill>
              </a:rPr>
              <a:t>       </a:t>
            </a:r>
            <a:r>
              <a:rPr lang="zh-CN" altLang="en-US" sz="1600">
                <a:solidFill>
                  <a:schemeClr val="accent4"/>
                </a:solidFill>
              </a:rPr>
              <a:t>方向</a:t>
            </a:r>
            <a:r>
              <a:rPr lang="en-US" altLang="zh-CN" sz="1600">
                <a:solidFill>
                  <a:schemeClr val="accent4"/>
                </a:solidFill>
              </a:rPr>
              <a:t>/</a:t>
            </a:r>
            <a:r>
              <a:rPr lang="zh-CN" altLang="en-US" sz="1600">
                <a:solidFill>
                  <a:schemeClr val="accent4"/>
                </a:solidFill>
              </a:rPr>
              <a:t>向内向外：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真实方向，</a:t>
            </a:r>
            <a:r>
              <a:rPr lang="zh-CN" altLang="en-US" sz="1600">
                <a:solidFill>
                  <a:schemeClr val="accent4"/>
                </a:solidFill>
              </a:rPr>
              <a:t>正交另外三维度，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三维平移旋转无影响</a:t>
            </a:r>
            <a:endParaRPr lang="zh-CN" altLang="en-US" sz="1600">
              <a:solidFill>
                <a:schemeClr val="accent4"/>
              </a:solidFill>
              <a:sym typeface="+mn-ea"/>
            </a:endParaRPr>
          </a:p>
          <a:p>
            <a:endParaRPr lang="zh-CN" altLang="en-US" sz="800">
              <a:solidFill>
                <a:schemeClr val="accent4"/>
              </a:solidFill>
            </a:endParaRPr>
          </a:p>
          <a:p>
            <a:r>
              <a:rPr lang="en-US" altLang="zh-CN" sz="1600">
                <a:solidFill>
                  <a:schemeClr val="accent4"/>
                </a:solidFill>
              </a:rPr>
              <a:t>       </a:t>
            </a:r>
            <a:r>
              <a:rPr lang="zh-CN" altLang="en-US" sz="1600">
                <a:solidFill>
                  <a:schemeClr val="accent4"/>
                </a:solidFill>
              </a:rPr>
              <a:t>大小</a:t>
            </a:r>
            <a:r>
              <a:rPr lang="en-US" altLang="zh-CN" sz="1600">
                <a:solidFill>
                  <a:schemeClr val="accent4"/>
                </a:solidFill>
              </a:rPr>
              <a:t>/</a:t>
            </a:r>
            <a:r>
              <a:rPr lang="zh-CN" altLang="en-US" sz="1600">
                <a:solidFill>
                  <a:schemeClr val="accent4"/>
                </a:solidFill>
              </a:rPr>
              <a:t>收张效果：</a:t>
            </a:r>
            <a:r>
              <a:rPr lang="zh-CN" altLang="en-US" sz="1600">
                <a:solidFill>
                  <a:schemeClr val="accent4"/>
                </a:solidFill>
                <a:sym typeface="+mn-ea"/>
              </a:rPr>
              <a:t>线性叠加，真实</a:t>
            </a:r>
            <a:r>
              <a:rPr lang="zh-CN" altLang="en-US" sz="1600">
                <a:solidFill>
                  <a:schemeClr val="accent4"/>
                </a:solidFill>
              </a:rPr>
              <a:t>空间物理量，三维平移旋转无影响</a:t>
            </a:r>
            <a:endParaRPr lang="zh-CN" altLang="en-US" sz="1600">
              <a:solidFill>
                <a:schemeClr val="accent4"/>
              </a:solidFill>
            </a:endParaRPr>
          </a:p>
          <a:p>
            <a:endParaRPr lang="zh-CN" altLang="en-US" sz="800">
              <a:solidFill>
                <a:schemeClr val="accent4"/>
              </a:solidFill>
            </a:endParaRPr>
          </a:p>
          <a:p>
            <a:r>
              <a:rPr lang="en-US" altLang="zh-CN" sz="1600">
                <a:solidFill>
                  <a:schemeClr val="accent4"/>
                </a:solidFill>
              </a:rPr>
              <a:t>       </a:t>
            </a:r>
            <a:r>
              <a:rPr lang="zh-CN" altLang="en-US" sz="1600">
                <a:solidFill>
                  <a:schemeClr val="accent4"/>
                </a:solidFill>
              </a:rPr>
              <a:t>示例：</a:t>
            </a:r>
            <a:endParaRPr lang="zh-CN" altLang="en-US" sz="1600">
              <a:solidFill>
                <a:schemeClr val="accent4"/>
              </a:solidFill>
            </a:endParaRPr>
          </a:p>
          <a:p>
            <a:endParaRPr lang="zh-CN" altLang="en-US" sz="800">
              <a:solidFill>
                <a:schemeClr val="accent4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	</a:t>
            </a:r>
            <a:r>
              <a:rPr lang="zh-CN" altLang="en-US" sz="1400">
                <a:solidFill>
                  <a:schemeClr val="bg1"/>
                </a:solidFill>
              </a:rPr>
              <a:t>经典</a:t>
            </a:r>
            <a:r>
              <a:rPr lang="en-US" altLang="zh-CN" sz="1400">
                <a:solidFill>
                  <a:schemeClr val="bg1"/>
                </a:solidFill>
              </a:rPr>
              <a:t>/</a:t>
            </a:r>
            <a:r>
              <a:rPr lang="zh-CN" altLang="en-US" sz="1400">
                <a:solidFill>
                  <a:schemeClr val="bg1"/>
                </a:solidFill>
              </a:rPr>
              <a:t>三维弯曲：质点牛顿引力场，正负电荷库仑场，积分通量成常量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</a:rPr>
              <a:t>	</a:t>
            </a:r>
            <a:r>
              <a:rPr lang="zh-CN" altLang="en-US" sz="1400">
                <a:solidFill>
                  <a:schemeClr val="bg1"/>
                </a:solidFill>
              </a:rPr>
              <a:t>虚拟</a:t>
            </a:r>
            <a:r>
              <a:rPr lang="en-US" altLang="zh-CN" sz="1400">
                <a:solidFill>
                  <a:schemeClr val="bg1"/>
                </a:solidFill>
              </a:rPr>
              <a:t>/</a:t>
            </a:r>
            <a:r>
              <a:rPr lang="zh-CN" altLang="en-US" sz="1400">
                <a:solidFill>
                  <a:schemeClr val="bg1"/>
                </a:solidFill>
              </a:rPr>
              <a:t>人脑感知：坐标不变点运动，收张效果同步变，相对运动当变换</a:t>
            </a:r>
            <a:endParaRPr lang="zh-CN" altLang="en-US" sz="1400">
              <a:solidFill>
                <a:schemeClr val="bg1"/>
              </a:solidFill>
            </a:endParaRPr>
          </a:p>
          <a:p>
            <a:r>
              <a:rPr lang="en-US" altLang="zh-CN" sz="1400">
                <a:solidFill>
                  <a:schemeClr val="bg1"/>
                </a:solidFill>
                <a:sym typeface="+mn-ea"/>
              </a:rPr>
              <a:t>	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补充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/</a:t>
            </a:r>
            <a:r>
              <a:rPr lang="zh-CN" altLang="en-US" sz="1400">
                <a:solidFill>
                  <a:schemeClr val="bg1"/>
                </a:solidFill>
                <a:sym typeface="+mn-ea"/>
              </a:rPr>
              <a:t>四维变换：经典无法含四维，虚拟可以含四维，时空分离框三维</a:t>
            </a:r>
            <a:endParaRPr lang="zh-CN" altLang="en-US" sz="800">
              <a:solidFill>
                <a:schemeClr val="bg1"/>
              </a:solidFill>
            </a:endParaRPr>
          </a:p>
          <a:p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1800">
                <a:solidFill>
                  <a:srgbClr val="00B050"/>
                </a:solidFill>
              </a:rPr>
              <a:t>叠线面体：点叠加线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叠加面</a:t>
            </a:r>
            <a:r>
              <a:rPr lang="en-US" altLang="zh-CN" sz="1800">
                <a:solidFill>
                  <a:srgbClr val="00B050"/>
                </a:solidFill>
              </a:rPr>
              <a:t>/</a:t>
            </a:r>
            <a:r>
              <a:rPr lang="zh-CN" altLang="en-US" sz="1800">
                <a:solidFill>
                  <a:srgbClr val="00B050"/>
                </a:solidFill>
              </a:rPr>
              <a:t>叠加体，含人脑自我安慰盲点</a:t>
            </a:r>
            <a:endParaRPr lang="zh-CN" altLang="en-US" sz="1800">
              <a:solidFill>
                <a:srgbClr val="00B050"/>
              </a:solidFill>
            </a:endParaRPr>
          </a:p>
          <a:p>
            <a:endParaRPr lang="zh-CN" altLang="en-US" sz="800">
              <a:solidFill>
                <a:srgbClr val="00B050"/>
              </a:solidFill>
            </a:endParaRPr>
          </a:p>
          <a:p>
            <a:r>
              <a:rPr lang="zh-CN" altLang="en-US" sz="1800">
                <a:solidFill>
                  <a:srgbClr val="00B050"/>
                </a:solidFill>
              </a:rPr>
              <a:t>感知原理：眼脑合成，二维</a:t>
            </a:r>
            <a:r>
              <a:rPr lang="en-US" altLang="zh-CN" sz="1800">
                <a:solidFill>
                  <a:srgbClr val="00B050"/>
                </a:solidFill>
              </a:rPr>
              <a:t>+</a:t>
            </a:r>
            <a:r>
              <a:rPr lang="zh-CN" altLang="en-US" sz="1800">
                <a:solidFill>
                  <a:srgbClr val="00B050"/>
                </a:solidFill>
              </a:rPr>
              <a:t>横向叠加三维</a:t>
            </a:r>
            <a:r>
              <a:rPr lang="en-US" altLang="zh-CN" sz="1800">
                <a:solidFill>
                  <a:srgbClr val="00B050"/>
                </a:solidFill>
              </a:rPr>
              <a:t>+</a:t>
            </a:r>
            <a:r>
              <a:rPr lang="zh-CN" altLang="en-US" sz="1800">
                <a:solidFill>
                  <a:srgbClr val="00B050"/>
                </a:solidFill>
              </a:rPr>
              <a:t>纵向统计四维</a:t>
            </a:r>
            <a:endParaRPr lang="zh-CN" altLang="en-US" sz="18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495" y="71755"/>
            <a:ext cx="691832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理解数理</a:t>
            </a:r>
            <a:r>
              <a:rPr lang="en-US" altLang="zh-CN">
                <a:solidFill>
                  <a:srgbClr val="00B050"/>
                </a:solidFill>
              </a:rPr>
              <a:t>IT-</a:t>
            </a:r>
            <a:r>
              <a:rPr lang="zh-CN" altLang="en-US">
                <a:solidFill>
                  <a:srgbClr val="00B050"/>
                </a:solidFill>
              </a:rPr>
              <a:t>感知四维空间</a:t>
            </a:r>
            <a:endParaRPr lang="zh-CN" altLang="en-US">
              <a:solidFill>
                <a:srgbClr val="00B05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1165225" y="4114165"/>
            <a:ext cx="4191000" cy="215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Straight Arrow Connector 3"/>
          <p:cNvCxnSpPr/>
          <p:nvPr/>
        </p:nvCxnSpPr>
        <p:spPr>
          <a:xfrm flipV="1">
            <a:off x="3195955" y="2202815"/>
            <a:ext cx="0" cy="3790315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2040255" y="3185160"/>
            <a:ext cx="2063115" cy="21170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450465" y="3670935"/>
            <a:ext cx="118745" cy="1079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505710" y="3943985"/>
            <a:ext cx="9525" cy="115252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515235" y="2472055"/>
            <a:ext cx="10795" cy="10045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949325" y="3724910"/>
            <a:ext cx="1252855" cy="107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2818130" y="3735705"/>
            <a:ext cx="1309370" cy="254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1500505" y="3855085"/>
            <a:ext cx="842645" cy="85280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2686050" y="3111500"/>
            <a:ext cx="455930" cy="4298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100455" y="3228340"/>
            <a:ext cx="1144905" cy="3949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029460" y="3771900"/>
            <a:ext cx="299720" cy="16954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758440" y="3066415"/>
            <a:ext cx="1117600" cy="54102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771775" y="3830320"/>
            <a:ext cx="478155" cy="1327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132320" y="4122420"/>
            <a:ext cx="4191000" cy="215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9163050" y="2211070"/>
            <a:ext cx="0" cy="3790315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8007350" y="3193415"/>
            <a:ext cx="2063115" cy="2117090"/>
          </a:xfrm>
          <a:prstGeom prst="straightConnector1">
            <a:avLst/>
          </a:prstGeom>
          <a:ln w="28575" cmpd="sng">
            <a:solidFill>
              <a:schemeClr val="accent4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417560" y="3679190"/>
            <a:ext cx="118745" cy="10795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8487410" y="3973830"/>
            <a:ext cx="10795" cy="12630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8465820" y="2310130"/>
            <a:ext cx="10795" cy="117729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7029450" y="3714115"/>
            <a:ext cx="1123315" cy="1079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8822690" y="3703320"/>
            <a:ext cx="1155065" cy="3238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7353300" y="3952240"/>
            <a:ext cx="929005" cy="85280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8627745" y="3141980"/>
            <a:ext cx="497205" cy="45339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7007860" y="3206750"/>
            <a:ext cx="1177290" cy="39941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7882890" y="3822065"/>
            <a:ext cx="323850" cy="16256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8768080" y="3066415"/>
            <a:ext cx="1069340" cy="550545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724900" y="3822065"/>
            <a:ext cx="540385" cy="140970"/>
          </a:xfrm>
          <a:prstGeom prst="straightConnector1">
            <a:avLst/>
          </a:prstGeom>
          <a:ln w="19050" cmpd="sng">
            <a:solidFill>
              <a:schemeClr val="accent6"/>
            </a:solidFill>
            <a:prstDash val="solid"/>
            <a:tailEnd type="arrow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4434205" y="2096770"/>
            <a:ext cx="1825625" cy="146240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微积分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5158105" y="2795270"/>
            <a:ext cx="1052195" cy="412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微分方程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4180" y="205105"/>
            <a:ext cx="691832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理解数理</a:t>
            </a:r>
            <a:r>
              <a:rPr lang="en-US" altLang="zh-CN">
                <a:solidFill>
                  <a:srgbClr val="00B050"/>
                </a:solidFill>
              </a:rPr>
              <a:t>AI</a:t>
            </a:r>
            <a:endParaRPr lang="en-US" altLang="zh-CN">
              <a:solidFill>
                <a:srgbClr val="00B050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41300" y="2088515"/>
            <a:ext cx="3344545" cy="16338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线性代数</a:t>
            </a:r>
            <a:r>
              <a:rPr lang="en-US" altLang="zh-CN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狭义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654800" y="1062355"/>
            <a:ext cx="1153160" cy="562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概率统计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243205" y="4680585"/>
            <a:ext cx="7564120" cy="650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人的感知</a:t>
            </a:r>
            <a:r>
              <a:rPr lang="zh-CN" altLang="en-US" sz="1400" b="1">
                <a:solidFill>
                  <a:schemeClr val="tx1"/>
                </a:solidFill>
              </a:rPr>
              <a:t>（增加线性局限）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243205" y="3722370"/>
            <a:ext cx="3342005" cy="9505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细节</a:t>
            </a:r>
            <a:r>
              <a:rPr lang="en-US" altLang="zh-CN" sz="1600" b="1">
                <a:solidFill>
                  <a:schemeClr val="tx1"/>
                </a:solidFill>
              </a:rPr>
              <a:t>                </a:t>
            </a:r>
            <a:r>
              <a:rPr lang="zh-CN" altLang="en-US" sz="1600" b="1">
                <a:solidFill>
                  <a:schemeClr val="tx1"/>
                </a:solidFill>
              </a:rPr>
              <a:t>。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                 .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434205" y="3401060"/>
            <a:ext cx="1824990" cy="715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整体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657340" y="1615440"/>
            <a:ext cx="1149985" cy="2477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复杂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824990" y="4087495"/>
            <a:ext cx="5982335" cy="5924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时空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增加时空局限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245745" y="5788660"/>
            <a:ext cx="11696700" cy="6832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客观世界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10602595" y="3947160"/>
            <a:ext cx="1340485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罗素悖论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10602595" y="3469005"/>
            <a:ext cx="1340485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无穷大运算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0597515" y="2986405"/>
            <a:ext cx="1340485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连续统假设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0602595" y="4378325"/>
            <a:ext cx="1340485" cy="3003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 - -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8274050" y="4359275"/>
            <a:ext cx="1892935" cy="3136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- - -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268335" y="3445510"/>
            <a:ext cx="1899285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分形几何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8267065" y="2973070"/>
            <a:ext cx="1902460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非交换几何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8274050" y="2500630"/>
            <a:ext cx="1891665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高阶奇异泛函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362075" y="3066415"/>
            <a:ext cx="1061085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5">
                    <a:lumMod val="75000"/>
                  </a:schemeClr>
                </a:solidFill>
                <a:sym typeface="+mn-ea"/>
              </a:rPr>
              <a:t>矢量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向量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200" b="1">
                <a:solidFill>
                  <a:schemeClr val="accent5">
                    <a:lumMod val="75000"/>
                  </a:schemeClr>
                </a:solidFill>
              </a:rPr>
              <a:t>有方向</a:t>
            </a:r>
            <a:endParaRPr lang="zh-CN" altLang="en-US" sz="12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2426970" y="3066415"/>
            <a:ext cx="10261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 b="1">
                <a:solidFill>
                  <a:schemeClr val="accent5">
                    <a:lumMod val="75000"/>
                  </a:schemeClr>
                </a:solidFill>
                <a:sym typeface="+mn-ea"/>
              </a:rPr>
              <a:t>----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张量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时空封装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60045" y="3066415"/>
            <a:ext cx="998855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5">
                    <a:lumMod val="75000"/>
                  </a:schemeClr>
                </a:solidFill>
                <a:sym typeface="+mn-ea"/>
              </a:rPr>
              <a:t>标量</a:t>
            </a:r>
            <a:r>
              <a:rPr lang="en-US" altLang="zh-CN" sz="1400" b="1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1400" b="1">
                <a:solidFill>
                  <a:schemeClr val="tx1"/>
                </a:solidFill>
                <a:sym typeface="+mn-ea"/>
              </a:rPr>
              <a:t>标量</a:t>
            </a:r>
            <a:endParaRPr lang="zh-CN" altLang="en-US" sz="1600" b="1">
              <a:solidFill>
                <a:schemeClr val="accent5">
                  <a:lumMod val="75000"/>
                </a:schemeClr>
              </a:solidFill>
            </a:endParaRPr>
          </a:p>
          <a:p>
            <a:pPr algn="ctr"/>
            <a:r>
              <a:rPr lang="zh-CN" altLang="en-US" sz="1200" b="1">
                <a:solidFill>
                  <a:schemeClr val="accent5">
                    <a:lumMod val="75000"/>
                  </a:schemeClr>
                </a:solidFill>
              </a:rPr>
              <a:t>无方向</a:t>
            </a:r>
            <a:endParaRPr lang="zh-CN" altLang="en-US" sz="12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241300" y="1619885"/>
            <a:ext cx="6998335" cy="4692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泛函分析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4474210" y="2585720"/>
            <a:ext cx="757555" cy="412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5">
                    <a:lumMod val="75000"/>
                  </a:schemeClr>
                </a:solidFill>
              </a:rPr>
              <a:t>积分</a:t>
            </a:r>
            <a:endParaRPr lang="zh-CN" altLang="en-US" sz="14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476750" y="2990850"/>
            <a:ext cx="755015" cy="412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accent5">
                    <a:lumMod val="75000"/>
                  </a:schemeClr>
                </a:solidFill>
              </a:rPr>
              <a:t>微分</a:t>
            </a:r>
            <a:endParaRPr lang="zh-CN" altLang="en-US" sz="140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3585845" y="2795270"/>
            <a:ext cx="1007110" cy="4127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泰勒展开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360680" y="2669540"/>
            <a:ext cx="3093085" cy="4044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线性变换</a:t>
            </a:r>
            <a:endParaRPr lang="zh-CN" altLang="en-US" sz="14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5972175" y="3615055"/>
            <a:ext cx="1160145" cy="6286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内蕴几何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3534410" y="3609975"/>
            <a:ext cx="1160145" cy="6330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微分几何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8272145" y="1065530"/>
            <a:ext cx="941705" cy="90297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复分析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9213850" y="1065530"/>
            <a:ext cx="948055" cy="9086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群论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8273415" y="3900170"/>
            <a:ext cx="1890395" cy="4781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纯拓扑</a:t>
            </a:r>
            <a:endParaRPr lang="en-US" altLang="zh-CN" sz="16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8274050" y="1977390"/>
            <a:ext cx="1891665" cy="5314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魏尔斯特拉斯函数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8274050" y="4681220"/>
            <a:ext cx="1887855" cy="650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人难感知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10605135" y="4672965"/>
            <a:ext cx="1337945" cy="1116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边界感知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243205" y="5329555"/>
            <a:ext cx="11029950" cy="4565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</a:t>
            </a:r>
            <a:r>
              <a:rPr lang="zh-CN" altLang="en-US" b="1">
                <a:solidFill>
                  <a:schemeClr val="tx1"/>
                </a:solidFill>
              </a:rPr>
              <a:t>数学分支</a:t>
            </a:r>
            <a:r>
              <a:rPr lang="en-US" altLang="zh-CN" sz="1400" b="1">
                <a:solidFill>
                  <a:schemeClr val="tx1"/>
                </a:solidFill>
              </a:rPr>
              <a:t>(</a:t>
            </a:r>
            <a:r>
              <a:rPr lang="zh-CN" altLang="en-US" sz="1400" b="1">
                <a:solidFill>
                  <a:schemeClr val="tx1"/>
                </a:solidFill>
              </a:rPr>
              <a:t>增加逻辑局限</a:t>
            </a:r>
            <a:r>
              <a:rPr lang="en-US" altLang="zh-CN" sz="14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WPS Presentation</Application>
  <PresentationFormat>宽屏</PresentationFormat>
  <Paragraphs>124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DejaVu Sans</vt:lpstr>
      <vt:lpstr>Droid Sans Fallback</vt:lpstr>
      <vt:lpstr>Arial Black</vt:lpstr>
      <vt:lpstr>Noto Sans Symbols2</vt:lpstr>
      <vt:lpstr>微软雅黑</vt:lpstr>
      <vt:lpstr>宋体</vt:lpstr>
      <vt:lpstr>Arial Unicode MS</vt:lpstr>
      <vt:lpstr>MathJax_Vector</vt:lpstr>
      <vt:lpstr>Office Theme</vt:lpstr>
      <vt:lpstr>理解数理IT-感知四维空间</vt:lpstr>
      <vt:lpstr>理解数理IT-感知四维空间</vt:lpstr>
      <vt:lpstr>理解数理IT-感知四维空间</vt:lpstr>
      <vt:lpstr>理解数理AI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789</cp:revision>
  <dcterms:created xsi:type="dcterms:W3CDTF">2026-04-28T05:02:07Z</dcterms:created>
  <dcterms:modified xsi:type="dcterms:W3CDTF">2026-04-28T05:02:07Z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