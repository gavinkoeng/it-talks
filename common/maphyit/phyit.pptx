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</p:sld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6CC6E1-83AA-4986-A000-F4904D01B8A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4CFF3F-ACC9-43EB-B28F-F328E7E451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3C16BBB-93D0-4E9D-B62F-5112AEFAC2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4C28E50-DE48-479E-A921-8AEB44F16B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4764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03576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064F1343-73CA-496F-BEDF-6EDE1CEEF0F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97A0EDB-2130-482D-B605-EB878D9845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39B9BB1-AEED-44F2-809F-CE0CA22BD1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7B256E07-2366-46CA-9C06-A0C8D4810D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87C2C206-918C-4163-90B5-66BD27089A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6DF3679-81FE-4019-A618-F68E75AB683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323000"/>
            <a:ext cx="9143640" cy="218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8985"/>
          </a:bodyPr>
          <a:p>
            <a:pPr indent="0" algn="ctr" defTabSz="914400">
              <a:lnSpc>
                <a:spcPct val="13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Arial Black"/>
              </a:rPr>
              <a:t>Click to edit </a:t>
            </a:r>
            <a:r>
              <a:rPr b="0" lang="en-US" sz="6000" spc="-1" strike="noStrike">
                <a:solidFill>
                  <a:schemeClr val="dk1"/>
                </a:solidFill>
                <a:latin typeface="Arial Black"/>
              </a:rPr>
              <a:t>Master title </a:t>
            </a:r>
            <a:r>
              <a:rPr b="0" lang="en-US" sz="6000" spc="-1" strike="noStrike">
                <a:solidFill>
                  <a:schemeClr val="dk1"/>
                </a:solidFill>
                <a:latin typeface="Arial Black"/>
              </a:rPr>
              <a:t>style</a:t>
            </a:r>
            <a:endParaRPr b="0" lang="en-US" sz="6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body"/>
          </p:nvPr>
        </p:nvSpPr>
        <p:spPr>
          <a:xfrm>
            <a:off x="838080" y="551520"/>
            <a:ext cx="10515240" cy="5558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1960" y="3750840"/>
            <a:ext cx="9847800" cy="81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1960" y="4610160"/>
            <a:ext cx="7321320" cy="64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47640" y="25848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4764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98176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50000"/>
              </a:lnSpc>
              <a:spcBef>
                <a:spcPts val="1001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150000"/>
              </a:lnSpc>
              <a:spcBef>
                <a:spcPts val="499"/>
              </a:spcBef>
              <a:buClr>
                <a:srgbClr val="40404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Arial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9880" y="174492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839880" y="2615760"/>
            <a:ext cx="515736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172200" y="174492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172200" y="2615760"/>
            <a:ext cx="5182920" cy="357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838080" y="27662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46920" y="127080"/>
            <a:ext cx="416484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24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4000" y="766440"/>
            <a:ext cx="5816880" cy="509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点击以编辑提纲文本格式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第二提纲级别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第三提纲级别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第四提纲级别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第五提纲级别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第六提纲级别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zh-CN" sz="3200" spc="-1" strike="noStrike">
                <a:solidFill>
                  <a:schemeClr val="dk1"/>
                </a:solidFill>
                <a:latin typeface="Arial"/>
              </a:rPr>
              <a:t>第七提纲级别</a:t>
            </a:r>
            <a:endParaRPr b="0" lang="en-US" sz="32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51960" y="2057400"/>
            <a:ext cx="416484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3" name="直接连接符 7"/>
          <p:cNvCxnSpPr/>
          <p:nvPr/>
        </p:nvCxnSpPr>
        <p:spPr>
          <a:xfrm>
            <a:off x="742680" y="434160"/>
            <a:ext cx="360" cy="1391760"/>
          </a:xfrm>
          <a:prstGeom prst="straightConnector1">
            <a:avLst/>
          </a:prstGeom>
          <a:ln>
            <a:solidFill>
              <a:srgbClr val="5b9bd5"/>
            </a:solidFill>
          </a:ln>
        </p:spPr>
      </p:cxn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9824400" y="365040"/>
            <a:ext cx="15289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600" spc="-1" strike="noStrike">
                <a:solidFill>
                  <a:schemeClr val="dk1"/>
                </a:solidFill>
                <a:latin typeface="Arial Black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887976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Arial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Arial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&lt;日期/时间&gt;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&lt;页脚&gt;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216320" y="266040"/>
            <a:ext cx="573048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物理体系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0" name="Rectangles 45"/>
          <p:cNvSpPr/>
          <p:nvPr/>
        </p:nvSpPr>
        <p:spPr>
          <a:xfrm>
            <a:off x="738360" y="5500440"/>
            <a:ext cx="347832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光子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，无质量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无空间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Rectangles 2"/>
          <p:cNvSpPr/>
          <p:nvPr/>
        </p:nvSpPr>
        <p:spPr>
          <a:xfrm>
            <a:off x="4439880" y="5500440"/>
            <a:ext cx="258156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因果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，有顺序，无时间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Rectangles 3"/>
          <p:cNvSpPr/>
          <p:nvPr/>
        </p:nvSpPr>
        <p:spPr>
          <a:xfrm>
            <a:off x="7241040" y="5500440"/>
            <a:ext cx="410508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维度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4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=2(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振动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传播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颜色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itle 1"/>
          <p:cNvSpPr/>
          <p:nvPr/>
        </p:nvSpPr>
        <p:spPr>
          <a:xfrm>
            <a:off x="3673440" y="1109520"/>
            <a:ext cx="8009640" cy="39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目标：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ffc000"/>
                </a:solidFill>
                <a:latin typeface="Arial Black"/>
              </a:rPr>
              <a:t>对现有物理困惑，提供纯物理诠释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方式：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	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	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区分数理模型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	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整理物理模型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	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给出个人理解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约束：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800" spc="-1" strike="noStrike">
                <a:solidFill>
                  <a:srgbClr val="ffc000"/>
                </a:solidFill>
                <a:latin typeface="Arial Black"/>
              </a:rPr>
              <a:t>	</a:t>
            </a:r>
            <a:r>
              <a:rPr b="1" lang="zh-CN" sz="1800" spc="-1" strike="noStrike">
                <a:solidFill>
                  <a:srgbClr val="ffc000"/>
                </a:solidFill>
                <a:latin typeface="Arial Black"/>
              </a:rPr>
              <a:t>尊重全部实验结果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800" spc="-1" strike="noStrike">
                <a:solidFill>
                  <a:srgbClr val="ffc000"/>
                </a:solidFill>
                <a:latin typeface="Arial Black"/>
              </a:rPr>
              <a:t>	</a:t>
            </a:r>
            <a:r>
              <a:rPr b="1" lang="zh-CN" sz="1800" spc="-1" strike="noStrike">
                <a:solidFill>
                  <a:srgbClr val="ffc000"/>
                </a:solidFill>
                <a:latin typeface="Arial Black"/>
              </a:rPr>
              <a:t>肯定现有理论成就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800" spc="-1" strike="noStrike">
                <a:solidFill>
                  <a:srgbClr val="ffc000"/>
                </a:solidFill>
                <a:latin typeface="Arial Black"/>
              </a:rPr>
              <a:t>	</a:t>
            </a:r>
            <a:r>
              <a:rPr b="1" lang="zh-CN" sz="1800" spc="-1" strike="noStrike">
                <a:solidFill>
                  <a:srgbClr val="ffc000"/>
                </a:solidFill>
                <a:latin typeface="Arial Black"/>
              </a:rPr>
              <a:t>不引入新公理假设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216320" y="266040"/>
            <a:ext cx="573048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物理体系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5" name="Rectangles 45"/>
          <p:cNvSpPr/>
          <p:nvPr/>
        </p:nvSpPr>
        <p:spPr>
          <a:xfrm>
            <a:off x="738360" y="5500440"/>
            <a:ext cx="347832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光子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，无质量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无空间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Rectangles 2"/>
          <p:cNvSpPr/>
          <p:nvPr/>
        </p:nvSpPr>
        <p:spPr>
          <a:xfrm>
            <a:off x="4439880" y="5500440"/>
            <a:ext cx="258156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因果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，有顺序，无时间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Rectangles 3"/>
          <p:cNvSpPr/>
          <p:nvPr/>
        </p:nvSpPr>
        <p:spPr>
          <a:xfrm>
            <a:off x="7241040" y="5500440"/>
            <a:ext cx="410508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维度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4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=2(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振动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传播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颜色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s 4"/>
          <p:cNvSpPr/>
          <p:nvPr/>
        </p:nvSpPr>
        <p:spPr>
          <a:xfrm>
            <a:off x="735480" y="5388480"/>
            <a:ext cx="10611000" cy="106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9" name="Rectangles 6"/>
          <p:cNvSpPr/>
          <p:nvPr/>
        </p:nvSpPr>
        <p:spPr>
          <a:xfrm>
            <a:off x="6538680" y="4824720"/>
            <a:ext cx="4819320" cy="5634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狭义相对论：光速不变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相对性原理，坐标变换，质能方程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广义相对论：物质时空关联，物质定义，时空数学模型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216320" y="266040"/>
            <a:ext cx="573048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物理体系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1" name="Rectangles 45"/>
          <p:cNvSpPr/>
          <p:nvPr/>
        </p:nvSpPr>
        <p:spPr>
          <a:xfrm>
            <a:off x="738360" y="5500440"/>
            <a:ext cx="347832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光子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，无质量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无空间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s 2"/>
          <p:cNvSpPr/>
          <p:nvPr/>
        </p:nvSpPr>
        <p:spPr>
          <a:xfrm>
            <a:off x="4439880" y="5500440"/>
            <a:ext cx="258156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因果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，有顺序，无时间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Rectangles 3"/>
          <p:cNvSpPr/>
          <p:nvPr/>
        </p:nvSpPr>
        <p:spPr>
          <a:xfrm>
            <a:off x="7241040" y="5500440"/>
            <a:ext cx="410508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维度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4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=2(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振动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传播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颜色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s 4"/>
          <p:cNvSpPr/>
          <p:nvPr/>
        </p:nvSpPr>
        <p:spPr>
          <a:xfrm>
            <a:off x="735480" y="5388480"/>
            <a:ext cx="10611000" cy="106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5" name="Rectangles 6"/>
          <p:cNvSpPr/>
          <p:nvPr/>
        </p:nvSpPr>
        <p:spPr>
          <a:xfrm>
            <a:off x="6538680" y="4824720"/>
            <a:ext cx="4819320" cy="5634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狭义相对论：光速不变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相对性原理，坐标变换，质能方程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广义相对论：物质时空关联，物质定义，时空数学模型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s 12"/>
          <p:cNvSpPr/>
          <p:nvPr/>
        </p:nvSpPr>
        <p:spPr>
          <a:xfrm>
            <a:off x="735480" y="4222080"/>
            <a:ext cx="5802840" cy="1158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无时空模型：维度不是空间，因果不是时间，人可粗略感知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光传播自锁：光子为能量并自锁为静质量，自锁产生对称性破缺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衍生复杂度：属性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电荷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自旋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电磁力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量子约束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叠加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强弱力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内禀关联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216320" y="266040"/>
            <a:ext cx="573048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物理体系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8" name="Rectangles 45"/>
          <p:cNvSpPr/>
          <p:nvPr/>
        </p:nvSpPr>
        <p:spPr>
          <a:xfrm>
            <a:off x="738360" y="5500440"/>
            <a:ext cx="347832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光子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，无质量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无空间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angles 2"/>
          <p:cNvSpPr/>
          <p:nvPr/>
        </p:nvSpPr>
        <p:spPr>
          <a:xfrm>
            <a:off x="4439880" y="5500440"/>
            <a:ext cx="258156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因果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，有顺序，无时间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Rectangles 3"/>
          <p:cNvSpPr/>
          <p:nvPr/>
        </p:nvSpPr>
        <p:spPr>
          <a:xfrm>
            <a:off x="7241040" y="5500440"/>
            <a:ext cx="410508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维度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4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=2(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振动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传播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颜色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ectangles 4"/>
          <p:cNvSpPr/>
          <p:nvPr/>
        </p:nvSpPr>
        <p:spPr>
          <a:xfrm>
            <a:off x="735480" y="5388480"/>
            <a:ext cx="10611000" cy="106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2" name="Rectangles 6"/>
          <p:cNvSpPr/>
          <p:nvPr/>
        </p:nvSpPr>
        <p:spPr>
          <a:xfrm>
            <a:off x="6538680" y="4824720"/>
            <a:ext cx="4819320" cy="5634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狭义相对论：光速不变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相对性原理，坐标变换，质能方程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广义相对论：物质时空关联，物质定义，时空数学模型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s 12"/>
          <p:cNvSpPr/>
          <p:nvPr/>
        </p:nvSpPr>
        <p:spPr>
          <a:xfrm>
            <a:off x="735480" y="4222080"/>
            <a:ext cx="5802840" cy="1158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无时空模型：维度不是空间，因果不是时间，人可粗略感知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光传播自锁：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光子为能量并自锁为静质量，自锁产生对称性破缺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衍生复杂度：属性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电荷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自旋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电磁力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量子约束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叠加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强弱力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内禀关联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Rectangles 9"/>
          <p:cNvSpPr/>
          <p:nvPr/>
        </p:nvSpPr>
        <p:spPr>
          <a:xfrm>
            <a:off x="6193080" y="4217760"/>
            <a:ext cx="5164560" cy="601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宏观统计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人可感知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216320" y="266040"/>
            <a:ext cx="573048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物理体系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6" name="Rectangles 45"/>
          <p:cNvSpPr/>
          <p:nvPr/>
        </p:nvSpPr>
        <p:spPr>
          <a:xfrm>
            <a:off x="738360" y="5500440"/>
            <a:ext cx="347832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光子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，无质量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无空间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Rectangles 2"/>
          <p:cNvSpPr/>
          <p:nvPr/>
        </p:nvSpPr>
        <p:spPr>
          <a:xfrm>
            <a:off x="4439880" y="5500440"/>
            <a:ext cx="258156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因果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，有顺序，无时间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Rectangles 3"/>
          <p:cNvSpPr/>
          <p:nvPr/>
        </p:nvSpPr>
        <p:spPr>
          <a:xfrm>
            <a:off x="7241040" y="5500440"/>
            <a:ext cx="410508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维度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4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=2(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振动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传播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颜色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ectangles 4"/>
          <p:cNvSpPr/>
          <p:nvPr/>
        </p:nvSpPr>
        <p:spPr>
          <a:xfrm>
            <a:off x="735480" y="5388480"/>
            <a:ext cx="10611000" cy="106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0" name="Rectangles 6"/>
          <p:cNvSpPr/>
          <p:nvPr/>
        </p:nvSpPr>
        <p:spPr>
          <a:xfrm>
            <a:off x="6538680" y="4824720"/>
            <a:ext cx="4819320" cy="5634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狭义相对论：光速不变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相对性原理，坐标变换，质能方程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广义相对论：物质时空关联，物质定义，时空数学模型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s 12"/>
          <p:cNvSpPr/>
          <p:nvPr/>
        </p:nvSpPr>
        <p:spPr>
          <a:xfrm>
            <a:off x="735480" y="4222080"/>
            <a:ext cx="5802840" cy="1158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无时空模型：维度不是空间，因果不是时间，人可粗略感知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光传播自锁：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光子为能量并自锁为静质量，自锁产生对称性破缺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衍生复杂度：属性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电荷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自旋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电磁力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量子约束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叠加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强弱力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内禀关联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Rectangles 9"/>
          <p:cNvSpPr/>
          <p:nvPr/>
        </p:nvSpPr>
        <p:spPr>
          <a:xfrm>
            <a:off x="6193080" y="4217760"/>
            <a:ext cx="5164560" cy="601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宏观统计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人可感知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angles 8"/>
          <p:cNvSpPr/>
          <p:nvPr/>
        </p:nvSpPr>
        <p:spPr>
          <a:xfrm>
            <a:off x="7607160" y="2833920"/>
            <a:ext cx="3750480" cy="1580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216320" y="266040"/>
            <a:ext cx="573048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物理体系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5" name="Rectangles 45"/>
          <p:cNvSpPr/>
          <p:nvPr/>
        </p:nvSpPr>
        <p:spPr>
          <a:xfrm>
            <a:off x="738360" y="5500440"/>
            <a:ext cx="347832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光子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，无质量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无空间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Rectangles 2"/>
          <p:cNvSpPr/>
          <p:nvPr/>
        </p:nvSpPr>
        <p:spPr>
          <a:xfrm>
            <a:off x="4439880" y="5500440"/>
            <a:ext cx="258156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因果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，有顺序，无时间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ectangles 3"/>
          <p:cNvSpPr/>
          <p:nvPr/>
        </p:nvSpPr>
        <p:spPr>
          <a:xfrm>
            <a:off x="7241040" y="5500440"/>
            <a:ext cx="410508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维度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4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=2(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振动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传播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颜色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Rectangles 4"/>
          <p:cNvSpPr/>
          <p:nvPr/>
        </p:nvSpPr>
        <p:spPr>
          <a:xfrm>
            <a:off x="735480" y="5388480"/>
            <a:ext cx="10611000" cy="106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9" name="Rectangles 6"/>
          <p:cNvSpPr/>
          <p:nvPr/>
        </p:nvSpPr>
        <p:spPr>
          <a:xfrm>
            <a:off x="6538680" y="4824720"/>
            <a:ext cx="4819320" cy="5634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狭义相对论：光速不变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相对性原理，坐标变换，质能方程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广义相对论：物质时空关联，物质定义，时空数学模型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angles 11"/>
          <p:cNvSpPr/>
          <p:nvPr/>
        </p:nvSpPr>
        <p:spPr>
          <a:xfrm>
            <a:off x="735480" y="3876840"/>
            <a:ext cx="4745160" cy="3394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标准模型：费米子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玻色子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angles 12"/>
          <p:cNvSpPr/>
          <p:nvPr/>
        </p:nvSpPr>
        <p:spPr>
          <a:xfrm>
            <a:off x="735480" y="4222080"/>
            <a:ext cx="5802840" cy="1158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无时空模型：维度不是空间，因果不是时间，人可粗略感知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光传播自锁：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光子为能量并自锁为静质量，自锁产生对称性破缺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衍生复杂度：属性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电荷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自旋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电磁力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量子约束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叠加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强弱力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内禀关联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Rectangles 9"/>
          <p:cNvSpPr/>
          <p:nvPr/>
        </p:nvSpPr>
        <p:spPr>
          <a:xfrm>
            <a:off x="6193080" y="4217760"/>
            <a:ext cx="5164560" cy="601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宏观统计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人可感知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s 8"/>
          <p:cNvSpPr/>
          <p:nvPr/>
        </p:nvSpPr>
        <p:spPr>
          <a:xfrm>
            <a:off x="7607160" y="2833920"/>
            <a:ext cx="3750480" cy="1580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Rectangles 10"/>
          <p:cNvSpPr/>
          <p:nvPr/>
        </p:nvSpPr>
        <p:spPr>
          <a:xfrm>
            <a:off x="5479920" y="3876840"/>
            <a:ext cx="2957400" cy="338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引力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时空升维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216320" y="266040"/>
            <a:ext cx="573048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物理体系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6" name="Rectangles 45"/>
          <p:cNvSpPr/>
          <p:nvPr/>
        </p:nvSpPr>
        <p:spPr>
          <a:xfrm>
            <a:off x="738360" y="5500440"/>
            <a:ext cx="347832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光子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，无质量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无空间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Rectangles 2"/>
          <p:cNvSpPr/>
          <p:nvPr/>
        </p:nvSpPr>
        <p:spPr>
          <a:xfrm>
            <a:off x="4439880" y="5500440"/>
            <a:ext cx="258156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因果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，有顺序，无时间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Rectangles 3"/>
          <p:cNvSpPr/>
          <p:nvPr/>
        </p:nvSpPr>
        <p:spPr>
          <a:xfrm>
            <a:off x="7241040" y="5500440"/>
            <a:ext cx="410508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维度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4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=2(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振动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传播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颜色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Rectangles 4"/>
          <p:cNvSpPr/>
          <p:nvPr/>
        </p:nvSpPr>
        <p:spPr>
          <a:xfrm>
            <a:off x="735480" y="5388480"/>
            <a:ext cx="10611000" cy="106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0" name="Rectangles 6"/>
          <p:cNvSpPr/>
          <p:nvPr/>
        </p:nvSpPr>
        <p:spPr>
          <a:xfrm>
            <a:off x="6538680" y="4824720"/>
            <a:ext cx="4819320" cy="5634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狭义相对论：光速不变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相对性原理，坐标变换，质能方程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广义相对论：物质时空关联，物质定义，时空数学模型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ectangles 38"/>
          <p:cNvSpPr/>
          <p:nvPr/>
        </p:nvSpPr>
        <p:spPr>
          <a:xfrm>
            <a:off x="735840" y="2837880"/>
            <a:ext cx="2655360" cy="1047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物质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质子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中子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电子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ectangles 7"/>
          <p:cNvSpPr/>
          <p:nvPr/>
        </p:nvSpPr>
        <p:spPr>
          <a:xfrm>
            <a:off x="3391560" y="2840400"/>
            <a:ext cx="4215240" cy="1036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作用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四大相互作用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量子约束内禀关联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统计效果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s 11"/>
          <p:cNvSpPr/>
          <p:nvPr/>
        </p:nvSpPr>
        <p:spPr>
          <a:xfrm>
            <a:off x="735480" y="3876840"/>
            <a:ext cx="4745160" cy="3394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标准模型：费米子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玻色子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ectangles 12"/>
          <p:cNvSpPr/>
          <p:nvPr/>
        </p:nvSpPr>
        <p:spPr>
          <a:xfrm>
            <a:off x="735480" y="4222080"/>
            <a:ext cx="5802840" cy="1158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无时空模型：维度不是空间，因果不是时间，人可粗略感知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光传播自锁：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光子为能量并自锁为静质量，自锁产生对称性破缺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衍生复杂度：属性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电荷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自旋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电磁力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量子约束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叠加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强弱力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内禀关联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Rectangles 9"/>
          <p:cNvSpPr/>
          <p:nvPr/>
        </p:nvSpPr>
        <p:spPr>
          <a:xfrm>
            <a:off x="6193080" y="4217760"/>
            <a:ext cx="5164560" cy="601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宏观统计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人可感知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s 8"/>
          <p:cNvSpPr/>
          <p:nvPr/>
        </p:nvSpPr>
        <p:spPr>
          <a:xfrm>
            <a:off x="7607160" y="2833920"/>
            <a:ext cx="3750480" cy="1580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Rectangles 10"/>
          <p:cNvSpPr/>
          <p:nvPr/>
        </p:nvSpPr>
        <p:spPr>
          <a:xfrm>
            <a:off x="5479920" y="3876840"/>
            <a:ext cx="2957400" cy="338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引力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时空升维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4216320" y="266040"/>
            <a:ext cx="573048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物理体系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19" name="Rectangles 45"/>
          <p:cNvSpPr/>
          <p:nvPr/>
        </p:nvSpPr>
        <p:spPr>
          <a:xfrm>
            <a:off x="738360" y="5500440"/>
            <a:ext cx="347832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光子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，无质量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无空间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Rectangles 2"/>
          <p:cNvSpPr/>
          <p:nvPr/>
        </p:nvSpPr>
        <p:spPr>
          <a:xfrm>
            <a:off x="4439880" y="5500440"/>
            <a:ext cx="258156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因果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，有顺序，无时间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ectangles 3"/>
          <p:cNvSpPr/>
          <p:nvPr/>
        </p:nvSpPr>
        <p:spPr>
          <a:xfrm>
            <a:off x="7241040" y="5500440"/>
            <a:ext cx="4105080" cy="5310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维度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，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4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维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=2(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振动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传播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)+1(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颜色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Rectangles 4"/>
          <p:cNvSpPr/>
          <p:nvPr/>
        </p:nvSpPr>
        <p:spPr>
          <a:xfrm>
            <a:off x="735480" y="5388480"/>
            <a:ext cx="10611000" cy="10620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1" lang="en-US" sz="1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3" name="Rectangles 6"/>
          <p:cNvSpPr/>
          <p:nvPr/>
        </p:nvSpPr>
        <p:spPr>
          <a:xfrm>
            <a:off x="6538680" y="4824720"/>
            <a:ext cx="4819320" cy="5634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狭义相对论：光速不变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相对性原理，坐标变换，质能方程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广义相对论：物质时空关联，物质定义，时空数学模型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Rectangles 38"/>
          <p:cNvSpPr/>
          <p:nvPr/>
        </p:nvSpPr>
        <p:spPr>
          <a:xfrm>
            <a:off x="735840" y="2837880"/>
            <a:ext cx="2655360" cy="10479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物质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质子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中子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电子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s 7"/>
          <p:cNvSpPr/>
          <p:nvPr/>
        </p:nvSpPr>
        <p:spPr>
          <a:xfrm>
            <a:off x="3391560" y="2840400"/>
            <a:ext cx="4215240" cy="103608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作用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四大相互作用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量子约束内禀关联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统计效果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ectangles 11"/>
          <p:cNvSpPr/>
          <p:nvPr/>
        </p:nvSpPr>
        <p:spPr>
          <a:xfrm>
            <a:off x="735480" y="3876840"/>
            <a:ext cx="4745160" cy="33948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标准模型：费米子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玻色子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数学模型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ectangles 12"/>
          <p:cNvSpPr/>
          <p:nvPr/>
        </p:nvSpPr>
        <p:spPr>
          <a:xfrm>
            <a:off x="735480" y="4222080"/>
            <a:ext cx="5802840" cy="1158480"/>
          </a:xfrm>
          <a:prstGeom prst="rect">
            <a:avLst/>
          </a:prstGeom>
          <a:solidFill>
            <a:srgbClr val="5b9bd5"/>
          </a:solidFill>
          <a:ln>
            <a:solidFill>
              <a:srgbClr val="43729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无时空模型：维度不是空间，因果不是时间，人可粗略感知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光传播自锁：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光子为能量并自锁为静质量，自锁产生对称性破缺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衍生复杂度：属性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电荷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自旋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方法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电磁力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量子约束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叠加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强弱力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/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内禀关联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s 9"/>
          <p:cNvSpPr/>
          <p:nvPr/>
        </p:nvSpPr>
        <p:spPr>
          <a:xfrm>
            <a:off x="6193080" y="4217760"/>
            <a:ext cx="5164560" cy="6015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宏观统计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+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人可感知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Rectangles 8"/>
          <p:cNvSpPr/>
          <p:nvPr/>
        </p:nvSpPr>
        <p:spPr>
          <a:xfrm>
            <a:off x="7607160" y="2833920"/>
            <a:ext cx="3750480" cy="1580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600" spc="-1" strike="noStrike">
                <a:solidFill>
                  <a:schemeClr val="dk1"/>
                </a:solidFill>
                <a:latin typeface="Arial"/>
              </a:rPr>
              <a:t>时空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环境</a:t>
            </a:r>
            <a:r>
              <a:rPr b="1" lang="en-US" sz="14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ectangles 10"/>
          <p:cNvSpPr/>
          <p:nvPr/>
        </p:nvSpPr>
        <p:spPr>
          <a:xfrm>
            <a:off x="5479920" y="3876840"/>
            <a:ext cx="2957400" cy="338760"/>
          </a:xfrm>
          <a:prstGeom prst="rect">
            <a:avLst/>
          </a:prstGeom>
          <a:solidFill>
            <a:srgbClr val="ffc000"/>
          </a:solidFill>
          <a:ln>
            <a:solidFill>
              <a:srgbClr val="bc8e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400" spc="-1" strike="noStrike">
                <a:solidFill>
                  <a:schemeClr val="dk1"/>
                </a:solidFill>
                <a:latin typeface="Arial"/>
              </a:rPr>
              <a:t>引力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(</a:t>
            </a:r>
            <a:r>
              <a:rPr b="1" lang="zh-CN" sz="1200" spc="-1" strike="noStrike">
                <a:solidFill>
                  <a:schemeClr val="dk1"/>
                </a:solidFill>
                <a:latin typeface="Arial"/>
              </a:rPr>
              <a:t>时空升维</a:t>
            </a:r>
            <a:r>
              <a:rPr b="1" lang="en-US" sz="1200" spc="-1" strike="noStrike">
                <a:solidFill>
                  <a:schemeClr val="dk1"/>
                </a:solidFill>
                <a:latin typeface="Arial"/>
              </a:rPr>
              <a:t>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itle 1"/>
          <p:cNvSpPr/>
          <p:nvPr/>
        </p:nvSpPr>
        <p:spPr>
          <a:xfrm>
            <a:off x="3576240" y="1119600"/>
            <a:ext cx="6411960" cy="147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zh-CN" sz="1400" spc="-1" strike="noStrike">
                <a:solidFill>
                  <a:srgbClr val="00b050"/>
                </a:solidFill>
                <a:latin typeface="Arial Black"/>
              </a:rPr>
              <a:t>数理模型拆分：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        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广义相对论：黑洞是“大号粒子”，奇点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霍金辐射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全息理论不是物理模型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        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标准模型：真空涨落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虚粒子对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/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希格斯子等不是物理模型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        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卡西米尔效应：实验结果正确，但解释牵强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(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无法排除范德瓦耳斯力的作用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1400" spc="-1" strike="noStrike">
                <a:solidFill>
                  <a:srgbClr val="00b050"/>
                </a:solidFill>
                <a:latin typeface="Arial Black"/>
              </a:rPr>
              <a:t>时间因果区分：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延迟选择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(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后继用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IT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系统运行进行类比描述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1400" spc="-1" strike="noStrike">
                <a:solidFill>
                  <a:srgbClr val="00b050"/>
                </a:solidFill>
                <a:latin typeface="Arial Black"/>
              </a:rPr>
              <a:t>时空作用效果：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量子纠缠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(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后继用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IT</a:t>
            </a:r>
            <a:r>
              <a:rPr b="1" lang="zh-CN" sz="1200" spc="-1" strike="noStrike">
                <a:solidFill>
                  <a:schemeClr val="lt1"/>
                </a:solidFill>
                <a:latin typeface="Arial Black"/>
              </a:rPr>
              <a:t>系统运行进行类比描述</a:t>
            </a:r>
            <a:r>
              <a:rPr b="1" lang="en-US" sz="1200" spc="-1" strike="noStrike">
                <a:solidFill>
                  <a:schemeClr val="lt1"/>
                </a:solidFill>
                <a:latin typeface="Arial Black"/>
              </a:rPr>
              <a:t>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420560" y="71640"/>
            <a:ext cx="6918120" cy="58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理解数理</a:t>
            </a:r>
            <a:r>
              <a:rPr b="1" lang="en-US" sz="2400" spc="-1" strike="noStrike">
                <a:solidFill>
                  <a:srgbClr val="00b050"/>
                </a:solidFill>
                <a:latin typeface="Arial Black"/>
              </a:rPr>
              <a:t>IT-</a:t>
            </a:r>
            <a:r>
              <a:rPr b="1" lang="zh-CN" sz="2400" spc="-1" strike="noStrike">
                <a:solidFill>
                  <a:srgbClr val="00b050"/>
                </a:solidFill>
                <a:latin typeface="Arial Black"/>
              </a:rPr>
              <a:t>体系原理</a:t>
            </a:r>
            <a:endParaRPr b="0" lang="en-US" sz="2400" spc="-1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33" name="Rectangles 12"/>
          <p:cNvSpPr/>
          <p:nvPr/>
        </p:nvSpPr>
        <p:spPr>
          <a:xfrm>
            <a:off x="72360" y="6001920"/>
            <a:ext cx="12057120" cy="68292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zh-CN" sz="1800" spc="-1" strike="noStrike">
                <a:solidFill>
                  <a:schemeClr val="dk1"/>
                </a:solidFill>
                <a:latin typeface="Arial"/>
              </a:rPr>
              <a:t>客观世界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itle 1"/>
          <p:cNvSpPr/>
          <p:nvPr/>
        </p:nvSpPr>
        <p:spPr>
          <a:xfrm>
            <a:off x="918360" y="784080"/>
            <a:ext cx="11059920" cy="450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rmAutofit/>
          </a:bodyPr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数学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人建立的交互通道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物理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人感知的客观世界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信息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=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差异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局部量化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 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+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结构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整体统计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chemeClr val="accent4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chemeClr val="accent4"/>
                </a:solidFill>
                <a:latin typeface="Arial Black"/>
              </a:rPr>
              <a:t>运行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存储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传输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/</a:t>
            </a:r>
            <a:r>
              <a:rPr b="1" lang="zh-CN" sz="1800" spc="-1" strike="noStrike">
                <a:solidFill>
                  <a:schemeClr val="accent4"/>
                </a:solidFill>
                <a:latin typeface="Arial Black"/>
              </a:rPr>
              <a:t>计算</a:t>
            </a:r>
            <a:r>
              <a:rPr b="1" lang="en-US" sz="1800" spc="-1" strike="noStrike">
                <a:solidFill>
                  <a:schemeClr val="accent4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度量层：标量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矢量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信息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感知层：物质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作用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时空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	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公理层：光子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属性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因果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方法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r>
              <a:rPr b="1" lang="en-US" sz="2000" spc="-1" strike="noStrike">
                <a:solidFill>
                  <a:srgbClr val="00b050"/>
                </a:solidFill>
                <a:latin typeface="Arial Black"/>
              </a:rPr>
              <a:t> + </a:t>
            </a:r>
            <a:r>
              <a:rPr b="1" lang="zh-CN" sz="2000" spc="-1" strike="noStrike">
                <a:solidFill>
                  <a:srgbClr val="00b050"/>
                </a:solidFill>
                <a:latin typeface="Arial Black"/>
              </a:rPr>
              <a:t>维度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(</a:t>
            </a:r>
            <a:r>
              <a:rPr b="1" lang="zh-CN" sz="1800" spc="-1" strike="noStrike">
                <a:solidFill>
                  <a:srgbClr val="00b050"/>
                </a:solidFill>
                <a:latin typeface="Arial Black"/>
              </a:rPr>
              <a:t>环境</a:t>
            </a:r>
            <a:r>
              <a:rPr b="1" lang="en-US" sz="1800" spc="-1" strike="noStrike">
                <a:solidFill>
                  <a:srgbClr val="00b050"/>
                </a:solidFill>
                <a:latin typeface="Arial Black"/>
              </a:rPr>
              <a:t>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90000"/>
              </a:lnSpc>
            </a:pP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信息技术</a:t>
            </a:r>
            <a:r>
              <a:rPr b="1" lang="en-US" sz="1800" spc="-1" strike="noStrike">
                <a:solidFill>
                  <a:schemeClr val="lt1"/>
                </a:solidFill>
                <a:latin typeface="Arial Black"/>
              </a:rPr>
              <a:t>(IT) = </a:t>
            </a:r>
            <a:r>
              <a:rPr b="1" lang="zh-CN" sz="1800" spc="-1" strike="noStrike">
                <a:solidFill>
                  <a:schemeClr val="lt1"/>
                </a:solidFill>
                <a:latin typeface="Arial Black"/>
              </a:rPr>
              <a:t>剥离人感知的客观世界，通过人建立的交互通道，基于人自身所处的时空环境来使用信息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LibreOffice/24.2.7.2$Linux_RISCV64 LibreOffice_project/420$Build-2</Application>
  <AppVersion>15.0000</AppVersion>
  <Words>2205</Words>
  <Paragraphs>185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2026-05-05T11:09:32Z</dcterms:created>
  <dc:creator/>
  <dc:description/>
  <dc:language>zh-CN</dc:language>
  <cp:lastModifiedBy/>
  <dcterms:modified xsi:type="dcterms:W3CDTF">2026-07-31T00:41:50Z</dcterms:modified>
  <cp:revision>805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  <property fmtid="{D5CDD505-2E9C-101B-9397-08002B2CF9AE}" pid="4" name="PresentationFormat">
    <vt:lpwstr>宽屏</vt:lpwstr>
  </property>
  <property fmtid="{D5CDD505-2E9C-101B-9397-08002B2CF9AE}" pid="5" name="Slides">
    <vt:i4>9</vt:i4>
  </property>
</Properties>
</file>