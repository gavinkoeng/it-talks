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C590AF-A971-4737-9E4B-FB107873FA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87CE2F-A1E0-4BB5-AB9E-2FF13D8633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C28D596-89CF-4C02-B00D-D587EFB750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BF354C8-2326-4A51-AB73-43D92311AC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7E0F2A1-DD3C-4F02-ACB0-D7C5D92F99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51DD08D-0717-42FB-A01A-EA6F8942C0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77EFB6E-4E2B-481E-B788-407B6CCA1C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3CBD17D-45A6-4A1E-A524-1FBDE4AA5B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48B309C-4ADE-4CAE-A45F-A02AA68AF5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D91D207-6855-418D-8467-7BC019935E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8985"/>
          </a:bodyPr>
          <a:p>
            <a:pPr indent="0" algn="ctr" defTabSz="914400">
              <a:lnSpc>
                <a:spcPct val="13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7800" cy="81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点击以编辑提纲文本格式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第二提纲级别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第三提纲级别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第四提纲级别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第五提纲级别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第六提纲级别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第七提纲级别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3" name="直接连接符 7"/>
          <p:cNvCxnSpPr/>
          <p:nvPr/>
        </p:nvCxnSpPr>
        <p:spPr>
          <a:xfrm>
            <a:off x="742680" y="434160"/>
            <a:ext cx="360" cy="1391760"/>
          </a:xfrm>
          <a:prstGeom prst="straightConnector1">
            <a:avLst/>
          </a:prstGeom>
          <a:ln>
            <a:solidFill>
              <a:srgbClr val="5b9bd5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itle 1"/>
          <p:cNvSpPr/>
          <p:nvPr/>
        </p:nvSpPr>
        <p:spPr>
          <a:xfrm>
            <a:off x="918360" y="784080"/>
            <a:ext cx="11059920" cy="45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数学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人建立的交互通道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物理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人感知的客观世界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信息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差异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局部量化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+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结构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整体统计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运行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存储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传输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计算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度量层：标量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矢量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信息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感知层：物质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作用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时空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公理层：光子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因果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维度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信息技术</a:t>
            </a:r>
            <a:r>
              <a:rPr b="1" lang="en-US" sz="1800" spc="-1" strike="noStrike">
                <a:solidFill>
                  <a:schemeClr val="lt1"/>
                </a:solidFill>
                <a:latin typeface="Arial Black"/>
              </a:rPr>
              <a:t>(IT) = 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剥离人感知的客观世界，通过人建立的交互通道，基于人自身所处的时空环境来使用信息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s 47"/>
          <p:cNvSpPr/>
          <p:nvPr/>
        </p:nvSpPr>
        <p:spPr>
          <a:xfrm>
            <a:off x="10791720" y="4886280"/>
            <a:ext cx="1337760" cy="1116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边界感知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s 13"/>
          <p:cNvSpPr/>
          <p:nvPr/>
        </p:nvSpPr>
        <p:spPr>
          <a:xfrm>
            <a:off x="69840" y="5542920"/>
            <a:ext cx="11397960" cy="456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增加逻辑局限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itle 1"/>
          <p:cNvSpPr/>
          <p:nvPr/>
        </p:nvSpPr>
        <p:spPr>
          <a:xfrm>
            <a:off x="918360" y="784080"/>
            <a:ext cx="11059920" cy="45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数学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人建立的交互通道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物理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人感知的客观世界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信息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差异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局部量化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+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结构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整体统计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形式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保存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传输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呈现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度量层：标量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矢量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信息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感知层：物质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作用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时空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公理层：光子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因果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维度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信息技术</a:t>
            </a:r>
            <a:r>
              <a:rPr b="1" lang="en-US" sz="1800" spc="-1" strike="noStrike">
                <a:solidFill>
                  <a:schemeClr val="lt1"/>
                </a:solidFill>
                <a:latin typeface="Arial Black"/>
              </a:rPr>
              <a:t>(IT) = 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剥离人感知的客观世界，通过人建立的交互通道，基于人自身所处的时空环境来使用信息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8" name="Rectangles 6"/>
          <p:cNvSpPr/>
          <p:nvPr/>
        </p:nvSpPr>
        <p:spPr>
          <a:xfrm>
            <a:off x="69840" y="4893840"/>
            <a:ext cx="822276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人的感知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（增加线性局限，引入时空背景）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s 46"/>
          <p:cNvSpPr/>
          <p:nvPr/>
        </p:nvSpPr>
        <p:spPr>
          <a:xfrm>
            <a:off x="8607600" y="4894560"/>
            <a:ext cx="188748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人难感知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s 47"/>
          <p:cNvSpPr/>
          <p:nvPr/>
        </p:nvSpPr>
        <p:spPr>
          <a:xfrm>
            <a:off x="10791720" y="4886280"/>
            <a:ext cx="1337760" cy="1116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边界感知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s 13"/>
          <p:cNvSpPr/>
          <p:nvPr/>
        </p:nvSpPr>
        <p:spPr>
          <a:xfrm>
            <a:off x="69840" y="5542920"/>
            <a:ext cx="11397960" cy="456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增加逻辑局限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itle 1"/>
          <p:cNvSpPr/>
          <p:nvPr/>
        </p:nvSpPr>
        <p:spPr>
          <a:xfrm>
            <a:off x="918360" y="784080"/>
            <a:ext cx="11059920" cy="45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数学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人建立的交互通道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物理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人感知的客观世界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信息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差异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局部量化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+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结构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整体统计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形式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保存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传输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呈现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度量层：标量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矢量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信息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感知层：物质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作用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时空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公理层：光子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因果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维度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信息技术</a:t>
            </a:r>
            <a:r>
              <a:rPr b="1" lang="en-US" sz="1800" spc="-1" strike="noStrike">
                <a:solidFill>
                  <a:schemeClr val="lt1"/>
                </a:solidFill>
                <a:latin typeface="Arial Black"/>
              </a:rPr>
              <a:t>(IT) = 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剥离人感知的客观世界，通过人建立的交互通道，基于人自身所处的时空环境来使用信息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Rectangles 6"/>
          <p:cNvSpPr/>
          <p:nvPr/>
        </p:nvSpPr>
        <p:spPr>
          <a:xfrm>
            <a:off x="69840" y="4893840"/>
            <a:ext cx="822276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人的感知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（增加线性局限，引入时空背景）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s 11"/>
          <p:cNvSpPr/>
          <p:nvPr/>
        </p:nvSpPr>
        <p:spPr>
          <a:xfrm>
            <a:off x="1651680" y="4300920"/>
            <a:ext cx="52365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绑定时空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增加时空局限，弱化线性局限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s 17"/>
          <p:cNvSpPr/>
          <p:nvPr/>
        </p:nvSpPr>
        <p:spPr>
          <a:xfrm>
            <a:off x="10789200" y="410724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罗素悖论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s 18"/>
          <p:cNvSpPr/>
          <p:nvPr/>
        </p:nvSpPr>
        <p:spPr>
          <a:xfrm>
            <a:off x="10789200" y="3642480"/>
            <a:ext cx="1340280" cy="455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无穷大运算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ectangles 19"/>
          <p:cNvSpPr/>
          <p:nvPr/>
        </p:nvSpPr>
        <p:spPr>
          <a:xfrm>
            <a:off x="10797480" y="315972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连续统假设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ectangles 20"/>
          <p:cNvSpPr/>
          <p:nvPr/>
        </p:nvSpPr>
        <p:spPr>
          <a:xfrm>
            <a:off x="10789200" y="4573440"/>
            <a:ext cx="1340280" cy="318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s 21"/>
          <p:cNvSpPr/>
          <p:nvPr/>
        </p:nvSpPr>
        <p:spPr>
          <a:xfrm>
            <a:off x="8615520" y="4572720"/>
            <a:ext cx="1870920" cy="313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ectangles 22"/>
          <p:cNvSpPr/>
          <p:nvPr/>
        </p:nvSpPr>
        <p:spPr>
          <a:xfrm>
            <a:off x="8604720" y="4086360"/>
            <a:ext cx="188496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分形几何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s 23"/>
          <p:cNvSpPr/>
          <p:nvPr/>
        </p:nvSpPr>
        <p:spPr>
          <a:xfrm>
            <a:off x="8607960" y="3626640"/>
            <a:ext cx="188100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非交换几何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ectangles 28"/>
          <p:cNvSpPr/>
          <p:nvPr/>
        </p:nvSpPr>
        <p:spPr>
          <a:xfrm>
            <a:off x="8607600" y="3153960"/>
            <a:ext cx="189144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高阶奇异泛函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s 45"/>
          <p:cNvSpPr/>
          <p:nvPr/>
        </p:nvSpPr>
        <p:spPr>
          <a:xfrm>
            <a:off x="8607600" y="2630880"/>
            <a:ext cx="189144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魏尔斯特拉斯函数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s 46"/>
          <p:cNvSpPr/>
          <p:nvPr/>
        </p:nvSpPr>
        <p:spPr>
          <a:xfrm>
            <a:off x="8607600" y="4894560"/>
            <a:ext cx="188748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人难感知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s 47"/>
          <p:cNvSpPr/>
          <p:nvPr/>
        </p:nvSpPr>
        <p:spPr>
          <a:xfrm>
            <a:off x="10791720" y="4886280"/>
            <a:ext cx="1337760" cy="1116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边界感知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s 13"/>
          <p:cNvSpPr/>
          <p:nvPr/>
        </p:nvSpPr>
        <p:spPr>
          <a:xfrm>
            <a:off x="69840" y="5542920"/>
            <a:ext cx="11397960" cy="456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增加逻辑局限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s 7"/>
          <p:cNvSpPr/>
          <p:nvPr/>
        </p:nvSpPr>
        <p:spPr>
          <a:xfrm>
            <a:off x="10788480" y="2635920"/>
            <a:ext cx="1340280" cy="5331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哥德尔定理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ectangles 14"/>
          <p:cNvSpPr/>
          <p:nvPr/>
        </p:nvSpPr>
        <p:spPr>
          <a:xfrm>
            <a:off x="7256880" y="4310280"/>
            <a:ext cx="10389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时空辅助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Rectangles 6"/>
          <p:cNvSpPr/>
          <p:nvPr/>
        </p:nvSpPr>
        <p:spPr>
          <a:xfrm>
            <a:off x="69840" y="4893840"/>
            <a:ext cx="822276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人的感知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（增加线性局限，引入时空背景）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s 8"/>
          <p:cNvSpPr/>
          <p:nvPr/>
        </p:nvSpPr>
        <p:spPr>
          <a:xfrm>
            <a:off x="69840" y="3935880"/>
            <a:ext cx="3341520" cy="9504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细节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s 9"/>
          <p:cNvSpPr/>
          <p:nvPr/>
        </p:nvSpPr>
        <p:spPr>
          <a:xfrm>
            <a:off x="3914280" y="3614400"/>
            <a:ext cx="1824480" cy="71532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整体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s 10"/>
          <p:cNvSpPr/>
          <p:nvPr/>
        </p:nvSpPr>
        <p:spPr>
          <a:xfrm>
            <a:off x="6057360" y="1638360"/>
            <a:ext cx="831960" cy="268128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复杂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ectangles 11"/>
          <p:cNvSpPr/>
          <p:nvPr/>
        </p:nvSpPr>
        <p:spPr>
          <a:xfrm>
            <a:off x="1651680" y="4300920"/>
            <a:ext cx="52365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绑定时空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增加时空局限，弱化线性局限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s 17"/>
          <p:cNvSpPr/>
          <p:nvPr/>
        </p:nvSpPr>
        <p:spPr>
          <a:xfrm>
            <a:off x="10789200" y="410724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罗素悖论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s 18"/>
          <p:cNvSpPr/>
          <p:nvPr/>
        </p:nvSpPr>
        <p:spPr>
          <a:xfrm>
            <a:off x="10789200" y="3642480"/>
            <a:ext cx="1340280" cy="455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无穷大运算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ectangles 19"/>
          <p:cNvSpPr/>
          <p:nvPr/>
        </p:nvSpPr>
        <p:spPr>
          <a:xfrm>
            <a:off x="10797480" y="315972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连续统假设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s 20"/>
          <p:cNvSpPr/>
          <p:nvPr/>
        </p:nvSpPr>
        <p:spPr>
          <a:xfrm>
            <a:off x="10789200" y="4573440"/>
            <a:ext cx="1340280" cy="318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s 21"/>
          <p:cNvSpPr/>
          <p:nvPr/>
        </p:nvSpPr>
        <p:spPr>
          <a:xfrm>
            <a:off x="8615520" y="4572720"/>
            <a:ext cx="1870920" cy="313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s 22"/>
          <p:cNvSpPr/>
          <p:nvPr/>
        </p:nvSpPr>
        <p:spPr>
          <a:xfrm>
            <a:off x="8604720" y="4086360"/>
            <a:ext cx="188496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分形几何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ectangles 23"/>
          <p:cNvSpPr/>
          <p:nvPr/>
        </p:nvSpPr>
        <p:spPr>
          <a:xfrm>
            <a:off x="8607960" y="3626640"/>
            <a:ext cx="188100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非交换几何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s 28"/>
          <p:cNvSpPr/>
          <p:nvPr/>
        </p:nvSpPr>
        <p:spPr>
          <a:xfrm>
            <a:off x="8607600" y="3153960"/>
            <a:ext cx="189144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高阶奇异泛函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ectangles 45"/>
          <p:cNvSpPr/>
          <p:nvPr/>
        </p:nvSpPr>
        <p:spPr>
          <a:xfrm>
            <a:off x="8607600" y="2630880"/>
            <a:ext cx="189144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魏尔斯特拉斯函数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s 46"/>
          <p:cNvSpPr/>
          <p:nvPr/>
        </p:nvSpPr>
        <p:spPr>
          <a:xfrm>
            <a:off x="8607600" y="4894560"/>
            <a:ext cx="188748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人难感知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s 47"/>
          <p:cNvSpPr/>
          <p:nvPr/>
        </p:nvSpPr>
        <p:spPr>
          <a:xfrm>
            <a:off x="10791720" y="4886280"/>
            <a:ext cx="1337760" cy="1116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边界感知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s 13"/>
          <p:cNvSpPr/>
          <p:nvPr/>
        </p:nvSpPr>
        <p:spPr>
          <a:xfrm>
            <a:off x="69840" y="5542920"/>
            <a:ext cx="11397960" cy="456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增加逻辑局限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s 2"/>
          <p:cNvSpPr/>
          <p:nvPr/>
        </p:nvSpPr>
        <p:spPr>
          <a:xfrm>
            <a:off x="7260120" y="2115720"/>
            <a:ext cx="1032120" cy="27702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脱离时空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s 7"/>
          <p:cNvSpPr/>
          <p:nvPr/>
        </p:nvSpPr>
        <p:spPr>
          <a:xfrm>
            <a:off x="10788480" y="2635920"/>
            <a:ext cx="1340280" cy="5331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哥德尔定理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s 14"/>
          <p:cNvSpPr/>
          <p:nvPr/>
        </p:nvSpPr>
        <p:spPr>
          <a:xfrm>
            <a:off x="7256880" y="4310280"/>
            <a:ext cx="10389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时空辅助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s 3"/>
          <p:cNvSpPr/>
          <p:nvPr/>
        </p:nvSpPr>
        <p:spPr>
          <a:xfrm>
            <a:off x="3914280" y="2310120"/>
            <a:ext cx="1825200" cy="1312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微积分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s 39"/>
          <p:cNvSpPr/>
          <p:nvPr/>
        </p:nvSpPr>
        <p:spPr>
          <a:xfrm>
            <a:off x="4637880" y="3008520"/>
            <a:ext cx="105192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微分方程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Rectangles 24"/>
          <p:cNvSpPr/>
          <p:nvPr/>
        </p:nvSpPr>
        <p:spPr>
          <a:xfrm>
            <a:off x="68040" y="2301840"/>
            <a:ext cx="3344040" cy="16333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线性代数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s 6"/>
          <p:cNvSpPr/>
          <p:nvPr/>
        </p:nvSpPr>
        <p:spPr>
          <a:xfrm>
            <a:off x="69840" y="4893840"/>
            <a:ext cx="822276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人的感知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（增加线性局限，引入时空背景）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s 8"/>
          <p:cNvSpPr/>
          <p:nvPr/>
        </p:nvSpPr>
        <p:spPr>
          <a:xfrm>
            <a:off x="69840" y="3935880"/>
            <a:ext cx="3341520" cy="9504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细节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Rectangles 9"/>
          <p:cNvSpPr/>
          <p:nvPr/>
        </p:nvSpPr>
        <p:spPr>
          <a:xfrm>
            <a:off x="3914280" y="3614400"/>
            <a:ext cx="1824480" cy="71532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整体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ectangles 10"/>
          <p:cNvSpPr/>
          <p:nvPr/>
        </p:nvSpPr>
        <p:spPr>
          <a:xfrm>
            <a:off x="6057360" y="1638360"/>
            <a:ext cx="831960" cy="268128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复杂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s 11"/>
          <p:cNvSpPr/>
          <p:nvPr/>
        </p:nvSpPr>
        <p:spPr>
          <a:xfrm>
            <a:off x="1651680" y="4300920"/>
            <a:ext cx="52365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绑定时空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增加时空局限，弱化线性局限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s 17"/>
          <p:cNvSpPr/>
          <p:nvPr/>
        </p:nvSpPr>
        <p:spPr>
          <a:xfrm>
            <a:off x="10789200" y="410724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罗素悖论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Rectangles 18"/>
          <p:cNvSpPr/>
          <p:nvPr/>
        </p:nvSpPr>
        <p:spPr>
          <a:xfrm>
            <a:off x="10789200" y="3642480"/>
            <a:ext cx="1340280" cy="455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无穷大运算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ectangles 19"/>
          <p:cNvSpPr/>
          <p:nvPr/>
        </p:nvSpPr>
        <p:spPr>
          <a:xfrm>
            <a:off x="10797480" y="315972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连续统假设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s 20"/>
          <p:cNvSpPr/>
          <p:nvPr/>
        </p:nvSpPr>
        <p:spPr>
          <a:xfrm>
            <a:off x="10789200" y="4573440"/>
            <a:ext cx="1340280" cy="318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s 21"/>
          <p:cNvSpPr/>
          <p:nvPr/>
        </p:nvSpPr>
        <p:spPr>
          <a:xfrm>
            <a:off x="8615520" y="4572720"/>
            <a:ext cx="1870920" cy="313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ectangles 22"/>
          <p:cNvSpPr/>
          <p:nvPr/>
        </p:nvSpPr>
        <p:spPr>
          <a:xfrm>
            <a:off x="8604720" y="4086360"/>
            <a:ext cx="188496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分形几何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s 23"/>
          <p:cNvSpPr/>
          <p:nvPr/>
        </p:nvSpPr>
        <p:spPr>
          <a:xfrm>
            <a:off x="8607960" y="3626640"/>
            <a:ext cx="188100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非交换几何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ectangles 28"/>
          <p:cNvSpPr/>
          <p:nvPr/>
        </p:nvSpPr>
        <p:spPr>
          <a:xfrm>
            <a:off x="8607600" y="3153960"/>
            <a:ext cx="189144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高阶奇异泛函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s 29"/>
          <p:cNvSpPr/>
          <p:nvPr/>
        </p:nvSpPr>
        <p:spPr>
          <a:xfrm>
            <a:off x="1148760" y="3279600"/>
            <a:ext cx="106056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矢量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向量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有方向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s 30"/>
          <p:cNvSpPr/>
          <p:nvPr/>
        </p:nvSpPr>
        <p:spPr>
          <a:xfrm>
            <a:off x="2213640" y="3279600"/>
            <a:ext cx="1025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----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张量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时空封装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s 31"/>
          <p:cNvSpPr/>
          <p:nvPr/>
        </p:nvSpPr>
        <p:spPr>
          <a:xfrm>
            <a:off x="146520" y="3279600"/>
            <a:ext cx="998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标量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标量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无方向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tangles 34"/>
          <p:cNvSpPr/>
          <p:nvPr/>
        </p:nvSpPr>
        <p:spPr>
          <a:xfrm>
            <a:off x="3954240" y="2799000"/>
            <a:ext cx="75708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积分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s 37"/>
          <p:cNvSpPr/>
          <p:nvPr/>
        </p:nvSpPr>
        <p:spPr>
          <a:xfrm>
            <a:off x="3956760" y="3204360"/>
            <a:ext cx="75456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微分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s 33"/>
          <p:cNvSpPr/>
          <p:nvPr/>
        </p:nvSpPr>
        <p:spPr>
          <a:xfrm>
            <a:off x="3412440" y="2918520"/>
            <a:ext cx="676080" cy="50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泰勒展开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s 38"/>
          <p:cNvSpPr/>
          <p:nvPr/>
        </p:nvSpPr>
        <p:spPr>
          <a:xfrm>
            <a:off x="147240" y="2882880"/>
            <a:ext cx="3092760" cy="4042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线性变换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s 45"/>
          <p:cNvSpPr/>
          <p:nvPr/>
        </p:nvSpPr>
        <p:spPr>
          <a:xfrm>
            <a:off x="8607600" y="2630880"/>
            <a:ext cx="189144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魏尔斯特拉斯函数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ectangles 46"/>
          <p:cNvSpPr/>
          <p:nvPr/>
        </p:nvSpPr>
        <p:spPr>
          <a:xfrm>
            <a:off x="8607600" y="4894560"/>
            <a:ext cx="188748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人难感知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s 47"/>
          <p:cNvSpPr/>
          <p:nvPr/>
        </p:nvSpPr>
        <p:spPr>
          <a:xfrm>
            <a:off x="10791720" y="4886280"/>
            <a:ext cx="1337760" cy="1116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边界感知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s 13"/>
          <p:cNvSpPr/>
          <p:nvPr/>
        </p:nvSpPr>
        <p:spPr>
          <a:xfrm>
            <a:off x="69840" y="5542920"/>
            <a:ext cx="11397960" cy="456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增加逻辑局限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s 2"/>
          <p:cNvSpPr/>
          <p:nvPr/>
        </p:nvSpPr>
        <p:spPr>
          <a:xfrm>
            <a:off x="7260120" y="2115720"/>
            <a:ext cx="1032120" cy="27702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脱离时空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ectangles 7"/>
          <p:cNvSpPr/>
          <p:nvPr/>
        </p:nvSpPr>
        <p:spPr>
          <a:xfrm>
            <a:off x="10788480" y="2635920"/>
            <a:ext cx="1340280" cy="5331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哥德尔定理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s 14"/>
          <p:cNvSpPr/>
          <p:nvPr/>
        </p:nvSpPr>
        <p:spPr>
          <a:xfrm>
            <a:off x="7256880" y="4310280"/>
            <a:ext cx="10389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时空辅助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s 3"/>
          <p:cNvSpPr/>
          <p:nvPr/>
        </p:nvSpPr>
        <p:spPr>
          <a:xfrm>
            <a:off x="3914280" y="2310120"/>
            <a:ext cx="1825200" cy="1312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微积分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s 39"/>
          <p:cNvSpPr/>
          <p:nvPr/>
        </p:nvSpPr>
        <p:spPr>
          <a:xfrm>
            <a:off x="4637880" y="3008520"/>
            <a:ext cx="105192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微分方程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9" name="Rectangles 24"/>
          <p:cNvSpPr/>
          <p:nvPr/>
        </p:nvSpPr>
        <p:spPr>
          <a:xfrm>
            <a:off x="68040" y="2301840"/>
            <a:ext cx="3344040" cy="16333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线性代数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s 6"/>
          <p:cNvSpPr/>
          <p:nvPr/>
        </p:nvSpPr>
        <p:spPr>
          <a:xfrm>
            <a:off x="69840" y="4893840"/>
            <a:ext cx="822276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人的感知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（增加线性局限，引入时空背景）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s 8"/>
          <p:cNvSpPr/>
          <p:nvPr/>
        </p:nvSpPr>
        <p:spPr>
          <a:xfrm>
            <a:off x="69840" y="3935880"/>
            <a:ext cx="3341520" cy="9504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细节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ectangles 9"/>
          <p:cNvSpPr/>
          <p:nvPr/>
        </p:nvSpPr>
        <p:spPr>
          <a:xfrm>
            <a:off x="3914280" y="3614400"/>
            <a:ext cx="1824480" cy="71532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整体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Rectangles 10"/>
          <p:cNvSpPr/>
          <p:nvPr/>
        </p:nvSpPr>
        <p:spPr>
          <a:xfrm>
            <a:off x="6057360" y="1638360"/>
            <a:ext cx="831960" cy="268128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复杂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ectangles 11"/>
          <p:cNvSpPr/>
          <p:nvPr/>
        </p:nvSpPr>
        <p:spPr>
          <a:xfrm>
            <a:off x="1651680" y="4300920"/>
            <a:ext cx="52365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绑定时空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增加时空局限，弱化线性局限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s 17"/>
          <p:cNvSpPr/>
          <p:nvPr/>
        </p:nvSpPr>
        <p:spPr>
          <a:xfrm>
            <a:off x="10789200" y="410724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罗素悖论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Rectangles 18"/>
          <p:cNvSpPr/>
          <p:nvPr/>
        </p:nvSpPr>
        <p:spPr>
          <a:xfrm>
            <a:off x="10789200" y="3642480"/>
            <a:ext cx="1340280" cy="455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无穷大运算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ectangles 19"/>
          <p:cNvSpPr/>
          <p:nvPr/>
        </p:nvSpPr>
        <p:spPr>
          <a:xfrm>
            <a:off x="10797480" y="315972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连续统假设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ctangles 20"/>
          <p:cNvSpPr/>
          <p:nvPr/>
        </p:nvSpPr>
        <p:spPr>
          <a:xfrm>
            <a:off x="10789200" y="4573440"/>
            <a:ext cx="1340280" cy="318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s 21"/>
          <p:cNvSpPr/>
          <p:nvPr/>
        </p:nvSpPr>
        <p:spPr>
          <a:xfrm>
            <a:off x="8615520" y="4572720"/>
            <a:ext cx="1870920" cy="313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ectangles 22"/>
          <p:cNvSpPr/>
          <p:nvPr/>
        </p:nvSpPr>
        <p:spPr>
          <a:xfrm>
            <a:off x="8604720" y="4086360"/>
            <a:ext cx="188496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分形几何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ectangles 23"/>
          <p:cNvSpPr/>
          <p:nvPr/>
        </p:nvSpPr>
        <p:spPr>
          <a:xfrm>
            <a:off x="8607960" y="3626640"/>
            <a:ext cx="188100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非交换几何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ectangles 28"/>
          <p:cNvSpPr/>
          <p:nvPr/>
        </p:nvSpPr>
        <p:spPr>
          <a:xfrm>
            <a:off x="8607600" y="3153960"/>
            <a:ext cx="189144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高阶奇异泛函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ectangles 29"/>
          <p:cNvSpPr/>
          <p:nvPr/>
        </p:nvSpPr>
        <p:spPr>
          <a:xfrm>
            <a:off x="1148760" y="3279600"/>
            <a:ext cx="106056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矢量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向量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有方向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s 30"/>
          <p:cNvSpPr/>
          <p:nvPr/>
        </p:nvSpPr>
        <p:spPr>
          <a:xfrm>
            <a:off x="2213640" y="3279600"/>
            <a:ext cx="1025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----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张量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时空封装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s 31"/>
          <p:cNvSpPr/>
          <p:nvPr/>
        </p:nvSpPr>
        <p:spPr>
          <a:xfrm>
            <a:off x="146520" y="3279600"/>
            <a:ext cx="998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标量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标量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无方向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s 34"/>
          <p:cNvSpPr/>
          <p:nvPr/>
        </p:nvSpPr>
        <p:spPr>
          <a:xfrm>
            <a:off x="3954240" y="2799000"/>
            <a:ext cx="75708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积分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s 37"/>
          <p:cNvSpPr/>
          <p:nvPr/>
        </p:nvSpPr>
        <p:spPr>
          <a:xfrm>
            <a:off x="3956760" y="3204360"/>
            <a:ext cx="75456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微分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s 33"/>
          <p:cNvSpPr/>
          <p:nvPr/>
        </p:nvSpPr>
        <p:spPr>
          <a:xfrm>
            <a:off x="3412440" y="2918520"/>
            <a:ext cx="676080" cy="50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泰勒展开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s 38"/>
          <p:cNvSpPr/>
          <p:nvPr/>
        </p:nvSpPr>
        <p:spPr>
          <a:xfrm>
            <a:off x="147240" y="2882880"/>
            <a:ext cx="3092760" cy="4042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线性变换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s 40"/>
          <p:cNvSpPr/>
          <p:nvPr/>
        </p:nvSpPr>
        <p:spPr>
          <a:xfrm>
            <a:off x="5225400" y="3828240"/>
            <a:ext cx="1159920" cy="6282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内蕴几何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s 42"/>
          <p:cNvSpPr/>
          <p:nvPr/>
        </p:nvSpPr>
        <p:spPr>
          <a:xfrm>
            <a:off x="3294360" y="3823200"/>
            <a:ext cx="1159920" cy="6328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微分几何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s 45"/>
          <p:cNvSpPr/>
          <p:nvPr/>
        </p:nvSpPr>
        <p:spPr>
          <a:xfrm>
            <a:off x="8607600" y="2630880"/>
            <a:ext cx="189144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魏尔斯特拉斯函数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ectangles 46"/>
          <p:cNvSpPr/>
          <p:nvPr/>
        </p:nvSpPr>
        <p:spPr>
          <a:xfrm>
            <a:off x="8607600" y="4894560"/>
            <a:ext cx="188748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人难感知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s 47"/>
          <p:cNvSpPr/>
          <p:nvPr/>
        </p:nvSpPr>
        <p:spPr>
          <a:xfrm>
            <a:off x="10791720" y="4886280"/>
            <a:ext cx="1337760" cy="1116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边界感知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s 13"/>
          <p:cNvSpPr/>
          <p:nvPr/>
        </p:nvSpPr>
        <p:spPr>
          <a:xfrm>
            <a:off x="69840" y="5542920"/>
            <a:ext cx="11397960" cy="456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增加逻辑局限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s 2"/>
          <p:cNvSpPr/>
          <p:nvPr/>
        </p:nvSpPr>
        <p:spPr>
          <a:xfrm>
            <a:off x="7260120" y="2115720"/>
            <a:ext cx="1032120" cy="27702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脱离时空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Rectangles 7"/>
          <p:cNvSpPr/>
          <p:nvPr/>
        </p:nvSpPr>
        <p:spPr>
          <a:xfrm>
            <a:off x="10788480" y="2635920"/>
            <a:ext cx="1340280" cy="5331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哥德尔定理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ectangles 14"/>
          <p:cNvSpPr/>
          <p:nvPr/>
        </p:nvSpPr>
        <p:spPr>
          <a:xfrm>
            <a:off x="7256880" y="4310280"/>
            <a:ext cx="10389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时空辅助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ectangles 44"/>
          <p:cNvSpPr/>
          <p:nvPr/>
        </p:nvSpPr>
        <p:spPr>
          <a:xfrm>
            <a:off x="6888600" y="3827160"/>
            <a:ext cx="938160" cy="608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纯拓扑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s 15"/>
          <p:cNvSpPr/>
          <p:nvPr/>
        </p:nvSpPr>
        <p:spPr>
          <a:xfrm>
            <a:off x="68760" y="2101320"/>
            <a:ext cx="8226720" cy="190800"/>
          </a:xfrm>
          <a:prstGeom prst="rect">
            <a:avLst/>
          </a:prstGeom>
          <a:solidFill>
            <a:schemeClr val="accent4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2" name="Rectangles 3"/>
          <p:cNvSpPr/>
          <p:nvPr/>
        </p:nvSpPr>
        <p:spPr>
          <a:xfrm>
            <a:off x="3914280" y="2310120"/>
            <a:ext cx="1825200" cy="1312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微积分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s 39"/>
          <p:cNvSpPr/>
          <p:nvPr/>
        </p:nvSpPr>
        <p:spPr>
          <a:xfrm>
            <a:off x="4637880" y="3008520"/>
            <a:ext cx="105192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微分方程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5" name="Rectangles 24"/>
          <p:cNvSpPr/>
          <p:nvPr/>
        </p:nvSpPr>
        <p:spPr>
          <a:xfrm>
            <a:off x="68040" y="2301840"/>
            <a:ext cx="3344040" cy="16333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线性代数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s 6"/>
          <p:cNvSpPr/>
          <p:nvPr/>
        </p:nvSpPr>
        <p:spPr>
          <a:xfrm>
            <a:off x="69840" y="4893840"/>
            <a:ext cx="822276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人的感知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（增加线性局限，引入时空背景）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s 8"/>
          <p:cNvSpPr/>
          <p:nvPr/>
        </p:nvSpPr>
        <p:spPr>
          <a:xfrm>
            <a:off x="69840" y="3935880"/>
            <a:ext cx="3341520" cy="9504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细节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Rectangles 9"/>
          <p:cNvSpPr/>
          <p:nvPr/>
        </p:nvSpPr>
        <p:spPr>
          <a:xfrm>
            <a:off x="3914280" y="3614400"/>
            <a:ext cx="1824480" cy="71532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整体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ectangles 10"/>
          <p:cNvSpPr/>
          <p:nvPr/>
        </p:nvSpPr>
        <p:spPr>
          <a:xfrm>
            <a:off x="6057360" y="1638360"/>
            <a:ext cx="831960" cy="268128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复杂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Rectangles 11"/>
          <p:cNvSpPr/>
          <p:nvPr/>
        </p:nvSpPr>
        <p:spPr>
          <a:xfrm>
            <a:off x="1651680" y="4300920"/>
            <a:ext cx="52365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绑定时空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增加时空局限，弱化线性局限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ectangles 17"/>
          <p:cNvSpPr/>
          <p:nvPr/>
        </p:nvSpPr>
        <p:spPr>
          <a:xfrm>
            <a:off x="10789200" y="410724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罗素悖论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Rectangles 18"/>
          <p:cNvSpPr/>
          <p:nvPr/>
        </p:nvSpPr>
        <p:spPr>
          <a:xfrm>
            <a:off x="10789200" y="3642480"/>
            <a:ext cx="1340280" cy="455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无穷大运算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Rectangles 19"/>
          <p:cNvSpPr/>
          <p:nvPr/>
        </p:nvSpPr>
        <p:spPr>
          <a:xfrm>
            <a:off x="10797480" y="315972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连续统假设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ectangles 20"/>
          <p:cNvSpPr/>
          <p:nvPr/>
        </p:nvSpPr>
        <p:spPr>
          <a:xfrm>
            <a:off x="10789200" y="4573440"/>
            <a:ext cx="1340280" cy="318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Rectangles 21"/>
          <p:cNvSpPr/>
          <p:nvPr/>
        </p:nvSpPr>
        <p:spPr>
          <a:xfrm>
            <a:off x="8615520" y="4572720"/>
            <a:ext cx="1870920" cy="313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ectangles 22"/>
          <p:cNvSpPr/>
          <p:nvPr/>
        </p:nvSpPr>
        <p:spPr>
          <a:xfrm>
            <a:off x="8604720" y="4086360"/>
            <a:ext cx="188496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分形几何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Rectangles 23"/>
          <p:cNvSpPr/>
          <p:nvPr/>
        </p:nvSpPr>
        <p:spPr>
          <a:xfrm>
            <a:off x="8607960" y="3626640"/>
            <a:ext cx="188100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非交换几何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Rectangles 28"/>
          <p:cNvSpPr/>
          <p:nvPr/>
        </p:nvSpPr>
        <p:spPr>
          <a:xfrm>
            <a:off x="8607600" y="3153960"/>
            <a:ext cx="189144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高阶奇异泛函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Rectangles 29"/>
          <p:cNvSpPr/>
          <p:nvPr/>
        </p:nvSpPr>
        <p:spPr>
          <a:xfrm>
            <a:off x="1148760" y="3279600"/>
            <a:ext cx="106056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矢量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向量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有方向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s 30"/>
          <p:cNvSpPr/>
          <p:nvPr/>
        </p:nvSpPr>
        <p:spPr>
          <a:xfrm>
            <a:off x="2213640" y="3279600"/>
            <a:ext cx="1025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----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张量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时空封装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s 31"/>
          <p:cNvSpPr/>
          <p:nvPr/>
        </p:nvSpPr>
        <p:spPr>
          <a:xfrm>
            <a:off x="146520" y="3279600"/>
            <a:ext cx="998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标量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标量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无方向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s 34"/>
          <p:cNvSpPr/>
          <p:nvPr/>
        </p:nvSpPr>
        <p:spPr>
          <a:xfrm>
            <a:off x="3954240" y="2799000"/>
            <a:ext cx="75708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积分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ectangles 37"/>
          <p:cNvSpPr/>
          <p:nvPr/>
        </p:nvSpPr>
        <p:spPr>
          <a:xfrm>
            <a:off x="3956760" y="3204360"/>
            <a:ext cx="75456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微分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ectangles 33"/>
          <p:cNvSpPr/>
          <p:nvPr/>
        </p:nvSpPr>
        <p:spPr>
          <a:xfrm>
            <a:off x="3412440" y="2918520"/>
            <a:ext cx="676080" cy="50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泰勒展开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s 38"/>
          <p:cNvSpPr/>
          <p:nvPr/>
        </p:nvSpPr>
        <p:spPr>
          <a:xfrm>
            <a:off x="147240" y="2882880"/>
            <a:ext cx="3092760" cy="4042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线性变换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ectangles 40"/>
          <p:cNvSpPr/>
          <p:nvPr/>
        </p:nvSpPr>
        <p:spPr>
          <a:xfrm>
            <a:off x="5225400" y="3828240"/>
            <a:ext cx="1159920" cy="6282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内蕴几何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ectangles 42"/>
          <p:cNvSpPr/>
          <p:nvPr/>
        </p:nvSpPr>
        <p:spPr>
          <a:xfrm>
            <a:off x="3294360" y="3823200"/>
            <a:ext cx="1159920" cy="6328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微分几何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s 45"/>
          <p:cNvSpPr/>
          <p:nvPr/>
        </p:nvSpPr>
        <p:spPr>
          <a:xfrm>
            <a:off x="8607600" y="2630880"/>
            <a:ext cx="189144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魏尔斯特拉斯函数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ectangles 46"/>
          <p:cNvSpPr/>
          <p:nvPr/>
        </p:nvSpPr>
        <p:spPr>
          <a:xfrm>
            <a:off x="8607600" y="4894560"/>
            <a:ext cx="188748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人难感知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s 47"/>
          <p:cNvSpPr/>
          <p:nvPr/>
        </p:nvSpPr>
        <p:spPr>
          <a:xfrm>
            <a:off x="10791720" y="4886280"/>
            <a:ext cx="1337760" cy="1116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边界感知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s 13"/>
          <p:cNvSpPr/>
          <p:nvPr/>
        </p:nvSpPr>
        <p:spPr>
          <a:xfrm>
            <a:off x="69840" y="5542920"/>
            <a:ext cx="11397960" cy="456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增加逻辑局限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s 2"/>
          <p:cNvSpPr/>
          <p:nvPr/>
        </p:nvSpPr>
        <p:spPr>
          <a:xfrm>
            <a:off x="7260120" y="2115720"/>
            <a:ext cx="1032120" cy="27702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脱离时空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ectangles 7"/>
          <p:cNvSpPr/>
          <p:nvPr/>
        </p:nvSpPr>
        <p:spPr>
          <a:xfrm>
            <a:off x="10788480" y="2635920"/>
            <a:ext cx="1340280" cy="5331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哥德尔定理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Rectangles 14"/>
          <p:cNvSpPr/>
          <p:nvPr/>
        </p:nvSpPr>
        <p:spPr>
          <a:xfrm>
            <a:off x="7256880" y="4310280"/>
            <a:ext cx="10389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时空辅助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ectangles 44"/>
          <p:cNvSpPr/>
          <p:nvPr/>
        </p:nvSpPr>
        <p:spPr>
          <a:xfrm>
            <a:off x="6888600" y="3827160"/>
            <a:ext cx="938160" cy="608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纯拓扑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s 15"/>
          <p:cNvSpPr/>
          <p:nvPr/>
        </p:nvSpPr>
        <p:spPr>
          <a:xfrm>
            <a:off x="68760" y="2101320"/>
            <a:ext cx="8226720" cy="190800"/>
          </a:xfrm>
          <a:prstGeom prst="rect">
            <a:avLst/>
          </a:prstGeom>
          <a:solidFill>
            <a:schemeClr val="accent4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8" name="Rectangles 32"/>
          <p:cNvSpPr/>
          <p:nvPr/>
        </p:nvSpPr>
        <p:spPr>
          <a:xfrm>
            <a:off x="68040" y="1620000"/>
            <a:ext cx="5988960" cy="469080"/>
          </a:xfrm>
          <a:prstGeom prst="rect">
            <a:avLst/>
          </a:prstGeom>
          <a:solidFill>
            <a:schemeClr val="accent4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泛函分析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ectangles 3"/>
          <p:cNvSpPr/>
          <p:nvPr/>
        </p:nvSpPr>
        <p:spPr>
          <a:xfrm>
            <a:off x="3914280" y="2310120"/>
            <a:ext cx="1825200" cy="1312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微积分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s 39"/>
          <p:cNvSpPr/>
          <p:nvPr/>
        </p:nvSpPr>
        <p:spPr>
          <a:xfrm>
            <a:off x="4637880" y="3008520"/>
            <a:ext cx="105192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微分方程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2" name="Rectangles 24"/>
          <p:cNvSpPr/>
          <p:nvPr/>
        </p:nvSpPr>
        <p:spPr>
          <a:xfrm>
            <a:off x="68040" y="2301840"/>
            <a:ext cx="3344040" cy="16333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线性代数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s 4"/>
          <p:cNvSpPr/>
          <p:nvPr/>
        </p:nvSpPr>
        <p:spPr>
          <a:xfrm>
            <a:off x="5734800" y="1062360"/>
            <a:ext cx="1152720" cy="5623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概率统计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s 6"/>
          <p:cNvSpPr/>
          <p:nvPr/>
        </p:nvSpPr>
        <p:spPr>
          <a:xfrm>
            <a:off x="69840" y="4893840"/>
            <a:ext cx="822276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人的感知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（增加线性局限，引入时空背景）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ctangles 8"/>
          <p:cNvSpPr/>
          <p:nvPr/>
        </p:nvSpPr>
        <p:spPr>
          <a:xfrm>
            <a:off x="69840" y="3935880"/>
            <a:ext cx="3341520" cy="9504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细节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Rectangles 9"/>
          <p:cNvSpPr/>
          <p:nvPr/>
        </p:nvSpPr>
        <p:spPr>
          <a:xfrm>
            <a:off x="3914280" y="3614400"/>
            <a:ext cx="1824480" cy="71532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整体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ectangles 10"/>
          <p:cNvSpPr/>
          <p:nvPr/>
        </p:nvSpPr>
        <p:spPr>
          <a:xfrm>
            <a:off x="6057360" y="1638360"/>
            <a:ext cx="831960" cy="268128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复杂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Rectangles 11"/>
          <p:cNvSpPr/>
          <p:nvPr/>
        </p:nvSpPr>
        <p:spPr>
          <a:xfrm>
            <a:off x="1651680" y="4300920"/>
            <a:ext cx="52365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绑定时空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增加时空局限，弱化线性局限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Rectangles 17"/>
          <p:cNvSpPr/>
          <p:nvPr/>
        </p:nvSpPr>
        <p:spPr>
          <a:xfrm>
            <a:off x="10789200" y="410724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罗素悖论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Rectangles 18"/>
          <p:cNvSpPr/>
          <p:nvPr/>
        </p:nvSpPr>
        <p:spPr>
          <a:xfrm>
            <a:off x="10789200" y="3642480"/>
            <a:ext cx="1340280" cy="455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无穷大运算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ectangles 19"/>
          <p:cNvSpPr/>
          <p:nvPr/>
        </p:nvSpPr>
        <p:spPr>
          <a:xfrm>
            <a:off x="10797480" y="315972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连续统假设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ectangles 20"/>
          <p:cNvSpPr/>
          <p:nvPr/>
        </p:nvSpPr>
        <p:spPr>
          <a:xfrm>
            <a:off x="10789200" y="4573440"/>
            <a:ext cx="1340280" cy="318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Rectangles 21"/>
          <p:cNvSpPr/>
          <p:nvPr/>
        </p:nvSpPr>
        <p:spPr>
          <a:xfrm>
            <a:off x="8615520" y="4572720"/>
            <a:ext cx="1870920" cy="313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ectangles 22"/>
          <p:cNvSpPr/>
          <p:nvPr/>
        </p:nvSpPr>
        <p:spPr>
          <a:xfrm>
            <a:off x="8604720" y="4086360"/>
            <a:ext cx="188496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分形几何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Rectangles 23"/>
          <p:cNvSpPr/>
          <p:nvPr/>
        </p:nvSpPr>
        <p:spPr>
          <a:xfrm>
            <a:off x="8607960" y="3626640"/>
            <a:ext cx="188100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非交换几何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ectangles 28"/>
          <p:cNvSpPr/>
          <p:nvPr/>
        </p:nvSpPr>
        <p:spPr>
          <a:xfrm>
            <a:off x="8607600" y="3153960"/>
            <a:ext cx="189144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高阶奇异泛函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ectangles 29"/>
          <p:cNvSpPr/>
          <p:nvPr/>
        </p:nvSpPr>
        <p:spPr>
          <a:xfrm>
            <a:off x="1148760" y="3279600"/>
            <a:ext cx="106056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矢量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向量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有方向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ectangles 30"/>
          <p:cNvSpPr/>
          <p:nvPr/>
        </p:nvSpPr>
        <p:spPr>
          <a:xfrm>
            <a:off x="2213640" y="3279600"/>
            <a:ext cx="1025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----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张量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时空封装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s 31"/>
          <p:cNvSpPr/>
          <p:nvPr/>
        </p:nvSpPr>
        <p:spPr>
          <a:xfrm>
            <a:off x="146520" y="3279600"/>
            <a:ext cx="998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标量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标量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无方向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s 34"/>
          <p:cNvSpPr/>
          <p:nvPr/>
        </p:nvSpPr>
        <p:spPr>
          <a:xfrm>
            <a:off x="3954240" y="2799000"/>
            <a:ext cx="75708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积分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ectangles 37"/>
          <p:cNvSpPr/>
          <p:nvPr/>
        </p:nvSpPr>
        <p:spPr>
          <a:xfrm>
            <a:off x="3956760" y="3204360"/>
            <a:ext cx="75456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微分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s 33"/>
          <p:cNvSpPr/>
          <p:nvPr/>
        </p:nvSpPr>
        <p:spPr>
          <a:xfrm>
            <a:off x="3412440" y="2918520"/>
            <a:ext cx="676080" cy="50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泰勒展开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s 38"/>
          <p:cNvSpPr/>
          <p:nvPr/>
        </p:nvSpPr>
        <p:spPr>
          <a:xfrm>
            <a:off x="147240" y="2882880"/>
            <a:ext cx="3092760" cy="4042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线性变换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s 40"/>
          <p:cNvSpPr/>
          <p:nvPr/>
        </p:nvSpPr>
        <p:spPr>
          <a:xfrm>
            <a:off x="5225400" y="3828240"/>
            <a:ext cx="1159920" cy="6282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内蕴几何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s 42"/>
          <p:cNvSpPr/>
          <p:nvPr/>
        </p:nvSpPr>
        <p:spPr>
          <a:xfrm>
            <a:off x="3294360" y="3823200"/>
            <a:ext cx="1159920" cy="6328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微分几何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ectangles 43"/>
          <p:cNvSpPr/>
          <p:nvPr/>
        </p:nvSpPr>
        <p:spPr>
          <a:xfrm>
            <a:off x="7256880" y="1053000"/>
            <a:ext cx="542520" cy="1043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复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析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s 45"/>
          <p:cNvSpPr/>
          <p:nvPr/>
        </p:nvSpPr>
        <p:spPr>
          <a:xfrm>
            <a:off x="8607600" y="2630880"/>
            <a:ext cx="189144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魏尔斯特拉斯函数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Rectangles 46"/>
          <p:cNvSpPr/>
          <p:nvPr/>
        </p:nvSpPr>
        <p:spPr>
          <a:xfrm>
            <a:off x="8607600" y="4894560"/>
            <a:ext cx="188748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人难感知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s 47"/>
          <p:cNvSpPr/>
          <p:nvPr/>
        </p:nvSpPr>
        <p:spPr>
          <a:xfrm>
            <a:off x="10791720" y="4886280"/>
            <a:ext cx="1337760" cy="1116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边界感知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s 13"/>
          <p:cNvSpPr/>
          <p:nvPr/>
        </p:nvSpPr>
        <p:spPr>
          <a:xfrm>
            <a:off x="69840" y="5542920"/>
            <a:ext cx="11397960" cy="456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增加逻辑局限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ectangles 2"/>
          <p:cNvSpPr/>
          <p:nvPr/>
        </p:nvSpPr>
        <p:spPr>
          <a:xfrm>
            <a:off x="7260120" y="2115720"/>
            <a:ext cx="1032120" cy="27702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脱离时空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Rectangles 41"/>
          <p:cNvSpPr/>
          <p:nvPr/>
        </p:nvSpPr>
        <p:spPr>
          <a:xfrm>
            <a:off x="7788960" y="1052280"/>
            <a:ext cx="497520" cy="10396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群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ectangles 7"/>
          <p:cNvSpPr/>
          <p:nvPr/>
        </p:nvSpPr>
        <p:spPr>
          <a:xfrm>
            <a:off x="10788480" y="2635920"/>
            <a:ext cx="1340280" cy="5331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哥德尔定理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Rectangles 14"/>
          <p:cNvSpPr/>
          <p:nvPr/>
        </p:nvSpPr>
        <p:spPr>
          <a:xfrm>
            <a:off x="7256880" y="4310280"/>
            <a:ext cx="10389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时空辅助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Rectangles 44"/>
          <p:cNvSpPr/>
          <p:nvPr/>
        </p:nvSpPr>
        <p:spPr>
          <a:xfrm>
            <a:off x="6888600" y="3827160"/>
            <a:ext cx="938160" cy="608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纯拓扑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s 15"/>
          <p:cNvSpPr/>
          <p:nvPr/>
        </p:nvSpPr>
        <p:spPr>
          <a:xfrm>
            <a:off x="68760" y="2101320"/>
            <a:ext cx="8226720" cy="190800"/>
          </a:xfrm>
          <a:prstGeom prst="rect">
            <a:avLst/>
          </a:prstGeom>
          <a:solidFill>
            <a:schemeClr val="accent4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8" name="Rectangles 32"/>
          <p:cNvSpPr/>
          <p:nvPr/>
        </p:nvSpPr>
        <p:spPr>
          <a:xfrm>
            <a:off x="68040" y="1620000"/>
            <a:ext cx="5988960" cy="469080"/>
          </a:xfrm>
          <a:prstGeom prst="rect">
            <a:avLst/>
          </a:prstGeom>
          <a:solidFill>
            <a:schemeClr val="accent4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泛函分析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s 3"/>
          <p:cNvSpPr/>
          <p:nvPr/>
        </p:nvSpPr>
        <p:spPr>
          <a:xfrm>
            <a:off x="3914280" y="2310120"/>
            <a:ext cx="1825200" cy="1312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微积分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s 39"/>
          <p:cNvSpPr/>
          <p:nvPr/>
        </p:nvSpPr>
        <p:spPr>
          <a:xfrm>
            <a:off x="4637880" y="3008520"/>
            <a:ext cx="105192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微分方程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2" name="Rectangles 24"/>
          <p:cNvSpPr/>
          <p:nvPr/>
        </p:nvSpPr>
        <p:spPr>
          <a:xfrm>
            <a:off x="68040" y="2301840"/>
            <a:ext cx="3344040" cy="16333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线性代数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ectangles 4"/>
          <p:cNvSpPr/>
          <p:nvPr/>
        </p:nvSpPr>
        <p:spPr>
          <a:xfrm>
            <a:off x="5734800" y="1062360"/>
            <a:ext cx="1152720" cy="5623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概率统计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Rectangles 6"/>
          <p:cNvSpPr/>
          <p:nvPr/>
        </p:nvSpPr>
        <p:spPr>
          <a:xfrm>
            <a:off x="69840" y="4893840"/>
            <a:ext cx="822276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人的感知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（增加线性局限，引入时空背景）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ectangles 8"/>
          <p:cNvSpPr/>
          <p:nvPr/>
        </p:nvSpPr>
        <p:spPr>
          <a:xfrm>
            <a:off x="69840" y="3935880"/>
            <a:ext cx="3341520" cy="9504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细节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ectangles 9"/>
          <p:cNvSpPr/>
          <p:nvPr/>
        </p:nvSpPr>
        <p:spPr>
          <a:xfrm>
            <a:off x="3914280" y="3614400"/>
            <a:ext cx="1824480" cy="71532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整体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Rectangles 10"/>
          <p:cNvSpPr/>
          <p:nvPr/>
        </p:nvSpPr>
        <p:spPr>
          <a:xfrm>
            <a:off x="6057360" y="1638360"/>
            <a:ext cx="831960" cy="268128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复杂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Rectangles 11"/>
          <p:cNvSpPr/>
          <p:nvPr/>
        </p:nvSpPr>
        <p:spPr>
          <a:xfrm>
            <a:off x="1651680" y="4300920"/>
            <a:ext cx="52365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绑定时空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增加时空局限，弱化线性局限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Rectangles 17"/>
          <p:cNvSpPr/>
          <p:nvPr/>
        </p:nvSpPr>
        <p:spPr>
          <a:xfrm>
            <a:off x="10789200" y="410724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罗素悖论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Rectangles 18"/>
          <p:cNvSpPr/>
          <p:nvPr/>
        </p:nvSpPr>
        <p:spPr>
          <a:xfrm>
            <a:off x="10789200" y="3642480"/>
            <a:ext cx="1340280" cy="455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无穷大运算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Rectangles 19"/>
          <p:cNvSpPr/>
          <p:nvPr/>
        </p:nvSpPr>
        <p:spPr>
          <a:xfrm>
            <a:off x="10797480" y="3159720"/>
            <a:ext cx="134028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连续统假设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Rectangles 20"/>
          <p:cNvSpPr/>
          <p:nvPr/>
        </p:nvSpPr>
        <p:spPr>
          <a:xfrm>
            <a:off x="10789200" y="4573440"/>
            <a:ext cx="1340280" cy="318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Rectangles 21"/>
          <p:cNvSpPr/>
          <p:nvPr/>
        </p:nvSpPr>
        <p:spPr>
          <a:xfrm>
            <a:off x="8615520" y="4572720"/>
            <a:ext cx="1870920" cy="313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- - -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Rectangles 22"/>
          <p:cNvSpPr/>
          <p:nvPr/>
        </p:nvSpPr>
        <p:spPr>
          <a:xfrm>
            <a:off x="8604720" y="4086360"/>
            <a:ext cx="188496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分形几何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Rectangles 23"/>
          <p:cNvSpPr/>
          <p:nvPr/>
        </p:nvSpPr>
        <p:spPr>
          <a:xfrm>
            <a:off x="8607960" y="3626640"/>
            <a:ext cx="188100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非交换几何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Rectangles 28"/>
          <p:cNvSpPr/>
          <p:nvPr/>
        </p:nvSpPr>
        <p:spPr>
          <a:xfrm>
            <a:off x="8607600" y="3153960"/>
            <a:ext cx="1891440" cy="4777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高阶奇异泛函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Rectangles 29"/>
          <p:cNvSpPr/>
          <p:nvPr/>
        </p:nvSpPr>
        <p:spPr>
          <a:xfrm>
            <a:off x="1148760" y="3279600"/>
            <a:ext cx="106056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矢量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向量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有方向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ectangles 30"/>
          <p:cNvSpPr/>
          <p:nvPr/>
        </p:nvSpPr>
        <p:spPr>
          <a:xfrm>
            <a:off x="2213640" y="3279600"/>
            <a:ext cx="1025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----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张量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时空封装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ectangles 31"/>
          <p:cNvSpPr/>
          <p:nvPr/>
        </p:nvSpPr>
        <p:spPr>
          <a:xfrm>
            <a:off x="146520" y="3279600"/>
            <a:ext cx="998640" cy="649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标量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标量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无方向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Rectangles 34"/>
          <p:cNvSpPr/>
          <p:nvPr/>
        </p:nvSpPr>
        <p:spPr>
          <a:xfrm>
            <a:off x="3954240" y="2799000"/>
            <a:ext cx="75708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积分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ectangles 37"/>
          <p:cNvSpPr/>
          <p:nvPr/>
        </p:nvSpPr>
        <p:spPr>
          <a:xfrm>
            <a:off x="3956760" y="3204360"/>
            <a:ext cx="754560" cy="41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accent5">
                    <a:lumMod val="75000"/>
                  </a:schemeClr>
                </a:solidFill>
                <a:latin typeface="Arial"/>
              </a:rPr>
              <a:t>微分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ectangles 33"/>
          <p:cNvSpPr/>
          <p:nvPr/>
        </p:nvSpPr>
        <p:spPr>
          <a:xfrm>
            <a:off x="3412440" y="2918520"/>
            <a:ext cx="676080" cy="502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泰勒展开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ectangles 38"/>
          <p:cNvSpPr/>
          <p:nvPr/>
        </p:nvSpPr>
        <p:spPr>
          <a:xfrm>
            <a:off x="147240" y="2882880"/>
            <a:ext cx="3092760" cy="4042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线性变换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Rectangles 40"/>
          <p:cNvSpPr/>
          <p:nvPr/>
        </p:nvSpPr>
        <p:spPr>
          <a:xfrm>
            <a:off x="5225400" y="3828240"/>
            <a:ext cx="1159920" cy="6282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内蕴几何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ectangles 42"/>
          <p:cNvSpPr/>
          <p:nvPr/>
        </p:nvSpPr>
        <p:spPr>
          <a:xfrm>
            <a:off x="3294360" y="3823200"/>
            <a:ext cx="1159920" cy="6328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微分几何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ectangles 43"/>
          <p:cNvSpPr/>
          <p:nvPr/>
        </p:nvSpPr>
        <p:spPr>
          <a:xfrm>
            <a:off x="7256880" y="1053000"/>
            <a:ext cx="542520" cy="1043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复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析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ectangles 45"/>
          <p:cNvSpPr/>
          <p:nvPr/>
        </p:nvSpPr>
        <p:spPr>
          <a:xfrm>
            <a:off x="8607600" y="2630880"/>
            <a:ext cx="189144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魏尔斯特拉斯函数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s 46"/>
          <p:cNvSpPr/>
          <p:nvPr/>
        </p:nvSpPr>
        <p:spPr>
          <a:xfrm>
            <a:off x="8607600" y="4894560"/>
            <a:ext cx="1887480" cy="6498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人难感知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ectangles 47"/>
          <p:cNvSpPr/>
          <p:nvPr/>
        </p:nvSpPr>
        <p:spPr>
          <a:xfrm>
            <a:off x="10791720" y="4886280"/>
            <a:ext cx="1337760" cy="1116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边界感知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Rectangles 13"/>
          <p:cNvSpPr/>
          <p:nvPr/>
        </p:nvSpPr>
        <p:spPr>
          <a:xfrm>
            <a:off x="69840" y="5542920"/>
            <a:ext cx="11397960" cy="456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增加逻辑局限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s 2"/>
          <p:cNvSpPr/>
          <p:nvPr/>
        </p:nvSpPr>
        <p:spPr>
          <a:xfrm>
            <a:off x="7260120" y="2115720"/>
            <a:ext cx="1032120" cy="27702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脱离时空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Rectangles 41"/>
          <p:cNvSpPr/>
          <p:nvPr/>
        </p:nvSpPr>
        <p:spPr>
          <a:xfrm>
            <a:off x="7788960" y="1052280"/>
            <a:ext cx="497520" cy="10396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群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ectangles 5"/>
          <p:cNvSpPr/>
          <p:nvPr/>
        </p:nvSpPr>
        <p:spPr>
          <a:xfrm>
            <a:off x="5060880" y="443160"/>
            <a:ext cx="6861600" cy="47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信息论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一般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广义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离散数学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数理逻辑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集合论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组合数学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图论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ectangles 7"/>
          <p:cNvSpPr/>
          <p:nvPr/>
        </p:nvSpPr>
        <p:spPr>
          <a:xfrm>
            <a:off x="10788480" y="2635920"/>
            <a:ext cx="1340280" cy="5331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哥德尔定理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Rectangles 14"/>
          <p:cNvSpPr/>
          <p:nvPr/>
        </p:nvSpPr>
        <p:spPr>
          <a:xfrm>
            <a:off x="7256880" y="4310280"/>
            <a:ext cx="1038960" cy="592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时空辅助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Rectangles 44"/>
          <p:cNvSpPr/>
          <p:nvPr/>
        </p:nvSpPr>
        <p:spPr>
          <a:xfrm>
            <a:off x="6888600" y="3827160"/>
            <a:ext cx="938160" cy="608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纯拓扑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LibreOffice/24.2.7.2$Linux_RISCV64 LibreOffice_project/420$Build-2</Application>
  <AppVersion>15.0000</AppVersion>
  <Words>3638</Words>
  <Paragraphs>1070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2026-04-26T15:49:56Z</dcterms:created>
  <dc:creator/>
  <dc:description/>
  <dc:language>zh-CN</dc:language>
  <cp:lastModifiedBy/>
  <dcterms:modified xsi:type="dcterms:W3CDTF">2026-07-31T00:43:40Z</dcterms:modified>
  <cp:revision>747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17</vt:i4>
  </property>
</Properties>
</file>