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529" r:id="rId3"/>
    <p:sldId id="531" r:id="rId4"/>
    <p:sldId id="530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28"/>
        <p:guide pos="378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35" y="123825"/>
            <a:ext cx="3496310" cy="1434465"/>
          </a:xfrm>
        </p:spPr>
        <p:txBody>
          <a:bodyPr/>
          <a:p>
            <a:pPr algn="ctr"/>
            <a:r>
              <a:rPr lang="zh-CN" altLang="en-US" sz="2800">
                <a:solidFill>
                  <a:srgbClr val="FFC000"/>
                </a:solidFill>
              </a:rPr>
              <a:t>科普</a:t>
            </a:r>
            <a:r>
              <a:rPr lang="en-US" altLang="zh-CN" sz="2800">
                <a:solidFill>
                  <a:srgbClr val="FFC000"/>
                </a:solidFill>
              </a:rPr>
              <a:t> + AI</a:t>
            </a:r>
            <a:br>
              <a:rPr lang="en-US" altLang="zh-CN" sz="2800">
                <a:solidFill>
                  <a:srgbClr val="FFC000"/>
                </a:solidFill>
              </a:rPr>
            </a:br>
            <a:br>
              <a:rPr lang="en-US" altLang="zh-CN" sz="800">
                <a:solidFill>
                  <a:srgbClr val="FFC000"/>
                </a:solidFill>
              </a:rPr>
            </a:br>
            <a:r>
              <a:rPr lang="zh-CN" altLang="en-US" sz="2800">
                <a:solidFill>
                  <a:srgbClr val="FFC000"/>
                </a:solidFill>
              </a:rPr>
              <a:t>把专业盘活</a:t>
            </a:r>
            <a:endParaRPr lang="zh-CN" altLang="en-US" sz="280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351915"/>
            <a:ext cx="10658475" cy="529780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FFC000"/>
                </a:solidFill>
              </a:rPr>
              <a:t>其他专业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zh-CN" altLang="en-US" sz="1800" b="1">
                <a:solidFill>
                  <a:srgbClr val="00B050"/>
                </a:solidFill>
              </a:rPr>
              <a:t>有喜欢的专业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专业学习：踏实学习行业理论，努力做好社会实践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科普</a:t>
            </a:r>
            <a:r>
              <a:rPr lang="en-US" altLang="zh-CN" b="1">
                <a:solidFill>
                  <a:srgbClr val="00B050"/>
                </a:solidFill>
              </a:rPr>
              <a:t>+AI</a:t>
            </a:r>
            <a:r>
              <a:rPr lang="zh-CN" altLang="en-US" b="1">
                <a:solidFill>
                  <a:srgbClr val="00B050"/>
                </a:solidFill>
              </a:rPr>
              <a:t>：系统完整地理解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，提升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使用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的效率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就业方案：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chemeClr val="bg1"/>
                </a:solidFill>
              </a:rPr>
              <a:t>专业为主：用</a:t>
            </a:r>
            <a:r>
              <a:rPr lang="en-US" altLang="zh-CN" sz="1600" b="1">
                <a:solidFill>
                  <a:schemeClr val="bg1"/>
                </a:solidFill>
              </a:rPr>
              <a:t>IT</a:t>
            </a:r>
            <a:r>
              <a:rPr lang="zh-CN" altLang="en-US" sz="1600" b="1">
                <a:solidFill>
                  <a:schemeClr val="bg1"/>
                </a:solidFill>
              </a:rPr>
              <a:t>给专业加分（给业务注入</a:t>
            </a:r>
            <a:r>
              <a:rPr lang="en-US" altLang="zh-CN" sz="1600" b="1">
                <a:solidFill>
                  <a:schemeClr val="bg1"/>
                </a:solidFill>
              </a:rPr>
              <a:t>IT</a:t>
            </a:r>
            <a:r>
              <a:rPr lang="zh-CN" altLang="en-US" sz="1600" b="1">
                <a:solidFill>
                  <a:schemeClr val="bg1"/>
                </a:solidFill>
              </a:rPr>
              <a:t>）</a:t>
            </a:r>
            <a:endParaRPr lang="zh-CN" altLang="en-US" sz="1600" b="1">
              <a:solidFill>
                <a:schemeClr val="bg1"/>
              </a:solidFill>
            </a:endParaRPr>
          </a:p>
          <a:p>
            <a:pPr lvl="2"/>
            <a:r>
              <a:rPr lang="zh-CN" altLang="en-US" sz="1600" b="1">
                <a:solidFill>
                  <a:schemeClr val="bg1"/>
                </a:solidFill>
              </a:rPr>
              <a:t>专业为辅：用专业给</a:t>
            </a:r>
            <a:r>
              <a:rPr lang="en-US" altLang="zh-CN" sz="1600" b="1">
                <a:solidFill>
                  <a:schemeClr val="bg1"/>
                </a:solidFill>
              </a:rPr>
              <a:t>IT</a:t>
            </a:r>
            <a:r>
              <a:rPr lang="zh-CN" altLang="en-US" sz="1600" b="1">
                <a:solidFill>
                  <a:schemeClr val="bg1"/>
                </a:solidFill>
              </a:rPr>
              <a:t>加分（让</a:t>
            </a:r>
            <a:r>
              <a:rPr lang="en-US" altLang="zh-CN" sz="1600" b="1">
                <a:solidFill>
                  <a:schemeClr val="bg1"/>
                </a:solidFill>
              </a:rPr>
              <a:t>IT</a:t>
            </a:r>
            <a:r>
              <a:rPr lang="zh-CN" altLang="en-US" sz="1600" b="1">
                <a:solidFill>
                  <a:schemeClr val="bg1"/>
                </a:solidFill>
              </a:rPr>
              <a:t>结合业务）</a:t>
            </a:r>
            <a:endParaRPr lang="zh-CN" altLang="en-US" sz="1600" b="1">
              <a:solidFill>
                <a:schemeClr val="bg1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FFC000"/>
                </a:solidFill>
              </a:rPr>
              <a:t>IT</a:t>
            </a:r>
            <a:r>
              <a:rPr lang="zh-CN" altLang="en-US" b="1">
                <a:solidFill>
                  <a:srgbClr val="FFC000"/>
                </a:solidFill>
              </a:rPr>
              <a:t>类专业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zh-CN" altLang="en-US" sz="1800" b="1">
                <a:solidFill>
                  <a:srgbClr val="00B050"/>
                </a:solidFill>
              </a:rPr>
              <a:t>天生就喜欢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学校理论：很难跟上时代发展；有主导流程，不可被强制干扰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社会实践：阶段性强时间敏感；有主导流程，与学校流程迥异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chemeClr val="bg1"/>
                </a:solidFill>
              </a:rPr>
              <a:t>科普</a:t>
            </a:r>
            <a:r>
              <a:rPr lang="en-US" altLang="zh-CN" b="1">
                <a:solidFill>
                  <a:schemeClr val="bg1"/>
                </a:solidFill>
              </a:rPr>
              <a:t>+AI</a:t>
            </a:r>
            <a:r>
              <a:rPr lang="zh-CN" altLang="en-US" b="1">
                <a:solidFill>
                  <a:schemeClr val="bg1"/>
                </a:solidFill>
              </a:rPr>
              <a:t>：辅助学校社会教育；跟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时代发展，理论实践成体系</a:t>
            </a:r>
            <a:endParaRPr lang="zh-CN" altLang="en-US" b="1">
              <a:solidFill>
                <a:schemeClr val="bg1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FFC000"/>
                </a:solidFill>
              </a:rPr>
              <a:t>辅助教育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zh-CN" altLang="en-US" sz="1800" b="1">
                <a:solidFill>
                  <a:srgbClr val="00B050"/>
                </a:solidFill>
              </a:rPr>
              <a:t>科普</a:t>
            </a:r>
            <a:r>
              <a:rPr lang="en-US" altLang="zh-CN" sz="1800" b="1">
                <a:solidFill>
                  <a:srgbClr val="00B050"/>
                </a:solidFill>
              </a:rPr>
              <a:t>+AI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类别：立身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实践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，启智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理论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，明道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精神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科普：启智为主，明道为辅；智</a:t>
            </a:r>
            <a:r>
              <a:rPr lang="en-US" altLang="zh-CN" b="1">
                <a:solidFill>
                  <a:srgbClr val="00B050"/>
                </a:solidFill>
              </a:rPr>
              <a:t>8</a:t>
            </a:r>
            <a:r>
              <a:rPr lang="zh-CN" altLang="en-US" b="1">
                <a:solidFill>
                  <a:srgbClr val="00B050"/>
                </a:solidFill>
              </a:rPr>
              <a:t>道</a:t>
            </a:r>
            <a:r>
              <a:rPr lang="en-US" altLang="zh-CN" b="1">
                <a:solidFill>
                  <a:srgbClr val="00B050"/>
                </a:solidFill>
              </a:rPr>
              <a:t>2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+AI</a:t>
            </a:r>
            <a:r>
              <a:rPr lang="zh-CN" altLang="en-US" b="1">
                <a:solidFill>
                  <a:srgbClr val="00B050"/>
                </a:solidFill>
              </a:rPr>
              <a:t>：立身为主，启智为辅；立</a:t>
            </a:r>
            <a:r>
              <a:rPr lang="en-US" altLang="zh-CN" b="1">
                <a:solidFill>
                  <a:srgbClr val="00B050"/>
                </a:solidFill>
              </a:rPr>
              <a:t>8</a:t>
            </a:r>
            <a:r>
              <a:rPr lang="zh-CN" altLang="en-US" b="1">
                <a:solidFill>
                  <a:srgbClr val="00B050"/>
                </a:solidFill>
              </a:rPr>
              <a:t>智</a:t>
            </a:r>
            <a:r>
              <a:rPr lang="en-US" altLang="zh-CN" b="1">
                <a:solidFill>
                  <a:srgbClr val="00B050"/>
                </a:solidFill>
              </a:rPr>
              <a:t>2</a:t>
            </a:r>
            <a:endParaRPr lang="en-US" altLang="zh-CN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35" y="328930"/>
            <a:ext cx="8648065" cy="937895"/>
          </a:xfrm>
        </p:spPr>
        <p:txBody>
          <a:bodyPr/>
          <a:p>
            <a:r>
              <a:rPr lang="zh-CN" altLang="en-US" sz="2800">
                <a:solidFill>
                  <a:srgbClr val="FFC000"/>
                </a:solidFill>
              </a:rPr>
              <a:t>科普</a:t>
            </a:r>
            <a:r>
              <a:rPr lang="en-US" altLang="zh-CN" sz="2800">
                <a:solidFill>
                  <a:srgbClr val="FFC000"/>
                </a:solidFill>
              </a:rPr>
              <a:t>+AI</a:t>
            </a:r>
            <a:r>
              <a:rPr lang="zh-CN" altLang="en-US" sz="2800">
                <a:solidFill>
                  <a:srgbClr val="FFC000"/>
                </a:solidFill>
              </a:rPr>
              <a:t>，把专业盘活</a:t>
            </a:r>
            <a:endParaRPr lang="zh-CN" altLang="en-US" sz="280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351915"/>
            <a:ext cx="10658475" cy="529780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FFC000"/>
                </a:solidFill>
              </a:rPr>
              <a:t>其他专业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zh-CN" altLang="en-US" sz="1800" b="1">
                <a:solidFill>
                  <a:srgbClr val="00B050"/>
                </a:solidFill>
              </a:rPr>
              <a:t>有喜欢的专业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600" b="1">
                <a:solidFill>
                  <a:srgbClr val="00B050"/>
                </a:solidFill>
              </a:rPr>
              <a:t>专业学习：踏实学习行业理论，努力做好社会实践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sz="1600" b="1">
                <a:solidFill>
                  <a:srgbClr val="00B050"/>
                </a:solidFill>
              </a:rPr>
              <a:t>科普</a:t>
            </a:r>
            <a:r>
              <a:rPr lang="en-US" altLang="zh-CN" sz="1600" b="1">
                <a:solidFill>
                  <a:srgbClr val="00B050"/>
                </a:solidFill>
              </a:rPr>
              <a:t>+AI</a:t>
            </a:r>
            <a:r>
              <a:rPr lang="zh-CN" altLang="en-US" sz="1600" b="1">
                <a:solidFill>
                  <a:srgbClr val="00B050"/>
                </a:solidFill>
              </a:rPr>
              <a:t>：系统完整地理解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，提升</a:t>
            </a:r>
            <a:r>
              <a:rPr lang="zh-CN" altLang="en-US" sz="1600" b="1">
                <a:solidFill>
                  <a:srgbClr val="00B050"/>
                </a:solidFill>
                <a:sym typeface="+mn-ea"/>
              </a:rPr>
              <a:t>使用</a:t>
            </a:r>
            <a:r>
              <a:rPr lang="en-US" altLang="zh-CN" sz="1600" b="1">
                <a:solidFill>
                  <a:srgbClr val="00B050"/>
                </a:solidFill>
              </a:rPr>
              <a:t>AI</a:t>
            </a:r>
            <a:r>
              <a:rPr lang="zh-CN" altLang="en-US" sz="1600" b="1">
                <a:solidFill>
                  <a:srgbClr val="00B050"/>
                </a:solidFill>
              </a:rPr>
              <a:t>的效率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sz="1600" b="1">
                <a:solidFill>
                  <a:srgbClr val="00B050"/>
                </a:solidFill>
              </a:rPr>
              <a:t>就业方案：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chemeClr val="bg1"/>
                </a:solidFill>
              </a:rPr>
              <a:t>专业为主：用</a:t>
            </a:r>
            <a:r>
              <a:rPr lang="en-US" altLang="zh-CN" sz="1600" b="1">
                <a:solidFill>
                  <a:schemeClr val="bg1"/>
                </a:solidFill>
              </a:rPr>
              <a:t>IT</a:t>
            </a:r>
            <a:r>
              <a:rPr lang="zh-CN" altLang="en-US" sz="1600" b="1">
                <a:solidFill>
                  <a:schemeClr val="bg1"/>
                </a:solidFill>
              </a:rPr>
              <a:t>给专业加分</a:t>
            </a:r>
            <a:r>
              <a:rPr lang="en-US" altLang="zh-CN" sz="1600" b="1">
                <a:solidFill>
                  <a:schemeClr val="bg1"/>
                </a:solidFill>
              </a:rPr>
              <a:t> (</a:t>
            </a:r>
            <a:r>
              <a:rPr lang="zh-CN" altLang="en-US" sz="1600" b="1">
                <a:solidFill>
                  <a:schemeClr val="bg1"/>
                </a:solidFill>
              </a:rPr>
              <a:t>给业务注入</a:t>
            </a:r>
            <a:r>
              <a:rPr lang="en-US" altLang="zh-CN" sz="1600" b="1">
                <a:solidFill>
                  <a:schemeClr val="bg1"/>
                </a:solidFill>
              </a:rPr>
              <a:t>IT)</a:t>
            </a:r>
            <a:endParaRPr lang="zh-CN" altLang="en-US" sz="1600" b="1">
              <a:solidFill>
                <a:schemeClr val="bg1"/>
              </a:solidFill>
            </a:endParaRPr>
          </a:p>
          <a:p>
            <a:pPr lvl="2"/>
            <a:r>
              <a:rPr lang="zh-CN" altLang="en-US" sz="1600" b="1">
                <a:solidFill>
                  <a:schemeClr val="bg1"/>
                </a:solidFill>
              </a:rPr>
              <a:t>专业为辅：用专业给</a:t>
            </a:r>
            <a:r>
              <a:rPr lang="en-US" altLang="zh-CN" sz="1600" b="1">
                <a:solidFill>
                  <a:schemeClr val="bg1"/>
                </a:solidFill>
              </a:rPr>
              <a:t>IT</a:t>
            </a:r>
            <a:r>
              <a:rPr lang="zh-CN" altLang="en-US" sz="1600" b="1">
                <a:solidFill>
                  <a:schemeClr val="bg1"/>
                </a:solidFill>
              </a:rPr>
              <a:t>加分</a:t>
            </a:r>
            <a:r>
              <a:rPr lang="en-US" altLang="zh-CN" sz="1600" b="1">
                <a:solidFill>
                  <a:schemeClr val="bg1"/>
                </a:solidFill>
              </a:rPr>
              <a:t> (</a:t>
            </a:r>
            <a:r>
              <a:rPr lang="zh-CN" altLang="en-US" sz="1600" b="1">
                <a:solidFill>
                  <a:schemeClr val="bg1"/>
                </a:solidFill>
              </a:rPr>
              <a:t>让</a:t>
            </a:r>
            <a:r>
              <a:rPr lang="en-US" altLang="zh-CN" sz="1600" b="1">
                <a:solidFill>
                  <a:schemeClr val="bg1"/>
                </a:solidFill>
              </a:rPr>
              <a:t>IT</a:t>
            </a:r>
            <a:r>
              <a:rPr lang="zh-CN" altLang="en-US" sz="1600" b="1">
                <a:solidFill>
                  <a:schemeClr val="bg1"/>
                </a:solidFill>
              </a:rPr>
              <a:t>结合业务</a:t>
            </a:r>
            <a:r>
              <a:rPr lang="en-US" altLang="zh-CN" sz="1600" b="1">
                <a:solidFill>
                  <a:schemeClr val="bg1"/>
                </a:solidFill>
              </a:rPr>
              <a:t>)</a:t>
            </a:r>
            <a:endParaRPr lang="zh-CN" altLang="en-US" sz="1600" b="1">
              <a:solidFill>
                <a:schemeClr val="bg1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FFC000"/>
                </a:solidFill>
              </a:rPr>
              <a:t>IT</a:t>
            </a:r>
            <a:r>
              <a:rPr lang="zh-CN" altLang="en-US" b="1">
                <a:solidFill>
                  <a:srgbClr val="FFC000"/>
                </a:solidFill>
              </a:rPr>
              <a:t>类专业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zh-CN" altLang="en-US" sz="1800" b="1">
                <a:solidFill>
                  <a:srgbClr val="00B050"/>
                </a:solidFill>
              </a:rPr>
              <a:t>天生就喜欢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600" b="1">
                <a:solidFill>
                  <a:srgbClr val="00B050"/>
                </a:solidFill>
              </a:rPr>
              <a:t>学校理论：很难跟上时代发展，有主导流程，不可被强制干扰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sz="1600" b="1">
                <a:solidFill>
                  <a:srgbClr val="00B050"/>
                </a:solidFill>
              </a:rPr>
              <a:t>社会实践：阶段性强时间敏感，有主导流程，与学校流程迥异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sz="1600" b="1">
                <a:solidFill>
                  <a:schemeClr val="bg1"/>
                </a:solidFill>
              </a:rPr>
              <a:t>科普</a:t>
            </a:r>
            <a:r>
              <a:rPr lang="en-US" altLang="zh-CN" sz="1600" b="1">
                <a:solidFill>
                  <a:schemeClr val="bg1"/>
                </a:solidFill>
              </a:rPr>
              <a:t>+AI</a:t>
            </a:r>
            <a:r>
              <a:rPr lang="zh-CN" altLang="en-US" sz="1600" b="1">
                <a:solidFill>
                  <a:schemeClr val="bg1"/>
                </a:solidFill>
              </a:rPr>
              <a:t>：辅助学校社会教育，跟</a:t>
            </a:r>
            <a:r>
              <a:rPr lang="zh-CN" altLang="en-US" sz="1600" b="1">
                <a:solidFill>
                  <a:schemeClr val="bg1"/>
                </a:solidFill>
                <a:sym typeface="+mn-ea"/>
              </a:rPr>
              <a:t>时代发展，理论实践成体系</a:t>
            </a:r>
            <a:endParaRPr lang="zh-CN" altLang="en-US" sz="1600" b="1">
              <a:solidFill>
                <a:schemeClr val="bg1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FFC000"/>
                </a:solidFill>
              </a:rPr>
              <a:t>辅助教育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zh-CN" altLang="en-US" sz="1800" b="1">
                <a:solidFill>
                  <a:srgbClr val="00B050"/>
                </a:solidFill>
              </a:rPr>
              <a:t>科普</a:t>
            </a:r>
            <a:r>
              <a:rPr lang="en-US" altLang="zh-CN" sz="1800" b="1">
                <a:solidFill>
                  <a:srgbClr val="00B050"/>
                </a:solidFill>
              </a:rPr>
              <a:t>+AI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600" b="1">
                <a:solidFill>
                  <a:srgbClr val="00B050"/>
                </a:solidFill>
              </a:rPr>
              <a:t>类别：立身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实践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，启智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理论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，明道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精神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sz="1600" b="1">
                <a:solidFill>
                  <a:srgbClr val="00B050"/>
                </a:solidFill>
              </a:rPr>
              <a:t>科普：启智为主，明道为辅，智</a:t>
            </a:r>
            <a:r>
              <a:rPr lang="en-US" altLang="zh-CN" sz="1600" b="1">
                <a:solidFill>
                  <a:srgbClr val="00B050"/>
                </a:solidFill>
              </a:rPr>
              <a:t>8</a:t>
            </a:r>
            <a:r>
              <a:rPr lang="zh-CN" altLang="en-US" sz="1600" b="1">
                <a:solidFill>
                  <a:srgbClr val="00B050"/>
                </a:solidFill>
              </a:rPr>
              <a:t>道</a:t>
            </a:r>
            <a:r>
              <a:rPr lang="en-US" altLang="zh-CN" sz="1600" b="1">
                <a:solidFill>
                  <a:srgbClr val="00B050"/>
                </a:solidFill>
              </a:rPr>
              <a:t>2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en-US" altLang="zh-CN" sz="1600" b="1">
                <a:solidFill>
                  <a:srgbClr val="00B050"/>
                </a:solidFill>
              </a:rPr>
              <a:t>+AI</a:t>
            </a:r>
            <a:r>
              <a:rPr lang="zh-CN" altLang="en-US" sz="1600" b="1">
                <a:solidFill>
                  <a:srgbClr val="00B050"/>
                </a:solidFill>
              </a:rPr>
              <a:t>：立身为主，启智为辅，立</a:t>
            </a:r>
            <a:r>
              <a:rPr lang="en-US" altLang="zh-CN" sz="1600" b="1">
                <a:solidFill>
                  <a:srgbClr val="00B050"/>
                </a:solidFill>
              </a:rPr>
              <a:t>8</a:t>
            </a:r>
            <a:r>
              <a:rPr lang="zh-CN" altLang="en-US" sz="1600" b="1">
                <a:solidFill>
                  <a:srgbClr val="00B050"/>
                </a:solidFill>
              </a:rPr>
              <a:t>智</a:t>
            </a:r>
            <a:r>
              <a:rPr lang="en-US" altLang="zh-CN" sz="1600" b="1">
                <a:solidFill>
                  <a:srgbClr val="00B050"/>
                </a:solidFill>
              </a:rPr>
              <a:t>2</a:t>
            </a:r>
            <a:endParaRPr lang="en-US" altLang="zh-CN" sz="16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35" y="328930"/>
            <a:ext cx="8648065" cy="937895"/>
          </a:xfrm>
        </p:spPr>
        <p:txBody>
          <a:bodyPr/>
          <a:p>
            <a:r>
              <a:rPr lang="zh-CN" altLang="en-US" sz="2800">
                <a:solidFill>
                  <a:srgbClr val="FFC000"/>
                </a:solidFill>
              </a:rPr>
              <a:t>科普</a:t>
            </a:r>
            <a:r>
              <a:rPr lang="en-US" altLang="zh-CN" sz="2800">
                <a:solidFill>
                  <a:srgbClr val="FFC000"/>
                </a:solidFill>
              </a:rPr>
              <a:t>+AI</a:t>
            </a:r>
            <a:r>
              <a:rPr lang="zh-CN" altLang="en-US" sz="2800">
                <a:solidFill>
                  <a:srgbClr val="FFC000"/>
                </a:solidFill>
              </a:rPr>
              <a:t>，把专业“盘活”</a:t>
            </a:r>
            <a:endParaRPr lang="zh-CN" altLang="en-US" sz="280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351915"/>
            <a:ext cx="10658475" cy="529780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FFC000"/>
                </a:solidFill>
              </a:rPr>
              <a:t>其他专业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zh-CN" altLang="en-US" sz="1800" b="1">
                <a:solidFill>
                  <a:srgbClr val="00B050"/>
                </a:solidFill>
              </a:rPr>
              <a:t>有喜欢的专业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专业学习：踏实学习行业理论，努力做好社会实践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科普</a:t>
            </a:r>
            <a:r>
              <a:rPr lang="en-US" altLang="zh-CN" b="1">
                <a:solidFill>
                  <a:srgbClr val="00B050"/>
                </a:solidFill>
              </a:rPr>
              <a:t>+AI</a:t>
            </a:r>
            <a:r>
              <a:rPr lang="zh-CN" altLang="en-US" b="1">
                <a:solidFill>
                  <a:srgbClr val="00B050"/>
                </a:solidFill>
              </a:rPr>
              <a:t>：系统完整地理解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，提升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使用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的效率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就业方案：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chemeClr val="bg1"/>
                </a:solidFill>
              </a:rPr>
              <a:t>专业为主：用</a:t>
            </a:r>
            <a:r>
              <a:rPr lang="en-US" altLang="zh-CN" sz="1600" b="1">
                <a:solidFill>
                  <a:schemeClr val="bg1"/>
                </a:solidFill>
              </a:rPr>
              <a:t>IT</a:t>
            </a:r>
            <a:r>
              <a:rPr lang="zh-CN" altLang="en-US" sz="1600" b="1">
                <a:solidFill>
                  <a:schemeClr val="bg1"/>
                </a:solidFill>
              </a:rPr>
              <a:t>给专业加分（给业务注入</a:t>
            </a:r>
            <a:r>
              <a:rPr lang="en-US" altLang="zh-CN" sz="1600" b="1">
                <a:solidFill>
                  <a:schemeClr val="bg1"/>
                </a:solidFill>
              </a:rPr>
              <a:t>IT</a:t>
            </a:r>
            <a:r>
              <a:rPr lang="zh-CN" altLang="en-US" sz="1600" b="1">
                <a:solidFill>
                  <a:schemeClr val="bg1"/>
                </a:solidFill>
              </a:rPr>
              <a:t>）</a:t>
            </a:r>
            <a:endParaRPr lang="zh-CN" altLang="en-US" sz="1600" b="1">
              <a:solidFill>
                <a:schemeClr val="bg1"/>
              </a:solidFill>
            </a:endParaRPr>
          </a:p>
          <a:p>
            <a:pPr lvl="2"/>
            <a:r>
              <a:rPr lang="zh-CN" altLang="en-US" sz="1600" b="1">
                <a:solidFill>
                  <a:schemeClr val="bg1"/>
                </a:solidFill>
              </a:rPr>
              <a:t>专业为辅：用专业给</a:t>
            </a:r>
            <a:r>
              <a:rPr lang="en-US" altLang="zh-CN" sz="1600" b="1">
                <a:solidFill>
                  <a:schemeClr val="bg1"/>
                </a:solidFill>
              </a:rPr>
              <a:t>IT</a:t>
            </a:r>
            <a:r>
              <a:rPr lang="zh-CN" altLang="en-US" sz="1600" b="1">
                <a:solidFill>
                  <a:schemeClr val="bg1"/>
                </a:solidFill>
              </a:rPr>
              <a:t>加分（让</a:t>
            </a:r>
            <a:r>
              <a:rPr lang="en-US" altLang="zh-CN" sz="1600" b="1">
                <a:solidFill>
                  <a:schemeClr val="bg1"/>
                </a:solidFill>
              </a:rPr>
              <a:t>IT</a:t>
            </a:r>
            <a:r>
              <a:rPr lang="zh-CN" altLang="en-US" sz="1600" b="1">
                <a:solidFill>
                  <a:schemeClr val="bg1"/>
                </a:solidFill>
              </a:rPr>
              <a:t>结合业务）</a:t>
            </a:r>
            <a:endParaRPr lang="zh-CN" altLang="en-US" sz="1600" b="1">
              <a:solidFill>
                <a:schemeClr val="bg1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FFC000"/>
                </a:solidFill>
              </a:rPr>
              <a:t>IT</a:t>
            </a:r>
            <a:r>
              <a:rPr lang="zh-CN" altLang="en-US" b="1">
                <a:solidFill>
                  <a:srgbClr val="FFC000"/>
                </a:solidFill>
              </a:rPr>
              <a:t>类专业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zh-CN" altLang="en-US" sz="1800" b="1">
                <a:solidFill>
                  <a:srgbClr val="00B050"/>
                </a:solidFill>
              </a:rPr>
              <a:t>天生就喜欢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学校理论：很难跟上时代发展；有主导流程，不可被强制干扰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社会实践：阶段性强时间敏感；有主导流程，与学校流程迥异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chemeClr val="bg1"/>
                </a:solidFill>
              </a:rPr>
              <a:t>科普</a:t>
            </a:r>
            <a:r>
              <a:rPr lang="en-US" altLang="zh-CN" b="1">
                <a:solidFill>
                  <a:schemeClr val="bg1"/>
                </a:solidFill>
              </a:rPr>
              <a:t>+AI</a:t>
            </a:r>
            <a:r>
              <a:rPr lang="zh-CN" altLang="en-US" b="1">
                <a:solidFill>
                  <a:schemeClr val="bg1"/>
                </a:solidFill>
              </a:rPr>
              <a:t>：辅助学校社会教育；跟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时代发展，理论实践成体系</a:t>
            </a:r>
            <a:endParaRPr lang="zh-CN" altLang="en-US" b="1">
              <a:solidFill>
                <a:schemeClr val="bg1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FFC000"/>
                </a:solidFill>
              </a:rPr>
              <a:t>辅助教育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zh-CN" altLang="en-US" sz="1800" b="1">
                <a:solidFill>
                  <a:srgbClr val="00B050"/>
                </a:solidFill>
              </a:rPr>
              <a:t>科普</a:t>
            </a:r>
            <a:r>
              <a:rPr lang="en-US" altLang="zh-CN" sz="1800" b="1">
                <a:solidFill>
                  <a:srgbClr val="00B050"/>
                </a:solidFill>
              </a:rPr>
              <a:t>+AI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类别：立身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实践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，启智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理论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，明道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精神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科普：启智为主，明道为辅；智</a:t>
            </a:r>
            <a:r>
              <a:rPr lang="en-US" altLang="zh-CN" b="1">
                <a:solidFill>
                  <a:srgbClr val="00B050"/>
                </a:solidFill>
              </a:rPr>
              <a:t>8</a:t>
            </a:r>
            <a:r>
              <a:rPr lang="zh-CN" altLang="en-US" b="1">
                <a:solidFill>
                  <a:srgbClr val="00B050"/>
                </a:solidFill>
              </a:rPr>
              <a:t>道</a:t>
            </a:r>
            <a:r>
              <a:rPr lang="en-US" altLang="zh-CN" b="1">
                <a:solidFill>
                  <a:srgbClr val="00B050"/>
                </a:solidFill>
              </a:rPr>
              <a:t>2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+AI</a:t>
            </a:r>
            <a:r>
              <a:rPr lang="zh-CN" altLang="en-US" b="1">
                <a:solidFill>
                  <a:srgbClr val="00B050"/>
                </a:solidFill>
              </a:rPr>
              <a:t>：立身为主，启智为辅；立</a:t>
            </a:r>
            <a:r>
              <a:rPr lang="en-US" altLang="zh-CN" b="1">
                <a:solidFill>
                  <a:srgbClr val="00B050"/>
                </a:solidFill>
              </a:rPr>
              <a:t>8</a:t>
            </a:r>
            <a:r>
              <a:rPr lang="zh-CN" altLang="en-US" b="1">
                <a:solidFill>
                  <a:srgbClr val="00B050"/>
                </a:solidFill>
              </a:rPr>
              <a:t>智</a:t>
            </a:r>
            <a:r>
              <a:rPr lang="en-US" altLang="zh-CN" b="1">
                <a:solidFill>
                  <a:srgbClr val="00B050"/>
                </a:solidFill>
              </a:rPr>
              <a:t>2</a:t>
            </a:r>
            <a:endParaRPr lang="en-US" altLang="zh-CN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850</Words>
  <Application>WPS Presentation</Application>
  <PresentationFormat>宽屏</PresentationFormat>
  <Paragraphs>57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OpenSymbol</vt:lpstr>
      <vt:lpstr>Office Theme</vt:lpstr>
      <vt:lpstr>科普+AI，把专业选’活’</vt:lpstr>
      <vt:lpstr>科普+AI，把专业盘活</vt:lpstr>
      <vt:lpstr>科普+AI，把专业“盘活”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1131</cp:revision>
  <dcterms:created xsi:type="dcterms:W3CDTF">2026-03-26T17:05:09Z</dcterms:created>
  <dcterms:modified xsi:type="dcterms:W3CDTF">2026-03-26T17:05:09Z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