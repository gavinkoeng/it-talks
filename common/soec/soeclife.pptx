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</p:sldIdLst>
  <p:sldSz cx="12192000" cy="6858000"/>
  <p:notesSz cx="7104063" cy="102346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9F73BD-C4D4-43A7-86AB-E9AC8C8AE6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06F7FF-9F32-491E-9C74-33D401B671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A68E6FE-67A8-4B49-B180-A2CF7346B5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D52C04A-FCAB-457F-B2E2-B4A36A29EB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0F4E6EB-B5D3-46C0-B153-6BCEF9CA47B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4DF77BC-F069-4158-BC9D-184CD6D0696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949537D-6D07-44F9-830B-800B6888BE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1B51E48-07EF-468E-B149-627F138BD4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2EDA9E26-896D-44AD-89D5-6E5C62C3B9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DA9EDEBA-519E-4C9B-81AC-29B8757733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323000"/>
            <a:ext cx="9143640" cy="218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8985"/>
          </a:bodyPr>
          <a:p>
            <a:pPr indent="0" algn="ctr" defTabSz="914400">
              <a:lnSpc>
                <a:spcPct val="13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838080" y="551520"/>
            <a:ext cx="10515240" cy="555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24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1960" y="3750840"/>
            <a:ext cx="9847800" cy="81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1960" y="4610160"/>
            <a:ext cx="7321320" cy="64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24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98176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74492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615760"/>
            <a:ext cx="5157360" cy="357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74492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615760"/>
            <a:ext cx="5182920" cy="357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2766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8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46920" y="127080"/>
            <a:ext cx="416484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24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4000" y="766440"/>
            <a:ext cx="5816880" cy="509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点击以编辑提纲文本格式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第二提纲级别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第三提纲级别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第四提纲级别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第五提纲级别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第六提纲级别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第七提纲级别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51960" y="2057400"/>
            <a:ext cx="416484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53" name="直接连接符 7"/>
          <p:cNvCxnSpPr/>
          <p:nvPr/>
        </p:nvCxnSpPr>
        <p:spPr>
          <a:xfrm>
            <a:off x="742680" y="434160"/>
            <a:ext cx="360" cy="1391760"/>
          </a:xfrm>
          <a:prstGeom prst="straightConnector1">
            <a:avLst/>
          </a:prstGeom>
          <a:ln>
            <a:solidFill>
              <a:srgbClr val="5b9bd5"/>
            </a:solidFill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9824400" y="365040"/>
            <a:ext cx="15289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887976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296160" y="92160"/>
            <a:ext cx="618444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个体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 经济 社会 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误区分析 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锚点与模板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s 2"/>
          <p:cNvSpPr/>
          <p:nvPr/>
        </p:nvSpPr>
        <p:spPr>
          <a:xfrm>
            <a:off x="72360" y="600192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硬件层（客观）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Rectangles 3"/>
          <p:cNvSpPr/>
          <p:nvPr/>
        </p:nvSpPr>
        <p:spPr>
          <a:xfrm>
            <a:off x="76320" y="75996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应用层（生活）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Rectangles 4"/>
          <p:cNvSpPr/>
          <p:nvPr/>
        </p:nvSpPr>
        <p:spPr>
          <a:xfrm>
            <a:off x="72360" y="4789800"/>
            <a:ext cx="12057120" cy="12117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系统层（个体）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Rectangles 5"/>
          <p:cNvSpPr/>
          <p:nvPr/>
        </p:nvSpPr>
        <p:spPr>
          <a:xfrm>
            <a:off x="72360" y="1443240"/>
            <a:ext cx="12057120" cy="1124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交互层（社会）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Rectangles 6"/>
          <p:cNvSpPr/>
          <p:nvPr/>
        </p:nvSpPr>
        <p:spPr>
          <a:xfrm>
            <a:off x="72360" y="3078360"/>
            <a:ext cx="12057120" cy="12315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业务层（经济）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296160" y="92160"/>
            <a:ext cx="618444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个体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 经济 社会 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误区分类 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架构设计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s 2"/>
          <p:cNvSpPr/>
          <p:nvPr/>
        </p:nvSpPr>
        <p:spPr>
          <a:xfrm>
            <a:off x="72360" y="600192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硬件层（客观）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Rectangles 3"/>
          <p:cNvSpPr/>
          <p:nvPr/>
        </p:nvSpPr>
        <p:spPr>
          <a:xfrm>
            <a:off x="76320" y="75996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应用层（生活）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Rectangles 4"/>
          <p:cNvSpPr/>
          <p:nvPr/>
        </p:nvSpPr>
        <p:spPr>
          <a:xfrm>
            <a:off x="72360" y="4789800"/>
            <a:ext cx="12057120" cy="12117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系统层（个体）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Rectangles 5"/>
          <p:cNvSpPr/>
          <p:nvPr/>
        </p:nvSpPr>
        <p:spPr>
          <a:xfrm>
            <a:off x="72360" y="1443240"/>
            <a:ext cx="12057120" cy="1124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交互层（社会）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Rectangles 6"/>
          <p:cNvSpPr/>
          <p:nvPr/>
        </p:nvSpPr>
        <p:spPr>
          <a:xfrm>
            <a:off x="72360" y="3078360"/>
            <a:ext cx="12057120" cy="12315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业务层（经济）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Rectangles 10"/>
          <p:cNvSpPr/>
          <p:nvPr/>
        </p:nvSpPr>
        <p:spPr>
          <a:xfrm>
            <a:off x="189360" y="3144600"/>
            <a:ext cx="4875840" cy="10944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通用框架（通用经济学）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Rectangles 11"/>
          <p:cNvSpPr/>
          <p:nvPr/>
        </p:nvSpPr>
        <p:spPr>
          <a:xfrm>
            <a:off x="7033320" y="3138840"/>
            <a:ext cx="4973760" cy="11116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各类业务平台（细分经济学）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296160" y="92160"/>
            <a:ext cx="618444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个体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 经济 社会 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误区分类 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架构设计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s 2"/>
          <p:cNvSpPr/>
          <p:nvPr/>
        </p:nvSpPr>
        <p:spPr>
          <a:xfrm>
            <a:off x="72360" y="600192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硬件层（客观）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s 3"/>
          <p:cNvSpPr/>
          <p:nvPr/>
        </p:nvSpPr>
        <p:spPr>
          <a:xfrm>
            <a:off x="76320" y="75996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应用层（生活）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ectangles 4"/>
          <p:cNvSpPr/>
          <p:nvPr/>
        </p:nvSpPr>
        <p:spPr>
          <a:xfrm>
            <a:off x="72360" y="4789800"/>
            <a:ext cx="12057120" cy="12117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系统层（个体）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Rectangles 5"/>
          <p:cNvSpPr/>
          <p:nvPr/>
        </p:nvSpPr>
        <p:spPr>
          <a:xfrm>
            <a:off x="72360" y="1443240"/>
            <a:ext cx="12057120" cy="1124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交互层（社会）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Rectangles 6"/>
          <p:cNvSpPr/>
          <p:nvPr/>
        </p:nvSpPr>
        <p:spPr>
          <a:xfrm>
            <a:off x="72360" y="3078360"/>
            <a:ext cx="12057120" cy="12315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业务层（经济）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Rectangles 10"/>
          <p:cNvSpPr/>
          <p:nvPr/>
        </p:nvSpPr>
        <p:spPr>
          <a:xfrm>
            <a:off x="189360" y="3144600"/>
            <a:ext cx="4875840" cy="10944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通用框架（通用经济学）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Rectangles 11"/>
          <p:cNvSpPr/>
          <p:nvPr/>
        </p:nvSpPr>
        <p:spPr>
          <a:xfrm>
            <a:off x="7033320" y="3138840"/>
            <a:ext cx="3485880" cy="11116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各类业务平台（细分经济学）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296160" y="92160"/>
            <a:ext cx="618444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个体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 经济 社会 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误区分类 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架构设计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2" name="Rectangles 1"/>
          <p:cNvSpPr/>
          <p:nvPr/>
        </p:nvSpPr>
        <p:spPr>
          <a:xfrm>
            <a:off x="10668600" y="1163880"/>
            <a:ext cx="1454400" cy="48369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工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具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链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^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文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明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v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s 2"/>
          <p:cNvSpPr/>
          <p:nvPr/>
        </p:nvSpPr>
        <p:spPr>
          <a:xfrm>
            <a:off x="72360" y="600192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硬件层（客观）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ectangles 3"/>
          <p:cNvSpPr/>
          <p:nvPr/>
        </p:nvSpPr>
        <p:spPr>
          <a:xfrm>
            <a:off x="76320" y="75996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应用层（生活）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ectangles 4"/>
          <p:cNvSpPr/>
          <p:nvPr/>
        </p:nvSpPr>
        <p:spPr>
          <a:xfrm>
            <a:off x="72360" y="4789800"/>
            <a:ext cx="12057120" cy="12117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系统层（个体）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Rectangles 5"/>
          <p:cNvSpPr/>
          <p:nvPr/>
        </p:nvSpPr>
        <p:spPr>
          <a:xfrm>
            <a:off x="72360" y="1443240"/>
            <a:ext cx="12057120" cy="1124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交互层（社会）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Rectangles 6"/>
          <p:cNvSpPr/>
          <p:nvPr/>
        </p:nvSpPr>
        <p:spPr>
          <a:xfrm>
            <a:off x="72360" y="3078360"/>
            <a:ext cx="12057120" cy="12315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业务层（经济）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Rectangles 7"/>
          <p:cNvSpPr/>
          <p:nvPr/>
        </p:nvSpPr>
        <p:spPr>
          <a:xfrm>
            <a:off x="10668600" y="1163880"/>
            <a:ext cx="1454400" cy="48369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工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具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链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^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文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明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v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Rectangles 39"/>
          <p:cNvSpPr/>
          <p:nvPr/>
        </p:nvSpPr>
        <p:spPr>
          <a:xfrm>
            <a:off x="820440" y="509220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个人与自然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空间向外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ectangles 8"/>
          <p:cNvSpPr/>
          <p:nvPr/>
        </p:nvSpPr>
        <p:spPr>
          <a:xfrm>
            <a:off x="3259440" y="507096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个人与他人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空间交界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s 9"/>
          <p:cNvSpPr/>
          <p:nvPr/>
        </p:nvSpPr>
        <p:spPr>
          <a:xfrm>
            <a:off x="7538040" y="507096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个人与自身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空间向内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ectangles 10"/>
          <p:cNvSpPr/>
          <p:nvPr/>
        </p:nvSpPr>
        <p:spPr>
          <a:xfrm>
            <a:off x="189360" y="3144600"/>
            <a:ext cx="4875840" cy="10944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通用框架（通用经济学）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Rectangles 11"/>
          <p:cNvSpPr/>
          <p:nvPr/>
        </p:nvSpPr>
        <p:spPr>
          <a:xfrm>
            <a:off x="7033320" y="3138840"/>
            <a:ext cx="3485880" cy="11116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各类业务平台（细分经济学）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296160" y="92160"/>
            <a:ext cx="618444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个体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 经济 社会 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误区分类 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架构设计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s 2"/>
          <p:cNvSpPr/>
          <p:nvPr/>
        </p:nvSpPr>
        <p:spPr>
          <a:xfrm>
            <a:off x="72360" y="600192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硬件层（客观）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ectangles 3"/>
          <p:cNvSpPr/>
          <p:nvPr/>
        </p:nvSpPr>
        <p:spPr>
          <a:xfrm>
            <a:off x="76320" y="75996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应用层（生活）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s 4"/>
          <p:cNvSpPr/>
          <p:nvPr/>
        </p:nvSpPr>
        <p:spPr>
          <a:xfrm>
            <a:off x="72360" y="4789800"/>
            <a:ext cx="12057120" cy="12117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系统层（个体）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Rectangles 5"/>
          <p:cNvSpPr/>
          <p:nvPr/>
        </p:nvSpPr>
        <p:spPr>
          <a:xfrm>
            <a:off x="72360" y="1443240"/>
            <a:ext cx="12057120" cy="1124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交互层（社会）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Rectangles 6"/>
          <p:cNvSpPr/>
          <p:nvPr/>
        </p:nvSpPr>
        <p:spPr>
          <a:xfrm>
            <a:off x="72360" y="3078360"/>
            <a:ext cx="12057120" cy="12315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业务层（经济）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Rectangles 7"/>
          <p:cNvSpPr/>
          <p:nvPr/>
        </p:nvSpPr>
        <p:spPr>
          <a:xfrm>
            <a:off x="10668600" y="1163880"/>
            <a:ext cx="1454400" cy="48369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工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具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链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^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文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明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v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Rectangles 39"/>
          <p:cNvSpPr/>
          <p:nvPr/>
        </p:nvSpPr>
        <p:spPr>
          <a:xfrm>
            <a:off x="820440" y="509220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个人与自然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空间向外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ectangles 8"/>
          <p:cNvSpPr/>
          <p:nvPr/>
        </p:nvSpPr>
        <p:spPr>
          <a:xfrm>
            <a:off x="3259440" y="507096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个人与他人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空间交界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ectangles 9"/>
          <p:cNvSpPr/>
          <p:nvPr/>
        </p:nvSpPr>
        <p:spPr>
          <a:xfrm>
            <a:off x="7538040" y="507096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个人与自身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空间向内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ectangles 10"/>
          <p:cNvSpPr/>
          <p:nvPr/>
        </p:nvSpPr>
        <p:spPr>
          <a:xfrm>
            <a:off x="189360" y="3144600"/>
            <a:ext cx="4875840" cy="10944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通用框架（通用经济学）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Rectangles 11"/>
          <p:cNvSpPr/>
          <p:nvPr/>
        </p:nvSpPr>
        <p:spPr>
          <a:xfrm>
            <a:off x="7033320" y="3138840"/>
            <a:ext cx="3485880" cy="11116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各类业务平台（细分经济学）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Rectangles 13"/>
          <p:cNvSpPr/>
          <p:nvPr/>
        </p:nvSpPr>
        <p:spPr>
          <a:xfrm>
            <a:off x="283320" y="353052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个人与发展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时序向前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ectangles 14"/>
          <p:cNvSpPr/>
          <p:nvPr/>
        </p:nvSpPr>
        <p:spPr>
          <a:xfrm>
            <a:off x="1901160" y="352980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个人与分配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时序当下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ectangles 15"/>
          <p:cNvSpPr/>
          <p:nvPr/>
        </p:nvSpPr>
        <p:spPr>
          <a:xfrm>
            <a:off x="3509640" y="353052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个人与积累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时序向后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ectangles 17"/>
          <p:cNvSpPr/>
          <p:nvPr/>
        </p:nvSpPr>
        <p:spPr>
          <a:xfrm>
            <a:off x="7301880" y="3668400"/>
            <a:ext cx="1149120" cy="4021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政治经济学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ectangles 18"/>
          <p:cNvSpPr/>
          <p:nvPr/>
        </p:nvSpPr>
        <p:spPr>
          <a:xfrm>
            <a:off x="8599320" y="3665880"/>
            <a:ext cx="1149120" cy="4021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战时经济学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ectangles 19"/>
          <p:cNvSpPr/>
          <p:nvPr/>
        </p:nvSpPr>
        <p:spPr>
          <a:xfrm>
            <a:off x="9890640" y="3813120"/>
            <a:ext cx="75960" cy="759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2" name="Rectangles 20"/>
          <p:cNvSpPr/>
          <p:nvPr/>
        </p:nvSpPr>
        <p:spPr>
          <a:xfrm>
            <a:off x="10027800" y="3808080"/>
            <a:ext cx="75960" cy="759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3" name="Rectangles 21"/>
          <p:cNvSpPr/>
          <p:nvPr/>
        </p:nvSpPr>
        <p:spPr>
          <a:xfrm>
            <a:off x="10154880" y="3813120"/>
            <a:ext cx="75960" cy="759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296160" y="92160"/>
            <a:ext cx="618444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个体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 经济 社会 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误区分类 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架构设计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s 2"/>
          <p:cNvSpPr/>
          <p:nvPr/>
        </p:nvSpPr>
        <p:spPr>
          <a:xfrm>
            <a:off x="72360" y="600192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硬件层（客观）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ectangles 3"/>
          <p:cNvSpPr/>
          <p:nvPr/>
        </p:nvSpPr>
        <p:spPr>
          <a:xfrm>
            <a:off x="76320" y="75996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应用层（生活）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ectangles 4"/>
          <p:cNvSpPr/>
          <p:nvPr/>
        </p:nvSpPr>
        <p:spPr>
          <a:xfrm>
            <a:off x="72360" y="4789800"/>
            <a:ext cx="12057120" cy="12117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系统层（个体）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Rectangles 5"/>
          <p:cNvSpPr/>
          <p:nvPr/>
        </p:nvSpPr>
        <p:spPr>
          <a:xfrm>
            <a:off x="72360" y="1443240"/>
            <a:ext cx="12057120" cy="1124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交互层（社会）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Rectangles 6"/>
          <p:cNvSpPr/>
          <p:nvPr/>
        </p:nvSpPr>
        <p:spPr>
          <a:xfrm>
            <a:off x="72360" y="3078360"/>
            <a:ext cx="12057120" cy="12315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业务层（经济）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Rectangles 7"/>
          <p:cNvSpPr/>
          <p:nvPr/>
        </p:nvSpPr>
        <p:spPr>
          <a:xfrm>
            <a:off x="10668600" y="1163880"/>
            <a:ext cx="1454400" cy="48369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工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具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链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^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文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明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v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Rectangles 39"/>
          <p:cNvSpPr/>
          <p:nvPr/>
        </p:nvSpPr>
        <p:spPr>
          <a:xfrm>
            <a:off x="820440" y="509220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个人与自然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空间向外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ectangles 8"/>
          <p:cNvSpPr/>
          <p:nvPr/>
        </p:nvSpPr>
        <p:spPr>
          <a:xfrm>
            <a:off x="3259440" y="507096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个人与他人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空间交界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ectangles 9"/>
          <p:cNvSpPr/>
          <p:nvPr/>
        </p:nvSpPr>
        <p:spPr>
          <a:xfrm>
            <a:off x="7538040" y="507096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个人与自身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空间向内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ectangles 10"/>
          <p:cNvSpPr/>
          <p:nvPr/>
        </p:nvSpPr>
        <p:spPr>
          <a:xfrm>
            <a:off x="189360" y="3144600"/>
            <a:ext cx="4875840" cy="10944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通用框架（通用经济学）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Rectangles 11"/>
          <p:cNvSpPr/>
          <p:nvPr/>
        </p:nvSpPr>
        <p:spPr>
          <a:xfrm>
            <a:off x="7033320" y="3138840"/>
            <a:ext cx="3485880" cy="11116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各类业务平台（细分经济学）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Rectangles 13"/>
          <p:cNvSpPr/>
          <p:nvPr/>
        </p:nvSpPr>
        <p:spPr>
          <a:xfrm>
            <a:off x="283320" y="353052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个人与发展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时序向前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ectangles 14"/>
          <p:cNvSpPr/>
          <p:nvPr/>
        </p:nvSpPr>
        <p:spPr>
          <a:xfrm>
            <a:off x="1901160" y="352980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个人与分配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时序当下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ectangles 15"/>
          <p:cNvSpPr/>
          <p:nvPr/>
        </p:nvSpPr>
        <p:spPr>
          <a:xfrm>
            <a:off x="3509640" y="353052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个人与积累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时序向后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ectangles 17"/>
          <p:cNvSpPr/>
          <p:nvPr/>
        </p:nvSpPr>
        <p:spPr>
          <a:xfrm>
            <a:off x="7301880" y="3668400"/>
            <a:ext cx="1149120" cy="4021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政治经济学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Rectangles 18"/>
          <p:cNvSpPr/>
          <p:nvPr/>
        </p:nvSpPr>
        <p:spPr>
          <a:xfrm>
            <a:off x="8599320" y="3665880"/>
            <a:ext cx="1149120" cy="4021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战时经济学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ectangles 19"/>
          <p:cNvSpPr/>
          <p:nvPr/>
        </p:nvSpPr>
        <p:spPr>
          <a:xfrm>
            <a:off x="9890640" y="3813120"/>
            <a:ext cx="75960" cy="759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2" name="Rectangles 20"/>
          <p:cNvSpPr/>
          <p:nvPr/>
        </p:nvSpPr>
        <p:spPr>
          <a:xfrm>
            <a:off x="10027800" y="3808080"/>
            <a:ext cx="75960" cy="759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3" name="Rectangles 21"/>
          <p:cNvSpPr/>
          <p:nvPr/>
        </p:nvSpPr>
        <p:spPr>
          <a:xfrm>
            <a:off x="10154880" y="3813120"/>
            <a:ext cx="75960" cy="759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4" name="Rectangles 22"/>
          <p:cNvSpPr/>
          <p:nvPr/>
        </p:nvSpPr>
        <p:spPr>
          <a:xfrm>
            <a:off x="820440" y="167256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个人与时代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时序向后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Rectangles 23"/>
          <p:cNvSpPr/>
          <p:nvPr/>
        </p:nvSpPr>
        <p:spPr>
          <a:xfrm>
            <a:off x="3259440" y="167148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个人与处世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时序当下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ectangles 24"/>
          <p:cNvSpPr/>
          <p:nvPr/>
        </p:nvSpPr>
        <p:spPr>
          <a:xfrm>
            <a:off x="7538040" y="168588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个人与政策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时序向前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3296160" y="92160"/>
            <a:ext cx="618444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个体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 经济 社会 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误区分类 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架构设计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3296160" y="92160"/>
            <a:ext cx="618444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个体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 经济 社会 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误区分类 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架构设计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9" name="Rectangles 2"/>
          <p:cNvSpPr/>
          <p:nvPr/>
        </p:nvSpPr>
        <p:spPr>
          <a:xfrm>
            <a:off x="72360" y="600192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硬件层（客观）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Rectangles 3"/>
          <p:cNvSpPr/>
          <p:nvPr/>
        </p:nvSpPr>
        <p:spPr>
          <a:xfrm>
            <a:off x="76320" y="75996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应用层（生活）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ectangles 4"/>
          <p:cNvSpPr/>
          <p:nvPr/>
        </p:nvSpPr>
        <p:spPr>
          <a:xfrm>
            <a:off x="72360" y="4789800"/>
            <a:ext cx="12057120" cy="12117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系统层（个体）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Rectangles 5"/>
          <p:cNvSpPr/>
          <p:nvPr/>
        </p:nvSpPr>
        <p:spPr>
          <a:xfrm>
            <a:off x="72360" y="1443240"/>
            <a:ext cx="12057120" cy="1124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交互层（社会）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Rectangles 6"/>
          <p:cNvSpPr/>
          <p:nvPr/>
        </p:nvSpPr>
        <p:spPr>
          <a:xfrm>
            <a:off x="72360" y="3078360"/>
            <a:ext cx="12057120" cy="12315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业务层（经济）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Rectangles 7"/>
          <p:cNvSpPr/>
          <p:nvPr/>
        </p:nvSpPr>
        <p:spPr>
          <a:xfrm>
            <a:off x="10668600" y="1163880"/>
            <a:ext cx="1454400" cy="48369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工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  。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具   。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链   。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^    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文    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明    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v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   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Rectangles 39"/>
          <p:cNvSpPr/>
          <p:nvPr/>
        </p:nvSpPr>
        <p:spPr>
          <a:xfrm>
            <a:off x="820440" y="509220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个人与自然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空间向外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ectangles 8"/>
          <p:cNvSpPr/>
          <p:nvPr/>
        </p:nvSpPr>
        <p:spPr>
          <a:xfrm>
            <a:off x="3259440" y="507096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个人与他人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空间交界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ectangles 9"/>
          <p:cNvSpPr/>
          <p:nvPr/>
        </p:nvSpPr>
        <p:spPr>
          <a:xfrm>
            <a:off x="7538040" y="507096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个人与自身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空间向内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ectangles 10"/>
          <p:cNvSpPr/>
          <p:nvPr/>
        </p:nvSpPr>
        <p:spPr>
          <a:xfrm>
            <a:off x="189360" y="3144600"/>
            <a:ext cx="4875840" cy="10944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通用框架（通用经济学）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Rectangles 11"/>
          <p:cNvSpPr/>
          <p:nvPr/>
        </p:nvSpPr>
        <p:spPr>
          <a:xfrm>
            <a:off x="7033320" y="3138840"/>
            <a:ext cx="3485880" cy="11116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各类业务平台（细分经济学）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Rectangles 13"/>
          <p:cNvSpPr/>
          <p:nvPr/>
        </p:nvSpPr>
        <p:spPr>
          <a:xfrm>
            <a:off x="283320" y="353052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个人与发展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时序向前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Rectangles 14"/>
          <p:cNvSpPr/>
          <p:nvPr/>
        </p:nvSpPr>
        <p:spPr>
          <a:xfrm>
            <a:off x="1901160" y="352980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个人与分配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时序当下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ectangles 15"/>
          <p:cNvSpPr/>
          <p:nvPr/>
        </p:nvSpPr>
        <p:spPr>
          <a:xfrm>
            <a:off x="3509640" y="353052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个人与积累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时序向后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ectangles 17"/>
          <p:cNvSpPr/>
          <p:nvPr/>
        </p:nvSpPr>
        <p:spPr>
          <a:xfrm>
            <a:off x="7301880" y="3668400"/>
            <a:ext cx="1149120" cy="4021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政治经济学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ectangles 18"/>
          <p:cNvSpPr/>
          <p:nvPr/>
        </p:nvSpPr>
        <p:spPr>
          <a:xfrm>
            <a:off x="8599320" y="3665880"/>
            <a:ext cx="1149120" cy="4021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战时经济学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Rectangles 19"/>
          <p:cNvSpPr/>
          <p:nvPr/>
        </p:nvSpPr>
        <p:spPr>
          <a:xfrm>
            <a:off x="9890640" y="3813120"/>
            <a:ext cx="75960" cy="759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6" name="Rectangles 20"/>
          <p:cNvSpPr/>
          <p:nvPr/>
        </p:nvSpPr>
        <p:spPr>
          <a:xfrm>
            <a:off x="10027800" y="3808080"/>
            <a:ext cx="75960" cy="759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7" name="Rectangles 21"/>
          <p:cNvSpPr/>
          <p:nvPr/>
        </p:nvSpPr>
        <p:spPr>
          <a:xfrm>
            <a:off x="10154880" y="3813120"/>
            <a:ext cx="75960" cy="759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8" name="Rectangles 22"/>
          <p:cNvSpPr/>
          <p:nvPr/>
        </p:nvSpPr>
        <p:spPr>
          <a:xfrm>
            <a:off x="820440" y="167256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个人与时代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时序向后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Rectangles 23"/>
          <p:cNvSpPr/>
          <p:nvPr/>
        </p:nvSpPr>
        <p:spPr>
          <a:xfrm>
            <a:off x="3259440" y="167148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个人与处世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时序当下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ectangles 24"/>
          <p:cNvSpPr/>
          <p:nvPr/>
        </p:nvSpPr>
        <p:spPr>
          <a:xfrm>
            <a:off x="7538040" y="168588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个人与政策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时序向前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Rectangles 25"/>
          <p:cNvSpPr/>
          <p:nvPr/>
        </p:nvSpPr>
        <p:spPr>
          <a:xfrm>
            <a:off x="11492280" y="1972440"/>
            <a:ext cx="447840" cy="325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人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与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文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明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5254560" y="173520"/>
            <a:ext cx="167796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生命与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IT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3" name="Rectangles 1"/>
          <p:cNvSpPr/>
          <p:nvPr/>
        </p:nvSpPr>
        <p:spPr>
          <a:xfrm>
            <a:off x="2429640" y="5339880"/>
            <a:ext cx="7238160" cy="12974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硬件固件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肉身器官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软禁式生存权，本地物质载体，物理生存调度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Rectangles 12"/>
          <p:cNvSpPr/>
          <p:nvPr/>
        </p:nvSpPr>
        <p:spPr>
          <a:xfrm>
            <a:off x="2429640" y="4250160"/>
            <a:ext cx="7238160" cy="10893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基础系统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意识情感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物理统计涌现，本地数据存储，本能利益调度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5254560" y="173520"/>
            <a:ext cx="167796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生命与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IT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6" name="Rectangles 1"/>
          <p:cNvSpPr/>
          <p:nvPr/>
        </p:nvSpPr>
        <p:spPr>
          <a:xfrm>
            <a:off x="2429640" y="5339880"/>
            <a:ext cx="7238160" cy="12974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硬件固件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肉身器官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软禁式生存权，本地物质载体，物理生存调度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Rectangles 12"/>
          <p:cNvSpPr/>
          <p:nvPr/>
        </p:nvSpPr>
        <p:spPr>
          <a:xfrm>
            <a:off x="2429640" y="4250160"/>
            <a:ext cx="7238160" cy="10893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基础系统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意识情感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物理统计涌现，本地数据存储，本能利益调度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Rectangles 13"/>
          <p:cNvSpPr/>
          <p:nvPr/>
        </p:nvSpPr>
        <p:spPr>
          <a:xfrm>
            <a:off x="2429640" y="2995920"/>
            <a:ext cx="7238160" cy="12538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应用软件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人类精神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免费式管理权，云端数据存储，因果考核调度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Rectangles 14"/>
          <p:cNvSpPr/>
          <p:nvPr/>
        </p:nvSpPr>
        <p:spPr>
          <a:xfrm>
            <a:off x="1001880" y="2996640"/>
            <a:ext cx="1427040" cy="36414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人机交互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良心监控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ectangles 15"/>
          <p:cNvSpPr/>
          <p:nvPr/>
        </p:nvSpPr>
        <p:spPr>
          <a:xfrm>
            <a:off x="9667800" y="2996640"/>
            <a:ext cx="1427760" cy="36414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远程链接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心神之道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736520" y="173520"/>
            <a:ext cx="312264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生命与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IT -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锚点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2" name="Rectangles 1"/>
          <p:cNvSpPr/>
          <p:nvPr/>
        </p:nvSpPr>
        <p:spPr>
          <a:xfrm>
            <a:off x="2429640" y="5339880"/>
            <a:ext cx="7238160" cy="12974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硬件固件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肉身器</a:t>
            </a:r>
            <a:r>
              <a:rPr b="1" lang="zh-CN" sz="1600" spc="-1" strike="noStrike">
                <a:solidFill>
                  <a:srgbClr val="000000"/>
                </a:solidFill>
                <a:latin typeface="Arial"/>
              </a:rPr>
              <a:t>官</a:t>
            </a: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c00000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rgbClr val="c00000"/>
                </a:solidFill>
                <a:latin typeface="Arial"/>
              </a:rPr>
              <a:t>软禁式生存权，本地物质载体，物理生存调度</a:t>
            </a:r>
            <a:r>
              <a:rPr b="1" lang="en-US" sz="1400" spc="-1" strike="noStrike">
                <a:solidFill>
                  <a:srgbClr val="c00000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Rectangles 12"/>
          <p:cNvSpPr/>
          <p:nvPr/>
        </p:nvSpPr>
        <p:spPr>
          <a:xfrm>
            <a:off x="2429640" y="4250160"/>
            <a:ext cx="7238160" cy="10893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基础系统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意识情感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c00000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rgbClr val="c00000"/>
                </a:solidFill>
                <a:latin typeface="Arial"/>
              </a:rPr>
              <a:t>物理统计涌现，本地数据存储，本能利益调度</a:t>
            </a:r>
            <a:r>
              <a:rPr b="1" lang="en-US" sz="1400" spc="-1" strike="noStrike">
                <a:solidFill>
                  <a:srgbClr val="c00000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Rectangles 13"/>
          <p:cNvSpPr/>
          <p:nvPr/>
        </p:nvSpPr>
        <p:spPr>
          <a:xfrm>
            <a:off x="2429640" y="2995920"/>
            <a:ext cx="7238160" cy="12538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应用软件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人类精神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c00000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rgbClr val="c00000"/>
                </a:solidFill>
                <a:latin typeface="Arial"/>
              </a:rPr>
              <a:t>免费式管理权，云端数据存储，因果考核调度</a:t>
            </a:r>
            <a:r>
              <a:rPr b="1" lang="en-US" sz="1400" spc="-1" strike="noStrike">
                <a:solidFill>
                  <a:srgbClr val="c00000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ectangles 14"/>
          <p:cNvSpPr/>
          <p:nvPr/>
        </p:nvSpPr>
        <p:spPr>
          <a:xfrm>
            <a:off x="1001880" y="2996640"/>
            <a:ext cx="1427040" cy="36414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人机交互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良心监控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Rectangles 15"/>
          <p:cNvSpPr/>
          <p:nvPr/>
        </p:nvSpPr>
        <p:spPr>
          <a:xfrm>
            <a:off x="9667800" y="2996640"/>
            <a:ext cx="1427760" cy="36414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远程链接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心神之道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ectangles 17"/>
          <p:cNvSpPr/>
          <p:nvPr/>
        </p:nvSpPr>
        <p:spPr>
          <a:xfrm>
            <a:off x="7997040" y="1047600"/>
            <a:ext cx="3098520" cy="7462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云端管理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心神家园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Rectangles 18"/>
          <p:cNvSpPr/>
          <p:nvPr/>
        </p:nvSpPr>
        <p:spPr>
          <a:xfrm>
            <a:off x="1001880" y="1047600"/>
            <a:ext cx="3098520" cy="7462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本地人员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良心使者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9" name="Straight Arrow Connector 19"/>
          <p:cNvCxnSpPr/>
          <p:nvPr/>
        </p:nvCxnSpPr>
        <p:spPr>
          <a:xfrm flipH="1">
            <a:off x="1728360" y="1800720"/>
            <a:ext cx="5400" cy="1187280"/>
          </a:xfrm>
          <a:prstGeom prst="straightConnector1">
            <a:avLst/>
          </a:prstGeom>
          <a:ln w="28575">
            <a:solidFill>
              <a:srgbClr val="a5a5a5"/>
            </a:solidFill>
            <a:headEnd len="med" type="arrow" w="med"/>
            <a:tailEnd len="med" type="arrow" w="med"/>
          </a:ln>
        </p:spPr>
      </p:cxnSp>
      <p:cxnSp>
        <p:nvCxnSpPr>
          <p:cNvPr id="180" name="Straight Arrow Connector 20"/>
          <p:cNvCxnSpPr/>
          <p:nvPr/>
        </p:nvCxnSpPr>
        <p:spPr>
          <a:xfrm flipH="1">
            <a:off x="10379520" y="1794240"/>
            <a:ext cx="5400" cy="1187280"/>
          </a:xfrm>
          <a:prstGeom prst="straightConnector1">
            <a:avLst/>
          </a:prstGeom>
          <a:ln w="28575">
            <a:solidFill>
              <a:srgbClr val="a5a5a5"/>
            </a:solidFill>
            <a:headEnd len="med" type="arrow" w="med"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2533680" y="92160"/>
            <a:ext cx="769716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个体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 经济 社会 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误区分析 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功能视角锚点落地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2" name="Rectangles 2"/>
          <p:cNvSpPr/>
          <p:nvPr/>
        </p:nvSpPr>
        <p:spPr>
          <a:xfrm>
            <a:off x="72360" y="600192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硬件层（客观）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ectangles 3"/>
          <p:cNvSpPr/>
          <p:nvPr/>
        </p:nvSpPr>
        <p:spPr>
          <a:xfrm>
            <a:off x="76320" y="75996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应用层（生活）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ectangles 4"/>
          <p:cNvSpPr/>
          <p:nvPr/>
        </p:nvSpPr>
        <p:spPr>
          <a:xfrm>
            <a:off x="72360" y="4789800"/>
            <a:ext cx="12057120" cy="12117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系统层（个体）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Rectangles 5"/>
          <p:cNvSpPr/>
          <p:nvPr/>
        </p:nvSpPr>
        <p:spPr>
          <a:xfrm>
            <a:off x="72360" y="1443240"/>
            <a:ext cx="12057120" cy="1124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交互层（社会）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Rectangles 6"/>
          <p:cNvSpPr/>
          <p:nvPr/>
        </p:nvSpPr>
        <p:spPr>
          <a:xfrm>
            <a:off x="72360" y="3078360"/>
            <a:ext cx="12057120" cy="12315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业务层（经济）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Rectangles 7"/>
          <p:cNvSpPr/>
          <p:nvPr/>
        </p:nvSpPr>
        <p:spPr>
          <a:xfrm>
            <a:off x="10668600" y="1163880"/>
            <a:ext cx="1454400" cy="48369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工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  。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具   。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链   。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^    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文    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明    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v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    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Rectangles 39"/>
          <p:cNvSpPr/>
          <p:nvPr/>
        </p:nvSpPr>
        <p:spPr>
          <a:xfrm>
            <a:off x="820440" y="509220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个人与自然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空间向外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Rectangles 8"/>
          <p:cNvSpPr/>
          <p:nvPr/>
        </p:nvSpPr>
        <p:spPr>
          <a:xfrm>
            <a:off x="3259440" y="507096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个人与他人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空间交界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ectangles 9"/>
          <p:cNvSpPr/>
          <p:nvPr/>
        </p:nvSpPr>
        <p:spPr>
          <a:xfrm>
            <a:off x="7538040" y="507096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个人与自身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空间向内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ectangles 10"/>
          <p:cNvSpPr/>
          <p:nvPr/>
        </p:nvSpPr>
        <p:spPr>
          <a:xfrm>
            <a:off x="189360" y="3144600"/>
            <a:ext cx="4875840" cy="10944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通用框架（通用经济学）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Rectangles 11"/>
          <p:cNvSpPr/>
          <p:nvPr/>
        </p:nvSpPr>
        <p:spPr>
          <a:xfrm>
            <a:off x="7033320" y="3138840"/>
            <a:ext cx="3485880" cy="11116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各类业务平台（细分经济学）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Rectangles 13"/>
          <p:cNvSpPr/>
          <p:nvPr/>
        </p:nvSpPr>
        <p:spPr>
          <a:xfrm>
            <a:off x="283320" y="353052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个人与发展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时序向前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Rectangles 14"/>
          <p:cNvSpPr/>
          <p:nvPr/>
        </p:nvSpPr>
        <p:spPr>
          <a:xfrm>
            <a:off x="1901160" y="352980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个人与分配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时序当下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Rectangles 15"/>
          <p:cNvSpPr/>
          <p:nvPr/>
        </p:nvSpPr>
        <p:spPr>
          <a:xfrm>
            <a:off x="3509640" y="353052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个人与积累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时序向后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Rectangles 17"/>
          <p:cNvSpPr/>
          <p:nvPr/>
        </p:nvSpPr>
        <p:spPr>
          <a:xfrm>
            <a:off x="7301880" y="3668400"/>
            <a:ext cx="1149120" cy="4021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政治经济学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Rectangles 18"/>
          <p:cNvSpPr/>
          <p:nvPr/>
        </p:nvSpPr>
        <p:spPr>
          <a:xfrm>
            <a:off x="8599320" y="3665880"/>
            <a:ext cx="1149120" cy="4021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战时经济学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Rectangles 19"/>
          <p:cNvSpPr/>
          <p:nvPr/>
        </p:nvSpPr>
        <p:spPr>
          <a:xfrm>
            <a:off x="9890640" y="3813120"/>
            <a:ext cx="75960" cy="759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9" name="Rectangles 20"/>
          <p:cNvSpPr/>
          <p:nvPr/>
        </p:nvSpPr>
        <p:spPr>
          <a:xfrm>
            <a:off x="10027800" y="3808080"/>
            <a:ext cx="75960" cy="759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0" name="Rectangles 21"/>
          <p:cNvSpPr/>
          <p:nvPr/>
        </p:nvSpPr>
        <p:spPr>
          <a:xfrm>
            <a:off x="10154880" y="3813120"/>
            <a:ext cx="75960" cy="759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31320" bIns="3132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1" name="Rectangles 22"/>
          <p:cNvSpPr/>
          <p:nvPr/>
        </p:nvSpPr>
        <p:spPr>
          <a:xfrm>
            <a:off x="820440" y="167256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个人与时代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时序向后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Rectangles 23"/>
          <p:cNvSpPr/>
          <p:nvPr/>
        </p:nvSpPr>
        <p:spPr>
          <a:xfrm>
            <a:off x="3259440" y="167148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个人与处世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时序当下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Rectangles 24"/>
          <p:cNvSpPr/>
          <p:nvPr/>
        </p:nvSpPr>
        <p:spPr>
          <a:xfrm>
            <a:off x="7538040" y="1685880"/>
            <a:ext cx="1482840" cy="64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个人与政策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时序向前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Rectangles 25"/>
          <p:cNvSpPr/>
          <p:nvPr/>
        </p:nvSpPr>
        <p:spPr>
          <a:xfrm>
            <a:off x="11492280" y="1972440"/>
            <a:ext cx="447840" cy="3259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个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人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与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文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明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2989440" y="92160"/>
            <a:ext cx="618444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个体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 经济 社会 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误区分析 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软件工程模板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6" name="Title 1"/>
          <p:cNvSpPr/>
          <p:nvPr/>
        </p:nvSpPr>
        <p:spPr>
          <a:xfrm>
            <a:off x="2847240" y="1056600"/>
            <a:ext cx="7493760" cy="47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1.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问题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  </a:t>
            </a:r>
            <a:r>
              <a:rPr b="1" lang="en-US" sz="2000" spc="-1" strike="noStrike">
                <a:solidFill>
                  <a:srgbClr val="ffff00"/>
                </a:solidFill>
                <a:latin typeface="Arial Black"/>
              </a:rPr>
              <a:t> </a:t>
            </a:r>
            <a:r>
              <a:rPr b="1" lang="en-US" sz="2000" spc="-1" strike="noStrike">
                <a:solidFill>
                  <a:srgbClr val="ffff00"/>
                </a:solidFill>
                <a:latin typeface="Arial Black"/>
              </a:rPr>
              <a:t>1.1. </a:t>
            </a:r>
            <a:r>
              <a:rPr b="1" lang="zh-CN" sz="2000" spc="-1" strike="noStrike">
                <a:solidFill>
                  <a:srgbClr val="ffff00"/>
                </a:solidFill>
                <a:latin typeface="Arial Black"/>
              </a:rPr>
              <a:t>描述</a:t>
            </a:r>
            <a:r>
              <a:rPr b="1" lang="zh-CN" sz="1800" spc="-1" strike="noStrike">
                <a:solidFill>
                  <a:schemeClr val="lt1"/>
                </a:solidFill>
                <a:latin typeface="Arial Black"/>
              </a:rPr>
              <a:t>（说清楚具体问题，确认目标）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2000" spc="-1" strike="noStrike">
                <a:solidFill>
                  <a:srgbClr val="ffff00"/>
                </a:solidFill>
                <a:latin typeface="Arial Black"/>
              </a:rPr>
              <a:t>    </a:t>
            </a:r>
            <a:r>
              <a:rPr b="1" lang="en-US" sz="2000" spc="-1" strike="noStrike">
                <a:solidFill>
                  <a:srgbClr val="ffff00"/>
                </a:solidFill>
                <a:latin typeface="Arial Black"/>
              </a:rPr>
              <a:t>1.2. </a:t>
            </a:r>
            <a:r>
              <a:rPr b="1" lang="zh-CN" sz="2000" spc="-1" strike="noStrike">
                <a:solidFill>
                  <a:srgbClr val="ffff00"/>
                </a:solidFill>
                <a:latin typeface="Arial Black"/>
              </a:rPr>
              <a:t>缘由</a:t>
            </a:r>
            <a:r>
              <a:rPr b="1" lang="zh-CN" sz="1800" spc="-1" strike="noStrike">
                <a:solidFill>
                  <a:schemeClr val="lt1"/>
                </a:solidFill>
                <a:latin typeface="Arial Black"/>
              </a:rPr>
              <a:t>（主观理由</a:t>
            </a:r>
            <a:r>
              <a:rPr b="1" lang="en-US" sz="1800" spc="-1" strike="noStrike">
                <a:solidFill>
                  <a:schemeClr val="lt1"/>
                </a:solidFill>
                <a:latin typeface="Arial Black"/>
              </a:rPr>
              <a:t>/</a:t>
            </a:r>
            <a:r>
              <a:rPr b="1" lang="zh-CN" sz="1800" spc="-1" strike="noStrike">
                <a:solidFill>
                  <a:schemeClr val="lt1"/>
                </a:solidFill>
                <a:latin typeface="Arial Black"/>
              </a:rPr>
              <a:t>客观理由）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2000" spc="-1" strike="noStrike">
                <a:solidFill>
                  <a:srgbClr val="ffff00"/>
                </a:solidFill>
                <a:latin typeface="Arial Black"/>
              </a:rPr>
              <a:t>    </a:t>
            </a:r>
            <a:r>
              <a:rPr b="1" lang="en-US" sz="2000" spc="-1" strike="noStrike">
                <a:solidFill>
                  <a:srgbClr val="ffff00"/>
                </a:solidFill>
                <a:latin typeface="Arial Black"/>
              </a:rPr>
              <a:t>1.3. </a:t>
            </a:r>
            <a:r>
              <a:rPr b="1" lang="zh-CN" sz="2000" spc="-1" strike="noStrike">
                <a:solidFill>
                  <a:srgbClr val="ffff00"/>
                </a:solidFill>
                <a:latin typeface="Arial Black"/>
              </a:rPr>
              <a:t>影响</a:t>
            </a:r>
            <a:r>
              <a:rPr b="1" lang="zh-CN" sz="1800" spc="-1" strike="noStrike">
                <a:solidFill>
                  <a:schemeClr val="lt1"/>
                </a:solidFill>
                <a:latin typeface="Arial Black"/>
              </a:rPr>
              <a:t>（短期</a:t>
            </a:r>
            <a:r>
              <a:rPr b="1" lang="en-US" sz="1800" spc="-1" strike="noStrike">
                <a:solidFill>
                  <a:schemeClr val="lt1"/>
                </a:solidFill>
                <a:latin typeface="Arial Black"/>
              </a:rPr>
              <a:t>/</a:t>
            </a:r>
            <a:r>
              <a:rPr b="1" lang="zh-CN" sz="1800" spc="-1" strike="noStrike">
                <a:solidFill>
                  <a:schemeClr val="lt1"/>
                </a:solidFill>
                <a:latin typeface="Arial Black"/>
              </a:rPr>
              <a:t>中期</a:t>
            </a:r>
            <a:r>
              <a:rPr b="1" lang="en-US" sz="1800" spc="-1" strike="noStrike">
                <a:solidFill>
                  <a:schemeClr val="lt1"/>
                </a:solidFill>
                <a:latin typeface="Arial Black"/>
              </a:rPr>
              <a:t>/</a:t>
            </a:r>
            <a:r>
              <a:rPr b="1" lang="zh-CN" sz="1800" spc="-1" strike="noStrike">
                <a:solidFill>
                  <a:schemeClr val="lt1"/>
                </a:solidFill>
                <a:latin typeface="Arial Black"/>
              </a:rPr>
              <a:t>长期，个体</a:t>
            </a:r>
            <a:r>
              <a:rPr b="1" lang="en-US" sz="1800" spc="-1" strike="noStrike">
                <a:solidFill>
                  <a:schemeClr val="lt1"/>
                </a:solidFill>
                <a:latin typeface="Arial Black"/>
              </a:rPr>
              <a:t>/</a:t>
            </a:r>
            <a:r>
              <a:rPr b="1" lang="zh-CN" sz="1800" spc="-1" strike="noStrike">
                <a:solidFill>
                  <a:schemeClr val="lt1"/>
                </a:solidFill>
                <a:latin typeface="Arial Black"/>
              </a:rPr>
              <a:t>局部</a:t>
            </a:r>
            <a:r>
              <a:rPr b="1" lang="en-US" sz="1800" spc="-1" strike="noStrike">
                <a:solidFill>
                  <a:schemeClr val="lt1"/>
                </a:solidFill>
                <a:latin typeface="Arial Black"/>
              </a:rPr>
              <a:t>/</a:t>
            </a:r>
            <a:r>
              <a:rPr b="1" lang="zh-CN" sz="1800" spc="-1" strike="noStrike">
                <a:solidFill>
                  <a:schemeClr val="lt1"/>
                </a:solidFill>
                <a:latin typeface="Arial Black"/>
              </a:rPr>
              <a:t>全局）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2.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处理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   </a:t>
            </a:r>
            <a:r>
              <a:rPr b="1" lang="en-US" sz="2000" spc="-1" strike="noStrike">
                <a:solidFill>
                  <a:srgbClr val="ffff00"/>
                </a:solidFill>
                <a:latin typeface="Arial Black"/>
              </a:rPr>
              <a:t>2.1. </a:t>
            </a:r>
            <a:r>
              <a:rPr b="1" lang="zh-CN" sz="2000" spc="-1" strike="noStrike">
                <a:solidFill>
                  <a:srgbClr val="ffff00"/>
                </a:solidFill>
                <a:latin typeface="Arial Black"/>
              </a:rPr>
              <a:t>根因</a:t>
            </a:r>
            <a:r>
              <a:rPr b="1" lang="zh-CN" sz="1800" spc="-1" strike="noStrike">
                <a:solidFill>
                  <a:schemeClr val="lt1"/>
                </a:solidFill>
                <a:latin typeface="Arial Black"/>
              </a:rPr>
              <a:t>（锚点误判）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2000" spc="-1" strike="noStrike">
                <a:solidFill>
                  <a:srgbClr val="ffff00"/>
                </a:solidFill>
                <a:latin typeface="Arial Black"/>
              </a:rPr>
              <a:t>    </a:t>
            </a:r>
            <a:r>
              <a:rPr b="1" lang="en-US" sz="2000" spc="-1" strike="noStrike">
                <a:solidFill>
                  <a:srgbClr val="ffff00"/>
                </a:solidFill>
                <a:latin typeface="Arial Black"/>
              </a:rPr>
              <a:t>2.2. </a:t>
            </a:r>
            <a:r>
              <a:rPr b="1" lang="zh-CN" sz="2000" spc="-1" strike="noStrike">
                <a:solidFill>
                  <a:srgbClr val="ffff00"/>
                </a:solidFill>
                <a:latin typeface="Arial Black"/>
              </a:rPr>
              <a:t>方案</a:t>
            </a:r>
            <a:r>
              <a:rPr b="1" lang="zh-CN" sz="1800" spc="-1" strike="noStrike">
                <a:solidFill>
                  <a:schemeClr val="lt1"/>
                </a:solidFill>
                <a:latin typeface="Arial Black"/>
              </a:rPr>
              <a:t>（有针对性）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2000" spc="-1" strike="noStrike">
                <a:solidFill>
                  <a:srgbClr val="ffff00"/>
                </a:solidFill>
                <a:latin typeface="Arial Black"/>
              </a:rPr>
              <a:t>    </a:t>
            </a:r>
            <a:r>
              <a:rPr b="1" lang="en-US" sz="2000" spc="-1" strike="noStrike">
                <a:solidFill>
                  <a:srgbClr val="ffff00"/>
                </a:solidFill>
                <a:latin typeface="Arial Black"/>
              </a:rPr>
              <a:t>2.3. </a:t>
            </a:r>
            <a:r>
              <a:rPr b="1" lang="zh-CN" sz="2000" spc="-1" strike="noStrike">
                <a:solidFill>
                  <a:srgbClr val="ffff00"/>
                </a:solidFill>
                <a:latin typeface="Arial Black"/>
              </a:rPr>
              <a:t>落实</a:t>
            </a:r>
            <a:r>
              <a:rPr b="1" lang="zh-CN" sz="1800" spc="-1" strike="noStrike">
                <a:solidFill>
                  <a:schemeClr val="lt1"/>
                </a:solidFill>
                <a:latin typeface="Arial Black"/>
              </a:rPr>
              <a:t>（因地制宜）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3.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反馈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   </a:t>
            </a:r>
            <a:r>
              <a:rPr b="1" lang="en-US" sz="2000" spc="-1" strike="noStrike">
                <a:solidFill>
                  <a:srgbClr val="ffff00"/>
                </a:solidFill>
                <a:latin typeface="Arial Black"/>
              </a:rPr>
              <a:t>3.1. </a:t>
            </a:r>
            <a:r>
              <a:rPr b="1" lang="zh-CN" sz="2000" spc="-1" strike="noStrike">
                <a:solidFill>
                  <a:srgbClr val="ffff00"/>
                </a:solidFill>
                <a:latin typeface="Arial Black"/>
              </a:rPr>
              <a:t>迭代</a:t>
            </a:r>
            <a:r>
              <a:rPr b="1" lang="zh-CN" sz="1800" spc="-1" strike="noStrike">
                <a:solidFill>
                  <a:schemeClr val="lt1"/>
                </a:solidFill>
                <a:latin typeface="Arial Black"/>
              </a:rPr>
              <a:t>（由易到难，区分重要、紧急优先级）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2000" spc="-1" strike="noStrike">
                <a:solidFill>
                  <a:srgbClr val="ffff00"/>
                </a:solidFill>
                <a:latin typeface="Arial Black"/>
              </a:rPr>
              <a:t>    </a:t>
            </a:r>
            <a:r>
              <a:rPr b="1" lang="en-US" sz="2000" spc="-1" strike="noStrike">
                <a:solidFill>
                  <a:srgbClr val="ffff00"/>
                </a:solidFill>
                <a:latin typeface="Arial Black"/>
              </a:rPr>
              <a:t>3.2. </a:t>
            </a:r>
            <a:r>
              <a:rPr b="1" lang="zh-CN" sz="2000" spc="-1" strike="noStrike">
                <a:solidFill>
                  <a:srgbClr val="ffff00"/>
                </a:solidFill>
                <a:latin typeface="Arial Black"/>
              </a:rPr>
              <a:t>效果</a:t>
            </a:r>
            <a:r>
              <a:rPr b="1" lang="zh-CN" sz="1800" spc="-1" strike="noStrike">
                <a:solidFill>
                  <a:schemeClr val="lt1"/>
                </a:solidFill>
                <a:latin typeface="Arial Black"/>
              </a:rPr>
              <a:t>（审核标准时刻清晰，检验是否偏离最初目标）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2000" spc="-1" strike="noStrike">
                <a:solidFill>
                  <a:srgbClr val="ffff00"/>
                </a:solidFill>
                <a:latin typeface="Arial Black"/>
              </a:rPr>
              <a:t>    </a:t>
            </a:r>
            <a:r>
              <a:rPr b="1" lang="en-US" sz="2000" spc="-1" strike="noStrike">
                <a:solidFill>
                  <a:srgbClr val="ffff00"/>
                </a:solidFill>
                <a:latin typeface="Arial Black"/>
              </a:rPr>
              <a:t>3.3. </a:t>
            </a:r>
            <a:r>
              <a:rPr b="1" lang="zh-CN" sz="2000" spc="-1" strike="noStrike">
                <a:solidFill>
                  <a:srgbClr val="ffff00"/>
                </a:solidFill>
                <a:latin typeface="Arial Black"/>
              </a:rPr>
              <a:t>传播</a:t>
            </a:r>
            <a:r>
              <a:rPr b="1" lang="zh-CN" sz="1800" spc="-1" strike="noStrike">
                <a:solidFill>
                  <a:schemeClr val="lt1"/>
                </a:solidFill>
                <a:latin typeface="Arial Black"/>
              </a:rPr>
              <a:t>（不强制，不高调，总结归纳，同时间接涵盖预防）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3285360" y="173520"/>
            <a:ext cx="558972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6628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个体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 经济 社会 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误区分析 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 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使用视角锚点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08" name="Rectangles 1"/>
          <p:cNvSpPr/>
          <p:nvPr/>
        </p:nvSpPr>
        <p:spPr>
          <a:xfrm>
            <a:off x="2429640" y="5339880"/>
            <a:ext cx="7238160" cy="12974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硬件固件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肉身器</a:t>
            </a:r>
            <a:r>
              <a:rPr b="1" lang="zh-CN" sz="1600" spc="-1" strike="noStrike">
                <a:solidFill>
                  <a:srgbClr val="000000"/>
                </a:solidFill>
                <a:latin typeface="Arial"/>
              </a:rPr>
              <a:t>官</a:t>
            </a:r>
            <a:r>
              <a:rPr b="1" lang="en-US" sz="1600" spc="-1" strike="noStrike">
                <a:solidFill>
                  <a:srgbClr val="000000"/>
                </a:solidFill>
                <a:latin typeface="Arial"/>
              </a:rPr>
              <a:t>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c00000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rgbClr val="c00000"/>
                </a:solidFill>
                <a:latin typeface="Arial"/>
              </a:rPr>
              <a:t>软禁式生存权，本地物质载体，物理生存调度</a:t>
            </a:r>
            <a:r>
              <a:rPr b="1" lang="en-US" sz="1400" spc="-1" strike="noStrike">
                <a:solidFill>
                  <a:srgbClr val="c00000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Rectangles 12"/>
          <p:cNvSpPr/>
          <p:nvPr/>
        </p:nvSpPr>
        <p:spPr>
          <a:xfrm>
            <a:off x="2429640" y="4250160"/>
            <a:ext cx="7238160" cy="108936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基础系统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意识情感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c00000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rgbClr val="c00000"/>
                </a:solidFill>
                <a:latin typeface="Arial"/>
              </a:rPr>
              <a:t>物理统计涌现，本地数据存储，本能利益调度</a:t>
            </a:r>
            <a:r>
              <a:rPr b="1" lang="en-US" sz="1400" spc="-1" strike="noStrike">
                <a:solidFill>
                  <a:srgbClr val="c00000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Rectangles 13"/>
          <p:cNvSpPr/>
          <p:nvPr/>
        </p:nvSpPr>
        <p:spPr>
          <a:xfrm>
            <a:off x="2429640" y="2995920"/>
            <a:ext cx="7238160" cy="12538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应用软件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人类精神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400" spc="-1" strike="noStrike">
                <a:solidFill>
                  <a:srgbClr val="c00000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rgbClr val="c00000"/>
                </a:solidFill>
                <a:latin typeface="Arial"/>
              </a:rPr>
              <a:t>免费式管理权，云端数据存储，因果考核调度</a:t>
            </a:r>
            <a:r>
              <a:rPr b="1" lang="en-US" sz="1400" spc="-1" strike="noStrike">
                <a:solidFill>
                  <a:srgbClr val="c00000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ectangles 14"/>
          <p:cNvSpPr/>
          <p:nvPr/>
        </p:nvSpPr>
        <p:spPr>
          <a:xfrm>
            <a:off x="1001880" y="2996640"/>
            <a:ext cx="1427040" cy="36414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人机交互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良心监控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Rectangles 15"/>
          <p:cNvSpPr/>
          <p:nvPr/>
        </p:nvSpPr>
        <p:spPr>
          <a:xfrm>
            <a:off x="9667800" y="2996640"/>
            <a:ext cx="1427760" cy="364140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远程链接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心神之道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Rectangles 17"/>
          <p:cNvSpPr/>
          <p:nvPr/>
        </p:nvSpPr>
        <p:spPr>
          <a:xfrm>
            <a:off x="7997040" y="1047600"/>
            <a:ext cx="3098520" cy="7462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云端管理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心神家园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Rectangles 18"/>
          <p:cNvSpPr/>
          <p:nvPr/>
        </p:nvSpPr>
        <p:spPr>
          <a:xfrm>
            <a:off x="1001880" y="1047600"/>
            <a:ext cx="3098520" cy="7462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2000" spc="-1" strike="noStrike">
                <a:solidFill>
                  <a:schemeClr val="dk1"/>
                </a:solidFill>
                <a:latin typeface="Arial"/>
              </a:rPr>
              <a:t>本地人员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良心使者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15" name="Straight Arrow Connector 19"/>
          <p:cNvCxnSpPr/>
          <p:nvPr/>
        </p:nvCxnSpPr>
        <p:spPr>
          <a:xfrm flipH="1">
            <a:off x="1728360" y="1800720"/>
            <a:ext cx="5400" cy="1187280"/>
          </a:xfrm>
          <a:prstGeom prst="straightConnector1">
            <a:avLst/>
          </a:prstGeom>
          <a:ln w="28575">
            <a:solidFill>
              <a:srgbClr val="a5a5a5"/>
            </a:solidFill>
            <a:headEnd len="med" type="arrow" w="med"/>
            <a:tailEnd len="med" type="arrow" w="med"/>
          </a:ln>
        </p:spPr>
      </p:cxnSp>
      <p:cxnSp>
        <p:nvCxnSpPr>
          <p:cNvPr id="216" name="Straight Arrow Connector 20"/>
          <p:cNvCxnSpPr/>
          <p:nvPr/>
        </p:nvCxnSpPr>
        <p:spPr>
          <a:xfrm flipH="1">
            <a:off x="10379520" y="1794240"/>
            <a:ext cx="5400" cy="1187280"/>
          </a:xfrm>
          <a:prstGeom prst="straightConnector1">
            <a:avLst/>
          </a:prstGeom>
          <a:ln w="28575">
            <a:solidFill>
              <a:srgbClr val="a5a5a5"/>
            </a:solidFill>
            <a:headEnd len="med" type="arrow" w="med"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LibreOffice/24.2.7.2$Linux_RISCV64 LibreOffice_project/420$Build-2</Application>
  <AppVersion>15.0000</AppVersion>
  <Words>1888</Words>
  <Paragraphs>483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2026-06-27T04:05:15Z</dcterms:created>
  <dc:creator/>
  <dc:description/>
  <dc:language>zh-CN</dc:language>
  <cp:lastModifiedBy/>
  <dcterms:modified xsi:type="dcterms:W3CDTF">2026-07-31T00:19:21Z</dcterms:modified>
  <cp:revision>793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  <property fmtid="{D5CDD505-2E9C-101B-9397-08002B2CF9AE}" pid="4" name="PresentationFormat">
    <vt:lpwstr>宽屏</vt:lpwstr>
  </property>
  <property fmtid="{D5CDD505-2E9C-101B-9397-08002B2CF9AE}" pid="5" name="Slides">
    <vt:i4>14</vt:i4>
  </property>
</Properties>
</file>