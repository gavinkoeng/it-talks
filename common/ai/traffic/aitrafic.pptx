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3"/>
    <p:sldId id="258" r:id="rId4"/>
    <p:sldId id="257" r:id="rId5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82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3323590" y="96520"/>
            <a:ext cx="57251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solidFill>
                  <a:srgbClr val="00B050"/>
                </a:solidFill>
              </a:rPr>
              <a:t>IT</a:t>
            </a:r>
            <a:r>
              <a:rPr lang="zh-CN" altLang="en-US" sz="2800" b="1">
                <a:solidFill>
                  <a:srgbClr val="00B050"/>
                </a:solidFill>
              </a:rPr>
              <a:t>生态面面观</a:t>
            </a:r>
            <a:r>
              <a:rPr lang="en-US" altLang="zh-CN" sz="2800" b="1">
                <a:solidFill>
                  <a:srgbClr val="00B050"/>
                </a:solidFill>
              </a:rPr>
              <a:t>-</a:t>
            </a:r>
            <a:r>
              <a:rPr lang="zh-CN" altLang="en-US" sz="2800" b="1">
                <a:solidFill>
                  <a:srgbClr val="00B050"/>
                </a:solidFill>
              </a:rPr>
              <a:t>运输行业找答案</a:t>
            </a:r>
            <a:endParaRPr lang="zh-CN" altLang="en-US" sz="2800" b="1">
              <a:solidFill>
                <a:srgbClr val="00B050"/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04140" y="1151890"/>
            <a:ext cx="11919585" cy="48615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00B050"/>
                </a:solidFill>
              </a:rPr>
              <a:t>                  </a:t>
            </a:r>
            <a:r>
              <a:rPr lang="zh-CN" altLang="en-US" sz="2400" b="1">
                <a:solidFill>
                  <a:srgbClr val="00B050"/>
                </a:solidFill>
              </a:rPr>
              <a:t>类型</a:t>
            </a:r>
            <a:r>
              <a:rPr lang="en-US" altLang="zh-CN" sz="2400" b="1">
                <a:solidFill>
                  <a:srgbClr val="00B050"/>
                </a:solidFill>
              </a:rPr>
              <a:t>            </a:t>
            </a:r>
            <a:r>
              <a:rPr lang="zh-CN" altLang="en-US" sz="2400" b="1">
                <a:solidFill>
                  <a:srgbClr val="00B050"/>
                </a:solidFill>
              </a:rPr>
              <a:t>举例</a:t>
            </a:r>
            <a:r>
              <a:rPr lang="en-US" altLang="zh-CN" sz="2400" b="1">
                <a:solidFill>
                  <a:srgbClr val="00B050"/>
                </a:solidFill>
              </a:rPr>
              <a:t>          </a:t>
            </a:r>
            <a:r>
              <a:rPr lang="en-US" altLang="zh-CN" sz="1400" b="1">
                <a:solidFill>
                  <a:srgbClr val="00B050"/>
                </a:solidFill>
              </a:rPr>
              <a:t> </a:t>
            </a:r>
            <a:r>
              <a:rPr lang="zh-CN" altLang="en-US" sz="2400" b="1">
                <a:solidFill>
                  <a:srgbClr val="00B050"/>
                </a:solidFill>
              </a:rPr>
              <a:t>效率</a:t>
            </a:r>
            <a:r>
              <a:rPr lang="en-US" altLang="zh-CN" sz="2400" b="1">
                <a:solidFill>
                  <a:srgbClr val="00B050"/>
                </a:solidFill>
              </a:rPr>
              <a:t>     </a:t>
            </a:r>
            <a:r>
              <a:rPr lang="zh-CN" altLang="en-US" sz="2400" b="1">
                <a:solidFill>
                  <a:srgbClr val="00B050"/>
                </a:solidFill>
              </a:rPr>
              <a:t>自由</a:t>
            </a:r>
            <a:r>
              <a:rPr lang="en-US" altLang="zh-CN" sz="2400" b="1">
                <a:solidFill>
                  <a:srgbClr val="00B050"/>
                </a:solidFill>
              </a:rPr>
              <a:t>     </a:t>
            </a:r>
            <a:r>
              <a:rPr lang="zh-CN" altLang="en-US" sz="2400" b="1">
                <a:solidFill>
                  <a:srgbClr val="00B050"/>
                </a:solidFill>
              </a:rPr>
              <a:t>复杂</a:t>
            </a:r>
            <a:r>
              <a:rPr lang="en-US" altLang="zh-CN" sz="2400" b="1">
                <a:solidFill>
                  <a:srgbClr val="00B050"/>
                </a:solidFill>
              </a:rPr>
              <a:t>     </a:t>
            </a:r>
            <a:r>
              <a:rPr lang="zh-CN" altLang="en-US" sz="2400" b="1">
                <a:solidFill>
                  <a:srgbClr val="00B050"/>
                </a:solidFill>
              </a:rPr>
              <a:t>现状</a:t>
            </a:r>
            <a:r>
              <a:rPr lang="en-US" altLang="zh-CN" sz="2400" b="1">
                <a:solidFill>
                  <a:srgbClr val="00B050"/>
                </a:solidFill>
              </a:rPr>
              <a:t>          </a:t>
            </a:r>
            <a:r>
              <a:rPr lang="zh-CN" altLang="en-US" sz="2400" b="1">
                <a:solidFill>
                  <a:srgbClr val="00B050"/>
                </a:solidFill>
              </a:rPr>
              <a:t>趋势</a:t>
            </a:r>
            <a:endParaRPr lang="zh-CN" sz="2400" b="1">
              <a:solidFill>
                <a:srgbClr val="00B050"/>
              </a:solidFill>
            </a:endParaRPr>
          </a:p>
          <a:p>
            <a:r>
              <a:rPr lang="zh-CN" sz="2400" b="1">
                <a:solidFill>
                  <a:srgbClr val="00B050"/>
                </a:solidFill>
              </a:rPr>
              <a:t>步行：</a:t>
            </a:r>
            <a:r>
              <a:rPr lang="en-US" altLang="zh-CN" sz="2400" b="1">
                <a:solidFill>
                  <a:srgbClr val="00B050"/>
                </a:solidFill>
              </a:rPr>
              <a:t>      </a:t>
            </a:r>
            <a:r>
              <a:rPr lang="zh-CN" altLang="en-US" sz="2000" b="1">
                <a:solidFill>
                  <a:srgbClr val="FFFF00"/>
                </a:solidFill>
              </a:rPr>
              <a:t>工具较少参与</a:t>
            </a:r>
            <a:r>
              <a:rPr lang="en-US" altLang="zh-CN" sz="2000" b="1">
                <a:solidFill>
                  <a:srgbClr val="FFFF00"/>
                </a:solidFill>
              </a:rPr>
              <a:t>         </a:t>
            </a:r>
            <a:r>
              <a:rPr lang="zh-CN" altLang="en-US" sz="2000" b="1">
                <a:solidFill>
                  <a:srgbClr val="FFFF00"/>
                </a:solidFill>
              </a:rPr>
              <a:t>略</a:t>
            </a:r>
            <a:r>
              <a:rPr lang="en-US" altLang="zh-CN" sz="2000" b="1">
                <a:solidFill>
                  <a:srgbClr val="FFFF00"/>
                </a:solidFill>
              </a:rPr>
              <a:t>...             </a:t>
            </a:r>
            <a:r>
              <a:rPr lang="zh-CN" altLang="en-US" sz="2000" b="1">
                <a:solidFill>
                  <a:srgbClr val="FFFF00"/>
                </a:solidFill>
              </a:rPr>
              <a:t>最低</a:t>
            </a:r>
            <a:r>
              <a:rPr lang="en-US" altLang="zh-CN" sz="2000" b="1">
                <a:solidFill>
                  <a:srgbClr val="FFFF00"/>
                </a:solidFill>
              </a:rPr>
              <a:t>       </a:t>
            </a:r>
            <a:r>
              <a:rPr lang="zh-CN" altLang="en-US" sz="2000" b="1">
                <a:solidFill>
                  <a:srgbClr val="FFFF00"/>
                </a:solidFill>
              </a:rPr>
              <a:t>最高</a:t>
            </a:r>
            <a:r>
              <a:rPr lang="en-US" altLang="zh-CN" sz="2000" b="1">
                <a:solidFill>
                  <a:srgbClr val="FFFF00"/>
                </a:solidFill>
              </a:rPr>
              <a:t>       </a:t>
            </a:r>
            <a:r>
              <a:rPr lang="zh-CN" altLang="en-US" sz="2000" b="1">
                <a:solidFill>
                  <a:srgbClr val="FFFF00"/>
                </a:solidFill>
              </a:rPr>
              <a:t>最低</a:t>
            </a:r>
            <a:r>
              <a:rPr lang="en-US" altLang="zh-CN" sz="2000" b="1">
                <a:solidFill>
                  <a:srgbClr val="FFFF00"/>
                </a:solidFill>
              </a:rPr>
              <a:t>     </a:t>
            </a:r>
            <a:r>
              <a:rPr lang="zh-CN" altLang="en-US" sz="2000" b="1">
                <a:solidFill>
                  <a:srgbClr val="FFFF00"/>
                </a:solidFill>
              </a:rPr>
              <a:t>已经成熟</a:t>
            </a:r>
            <a:r>
              <a:rPr lang="en-US" altLang="zh-CN" sz="2000" b="1">
                <a:solidFill>
                  <a:srgbClr val="FFFF00"/>
                </a:solidFill>
              </a:rPr>
              <a:t>       </a:t>
            </a:r>
            <a:r>
              <a:rPr lang="zh-CN" altLang="en-US" sz="2000" b="1">
                <a:solidFill>
                  <a:srgbClr val="FFFF00"/>
                </a:solidFill>
              </a:rPr>
              <a:t>始终稳定</a:t>
            </a:r>
            <a:endParaRPr lang="zh-CN" sz="2400" b="1">
              <a:solidFill>
                <a:srgbClr val="00B050"/>
              </a:solidFill>
            </a:endParaRPr>
          </a:p>
          <a:p>
            <a:r>
              <a:rPr lang="zh-CN" sz="2400" b="1">
                <a:solidFill>
                  <a:srgbClr val="00B050"/>
                </a:solidFill>
              </a:rPr>
              <a:t>骑行：</a:t>
            </a:r>
            <a:r>
              <a:rPr lang="en-US" altLang="zh-CN" sz="2400" b="1">
                <a:solidFill>
                  <a:srgbClr val="00B050"/>
                </a:solidFill>
              </a:rPr>
              <a:t>      </a:t>
            </a:r>
            <a:r>
              <a:rPr lang="zh-CN" altLang="en-US" sz="2000" b="1">
                <a:solidFill>
                  <a:srgbClr val="FFFF00"/>
                </a:solidFill>
              </a:rPr>
              <a:t>工具较多参与</a:t>
            </a:r>
            <a:r>
              <a:rPr lang="en-US" altLang="zh-CN" sz="2000" b="1">
                <a:solidFill>
                  <a:srgbClr val="FFFF00"/>
                </a:solidFill>
              </a:rPr>
              <a:t>         </a:t>
            </a:r>
            <a:r>
              <a:rPr lang="zh-CN" altLang="en-US" sz="2000" b="1">
                <a:solidFill>
                  <a:srgbClr val="FFFF00"/>
                </a:solidFill>
              </a:rPr>
              <a:t>略</a:t>
            </a:r>
            <a:r>
              <a:rPr lang="en-US" altLang="zh-CN" sz="2000" b="1">
                <a:solidFill>
                  <a:srgbClr val="FFFF00"/>
                </a:solidFill>
              </a:rPr>
              <a:t>...             </a:t>
            </a:r>
            <a:r>
              <a:rPr lang="zh-CN" altLang="en-US" sz="2000" b="1">
                <a:solidFill>
                  <a:srgbClr val="FFFF00"/>
                </a:solidFill>
              </a:rPr>
              <a:t>较低</a:t>
            </a:r>
            <a:r>
              <a:rPr lang="en-US" altLang="zh-CN" sz="2000" b="1">
                <a:solidFill>
                  <a:srgbClr val="FFFF00"/>
                </a:solidFill>
              </a:rPr>
              <a:t>       </a:t>
            </a:r>
            <a:r>
              <a:rPr lang="zh-CN" altLang="en-US" sz="2000" b="1">
                <a:solidFill>
                  <a:srgbClr val="FFFF00"/>
                </a:solidFill>
              </a:rPr>
              <a:t>很高</a:t>
            </a:r>
            <a:r>
              <a:rPr lang="en-US" altLang="zh-CN" sz="2000" b="1">
                <a:solidFill>
                  <a:srgbClr val="FFFF00"/>
                </a:solidFill>
              </a:rPr>
              <a:t>       </a:t>
            </a:r>
            <a:r>
              <a:rPr lang="zh-CN" altLang="en-US" sz="2000" b="1">
                <a:solidFill>
                  <a:srgbClr val="FFFF00"/>
                </a:solidFill>
              </a:rPr>
              <a:t>很低</a:t>
            </a:r>
            <a:r>
              <a:rPr lang="en-US" altLang="zh-CN" sz="2000" b="1">
                <a:solidFill>
                  <a:srgbClr val="FFFF00"/>
                </a:solidFill>
              </a:rPr>
              <a:t>     </a:t>
            </a:r>
            <a:r>
              <a:rPr lang="zh-CN" altLang="en-US" sz="2000" b="1">
                <a:solidFill>
                  <a:srgbClr val="FFFF00"/>
                </a:solidFill>
              </a:rPr>
              <a:t>已经成熟</a:t>
            </a:r>
            <a:r>
              <a:rPr lang="en-US" altLang="zh-CN" sz="2000" b="1">
                <a:solidFill>
                  <a:srgbClr val="FFFF00"/>
                </a:solidFill>
                <a:sym typeface="+mn-ea"/>
              </a:rPr>
              <a:t>       </a:t>
            </a:r>
            <a:r>
              <a:rPr lang="zh-CN" altLang="en-US" sz="2000" b="1">
                <a:solidFill>
                  <a:srgbClr val="FFFF00"/>
                </a:solidFill>
                <a:sym typeface="+mn-ea"/>
              </a:rPr>
              <a:t>始终稳定</a:t>
            </a:r>
            <a:endParaRPr lang="zh-CN" sz="2400" b="1">
              <a:solidFill>
                <a:srgbClr val="00B050"/>
              </a:solidFill>
            </a:endParaRPr>
          </a:p>
          <a:p>
            <a:r>
              <a:rPr lang="zh-CN" sz="2400" b="1">
                <a:solidFill>
                  <a:srgbClr val="00B050"/>
                </a:solidFill>
              </a:rPr>
              <a:t>陆路：</a:t>
            </a:r>
            <a:r>
              <a:rPr lang="en-US" altLang="zh-CN" sz="2400" b="1">
                <a:solidFill>
                  <a:srgbClr val="00B050"/>
                </a:solidFill>
              </a:rPr>
              <a:t>      </a:t>
            </a:r>
            <a:r>
              <a:rPr lang="zh-CN" altLang="en-US" sz="2000" b="1">
                <a:solidFill>
                  <a:srgbClr val="FFFF00"/>
                </a:solidFill>
              </a:rPr>
              <a:t>各类</a:t>
            </a:r>
            <a:r>
              <a:rPr lang="en-US" altLang="zh-CN" sz="2000" b="1">
                <a:solidFill>
                  <a:srgbClr val="FFFF00"/>
                </a:solidFill>
              </a:rPr>
              <a:t>AI</a:t>
            </a:r>
            <a:r>
              <a:rPr lang="zh-CN" altLang="en-US" sz="2000" b="1">
                <a:solidFill>
                  <a:srgbClr val="FFFF00"/>
                </a:solidFill>
              </a:rPr>
              <a:t>客户端</a:t>
            </a:r>
            <a:r>
              <a:rPr lang="en-US" altLang="zh-CN" sz="2000" b="1">
                <a:solidFill>
                  <a:srgbClr val="FFFF00"/>
                </a:solidFill>
              </a:rPr>
              <a:t>   </a:t>
            </a:r>
            <a:r>
              <a:rPr lang="zh-CN" altLang="en-US" sz="2000" b="1">
                <a:solidFill>
                  <a:srgbClr val="FFFF00"/>
                </a:solidFill>
              </a:rPr>
              <a:t>豆包</a:t>
            </a:r>
            <a:r>
              <a:rPr lang="en-US" altLang="zh-CN" sz="2000" b="1">
                <a:solidFill>
                  <a:srgbClr val="FFFF00"/>
                </a:solidFill>
              </a:rPr>
              <a:t>/</a:t>
            </a:r>
            <a:r>
              <a:rPr lang="zh-CN" altLang="en-US" sz="2000" b="1">
                <a:solidFill>
                  <a:srgbClr val="FFFF00"/>
                </a:solidFill>
              </a:rPr>
              <a:t>千问</a:t>
            </a:r>
            <a:r>
              <a:rPr lang="en-US" altLang="zh-CN" sz="2000" b="1">
                <a:solidFill>
                  <a:srgbClr val="FFFF00"/>
                </a:solidFill>
              </a:rPr>
              <a:t>/</a:t>
            </a:r>
            <a:r>
              <a:rPr lang="zh-CN" altLang="en-US" sz="2000" b="1">
                <a:solidFill>
                  <a:srgbClr val="FFFF00"/>
                </a:solidFill>
              </a:rPr>
              <a:t>定制</a:t>
            </a:r>
            <a:r>
              <a:rPr lang="en-US" altLang="zh-CN" sz="2000" b="1">
                <a:solidFill>
                  <a:srgbClr val="FFFF00"/>
                </a:solidFill>
              </a:rPr>
              <a:t>   </a:t>
            </a:r>
            <a:r>
              <a:rPr lang="en-US" altLang="zh-CN" b="1">
                <a:solidFill>
                  <a:srgbClr val="FFFF00"/>
                </a:solidFill>
              </a:rPr>
              <a:t> </a:t>
            </a:r>
            <a:r>
              <a:rPr lang="en-US" altLang="zh-CN" sz="800" b="1">
                <a:solidFill>
                  <a:srgbClr val="FFFF00"/>
                </a:solidFill>
              </a:rPr>
              <a:t> </a:t>
            </a:r>
            <a:r>
              <a:rPr lang="en-US" altLang="zh-CN" sz="2000" b="1">
                <a:solidFill>
                  <a:srgbClr val="FFFF00"/>
                </a:solidFill>
              </a:rPr>
              <a:t> </a:t>
            </a:r>
            <a:r>
              <a:rPr lang="zh-CN" altLang="en-US" sz="2000" b="1">
                <a:solidFill>
                  <a:srgbClr val="FFFF00"/>
                </a:solidFill>
              </a:rPr>
              <a:t>中等</a:t>
            </a:r>
            <a:r>
              <a:rPr lang="en-US" altLang="zh-CN" sz="2000" b="1">
                <a:solidFill>
                  <a:srgbClr val="FFFF00"/>
                </a:solidFill>
              </a:rPr>
              <a:t>       </a:t>
            </a:r>
            <a:r>
              <a:rPr lang="zh-CN" altLang="en-US" sz="2000" b="1">
                <a:solidFill>
                  <a:srgbClr val="FFFF00"/>
                </a:solidFill>
              </a:rPr>
              <a:t>较高</a:t>
            </a:r>
            <a:r>
              <a:rPr lang="en-US" altLang="zh-CN" sz="2000" b="1">
                <a:solidFill>
                  <a:srgbClr val="FFFF00"/>
                </a:solidFill>
              </a:rPr>
              <a:t>       </a:t>
            </a:r>
            <a:r>
              <a:rPr lang="zh-CN" altLang="en-US" sz="2000" b="1">
                <a:solidFill>
                  <a:srgbClr val="FFFF00"/>
                </a:solidFill>
              </a:rPr>
              <a:t>中等</a:t>
            </a:r>
            <a:r>
              <a:rPr lang="en-US" altLang="zh-CN" sz="2000" b="1">
                <a:solidFill>
                  <a:srgbClr val="FFFF00"/>
                </a:solidFill>
              </a:rPr>
              <a:t>     </a:t>
            </a:r>
            <a:r>
              <a:rPr lang="zh-CN" altLang="en-US" sz="2000" b="1">
                <a:solidFill>
                  <a:srgbClr val="FFFF00"/>
                </a:solidFill>
              </a:rPr>
              <a:t>前景广阔</a:t>
            </a:r>
            <a:r>
              <a:rPr lang="en-US" altLang="zh-CN" sz="2000" b="1">
                <a:solidFill>
                  <a:srgbClr val="FFFF00"/>
                </a:solidFill>
              </a:rPr>
              <a:t>       </a:t>
            </a:r>
            <a:r>
              <a:rPr lang="zh-CN" altLang="en-US" sz="2000" b="1">
                <a:solidFill>
                  <a:srgbClr val="FFFF00"/>
                </a:solidFill>
              </a:rPr>
              <a:t>逐步成熟</a:t>
            </a:r>
            <a:endParaRPr lang="zh-CN" sz="2400" b="1">
              <a:solidFill>
                <a:srgbClr val="00B050"/>
              </a:solidFill>
            </a:endParaRPr>
          </a:p>
          <a:p>
            <a:r>
              <a:rPr lang="zh-CN" sz="2400" b="1">
                <a:solidFill>
                  <a:srgbClr val="00B050"/>
                </a:solidFill>
              </a:rPr>
              <a:t>海运：</a:t>
            </a:r>
            <a:r>
              <a:rPr lang="en-US" altLang="zh-CN" sz="2400" b="1">
                <a:solidFill>
                  <a:srgbClr val="00B050"/>
                </a:solidFill>
              </a:rPr>
              <a:t>      </a:t>
            </a:r>
            <a:r>
              <a:rPr lang="en-US" altLang="zh-CN" sz="2000" b="1">
                <a:solidFill>
                  <a:srgbClr val="FFFF00"/>
                </a:solidFill>
              </a:rPr>
              <a:t>HPC</a:t>
            </a:r>
            <a:r>
              <a:rPr lang="en-US" altLang="zh-CN" sz="1400" b="1">
                <a:solidFill>
                  <a:srgbClr val="FFFF00"/>
                </a:solidFill>
              </a:rPr>
              <a:t>(</a:t>
            </a:r>
            <a:r>
              <a:rPr lang="zh-CN" altLang="en-US" sz="1400" b="1">
                <a:solidFill>
                  <a:srgbClr val="FFFF00"/>
                </a:solidFill>
              </a:rPr>
              <a:t>高性能计算</a:t>
            </a:r>
            <a:r>
              <a:rPr lang="en-US" altLang="zh-CN" sz="1400" b="1">
                <a:solidFill>
                  <a:srgbClr val="FFFF00"/>
                </a:solidFill>
              </a:rPr>
              <a:t>)</a:t>
            </a:r>
            <a:r>
              <a:rPr lang="en-US" altLang="zh-CN" sz="2000" b="1">
                <a:solidFill>
                  <a:srgbClr val="FFFF00"/>
                </a:solidFill>
              </a:rPr>
              <a:t>      </a:t>
            </a:r>
            <a:r>
              <a:rPr lang="zh-CN" altLang="en-US" sz="2000" b="1">
                <a:solidFill>
                  <a:srgbClr val="FFFF00"/>
                </a:solidFill>
              </a:rPr>
              <a:t>天气预报</a:t>
            </a:r>
            <a:r>
              <a:rPr lang="en-US" altLang="zh-CN" sz="2000" b="1">
                <a:solidFill>
                  <a:srgbClr val="FFFF00"/>
                </a:solidFill>
              </a:rPr>
              <a:t>         </a:t>
            </a:r>
            <a:r>
              <a:rPr lang="en-US" altLang="zh-CN" sz="1000" b="1">
                <a:solidFill>
                  <a:srgbClr val="FFFF00"/>
                </a:solidFill>
              </a:rPr>
              <a:t> </a:t>
            </a:r>
            <a:r>
              <a:rPr lang="zh-CN" altLang="en-US" sz="2000" b="1">
                <a:solidFill>
                  <a:srgbClr val="FFFF00"/>
                </a:solidFill>
              </a:rPr>
              <a:t>较低</a:t>
            </a:r>
            <a:r>
              <a:rPr lang="en-US" altLang="zh-CN" sz="2000" b="1">
                <a:solidFill>
                  <a:srgbClr val="FFFF00"/>
                </a:solidFill>
              </a:rPr>
              <a:t>       </a:t>
            </a:r>
            <a:r>
              <a:rPr lang="zh-CN" altLang="en-US" sz="2000" b="1">
                <a:solidFill>
                  <a:srgbClr val="FFFF00"/>
                </a:solidFill>
              </a:rPr>
              <a:t>中等</a:t>
            </a:r>
            <a:r>
              <a:rPr lang="en-US" altLang="zh-CN" sz="2000" b="1">
                <a:solidFill>
                  <a:srgbClr val="FFFF00"/>
                </a:solidFill>
              </a:rPr>
              <a:t>       </a:t>
            </a:r>
            <a:r>
              <a:rPr lang="zh-CN" altLang="en-US" sz="2000" b="1">
                <a:solidFill>
                  <a:srgbClr val="FFFF00"/>
                </a:solidFill>
              </a:rPr>
              <a:t>较高</a:t>
            </a:r>
            <a:r>
              <a:rPr lang="en-US" altLang="zh-CN" sz="2000" b="1">
                <a:solidFill>
                  <a:srgbClr val="FFFF00"/>
                </a:solidFill>
              </a:rPr>
              <a:t>     </a:t>
            </a:r>
            <a:r>
              <a:rPr lang="zh-CN" altLang="en-US" sz="2000" b="1">
                <a:solidFill>
                  <a:srgbClr val="FFFF00"/>
                </a:solidFill>
              </a:rPr>
              <a:t>已经成熟</a:t>
            </a:r>
            <a:r>
              <a:rPr lang="en-US" altLang="zh-CN" sz="2000" b="1">
                <a:solidFill>
                  <a:srgbClr val="FFFF00"/>
                </a:solidFill>
              </a:rPr>
              <a:t>       </a:t>
            </a:r>
            <a:r>
              <a:rPr lang="zh-CN" altLang="en-US" sz="2000" b="1">
                <a:solidFill>
                  <a:srgbClr val="FFFF00"/>
                </a:solidFill>
              </a:rPr>
              <a:t>始终稳定</a:t>
            </a:r>
            <a:endParaRPr lang="zh-CN" sz="2400" b="1">
              <a:solidFill>
                <a:srgbClr val="00B050"/>
              </a:solidFill>
            </a:endParaRPr>
          </a:p>
          <a:p>
            <a:r>
              <a:rPr lang="zh-CN" sz="2400" b="1">
                <a:solidFill>
                  <a:srgbClr val="00B050"/>
                </a:solidFill>
              </a:rPr>
              <a:t>空运：</a:t>
            </a:r>
            <a:r>
              <a:rPr lang="en-US" altLang="zh-CN" sz="2400" b="1">
                <a:solidFill>
                  <a:srgbClr val="00B050"/>
                </a:solidFill>
              </a:rPr>
              <a:t>      </a:t>
            </a:r>
            <a:r>
              <a:rPr lang="zh-CN" altLang="en-US" sz="2000" b="1">
                <a:solidFill>
                  <a:srgbClr val="FFFF00"/>
                </a:solidFill>
              </a:rPr>
              <a:t>重</a:t>
            </a:r>
            <a:r>
              <a:rPr lang="en-US" altLang="zh-CN" sz="2000" b="1">
                <a:solidFill>
                  <a:srgbClr val="FFFF00"/>
                </a:solidFill>
              </a:rPr>
              <a:t>AI+</a:t>
            </a:r>
            <a:r>
              <a:rPr lang="zh-CN" altLang="en-US" sz="2000" b="1">
                <a:solidFill>
                  <a:srgbClr val="FFFF00"/>
                </a:solidFill>
              </a:rPr>
              <a:t>重</a:t>
            </a:r>
            <a:r>
              <a:rPr lang="en-US" altLang="zh-CN" sz="2000" b="1">
                <a:solidFill>
                  <a:srgbClr val="FFFF00"/>
                </a:solidFill>
              </a:rPr>
              <a:t>HPC        N/A             </a:t>
            </a:r>
            <a:r>
              <a:rPr lang="en-US" altLang="zh-CN" sz="1600" b="1">
                <a:solidFill>
                  <a:srgbClr val="FFFF00"/>
                </a:solidFill>
              </a:rPr>
              <a:t> </a:t>
            </a:r>
            <a:r>
              <a:rPr lang="zh-CN" altLang="en-US" sz="2000" b="1">
                <a:solidFill>
                  <a:srgbClr val="FFFF00"/>
                </a:solidFill>
              </a:rPr>
              <a:t>很高</a:t>
            </a:r>
            <a:r>
              <a:rPr lang="en-US" altLang="zh-CN" sz="2000" b="1">
                <a:solidFill>
                  <a:srgbClr val="FFFF00"/>
                </a:solidFill>
              </a:rPr>
              <a:t>       </a:t>
            </a:r>
            <a:r>
              <a:rPr lang="zh-CN" altLang="en-US" sz="2000" b="1">
                <a:solidFill>
                  <a:srgbClr val="FFFF00"/>
                </a:solidFill>
              </a:rPr>
              <a:t>较低</a:t>
            </a:r>
            <a:r>
              <a:rPr lang="en-US" altLang="zh-CN" sz="2000" b="1">
                <a:solidFill>
                  <a:srgbClr val="FFFF00"/>
                </a:solidFill>
              </a:rPr>
              <a:t>       </a:t>
            </a:r>
            <a:r>
              <a:rPr lang="zh-CN" altLang="en-US" sz="2000" b="1">
                <a:solidFill>
                  <a:srgbClr val="FFFF00"/>
                </a:solidFill>
              </a:rPr>
              <a:t>很高</a:t>
            </a:r>
            <a:r>
              <a:rPr lang="en-US" altLang="zh-CN" sz="2000" b="1">
                <a:solidFill>
                  <a:srgbClr val="FFFF00"/>
                </a:solidFill>
              </a:rPr>
              <a:t>     </a:t>
            </a:r>
            <a:r>
              <a:rPr lang="zh-CN" altLang="en-US" sz="2000" b="1">
                <a:solidFill>
                  <a:srgbClr val="FFFF00"/>
                </a:solidFill>
              </a:rPr>
              <a:t>初步落地</a:t>
            </a:r>
            <a:r>
              <a:rPr lang="en-US" altLang="zh-CN" sz="2000" b="1">
                <a:solidFill>
                  <a:srgbClr val="FFFF00"/>
                </a:solidFill>
              </a:rPr>
              <a:t>       </a:t>
            </a:r>
            <a:r>
              <a:rPr lang="zh-CN" altLang="en-US" sz="2000" b="1">
                <a:solidFill>
                  <a:srgbClr val="FFFF00"/>
                </a:solidFill>
              </a:rPr>
              <a:t>前景广阔</a:t>
            </a:r>
            <a:endParaRPr lang="zh-CN" sz="2400" b="1">
              <a:solidFill>
                <a:srgbClr val="00B050"/>
              </a:solidFill>
            </a:endParaRPr>
          </a:p>
          <a:p>
            <a:r>
              <a:rPr lang="zh-CN" sz="2400" b="1">
                <a:solidFill>
                  <a:srgbClr val="00B050"/>
                </a:solidFill>
              </a:rPr>
              <a:t>火箭：</a:t>
            </a:r>
            <a:r>
              <a:rPr lang="en-US" altLang="zh-CN" sz="2400" b="1">
                <a:solidFill>
                  <a:srgbClr val="00B050"/>
                </a:solidFill>
              </a:rPr>
              <a:t>      </a:t>
            </a:r>
            <a:r>
              <a:rPr lang="zh-CN" altLang="en-US" sz="2000" b="1">
                <a:solidFill>
                  <a:srgbClr val="FFFF00"/>
                </a:solidFill>
              </a:rPr>
              <a:t>各非经典计算</a:t>
            </a:r>
            <a:r>
              <a:rPr lang="en-US" altLang="zh-CN" sz="2000" b="1">
                <a:solidFill>
                  <a:srgbClr val="FFFF00"/>
                </a:solidFill>
              </a:rPr>
              <a:t>       </a:t>
            </a:r>
            <a:r>
              <a:rPr lang="zh-CN" altLang="en-US" sz="2000" b="1">
                <a:solidFill>
                  <a:srgbClr val="FFFF00"/>
                </a:solidFill>
              </a:rPr>
              <a:t>量子计算</a:t>
            </a:r>
            <a:r>
              <a:rPr lang="en-US" altLang="zh-CN" sz="2000" b="1">
                <a:solidFill>
                  <a:srgbClr val="FFFF00"/>
                </a:solidFill>
              </a:rPr>
              <a:t>         </a:t>
            </a:r>
            <a:r>
              <a:rPr lang="en-US" altLang="zh-CN" sz="1600" b="1">
                <a:solidFill>
                  <a:srgbClr val="FFFF00"/>
                </a:solidFill>
              </a:rPr>
              <a:t> </a:t>
            </a:r>
            <a:r>
              <a:rPr lang="zh-CN" altLang="en-US" sz="2000" b="1">
                <a:solidFill>
                  <a:srgbClr val="FFFF00"/>
                </a:solidFill>
              </a:rPr>
              <a:t>最高</a:t>
            </a:r>
            <a:r>
              <a:rPr lang="en-US" altLang="zh-CN" sz="2000" b="1">
                <a:solidFill>
                  <a:srgbClr val="FFFF00"/>
                </a:solidFill>
              </a:rPr>
              <a:t>       </a:t>
            </a:r>
            <a:r>
              <a:rPr lang="zh-CN" altLang="en-US" sz="2000" b="1">
                <a:solidFill>
                  <a:srgbClr val="FFFF00"/>
                </a:solidFill>
              </a:rPr>
              <a:t>最低</a:t>
            </a:r>
            <a:r>
              <a:rPr lang="en-US" altLang="zh-CN" sz="2000" b="1">
                <a:solidFill>
                  <a:srgbClr val="FFFF00"/>
                </a:solidFill>
              </a:rPr>
              <a:t>       </a:t>
            </a:r>
            <a:r>
              <a:rPr lang="zh-CN" altLang="en-US" sz="2000" b="1">
                <a:solidFill>
                  <a:srgbClr val="FFFF00"/>
                </a:solidFill>
              </a:rPr>
              <a:t>最高</a:t>
            </a:r>
            <a:r>
              <a:rPr lang="en-US" altLang="zh-CN" sz="2000" b="1">
                <a:solidFill>
                  <a:srgbClr val="FFFF00"/>
                </a:solidFill>
              </a:rPr>
              <a:t>     </a:t>
            </a:r>
            <a:r>
              <a:rPr lang="zh-CN" sz="2000" b="1">
                <a:solidFill>
                  <a:srgbClr val="FFFF00"/>
                </a:solidFill>
              </a:rPr>
              <a:t>理论成熟</a:t>
            </a:r>
            <a:r>
              <a:rPr lang="en-US" altLang="zh-CN" sz="2000" b="1">
                <a:solidFill>
                  <a:srgbClr val="FFFF00"/>
                </a:solidFill>
              </a:rPr>
              <a:t>       </a:t>
            </a:r>
            <a:r>
              <a:rPr lang="zh-CN" altLang="en-US" sz="2000" b="1">
                <a:solidFill>
                  <a:srgbClr val="FFFF00"/>
                </a:solidFill>
              </a:rPr>
              <a:t>初步落地</a:t>
            </a:r>
            <a:endParaRPr lang="zh-CN" sz="2400" b="1">
              <a:solidFill>
                <a:srgbClr val="00B050"/>
              </a:solidFill>
            </a:endParaRPr>
          </a:p>
          <a:p>
            <a:r>
              <a:rPr lang="zh-CN" sz="2400" b="1">
                <a:solidFill>
                  <a:srgbClr val="00B050"/>
                </a:solidFill>
              </a:rPr>
              <a:t>无人机：</a:t>
            </a:r>
            <a:r>
              <a:rPr lang="en-US" altLang="zh-CN" sz="2400" b="1">
                <a:solidFill>
                  <a:srgbClr val="00B050"/>
                </a:solidFill>
              </a:rPr>
              <a:t>   </a:t>
            </a:r>
            <a:r>
              <a:rPr lang="zh-CN" altLang="en-US" sz="2000" b="1">
                <a:solidFill>
                  <a:srgbClr val="FFFF00"/>
                </a:solidFill>
              </a:rPr>
              <a:t>各类重客户端</a:t>
            </a:r>
            <a:r>
              <a:rPr lang="en-US" altLang="zh-CN" sz="2000" b="1">
                <a:solidFill>
                  <a:srgbClr val="FFFF00"/>
                </a:solidFill>
              </a:rPr>
              <a:t>       </a:t>
            </a:r>
            <a:r>
              <a:rPr lang="en-US" altLang="zh-CN" sz="2000" b="1">
                <a:solidFill>
                  <a:srgbClr val="FFFF00"/>
                </a:solidFill>
                <a:sym typeface="+mn-ea"/>
              </a:rPr>
              <a:t>AI</a:t>
            </a:r>
            <a:r>
              <a:rPr lang="zh-CN" altLang="en-US" sz="2000" b="1">
                <a:solidFill>
                  <a:srgbClr val="FFFF00"/>
                </a:solidFill>
                <a:sym typeface="+mn-ea"/>
              </a:rPr>
              <a:t>机器人</a:t>
            </a:r>
            <a:r>
              <a:rPr lang="en-US" altLang="zh-CN" sz="2000" b="1">
                <a:solidFill>
                  <a:srgbClr val="FFFF00"/>
                </a:solidFill>
                <a:sym typeface="+mn-ea"/>
              </a:rPr>
              <a:t>         </a:t>
            </a:r>
            <a:r>
              <a:rPr lang="en-US" altLang="zh-CN" sz="1000" b="1">
                <a:solidFill>
                  <a:srgbClr val="FFFF00"/>
                </a:solidFill>
                <a:sym typeface="+mn-ea"/>
              </a:rPr>
              <a:t> </a:t>
            </a:r>
            <a:r>
              <a:rPr lang="zh-CN" altLang="en-US" sz="2000" b="1">
                <a:solidFill>
                  <a:srgbClr val="FFFF00"/>
                </a:solidFill>
                <a:sym typeface="+mn-ea"/>
              </a:rPr>
              <a:t>中等</a:t>
            </a:r>
            <a:r>
              <a:rPr lang="en-US" altLang="zh-CN" sz="2000" b="1">
                <a:solidFill>
                  <a:srgbClr val="FFFF00"/>
                </a:solidFill>
                <a:sym typeface="+mn-ea"/>
              </a:rPr>
              <a:t>       </a:t>
            </a:r>
            <a:r>
              <a:rPr lang="zh-CN" altLang="en-US" sz="2000" b="1">
                <a:solidFill>
                  <a:srgbClr val="FFFF00"/>
                </a:solidFill>
                <a:sym typeface="+mn-ea"/>
              </a:rPr>
              <a:t>较高</a:t>
            </a:r>
            <a:r>
              <a:rPr lang="en-US" altLang="zh-CN" sz="2000" b="1">
                <a:solidFill>
                  <a:srgbClr val="FFFF00"/>
                </a:solidFill>
                <a:sym typeface="+mn-ea"/>
              </a:rPr>
              <a:t>       </a:t>
            </a:r>
            <a:r>
              <a:rPr lang="zh-CN" altLang="en-US" sz="2000" b="1">
                <a:solidFill>
                  <a:srgbClr val="FFFF00"/>
                </a:solidFill>
                <a:sym typeface="+mn-ea"/>
              </a:rPr>
              <a:t>中等</a:t>
            </a:r>
            <a:r>
              <a:rPr lang="en-US" altLang="zh-CN" sz="2000" b="1">
                <a:solidFill>
                  <a:srgbClr val="FFFF00"/>
                </a:solidFill>
                <a:sym typeface="+mn-ea"/>
              </a:rPr>
              <a:t>     </a:t>
            </a:r>
            <a:r>
              <a:rPr lang="zh-CN" altLang="en-US" sz="2000" b="1">
                <a:solidFill>
                  <a:srgbClr val="FFFF00"/>
                </a:solidFill>
                <a:sym typeface="+mn-ea"/>
              </a:rPr>
              <a:t>逐步成熟</a:t>
            </a:r>
            <a:r>
              <a:rPr lang="en-US" altLang="zh-CN" sz="2000" b="1">
                <a:solidFill>
                  <a:srgbClr val="FFFF00"/>
                </a:solidFill>
                <a:sym typeface="+mn-ea"/>
              </a:rPr>
              <a:t>       </a:t>
            </a:r>
            <a:r>
              <a:rPr lang="zh-CN" altLang="en-US" sz="2000" b="1">
                <a:solidFill>
                  <a:srgbClr val="FFFF00"/>
                </a:solidFill>
                <a:sym typeface="+mn-ea"/>
              </a:rPr>
              <a:t>已经成熟</a:t>
            </a:r>
            <a:endParaRPr lang="zh-CN" sz="2400" b="1">
              <a:solidFill>
                <a:srgbClr val="00B050"/>
              </a:solidFill>
            </a:endParaRPr>
          </a:p>
          <a:p>
            <a:r>
              <a:rPr lang="zh-CN" sz="2400" b="1">
                <a:solidFill>
                  <a:srgbClr val="00B050"/>
                </a:solidFill>
              </a:rPr>
              <a:t>直升机：</a:t>
            </a:r>
            <a:r>
              <a:rPr lang="en-US" altLang="zh-CN" sz="2400" b="1">
                <a:solidFill>
                  <a:srgbClr val="00B050"/>
                </a:solidFill>
              </a:rPr>
              <a:t>   </a:t>
            </a:r>
            <a:r>
              <a:rPr lang="zh-CN" altLang="en-US" sz="2000" b="1">
                <a:solidFill>
                  <a:srgbClr val="FFFF00"/>
                </a:solidFill>
              </a:rPr>
              <a:t>轻</a:t>
            </a:r>
            <a:r>
              <a:rPr lang="en-US" altLang="zh-CN" sz="2000" b="1">
                <a:solidFill>
                  <a:srgbClr val="FFFF00"/>
                </a:solidFill>
              </a:rPr>
              <a:t>AI+</a:t>
            </a:r>
            <a:r>
              <a:rPr lang="zh-CN" altLang="en-US" sz="2000" b="1">
                <a:solidFill>
                  <a:srgbClr val="FFFF00"/>
                </a:solidFill>
              </a:rPr>
              <a:t>轻</a:t>
            </a:r>
            <a:r>
              <a:rPr lang="en-US" altLang="zh-CN" sz="2000" b="1">
                <a:solidFill>
                  <a:srgbClr val="FFFF00"/>
                </a:solidFill>
              </a:rPr>
              <a:t>HPC        N/A              </a:t>
            </a:r>
            <a:r>
              <a:rPr lang="zh-CN" altLang="en-US" sz="2000" b="1">
                <a:solidFill>
                  <a:srgbClr val="FFFF00"/>
                </a:solidFill>
              </a:rPr>
              <a:t>较高</a:t>
            </a:r>
            <a:r>
              <a:rPr lang="en-US" altLang="zh-CN" sz="2000" b="1">
                <a:solidFill>
                  <a:srgbClr val="FFFF00"/>
                </a:solidFill>
              </a:rPr>
              <a:t>       </a:t>
            </a:r>
            <a:r>
              <a:rPr lang="zh-CN" altLang="en-US" sz="2000" b="1">
                <a:solidFill>
                  <a:srgbClr val="FFFF00"/>
                </a:solidFill>
              </a:rPr>
              <a:t>很高</a:t>
            </a:r>
            <a:r>
              <a:rPr lang="en-US" altLang="zh-CN" sz="2000" b="1">
                <a:solidFill>
                  <a:srgbClr val="FFFF00"/>
                </a:solidFill>
              </a:rPr>
              <a:t>       </a:t>
            </a:r>
            <a:r>
              <a:rPr lang="zh-CN" altLang="en-US" sz="2000" b="1">
                <a:solidFill>
                  <a:srgbClr val="FFFF00"/>
                </a:solidFill>
              </a:rPr>
              <a:t>很高</a:t>
            </a:r>
            <a:r>
              <a:rPr lang="en-US" altLang="zh-CN" sz="2000" b="1">
                <a:solidFill>
                  <a:srgbClr val="FFFF00"/>
                </a:solidFill>
              </a:rPr>
              <a:t>     </a:t>
            </a:r>
            <a:r>
              <a:rPr lang="zh-CN" altLang="en-US" sz="2000" b="1">
                <a:solidFill>
                  <a:srgbClr val="FFFF00"/>
                </a:solidFill>
              </a:rPr>
              <a:t>初步落地</a:t>
            </a:r>
            <a:r>
              <a:rPr lang="en-US" altLang="zh-CN" sz="2000" b="1">
                <a:solidFill>
                  <a:srgbClr val="FFFF00"/>
                </a:solidFill>
              </a:rPr>
              <a:t>       </a:t>
            </a:r>
            <a:r>
              <a:rPr lang="zh-CN" altLang="en-US" sz="2000" b="1">
                <a:solidFill>
                  <a:srgbClr val="FFFF00"/>
                </a:solidFill>
              </a:rPr>
              <a:t>前景广阔</a:t>
            </a:r>
            <a:endParaRPr lang="zh-CN" sz="2400" b="1">
              <a:solidFill>
                <a:srgbClr val="00B050"/>
              </a:solidFill>
            </a:endParaRPr>
          </a:p>
          <a:p>
            <a:endParaRPr lang="zh-CN" altLang="en-US" sz="2000" b="1">
              <a:solidFill>
                <a:srgbClr val="FFFF00"/>
              </a:solidFill>
              <a:sym typeface="+mn-ea"/>
            </a:endParaRPr>
          </a:p>
          <a:p>
            <a:r>
              <a:rPr lang="zh-CN" altLang="en-US" sz="2000" b="1">
                <a:solidFill>
                  <a:srgbClr val="00B050"/>
                </a:solidFill>
                <a:sym typeface="+mn-ea"/>
              </a:rPr>
              <a:t>备注：</a:t>
            </a:r>
            <a:endParaRPr lang="zh-CN" altLang="en-US" sz="2000" b="1">
              <a:solidFill>
                <a:srgbClr val="00B050"/>
              </a:solidFill>
              <a:sym typeface="+mn-ea"/>
            </a:endParaRPr>
          </a:p>
          <a:p>
            <a:r>
              <a:rPr lang="en-US" altLang="zh-CN" b="1">
                <a:solidFill>
                  <a:schemeClr val="bg1"/>
                </a:solidFill>
                <a:sym typeface="+mn-ea"/>
              </a:rPr>
              <a:t>       </a:t>
            </a:r>
            <a:r>
              <a:rPr lang="zh-CN" altLang="en-US" b="1">
                <a:solidFill>
                  <a:schemeClr val="bg1"/>
                </a:solidFill>
                <a:sym typeface="+mn-ea"/>
              </a:rPr>
              <a:t>面向广义研发人员（含业务人员使用</a:t>
            </a:r>
            <a:r>
              <a:rPr lang="en-US" altLang="zh-CN" b="1">
                <a:solidFill>
                  <a:schemeClr val="bg1"/>
                </a:solidFill>
                <a:sym typeface="+mn-ea"/>
              </a:rPr>
              <a:t>AI</a:t>
            </a:r>
            <a:r>
              <a:rPr lang="zh-CN" altLang="en-US" b="1">
                <a:solidFill>
                  <a:schemeClr val="bg1"/>
                </a:solidFill>
                <a:sym typeface="+mn-ea"/>
              </a:rPr>
              <a:t>），其中研发类内容也可以有生活和爱好</a:t>
            </a:r>
            <a:endParaRPr lang="zh-CN" altLang="en-US" b="1">
              <a:solidFill>
                <a:schemeClr val="bg1"/>
              </a:solidFill>
              <a:sym typeface="+mn-ea"/>
            </a:endParaRPr>
          </a:p>
          <a:p>
            <a:r>
              <a:rPr lang="en-US" altLang="zh-CN" b="1">
                <a:solidFill>
                  <a:schemeClr val="bg1"/>
                </a:solidFill>
                <a:sym typeface="+mn-ea"/>
              </a:rPr>
              <a:t>       </a:t>
            </a:r>
            <a:r>
              <a:rPr lang="zh-CN" altLang="en-US" b="1">
                <a:solidFill>
                  <a:schemeClr val="bg1"/>
                </a:solidFill>
                <a:sym typeface="+mn-ea"/>
              </a:rPr>
              <a:t>只包含常见交通工具，对于特种交通工具，也可对应进行</a:t>
            </a:r>
            <a:r>
              <a:rPr lang="en-US" altLang="zh-CN" b="1">
                <a:solidFill>
                  <a:schemeClr val="bg1"/>
                </a:solidFill>
                <a:sym typeface="+mn-ea"/>
              </a:rPr>
              <a:t>AI</a:t>
            </a:r>
            <a:r>
              <a:rPr lang="zh-CN" altLang="en-US" b="1">
                <a:solidFill>
                  <a:schemeClr val="bg1"/>
                </a:solidFill>
                <a:sym typeface="+mn-ea"/>
              </a:rPr>
              <a:t>类比（但本文不展开）</a:t>
            </a:r>
            <a:endParaRPr lang="zh-CN" altLang="en-US" b="1">
              <a:solidFill>
                <a:schemeClr val="bg1"/>
              </a:solidFill>
              <a:sym typeface="+mn-ea"/>
            </a:endParaRPr>
          </a:p>
          <a:p>
            <a:r>
              <a:rPr lang="en-US" altLang="zh-CN" b="1">
                <a:solidFill>
                  <a:schemeClr val="bg1"/>
                </a:solidFill>
                <a:sym typeface="+mn-ea"/>
              </a:rPr>
              <a:t>       </a:t>
            </a:r>
            <a:r>
              <a:rPr lang="zh-CN" altLang="en-US" b="1">
                <a:solidFill>
                  <a:schemeClr val="bg1"/>
                </a:solidFill>
                <a:sym typeface="+mn-ea"/>
              </a:rPr>
              <a:t>效率指交付速度，不是模型速度，一般各类模型速度足够，更多是人与</a:t>
            </a:r>
            <a:r>
              <a:rPr lang="en-US" altLang="zh-CN" b="1">
                <a:solidFill>
                  <a:schemeClr val="bg1"/>
                </a:solidFill>
                <a:sym typeface="+mn-ea"/>
              </a:rPr>
              <a:t>AI</a:t>
            </a:r>
            <a:r>
              <a:rPr lang="zh-CN" altLang="en-US" b="1">
                <a:solidFill>
                  <a:schemeClr val="bg1"/>
                </a:solidFill>
                <a:sym typeface="+mn-ea"/>
              </a:rPr>
              <a:t>交互配合</a:t>
            </a:r>
            <a:endParaRPr lang="zh-CN" altLang="en-US" b="1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3463925" y="96520"/>
            <a:ext cx="57251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 b="1">
                <a:solidFill>
                  <a:srgbClr val="00B050"/>
                </a:solidFill>
              </a:rPr>
              <a:t>AI</a:t>
            </a:r>
            <a:r>
              <a:rPr lang="zh-CN" altLang="en-US" sz="2800" b="1">
                <a:solidFill>
                  <a:srgbClr val="00B050"/>
                </a:solidFill>
              </a:rPr>
              <a:t>生态面面观</a:t>
            </a:r>
            <a:r>
              <a:rPr lang="en-US" altLang="zh-CN" sz="2800" b="1">
                <a:solidFill>
                  <a:srgbClr val="00B050"/>
                </a:solidFill>
              </a:rPr>
              <a:t>-</a:t>
            </a:r>
            <a:r>
              <a:rPr lang="zh-CN" altLang="en-US" sz="2800" b="1">
                <a:solidFill>
                  <a:srgbClr val="00B050"/>
                </a:solidFill>
              </a:rPr>
              <a:t>汽车行业找答案</a:t>
            </a:r>
            <a:endParaRPr lang="zh-CN" altLang="en-US" sz="2800" b="1">
              <a:solidFill>
                <a:srgbClr val="00B050"/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417195" y="666115"/>
            <a:ext cx="11584940" cy="59696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00B050"/>
                </a:solidFill>
              </a:rPr>
              <a:t>               </a:t>
            </a:r>
            <a:r>
              <a:rPr lang="zh-CN" altLang="en-US" sz="2400" b="1">
                <a:solidFill>
                  <a:srgbClr val="00B050"/>
                </a:solidFill>
              </a:rPr>
              <a:t>类型</a:t>
            </a:r>
            <a:r>
              <a:rPr lang="en-US" altLang="zh-CN" sz="2400" b="1">
                <a:solidFill>
                  <a:srgbClr val="00B050"/>
                </a:solidFill>
              </a:rPr>
              <a:t>            </a:t>
            </a:r>
            <a:r>
              <a:rPr lang="zh-CN" altLang="en-US" sz="2400" b="1">
                <a:solidFill>
                  <a:srgbClr val="00B050"/>
                </a:solidFill>
              </a:rPr>
              <a:t>举例</a:t>
            </a:r>
            <a:r>
              <a:rPr lang="en-US" altLang="zh-CN" sz="2400" b="1">
                <a:solidFill>
                  <a:srgbClr val="00B050"/>
                </a:solidFill>
              </a:rPr>
              <a:t>          </a:t>
            </a:r>
            <a:r>
              <a:rPr lang="en-US" altLang="zh-CN" sz="1400" b="1">
                <a:solidFill>
                  <a:srgbClr val="00B050"/>
                </a:solidFill>
              </a:rPr>
              <a:t> </a:t>
            </a:r>
            <a:r>
              <a:rPr lang="zh-CN" altLang="en-US" sz="2400" b="1">
                <a:solidFill>
                  <a:srgbClr val="00B050"/>
                </a:solidFill>
              </a:rPr>
              <a:t>效率</a:t>
            </a:r>
            <a:r>
              <a:rPr lang="en-US" altLang="zh-CN" sz="2400" b="1">
                <a:solidFill>
                  <a:srgbClr val="00B050"/>
                </a:solidFill>
              </a:rPr>
              <a:t>     </a:t>
            </a:r>
            <a:r>
              <a:rPr lang="zh-CN" altLang="en-US" sz="2400" b="1">
                <a:solidFill>
                  <a:srgbClr val="00B050"/>
                </a:solidFill>
              </a:rPr>
              <a:t>自由</a:t>
            </a:r>
            <a:r>
              <a:rPr lang="en-US" altLang="zh-CN" sz="2400" b="1">
                <a:solidFill>
                  <a:srgbClr val="00B050"/>
                </a:solidFill>
              </a:rPr>
              <a:t>     </a:t>
            </a:r>
            <a:r>
              <a:rPr lang="zh-CN" altLang="en-US" sz="2400" b="1">
                <a:solidFill>
                  <a:srgbClr val="00B050"/>
                </a:solidFill>
              </a:rPr>
              <a:t>复杂</a:t>
            </a:r>
            <a:r>
              <a:rPr lang="en-US" altLang="zh-CN" sz="2400" b="1">
                <a:solidFill>
                  <a:srgbClr val="00B050"/>
                </a:solidFill>
              </a:rPr>
              <a:t>     </a:t>
            </a:r>
            <a:r>
              <a:rPr lang="zh-CN" altLang="en-US" sz="2400" b="1">
                <a:solidFill>
                  <a:srgbClr val="00B050"/>
                </a:solidFill>
              </a:rPr>
              <a:t>形式</a:t>
            </a:r>
            <a:r>
              <a:rPr lang="en-US" altLang="zh-CN" sz="2400" b="1">
                <a:solidFill>
                  <a:srgbClr val="00B050"/>
                </a:solidFill>
              </a:rPr>
              <a:t>          </a:t>
            </a:r>
            <a:r>
              <a:rPr lang="en-US" altLang="zh-CN" sz="1200" b="1">
                <a:solidFill>
                  <a:srgbClr val="00B050"/>
                </a:solidFill>
              </a:rPr>
              <a:t> </a:t>
            </a:r>
            <a:r>
              <a:rPr lang="en-US" altLang="zh-CN" sz="2400" b="1">
                <a:solidFill>
                  <a:srgbClr val="00B050"/>
                </a:solidFill>
              </a:rPr>
              <a:t> </a:t>
            </a:r>
            <a:r>
              <a:rPr lang="zh-CN" altLang="en-US" sz="2400" b="1">
                <a:solidFill>
                  <a:srgbClr val="00B050"/>
                </a:solidFill>
              </a:rPr>
              <a:t>费用</a:t>
            </a:r>
            <a:endParaRPr lang="zh-CN" sz="2400" b="1">
              <a:solidFill>
                <a:srgbClr val="00B050"/>
              </a:solidFill>
            </a:endParaRPr>
          </a:p>
          <a:p>
            <a:r>
              <a:rPr lang="zh-CN" sz="2400" b="1">
                <a:solidFill>
                  <a:srgbClr val="00B050"/>
                </a:solidFill>
              </a:rPr>
              <a:t>步行：</a:t>
            </a:r>
            <a:r>
              <a:rPr lang="en-US" altLang="zh-CN" sz="2400" b="1">
                <a:solidFill>
                  <a:srgbClr val="00B050"/>
                </a:solidFill>
              </a:rPr>
              <a:t>   </a:t>
            </a:r>
            <a:r>
              <a:rPr lang="zh-CN" altLang="en-US" sz="2000" b="1">
                <a:solidFill>
                  <a:srgbClr val="FFFF00"/>
                </a:solidFill>
              </a:rPr>
              <a:t>工具较少参与</a:t>
            </a:r>
            <a:r>
              <a:rPr lang="en-US" altLang="zh-CN" sz="2000" b="1">
                <a:solidFill>
                  <a:srgbClr val="FFFF00"/>
                </a:solidFill>
              </a:rPr>
              <a:t>         </a:t>
            </a:r>
            <a:r>
              <a:rPr lang="zh-CN" altLang="en-US" sz="2000" b="1">
                <a:solidFill>
                  <a:srgbClr val="FFFF00"/>
                </a:solidFill>
              </a:rPr>
              <a:t>略</a:t>
            </a:r>
            <a:r>
              <a:rPr lang="en-US" altLang="zh-CN" sz="2000" b="1">
                <a:solidFill>
                  <a:srgbClr val="FFFF00"/>
                </a:solidFill>
              </a:rPr>
              <a:t>...             </a:t>
            </a:r>
            <a:r>
              <a:rPr lang="zh-CN" altLang="en-US" sz="2000" b="1">
                <a:solidFill>
                  <a:srgbClr val="FFFF00"/>
                </a:solidFill>
              </a:rPr>
              <a:t>最低</a:t>
            </a:r>
            <a:r>
              <a:rPr lang="en-US" altLang="zh-CN" sz="2000" b="1">
                <a:solidFill>
                  <a:srgbClr val="FFFF00"/>
                </a:solidFill>
              </a:rPr>
              <a:t>       </a:t>
            </a:r>
            <a:r>
              <a:rPr lang="zh-CN" altLang="en-US" sz="2000" b="1">
                <a:solidFill>
                  <a:srgbClr val="FFFF00"/>
                </a:solidFill>
              </a:rPr>
              <a:t>最高</a:t>
            </a:r>
            <a:r>
              <a:rPr lang="en-US" altLang="zh-CN" sz="2000" b="1">
                <a:solidFill>
                  <a:srgbClr val="FFFF00"/>
                </a:solidFill>
              </a:rPr>
              <a:t>       </a:t>
            </a:r>
            <a:r>
              <a:rPr lang="zh-CN" altLang="en-US" sz="2000" b="1">
                <a:solidFill>
                  <a:srgbClr val="FFFF00"/>
                </a:solidFill>
              </a:rPr>
              <a:t>最低</a:t>
            </a:r>
            <a:r>
              <a:rPr lang="en-US" altLang="zh-CN" sz="2000" b="1">
                <a:solidFill>
                  <a:srgbClr val="FFFF00"/>
                </a:solidFill>
              </a:rPr>
              <a:t>   </a:t>
            </a:r>
            <a:r>
              <a:rPr lang="zh-CN" altLang="en-US" sz="2000" b="1">
                <a:solidFill>
                  <a:srgbClr val="FFFF00"/>
                </a:solidFill>
              </a:rPr>
              <a:t>全职兼职各半</a:t>
            </a:r>
            <a:r>
              <a:rPr lang="en-US" altLang="zh-CN" sz="2000" b="1">
                <a:solidFill>
                  <a:srgbClr val="FFFF00"/>
                </a:solidFill>
              </a:rPr>
              <a:t>     </a:t>
            </a:r>
            <a:r>
              <a:rPr lang="zh-CN" altLang="en-US" sz="2000" b="1">
                <a:solidFill>
                  <a:srgbClr val="FFFF00"/>
                </a:solidFill>
              </a:rPr>
              <a:t>免费为主</a:t>
            </a:r>
            <a:endParaRPr lang="zh-CN" sz="2400" b="1">
              <a:solidFill>
                <a:srgbClr val="00B050"/>
              </a:solidFill>
            </a:endParaRPr>
          </a:p>
          <a:p>
            <a:r>
              <a:rPr lang="zh-CN" sz="2400" b="1">
                <a:solidFill>
                  <a:srgbClr val="00B050"/>
                </a:solidFill>
              </a:rPr>
              <a:t>骑行：</a:t>
            </a:r>
            <a:r>
              <a:rPr lang="en-US" altLang="zh-CN" sz="2400" b="1">
                <a:solidFill>
                  <a:srgbClr val="00B050"/>
                </a:solidFill>
              </a:rPr>
              <a:t>   </a:t>
            </a:r>
            <a:r>
              <a:rPr lang="zh-CN" altLang="en-US" sz="2000" b="1">
                <a:solidFill>
                  <a:srgbClr val="FFFF00"/>
                </a:solidFill>
              </a:rPr>
              <a:t>工具较多参与</a:t>
            </a:r>
            <a:r>
              <a:rPr lang="en-US" altLang="zh-CN" sz="2000" b="1">
                <a:solidFill>
                  <a:srgbClr val="FFFF00"/>
                </a:solidFill>
              </a:rPr>
              <a:t>         </a:t>
            </a:r>
            <a:r>
              <a:rPr lang="zh-CN" altLang="en-US" sz="2000" b="1">
                <a:solidFill>
                  <a:srgbClr val="FFFF00"/>
                </a:solidFill>
              </a:rPr>
              <a:t>略</a:t>
            </a:r>
            <a:r>
              <a:rPr lang="en-US" altLang="zh-CN" sz="2000" b="1">
                <a:solidFill>
                  <a:srgbClr val="FFFF00"/>
                </a:solidFill>
              </a:rPr>
              <a:t>...             </a:t>
            </a:r>
            <a:r>
              <a:rPr lang="zh-CN" altLang="en-US" sz="2000" b="1">
                <a:solidFill>
                  <a:srgbClr val="FFFF00"/>
                </a:solidFill>
              </a:rPr>
              <a:t>较低</a:t>
            </a:r>
            <a:r>
              <a:rPr lang="en-US" altLang="zh-CN" sz="2000" b="1">
                <a:solidFill>
                  <a:srgbClr val="FFFF00"/>
                </a:solidFill>
              </a:rPr>
              <a:t>       </a:t>
            </a:r>
            <a:r>
              <a:rPr lang="zh-CN" altLang="en-US" sz="2000" b="1">
                <a:solidFill>
                  <a:srgbClr val="FFFF00"/>
                </a:solidFill>
              </a:rPr>
              <a:t>很高</a:t>
            </a:r>
            <a:r>
              <a:rPr lang="en-US" altLang="zh-CN" sz="2000" b="1">
                <a:solidFill>
                  <a:srgbClr val="FFFF00"/>
                </a:solidFill>
              </a:rPr>
              <a:t>       </a:t>
            </a:r>
            <a:r>
              <a:rPr lang="zh-CN" altLang="en-US" sz="2000" b="1">
                <a:solidFill>
                  <a:srgbClr val="FFFF00"/>
                </a:solidFill>
              </a:rPr>
              <a:t>很低</a:t>
            </a:r>
            <a:r>
              <a:rPr lang="en-US" altLang="zh-CN" sz="2000" b="1">
                <a:solidFill>
                  <a:srgbClr val="FFFF00"/>
                </a:solidFill>
              </a:rPr>
              <a:t>   </a:t>
            </a:r>
            <a:r>
              <a:rPr lang="zh-CN" altLang="en-US" sz="2000" b="1">
                <a:solidFill>
                  <a:srgbClr val="FFFF00"/>
                </a:solidFill>
                <a:sym typeface="+mn-ea"/>
              </a:rPr>
              <a:t>全职兼职各半</a:t>
            </a:r>
            <a:r>
              <a:rPr lang="en-US" altLang="zh-CN" sz="2000" b="1">
                <a:solidFill>
                  <a:srgbClr val="FFFF00"/>
                </a:solidFill>
                <a:sym typeface="+mn-ea"/>
              </a:rPr>
              <a:t>     </a:t>
            </a:r>
            <a:r>
              <a:rPr lang="zh-CN" altLang="en-US" sz="2000" b="1">
                <a:solidFill>
                  <a:srgbClr val="FFFF00"/>
                </a:solidFill>
                <a:sym typeface="+mn-ea"/>
              </a:rPr>
              <a:t>免费为主</a:t>
            </a:r>
            <a:endParaRPr lang="zh-CN" sz="2400" b="1">
              <a:solidFill>
                <a:srgbClr val="00B050"/>
              </a:solidFill>
            </a:endParaRPr>
          </a:p>
          <a:p>
            <a:r>
              <a:rPr lang="zh-CN" sz="2400" b="1">
                <a:solidFill>
                  <a:srgbClr val="00B050"/>
                </a:solidFill>
              </a:rPr>
              <a:t>打车：</a:t>
            </a:r>
            <a:r>
              <a:rPr lang="en-US" altLang="zh-CN" sz="2400" b="1">
                <a:solidFill>
                  <a:srgbClr val="00B050"/>
                </a:solidFill>
              </a:rPr>
              <a:t>   </a:t>
            </a:r>
            <a:r>
              <a:rPr lang="zh-CN" altLang="en-US" sz="2000" b="1">
                <a:solidFill>
                  <a:srgbClr val="FFFF00"/>
                </a:solidFill>
              </a:rPr>
              <a:t>各类瘦客户端</a:t>
            </a:r>
            <a:r>
              <a:rPr lang="en-US" altLang="zh-CN" sz="2000" b="1">
                <a:solidFill>
                  <a:srgbClr val="FFFF00"/>
                </a:solidFill>
              </a:rPr>
              <a:t>    </a:t>
            </a:r>
            <a:r>
              <a:rPr lang="zh-CN" altLang="en-US" sz="2000" b="1">
                <a:solidFill>
                  <a:srgbClr val="FFFF00"/>
                </a:solidFill>
              </a:rPr>
              <a:t>豆包或者千问</a:t>
            </a:r>
            <a:r>
              <a:rPr lang="en-US" altLang="zh-CN" sz="2000" b="1">
                <a:solidFill>
                  <a:srgbClr val="FFFF00"/>
                </a:solidFill>
              </a:rPr>
              <a:t>       </a:t>
            </a:r>
            <a:r>
              <a:rPr lang="zh-CN" altLang="en-US" sz="2000" b="1">
                <a:solidFill>
                  <a:srgbClr val="FFFF00"/>
                </a:solidFill>
              </a:rPr>
              <a:t>中等</a:t>
            </a:r>
            <a:r>
              <a:rPr lang="en-US" altLang="zh-CN" sz="2000" b="1">
                <a:solidFill>
                  <a:srgbClr val="FFFF00"/>
                </a:solidFill>
              </a:rPr>
              <a:t>       </a:t>
            </a:r>
            <a:r>
              <a:rPr lang="zh-CN" altLang="en-US" sz="2000" b="1">
                <a:solidFill>
                  <a:srgbClr val="FFFF00"/>
                </a:solidFill>
              </a:rPr>
              <a:t>较高</a:t>
            </a:r>
            <a:r>
              <a:rPr lang="en-US" altLang="zh-CN" sz="2000" b="1">
                <a:solidFill>
                  <a:srgbClr val="FFFF00"/>
                </a:solidFill>
              </a:rPr>
              <a:t>       </a:t>
            </a:r>
            <a:r>
              <a:rPr lang="zh-CN" altLang="en-US" sz="2000" b="1">
                <a:solidFill>
                  <a:srgbClr val="FFFF00"/>
                </a:solidFill>
              </a:rPr>
              <a:t>很低</a:t>
            </a:r>
            <a:r>
              <a:rPr lang="en-US" altLang="zh-CN" sz="2000" b="1">
                <a:solidFill>
                  <a:srgbClr val="FFFF00"/>
                </a:solidFill>
              </a:rPr>
              <a:t>   </a:t>
            </a:r>
            <a:r>
              <a:rPr lang="zh-CN" altLang="en-US" sz="2000" b="1">
                <a:solidFill>
                  <a:srgbClr val="FFFF00"/>
                </a:solidFill>
              </a:rPr>
              <a:t>生活兼职全职</a:t>
            </a:r>
            <a:r>
              <a:rPr lang="en-US" altLang="zh-CN" sz="2000" b="1">
                <a:solidFill>
                  <a:srgbClr val="FFFF00"/>
                </a:solidFill>
              </a:rPr>
              <a:t>     </a:t>
            </a:r>
            <a:r>
              <a:rPr lang="zh-CN" altLang="en-US" sz="2000" b="1">
                <a:solidFill>
                  <a:srgbClr val="FFFF00"/>
                </a:solidFill>
              </a:rPr>
              <a:t>彻底免费</a:t>
            </a:r>
            <a:endParaRPr lang="zh-CN" sz="2400" b="1">
              <a:solidFill>
                <a:srgbClr val="00B050"/>
              </a:solidFill>
            </a:endParaRPr>
          </a:p>
          <a:p>
            <a:r>
              <a:rPr lang="zh-CN" sz="2400" b="1">
                <a:solidFill>
                  <a:srgbClr val="00B050"/>
                </a:solidFill>
              </a:rPr>
              <a:t>小车：</a:t>
            </a:r>
            <a:r>
              <a:rPr lang="en-US" altLang="zh-CN" sz="2400" b="1">
                <a:solidFill>
                  <a:srgbClr val="00B050"/>
                </a:solidFill>
              </a:rPr>
              <a:t>   </a:t>
            </a:r>
            <a:r>
              <a:rPr lang="zh-CN" altLang="en-US" sz="2000" b="1">
                <a:solidFill>
                  <a:srgbClr val="FFFF00"/>
                </a:solidFill>
              </a:rPr>
              <a:t>免费胖客户端</a:t>
            </a:r>
            <a:r>
              <a:rPr lang="en-US" altLang="zh-CN" sz="2000" b="1">
                <a:solidFill>
                  <a:srgbClr val="FFFF00"/>
                </a:solidFill>
              </a:rPr>
              <a:t>    TraeCN/</a:t>
            </a:r>
            <a:r>
              <a:rPr lang="zh-CN" altLang="en-US" sz="2000" b="1">
                <a:solidFill>
                  <a:srgbClr val="FFFF00"/>
                </a:solidFill>
              </a:rPr>
              <a:t>灵码</a:t>
            </a:r>
            <a:r>
              <a:rPr lang="en-US" altLang="zh-CN" sz="2000" b="1">
                <a:solidFill>
                  <a:srgbClr val="FFFF00"/>
                </a:solidFill>
              </a:rPr>
              <a:t>      </a:t>
            </a:r>
            <a:r>
              <a:rPr lang="zh-CN" altLang="en-US" sz="2000" b="1">
                <a:solidFill>
                  <a:srgbClr val="FFFF00"/>
                </a:solidFill>
              </a:rPr>
              <a:t>较高</a:t>
            </a:r>
            <a:r>
              <a:rPr lang="en-US" altLang="zh-CN" sz="2000" b="1">
                <a:solidFill>
                  <a:srgbClr val="FFFF00"/>
                </a:solidFill>
              </a:rPr>
              <a:t>       </a:t>
            </a:r>
            <a:r>
              <a:rPr lang="zh-CN" altLang="en-US" sz="2000" b="1">
                <a:solidFill>
                  <a:srgbClr val="FFFF00"/>
                </a:solidFill>
              </a:rPr>
              <a:t>中等</a:t>
            </a:r>
            <a:r>
              <a:rPr lang="en-US" altLang="zh-CN" sz="2000" b="1">
                <a:solidFill>
                  <a:srgbClr val="FFFF00"/>
                </a:solidFill>
              </a:rPr>
              <a:t>       </a:t>
            </a:r>
            <a:r>
              <a:rPr lang="zh-CN" altLang="en-US" sz="2000" b="1">
                <a:solidFill>
                  <a:srgbClr val="FFFF00"/>
                </a:solidFill>
              </a:rPr>
              <a:t>中等</a:t>
            </a:r>
            <a:r>
              <a:rPr lang="en-US" altLang="zh-CN" sz="2000" b="1">
                <a:solidFill>
                  <a:srgbClr val="FFFF00"/>
                </a:solidFill>
              </a:rPr>
              <a:t>   </a:t>
            </a:r>
            <a:r>
              <a:rPr lang="zh-CN" altLang="en-US" sz="2000" b="1">
                <a:solidFill>
                  <a:srgbClr val="FFFF00"/>
                </a:solidFill>
              </a:rPr>
              <a:t>爱好兼职全职</a:t>
            </a:r>
            <a:r>
              <a:rPr lang="en-US" altLang="zh-CN" sz="2000" b="1">
                <a:solidFill>
                  <a:srgbClr val="FFFF00"/>
                </a:solidFill>
              </a:rPr>
              <a:t>     </a:t>
            </a:r>
            <a:r>
              <a:rPr lang="zh-CN" altLang="en-US" sz="2000" b="1">
                <a:solidFill>
                  <a:srgbClr val="FFFF00"/>
                </a:solidFill>
              </a:rPr>
              <a:t>免费限额</a:t>
            </a:r>
            <a:endParaRPr lang="zh-CN" sz="2400" b="1">
              <a:solidFill>
                <a:srgbClr val="00B050"/>
              </a:solidFill>
            </a:endParaRPr>
          </a:p>
          <a:p>
            <a:r>
              <a:rPr lang="zh-CN" sz="2400" b="1">
                <a:solidFill>
                  <a:srgbClr val="00B050"/>
                </a:solidFill>
              </a:rPr>
              <a:t>公交：</a:t>
            </a:r>
            <a:r>
              <a:rPr lang="en-US" altLang="zh-CN" sz="2400" b="1">
                <a:solidFill>
                  <a:srgbClr val="00B050"/>
                </a:solidFill>
              </a:rPr>
              <a:t>   </a:t>
            </a:r>
            <a:r>
              <a:rPr lang="zh-CN" altLang="en-US" sz="2000" b="1">
                <a:solidFill>
                  <a:srgbClr val="FFFF00"/>
                </a:solidFill>
              </a:rPr>
              <a:t>大厂胖客户端</a:t>
            </a:r>
            <a:r>
              <a:rPr lang="en-US" altLang="zh-CN" sz="2000" b="1">
                <a:solidFill>
                  <a:srgbClr val="FFFF00"/>
                </a:solidFill>
              </a:rPr>
              <a:t>    </a:t>
            </a:r>
            <a:r>
              <a:rPr lang="zh-CN" altLang="en-US" sz="2000" b="1">
                <a:solidFill>
                  <a:srgbClr val="FFFF00"/>
                </a:solidFill>
              </a:rPr>
              <a:t>企业深度定制</a:t>
            </a:r>
            <a:r>
              <a:rPr lang="en-US" altLang="zh-CN" sz="2000" b="1">
                <a:solidFill>
                  <a:srgbClr val="FFFF00"/>
                </a:solidFill>
              </a:rPr>
              <a:t>       </a:t>
            </a:r>
            <a:r>
              <a:rPr lang="zh-CN" altLang="en-US" sz="2000" b="1">
                <a:solidFill>
                  <a:srgbClr val="FFFF00"/>
                </a:solidFill>
              </a:rPr>
              <a:t>中低</a:t>
            </a:r>
            <a:r>
              <a:rPr lang="en-US" altLang="zh-CN" sz="2000" b="1">
                <a:solidFill>
                  <a:srgbClr val="FFFF00"/>
                </a:solidFill>
              </a:rPr>
              <a:t>       </a:t>
            </a:r>
            <a:r>
              <a:rPr lang="zh-CN" altLang="en-US" sz="2000" b="1">
                <a:solidFill>
                  <a:srgbClr val="FFFF00"/>
                </a:solidFill>
              </a:rPr>
              <a:t>较低</a:t>
            </a:r>
            <a:r>
              <a:rPr lang="en-US" altLang="zh-CN" sz="2000" b="1">
                <a:solidFill>
                  <a:srgbClr val="FFFF00"/>
                </a:solidFill>
              </a:rPr>
              <a:t>       </a:t>
            </a:r>
            <a:r>
              <a:rPr lang="zh-CN" altLang="en-US" sz="2000" b="1">
                <a:solidFill>
                  <a:srgbClr val="FFFF00"/>
                </a:solidFill>
              </a:rPr>
              <a:t>很高</a:t>
            </a:r>
            <a:r>
              <a:rPr lang="en-US" altLang="zh-CN" sz="2000" b="1">
                <a:solidFill>
                  <a:srgbClr val="FFFF00"/>
                </a:solidFill>
              </a:rPr>
              <a:t>      </a:t>
            </a:r>
            <a:r>
              <a:rPr lang="zh-CN" altLang="en-US" sz="2000" b="1">
                <a:solidFill>
                  <a:srgbClr val="FFFF00"/>
                </a:solidFill>
              </a:rPr>
              <a:t>大厂全职</a:t>
            </a:r>
            <a:r>
              <a:rPr lang="en-US" altLang="zh-CN" sz="2000" b="1">
                <a:solidFill>
                  <a:srgbClr val="FFFF00"/>
                </a:solidFill>
              </a:rPr>
              <a:t>        </a:t>
            </a:r>
            <a:r>
              <a:rPr lang="zh-CN" altLang="en-US" sz="2000" b="1">
                <a:solidFill>
                  <a:srgbClr val="FFFF00"/>
                </a:solidFill>
              </a:rPr>
              <a:t>企业费用</a:t>
            </a:r>
            <a:endParaRPr lang="zh-CN" sz="2400" b="1">
              <a:solidFill>
                <a:srgbClr val="00B050"/>
              </a:solidFill>
            </a:endParaRPr>
          </a:p>
          <a:p>
            <a:r>
              <a:rPr lang="zh-CN" sz="2400" b="1">
                <a:solidFill>
                  <a:srgbClr val="00B050"/>
                </a:solidFill>
              </a:rPr>
              <a:t>乘车：</a:t>
            </a:r>
            <a:r>
              <a:rPr lang="en-US" altLang="zh-CN" sz="2400" b="1">
                <a:solidFill>
                  <a:srgbClr val="00B050"/>
                </a:solidFill>
              </a:rPr>
              <a:t>   </a:t>
            </a:r>
            <a:r>
              <a:rPr lang="zh-CN" altLang="en-US" sz="2000" b="1">
                <a:solidFill>
                  <a:srgbClr val="FFFF00"/>
                </a:solidFill>
              </a:rPr>
              <a:t>大厂程序开发</a:t>
            </a:r>
            <a:r>
              <a:rPr lang="en-US" altLang="zh-CN" sz="2000" b="1">
                <a:solidFill>
                  <a:srgbClr val="FFFF00"/>
                </a:solidFill>
              </a:rPr>
              <a:t>    </a:t>
            </a:r>
            <a:r>
              <a:rPr lang="zh-CN" altLang="en-US" sz="2000" b="1">
                <a:solidFill>
                  <a:srgbClr val="FFFF00"/>
                </a:solidFill>
              </a:rPr>
              <a:t>使用企业产品</a:t>
            </a:r>
            <a:r>
              <a:rPr lang="en-US" altLang="zh-CN" sz="2000" b="1">
                <a:solidFill>
                  <a:srgbClr val="FFFF00"/>
                </a:solidFill>
              </a:rPr>
              <a:t>       </a:t>
            </a:r>
            <a:r>
              <a:rPr lang="zh-CN" altLang="en-US" sz="2000" b="1">
                <a:solidFill>
                  <a:srgbClr val="FFFF00"/>
                </a:solidFill>
              </a:rPr>
              <a:t>中低</a:t>
            </a:r>
            <a:r>
              <a:rPr lang="en-US" altLang="zh-CN" sz="2000" b="1">
                <a:solidFill>
                  <a:srgbClr val="FFFF00"/>
                </a:solidFill>
              </a:rPr>
              <a:t>       </a:t>
            </a:r>
            <a:r>
              <a:rPr lang="zh-CN" altLang="en-US" sz="2000" b="1">
                <a:solidFill>
                  <a:srgbClr val="FFFF00"/>
                </a:solidFill>
              </a:rPr>
              <a:t>较低</a:t>
            </a:r>
            <a:r>
              <a:rPr lang="en-US" altLang="zh-CN" sz="2000" b="1">
                <a:solidFill>
                  <a:srgbClr val="FFFF00"/>
                </a:solidFill>
              </a:rPr>
              <a:t>       </a:t>
            </a:r>
            <a:r>
              <a:rPr lang="zh-CN" altLang="en-US" sz="2000" b="1">
                <a:solidFill>
                  <a:srgbClr val="FFFF00"/>
                </a:solidFill>
              </a:rPr>
              <a:t>很低</a:t>
            </a:r>
            <a:r>
              <a:rPr lang="en-US" altLang="zh-CN" sz="2000" b="1">
                <a:solidFill>
                  <a:srgbClr val="FFFF00"/>
                </a:solidFill>
              </a:rPr>
              <a:t>      </a:t>
            </a:r>
            <a:r>
              <a:rPr lang="zh-CN" altLang="en-US" sz="2000" b="1">
                <a:solidFill>
                  <a:srgbClr val="FFFF00"/>
                </a:solidFill>
              </a:rPr>
              <a:t>大厂全职</a:t>
            </a:r>
            <a:r>
              <a:rPr lang="en-US" altLang="zh-CN" sz="2000" b="1">
                <a:solidFill>
                  <a:srgbClr val="FFFF00"/>
                </a:solidFill>
              </a:rPr>
              <a:t>        </a:t>
            </a:r>
            <a:r>
              <a:rPr lang="zh-CN" altLang="en-US" sz="2000" b="1">
                <a:solidFill>
                  <a:srgbClr val="FFFF00"/>
                </a:solidFill>
              </a:rPr>
              <a:t>彻底免费</a:t>
            </a:r>
            <a:endParaRPr lang="zh-CN" sz="2400" b="1">
              <a:solidFill>
                <a:srgbClr val="00B050"/>
              </a:solidFill>
            </a:endParaRPr>
          </a:p>
          <a:p>
            <a:r>
              <a:rPr lang="zh-CN" sz="2400" b="1">
                <a:solidFill>
                  <a:srgbClr val="00B050"/>
                </a:solidFill>
              </a:rPr>
              <a:t>客车：</a:t>
            </a:r>
            <a:r>
              <a:rPr lang="en-US" altLang="zh-CN" sz="2400" b="1">
                <a:solidFill>
                  <a:srgbClr val="00B050"/>
                </a:solidFill>
              </a:rPr>
              <a:t>   </a:t>
            </a:r>
            <a:r>
              <a:rPr lang="zh-CN" altLang="en-US" sz="2000" b="1">
                <a:solidFill>
                  <a:srgbClr val="FFFF00"/>
                </a:solidFill>
              </a:rPr>
              <a:t>企业胖客户端</a:t>
            </a:r>
            <a:r>
              <a:rPr lang="en-US" altLang="zh-CN" sz="2000" b="1">
                <a:solidFill>
                  <a:srgbClr val="FFFF00"/>
                </a:solidFill>
              </a:rPr>
              <a:t>    </a:t>
            </a:r>
            <a:r>
              <a:rPr lang="zh-CN" altLang="en-US" sz="2000" b="1">
                <a:solidFill>
                  <a:srgbClr val="FFFF00"/>
                </a:solidFill>
                <a:sym typeface="+mn-ea"/>
              </a:rPr>
              <a:t>企业简单定制</a:t>
            </a:r>
            <a:r>
              <a:rPr lang="en-US" altLang="zh-CN" sz="2000" b="1">
                <a:solidFill>
                  <a:srgbClr val="FFFF00"/>
                </a:solidFill>
                <a:sym typeface="+mn-ea"/>
              </a:rPr>
              <a:t>       </a:t>
            </a:r>
            <a:r>
              <a:rPr lang="zh-CN" altLang="en-US" sz="2000" b="1">
                <a:solidFill>
                  <a:srgbClr val="FFFF00"/>
                </a:solidFill>
                <a:sym typeface="+mn-ea"/>
              </a:rPr>
              <a:t>中等</a:t>
            </a:r>
            <a:r>
              <a:rPr lang="en-US" altLang="zh-CN" sz="2000" b="1">
                <a:solidFill>
                  <a:srgbClr val="FFFF00"/>
                </a:solidFill>
                <a:sym typeface="+mn-ea"/>
              </a:rPr>
              <a:t>       </a:t>
            </a:r>
            <a:r>
              <a:rPr lang="zh-CN" altLang="en-US" sz="2000" b="1">
                <a:solidFill>
                  <a:srgbClr val="FFFF00"/>
                </a:solidFill>
                <a:sym typeface="+mn-ea"/>
              </a:rPr>
              <a:t>中低</a:t>
            </a:r>
            <a:r>
              <a:rPr lang="en-US" altLang="zh-CN" sz="2000" b="1">
                <a:solidFill>
                  <a:srgbClr val="FFFF00"/>
                </a:solidFill>
                <a:sym typeface="+mn-ea"/>
              </a:rPr>
              <a:t>       </a:t>
            </a:r>
            <a:r>
              <a:rPr lang="zh-CN" altLang="en-US" sz="2000" b="1">
                <a:solidFill>
                  <a:srgbClr val="FFFF00"/>
                </a:solidFill>
                <a:sym typeface="+mn-ea"/>
              </a:rPr>
              <a:t>很高</a:t>
            </a:r>
            <a:r>
              <a:rPr lang="en-US" altLang="zh-CN" sz="2000" b="1">
                <a:solidFill>
                  <a:srgbClr val="FFFF00"/>
                </a:solidFill>
                <a:sym typeface="+mn-ea"/>
              </a:rPr>
              <a:t>      </a:t>
            </a:r>
            <a:r>
              <a:rPr lang="zh-CN" altLang="en-US" sz="2000" b="1">
                <a:solidFill>
                  <a:srgbClr val="FFFF00"/>
                </a:solidFill>
                <a:sym typeface="+mn-ea"/>
              </a:rPr>
              <a:t>企业全职</a:t>
            </a:r>
            <a:r>
              <a:rPr lang="en-US" altLang="zh-CN" sz="2000" b="1">
                <a:solidFill>
                  <a:srgbClr val="FFFF00"/>
                </a:solidFill>
                <a:sym typeface="+mn-ea"/>
              </a:rPr>
              <a:t>        </a:t>
            </a:r>
            <a:r>
              <a:rPr lang="zh-CN" altLang="en-US" sz="2000" b="1">
                <a:solidFill>
                  <a:srgbClr val="FFFF00"/>
                </a:solidFill>
                <a:sym typeface="+mn-ea"/>
              </a:rPr>
              <a:t>企业费用</a:t>
            </a:r>
            <a:endParaRPr lang="zh-CN" sz="2400" b="1">
              <a:solidFill>
                <a:srgbClr val="00B050"/>
              </a:solidFill>
            </a:endParaRPr>
          </a:p>
          <a:p>
            <a:r>
              <a:rPr lang="zh-CN" sz="2400" b="1">
                <a:solidFill>
                  <a:srgbClr val="00B050"/>
                </a:solidFill>
              </a:rPr>
              <a:t>旅客：</a:t>
            </a:r>
            <a:r>
              <a:rPr lang="en-US" altLang="zh-CN" sz="2400" b="1">
                <a:solidFill>
                  <a:srgbClr val="00B050"/>
                </a:solidFill>
              </a:rPr>
              <a:t>   </a:t>
            </a:r>
            <a:r>
              <a:rPr lang="zh-CN" altLang="en-US" sz="2000" b="1">
                <a:solidFill>
                  <a:srgbClr val="FFFF00"/>
                </a:solidFill>
              </a:rPr>
              <a:t>企业程序开发</a:t>
            </a:r>
            <a:r>
              <a:rPr lang="en-US" altLang="zh-CN" sz="2000" b="1">
                <a:solidFill>
                  <a:srgbClr val="FFFF00"/>
                </a:solidFill>
              </a:rPr>
              <a:t>    </a:t>
            </a:r>
            <a:r>
              <a:rPr lang="zh-CN" altLang="en-US" sz="2000" b="1">
                <a:solidFill>
                  <a:srgbClr val="FFFF00"/>
                </a:solidFill>
              </a:rPr>
              <a:t>使用企业产品</a:t>
            </a:r>
            <a:r>
              <a:rPr lang="en-US" altLang="zh-CN" sz="2000" b="1">
                <a:solidFill>
                  <a:srgbClr val="FFFF00"/>
                </a:solidFill>
              </a:rPr>
              <a:t>       </a:t>
            </a:r>
            <a:r>
              <a:rPr lang="zh-CN" altLang="en-US" sz="2000" b="1">
                <a:solidFill>
                  <a:srgbClr val="FFFF00"/>
                </a:solidFill>
              </a:rPr>
              <a:t>中等</a:t>
            </a:r>
            <a:r>
              <a:rPr lang="en-US" altLang="zh-CN" sz="2000" b="1">
                <a:solidFill>
                  <a:srgbClr val="FFFF00"/>
                </a:solidFill>
              </a:rPr>
              <a:t>       </a:t>
            </a:r>
            <a:r>
              <a:rPr lang="zh-CN" altLang="en-US" sz="2000" b="1">
                <a:solidFill>
                  <a:srgbClr val="FFFF00"/>
                </a:solidFill>
              </a:rPr>
              <a:t>中低</a:t>
            </a:r>
            <a:r>
              <a:rPr lang="en-US" altLang="zh-CN" sz="2000" b="1">
                <a:solidFill>
                  <a:srgbClr val="FFFF00"/>
                </a:solidFill>
              </a:rPr>
              <a:t>       </a:t>
            </a:r>
            <a:r>
              <a:rPr lang="zh-CN" altLang="en-US" sz="2000" b="1">
                <a:solidFill>
                  <a:srgbClr val="FFFF00"/>
                </a:solidFill>
              </a:rPr>
              <a:t>很低</a:t>
            </a:r>
            <a:r>
              <a:rPr lang="en-US" altLang="zh-CN" sz="2000" b="1">
                <a:solidFill>
                  <a:srgbClr val="FFFF00"/>
                </a:solidFill>
              </a:rPr>
              <a:t>   </a:t>
            </a:r>
            <a:r>
              <a:rPr lang="zh-CN" altLang="en-US" sz="2000" b="1">
                <a:solidFill>
                  <a:srgbClr val="FFFF00"/>
                </a:solidFill>
              </a:rPr>
              <a:t>主全职辅兼职</a:t>
            </a:r>
            <a:r>
              <a:rPr lang="en-US" altLang="zh-CN" sz="2000" b="1">
                <a:solidFill>
                  <a:srgbClr val="FFFF00"/>
                </a:solidFill>
              </a:rPr>
              <a:t>     </a:t>
            </a:r>
            <a:r>
              <a:rPr lang="zh-CN" altLang="en-US" sz="2000" b="1">
                <a:solidFill>
                  <a:srgbClr val="FFFF00"/>
                </a:solidFill>
              </a:rPr>
              <a:t>彻底免费</a:t>
            </a:r>
            <a:endParaRPr lang="zh-CN" sz="2400" b="1">
              <a:solidFill>
                <a:srgbClr val="00B050"/>
              </a:solidFill>
            </a:endParaRPr>
          </a:p>
          <a:p>
            <a:r>
              <a:rPr lang="zh-CN" sz="2400" b="1">
                <a:solidFill>
                  <a:srgbClr val="00B050"/>
                </a:solidFill>
              </a:rPr>
              <a:t>货车：</a:t>
            </a:r>
            <a:r>
              <a:rPr lang="en-US" altLang="zh-CN" sz="2400" b="1">
                <a:solidFill>
                  <a:srgbClr val="00B050"/>
                </a:solidFill>
              </a:rPr>
              <a:t>   </a:t>
            </a:r>
            <a:r>
              <a:rPr lang="zh-CN" altLang="en-US" sz="2000" b="1">
                <a:solidFill>
                  <a:srgbClr val="FFFF00"/>
                </a:solidFill>
                <a:sym typeface="+mn-ea"/>
              </a:rPr>
              <a:t>免费胖客户端</a:t>
            </a:r>
            <a:r>
              <a:rPr lang="en-US" altLang="zh-CN" sz="2000" b="1">
                <a:solidFill>
                  <a:srgbClr val="FFFF00"/>
                </a:solidFill>
                <a:sym typeface="+mn-ea"/>
              </a:rPr>
              <a:t>    TraeCN/</a:t>
            </a:r>
            <a:r>
              <a:rPr lang="zh-CN" altLang="en-US" sz="2000" b="1">
                <a:solidFill>
                  <a:srgbClr val="FFFF00"/>
                </a:solidFill>
                <a:sym typeface="+mn-ea"/>
              </a:rPr>
              <a:t>灵码</a:t>
            </a:r>
            <a:r>
              <a:rPr lang="en-US" altLang="zh-CN" sz="2000" b="1">
                <a:solidFill>
                  <a:srgbClr val="FFFF00"/>
                </a:solidFill>
                <a:sym typeface="+mn-ea"/>
              </a:rPr>
              <a:t>      </a:t>
            </a:r>
            <a:r>
              <a:rPr lang="zh-CN" altLang="en-US" sz="2000" b="1">
                <a:solidFill>
                  <a:srgbClr val="FFFF00"/>
                </a:solidFill>
                <a:sym typeface="+mn-ea"/>
              </a:rPr>
              <a:t>中低</a:t>
            </a:r>
            <a:r>
              <a:rPr lang="en-US" altLang="zh-CN" sz="2000" b="1">
                <a:solidFill>
                  <a:srgbClr val="FFFF00"/>
                </a:solidFill>
                <a:sym typeface="+mn-ea"/>
              </a:rPr>
              <a:t>       </a:t>
            </a:r>
            <a:r>
              <a:rPr lang="zh-CN" altLang="en-US" sz="2000" b="1">
                <a:solidFill>
                  <a:srgbClr val="FFFF00"/>
                </a:solidFill>
                <a:sym typeface="+mn-ea"/>
              </a:rPr>
              <a:t>很低</a:t>
            </a:r>
            <a:r>
              <a:rPr lang="en-US" altLang="zh-CN" sz="2000" b="1">
                <a:solidFill>
                  <a:srgbClr val="FFFF00"/>
                </a:solidFill>
                <a:sym typeface="+mn-ea"/>
              </a:rPr>
              <a:t>       </a:t>
            </a:r>
            <a:r>
              <a:rPr lang="zh-CN" altLang="en-US" sz="2000" b="1">
                <a:solidFill>
                  <a:srgbClr val="FFFF00"/>
                </a:solidFill>
                <a:sym typeface="+mn-ea"/>
              </a:rPr>
              <a:t>最高</a:t>
            </a:r>
            <a:r>
              <a:rPr lang="en-US" altLang="zh-CN" sz="2000" b="1">
                <a:solidFill>
                  <a:srgbClr val="FFFF00"/>
                </a:solidFill>
                <a:sym typeface="+mn-ea"/>
              </a:rPr>
              <a:t>   </a:t>
            </a:r>
            <a:r>
              <a:rPr lang="zh-CN" altLang="en-US" sz="2000" b="1">
                <a:solidFill>
                  <a:srgbClr val="FFFF00"/>
                </a:solidFill>
                <a:sym typeface="+mn-ea"/>
              </a:rPr>
              <a:t>全职兼职各半</a:t>
            </a:r>
            <a:r>
              <a:rPr lang="en-US" altLang="zh-CN" sz="2000" b="1">
                <a:solidFill>
                  <a:srgbClr val="FFFF00"/>
                </a:solidFill>
                <a:sym typeface="+mn-ea"/>
              </a:rPr>
              <a:t>     </a:t>
            </a:r>
            <a:r>
              <a:rPr lang="zh-CN" altLang="en-US" sz="2000" b="1">
                <a:solidFill>
                  <a:srgbClr val="FFFF00"/>
                </a:solidFill>
                <a:sym typeface="+mn-ea"/>
              </a:rPr>
              <a:t>免费限额</a:t>
            </a:r>
            <a:endParaRPr lang="zh-CN" sz="2400" b="1">
              <a:solidFill>
                <a:srgbClr val="00B050"/>
              </a:solidFill>
            </a:endParaRPr>
          </a:p>
          <a:p>
            <a:r>
              <a:rPr lang="zh-CN" sz="2400" b="1">
                <a:solidFill>
                  <a:srgbClr val="00B050"/>
                </a:solidFill>
              </a:rPr>
              <a:t>赛车：</a:t>
            </a:r>
            <a:r>
              <a:rPr lang="en-US" altLang="zh-CN" sz="2400" b="1">
                <a:solidFill>
                  <a:srgbClr val="00B050"/>
                </a:solidFill>
              </a:rPr>
              <a:t>   </a:t>
            </a:r>
            <a:r>
              <a:rPr lang="zh-CN" altLang="en-US" sz="2000" b="1">
                <a:solidFill>
                  <a:srgbClr val="FFFF00"/>
                </a:solidFill>
              </a:rPr>
              <a:t>专用胖客户端</a:t>
            </a:r>
            <a:r>
              <a:rPr lang="en-US" altLang="zh-CN" sz="2000" b="1">
                <a:solidFill>
                  <a:srgbClr val="FFFF00"/>
                </a:solidFill>
              </a:rPr>
              <a:t>    </a:t>
            </a:r>
            <a:r>
              <a:rPr lang="zh-CN" altLang="en-US" sz="2000" b="1">
                <a:solidFill>
                  <a:srgbClr val="FFFF00"/>
                </a:solidFill>
              </a:rPr>
              <a:t>企业深度定制</a:t>
            </a:r>
            <a:r>
              <a:rPr lang="en-US" altLang="zh-CN" sz="2000" b="1">
                <a:solidFill>
                  <a:srgbClr val="FFFF00"/>
                </a:solidFill>
              </a:rPr>
              <a:t>       </a:t>
            </a:r>
            <a:r>
              <a:rPr lang="zh-CN" altLang="en-US" sz="2000" b="1">
                <a:solidFill>
                  <a:srgbClr val="FFFF00"/>
                </a:solidFill>
              </a:rPr>
              <a:t>最高</a:t>
            </a:r>
            <a:r>
              <a:rPr lang="en-US" altLang="zh-CN" sz="2000" b="1">
                <a:solidFill>
                  <a:srgbClr val="FFFF00"/>
                </a:solidFill>
              </a:rPr>
              <a:t>       </a:t>
            </a:r>
            <a:r>
              <a:rPr lang="zh-CN" altLang="en-US" sz="2000" b="1">
                <a:solidFill>
                  <a:srgbClr val="FFFF00"/>
                </a:solidFill>
              </a:rPr>
              <a:t>较高</a:t>
            </a:r>
            <a:r>
              <a:rPr lang="en-US" altLang="zh-CN" sz="2000" b="1">
                <a:solidFill>
                  <a:srgbClr val="FFFF00"/>
                </a:solidFill>
              </a:rPr>
              <a:t>       </a:t>
            </a:r>
            <a:r>
              <a:rPr lang="zh-CN" altLang="en-US" sz="2000" b="1">
                <a:solidFill>
                  <a:srgbClr val="FFFF00"/>
                </a:solidFill>
              </a:rPr>
              <a:t>很高</a:t>
            </a:r>
            <a:r>
              <a:rPr lang="en-US" altLang="zh-CN" sz="2000" b="1">
                <a:solidFill>
                  <a:srgbClr val="FFFF00"/>
                </a:solidFill>
              </a:rPr>
              <a:t>   </a:t>
            </a:r>
            <a:r>
              <a:rPr lang="zh-CN" altLang="en-US" sz="2000" b="1">
                <a:solidFill>
                  <a:srgbClr val="FFFF00"/>
                </a:solidFill>
              </a:rPr>
              <a:t>主全职辅兼职</a:t>
            </a:r>
            <a:r>
              <a:rPr lang="en-US" altLang="zh-CN" sz="2000" b="1">
                <a:solidFill>
                  <a:srgbClr val="FFFF00"/>
                </a:solidFill>
              </a:rPr>
              <a:t>     </a:t>
            </a:r>
            <a:r>
              <a:rPr lang="zh-CN" altLang="en-US" sz="2000" b="1">
                <a:solidFill>
                  <a:srgbClr val="FFFF00"/>
                </a:solidFill>
              </a:rPr>
              <a:t>企业费用</a:t>
            </a:r>
            <a:endParaRPr lang="zh-CN" sz="2400" b="1">
              <a:solidFill>
                <a:srgbClr val="00B050"/>
              </a:solidFill>
            </a:endParaRPr>
          </a:p>
          <a:p>
            <a:r>
              <a:rPr lang="zh-CN" sz="2400" b="1">
                <a:solidFill>
                  <a:srgbClr val="00B050"/>
                </a:solidFill>
              </a:rPr>
              <a:t>火车：</a:t>
            </a:r>
            <a:r>
              <a:rPr lang="en-US" altLang="zh-CN" sz="2400" b="1">
                <a:solidFill>
                  <a:srgbClr val="00B050"/>
                </a:solidFill>
              </a:rPr>
              <a:t>   </a:t>
            </a:r>
            <a:r>
              <a:rPr lang="zh-CN" altLang="en-US" sz="2000" b="1">
                <a:solidFill>
                  <a:srgbClr val="FFFF00"/>
                </a:solidFill>
              </a:rPr>
              <a:t>业务胖客户端</a:t>
            </a:r>
            <a:r>
              <a:rPr lang="en-US" altLang="zh-CN" sz="2000" b="1">
                <a:solidFill>
                  <a:srgbClr val="FFFF00"/>
                </a:solidFill>
              </a:rPr>
              <a:t>    </a:t>
            </a:r>
            <a:r>
              <a:rPr lang="zh-CN" altLang="en-US" sz="2000" b="1">
                <a:solidFill>
                  <a:srgbClr val="FFFF00"/>
                </a:solidFill>
              </a:rPr>
              <a:t>企业深度定制</a:t>
            </a:r>
            <a:r>
              <a:rPr lang="en-US" altLang="zh-CN" sz="2000" b="1">
                <a:solidFill>
                  <a:srgbClr val="FFFF00"/>
                </a:solidFill>
              </a:rPr>
              <a:t>       </a:t>
            </a:r>
            <a:r>
              <a:rPr lang="zh-CN" altLang="en-US" sz="2000" b="1">
                <a:solidFill>
                  <a:srgbClr val="FFFF00"/>
                </a:solidFill>
              </a:rPr>
              <a:t>较高</a:t>
            </a:r>
            <a:r>
              <a:rPr lang="en-US" altLang="zh-CN" sz="2000" b="1">
                <a:solidFill>
                  <a:srgbClr val="FFFF00"/>
                </a:solidFill>
              </a:rPr>
              <a:t>       </a:t>
            </a:r>
            <a:r>
              <a:rPr lang="zh-CN" altLang="en-US" sz="2000" b="1">
                <a:solidFill>
                  <a:srgbClr val="FFFF00"/>
                </a:solidFill>
              </a:rPr>
              <a:t>最低</a:t>
            </a:r>
            <a:r>
              <a:rPr lang="en-US" altLang="zh-CN" sz="2000" b="1">
                <a:solidFill>
                  <a:srgbClr val="FFFF00"/>
                </a:solidFill>
              </a:rPr>
              <a:t>       </a:t>
            </a:r>
            <a:r>
              <a:rPr lang="zh-CN" altLang="en-US" sz="2000" b="1">
                <a:solidFill>
                  <a:srgbClr val="FFFF00"/>
                </a:solidFill>
              </a:rPr>
              <a:t>较低</a:t>
            </a:r>
            <a:r>
              <a:rPr lang="en-US" altLang="zh-CN" sz="2000" b="1">
                <a:solidFill>
                  <a:srgbClr val="FFFF00"/>
                </a:solidFill>
              </a:rPr>
              <a:t>      </a:t>
            </a:r>
            <a:r>
              <a:rPr lang="zh-CN" altLang="en-US" sz="2000" b="1">
                <a:solidFill>
                  <a:srgbClr val="FFFF00"/>
                </a:solidFill>
              </a:rPr>
              <a:t>企业全职</a:t>
            </a:r>
            <a:r>
              <a:rPr lang="en-US" altLang="zh-CN" sz="2000" b="1">
                <a:solidFill>
                  <a:srgbClr val="FFFF00"/>
                </a:solidFill>
              </a:rPr>
              <a:t>        </a:t>
            </a:r>
            <a:r>
              <a:rPr lang="zh-CN" altLang="en-US" sz="2000" b="1">
                <a:solidFill>
                  <a:srgbClr val="FFFF00"/>
                </a:solidFill>
              </a:rPr>
              <a:t>企业费用</a:t>
            </a:r>
            <a:endParaRPr lang="zh-CN" altLang="en-US" sz="2000" b="1">
              <a:solidFill>
                <a:srgbClr val="FFFF00"/>
              </a:solidFill>
            </a:endParaRPr>
          </a:p>
          <a:p>
            <a:endParaRPr lang="zh-CN" altLang="en-US" sz="2000" b="1">
              <a:solidFill>
                <a:srgbClr val="FFFF00"/>
              </a:solidFill>
              <a:sym typeface="+mn-ea"/>
            </a:endParaRPr>
          </a:p>
          <a:p>
            <a:r>
              <a:rPr lang="zh-CN" altLang="en-US" sz="2000" b="1">
                <a:solidFill>
                  <a:srgbClr val="00B050"/>
                </a:solidFill>
                <a:sym typeface="+mn-ea"/>
              </a:rPr>
              <a:t>备注：</a:t>
            </a:r>
            <a:endParaRPr lang="zh-CN" altLang="en-US" sz="2000" b="1">
              <a:solidFill>
                <a:srgbClr val="00B050"/>
              </a:solidFill>
              <a:sym typeface="+mn-ea"/>
            </a:endParaRPr>
          </a:p>
          <a:p>
            <a:r>
              <a:rPr lang="en-US" altLang="zh-CN" b="1">
                <a:solidFill>
                  <a:schemeClr val="bg1"/>
                </a:solidFill>
                <a:sym typeface="+mn-ea"/>
              </a:rPr>
              <a:t>       </a:t>
            </a:r>
            <a:r>
              <a:rPr lang="zh-CN" altLang="en-US" b="1">
                <a:solidFill>
                  <a:schemeClr val="bg1"/>
                </a:solidFill>
                <a:sym typeface="+mn-ea"/>
              </a:rPr>
              <a:t>面向广义研发人员（含业务人员使用</a:t>
            </a:r>
            <a:r>
              <a:rPr lang="en-US" altLang="zh-CN" b="1">
                <a:solidFill>
                  <a:schemeClr val="bg1"/>
                </a:solidFill>
                <a:sym typeface="+mn-ea"/>
              </a:rPr>
              <a:t>AI</a:t>
            </a:r>
            <a:r>
              <a:rPr lang="zh-CN" altLang="en-US" b="1">
                <a:solidFill>
                  <a:schemeClr val="bg1"/>
                </a:solidFill>
                <a:sym typeface="+mn-ea"/>
              </a:rPr>
              <a:t>），其中研发类内容也可以有生活和爱好</a:t>
            </a:r>
            <a:endParaRPr lang="zh-CN" altLang="en-US" b="1">
              <a:solidFill>
                <a:schemeClr val="bg1"/>
              </a:solidFill>
              <a:sym typeface="+mn-ea"/>
            </a:endParaRPr>
          </a:p>
          <a:p>
            <a:r>
              <a:rPr lang="en-US" altLang="zh-CN" b="1">
                <a:solidFill>
                  <a:schemeClr val="bg1"/>
                </a:solidFill>
                <a:sym typeface="+mn-ea"/>
              </a:rPr>
              <a:t>       </a:t>
            </a:r>
            <a:r>
              <a:rPr lang="zh-CN" altLang="en-US" b="1">
                <a:solidFill>
                  <a:schemeClr val="bg1"/>
                </a:solidFill>
                <a:sym typeface="+mn-ea"/>
              </a:rPr>
              <a:t>只包含常见车，对于特种车和维修拼装等，也可对应进行</a:t>
            </a:r>
            <a:r>
              <a:rPr lang="en-US" altLang="zh-CN" b="1">
                <a:solidFill>
                  <a:schemeClr val="bg1"/>
                </a:solidFill>
                <a:sym typeface="+mn-ea"/>
              </a:rPr>
              <a:t>AI</a:t>
            </a:r>
            <a:r>
              <a:rPr lang="zh-CN" altLang="en-US" b="1">
                <a:solidFill>
                  <a:schemeClr val="bg1"/>
                </a:solidFill>
                <a:sym typeface="+mn-ea"/>
              </a:rPr>
              <a:t>类比（但本文不展开）</a:t>
            </a:r>
            <a:endParaRPr lang="zh-CN" altLang="en-US" b="1">
              <a:solidFill>
                <a:schemeClr val="bg1"/>
              </a:solidFill>
              <a:sym typeface="+mn-ea"/>
            </a:endParaRPr>
          </a:p>
          <a:p>
            <a:r>
              <a:rPr lang="en-US" altLang="zh-CN" b="1">
                <a:solidFill>
                  <a:schemeClr val="bg1"/>
                </a:solidFill>
                <a:sym typeface="+mn-ea"/>
              </a:rPr>
              <a:t>       </a:t>
            </a:r>
            <a:r>
              <a:rPr lang="zh-CN" altLang="en-US" b="1">
                <a:solidFill>
                  <a:schemeClr val="bg1"/>
                </a:solidFill>
                <a:sym typeface="+mn-ea"/>
              </a:rPr>
              <a:t>效率指交付速度，不是模型速度，一般各类模型速度足够，更多是人与</a:t>
            </a:r>
            <a:r>
              <a:rPr lang="en-US" altLang="zh-CN" b="1">
                <a:solidFill>
                  <a:schemeClr val="bg1"/>
                </a:solidFill>
                <a:sym typeface="+mn-ea"/>
              </a:rPr>
              <a:t>AI</a:t>
            </a:r>
            <a:r>
              <a:rPr lang="zh-CN" altLang="en-US" b="1">
                <a:solidFill>
                  <a:schemeClr val="bg1"/>
                </a:solidFill>
                <a:sym typeface="+mn-ea"/>
              </a:rPr>
              <a:t>交互配合</a:t>
            </a:r>
            <a:endParaRPr lang="zh-CN" altLang="en-US" b="1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5031105" y="808990"/>
            <a:ext cx="236601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000" b="1">
                <a:solidFill>
                  <a:schemeClr val="bg1"/>
                </a:solidFill>
              </a:rPr>
              <a:t>AI</a:t>
            </a:r>
            <a:r>
              <a:rPr lang="zh-CN" altLang="en-US" sz="4000" b="1">
                <a:solidFill>
                  <a:schemeClr val="bg1"/>
                </a:solidFill>
              </a:rPr>
              <a:t>与文明</a:t>
            </a:r>
            <a:endParaRPr lang="zh-CN" altLang="en-US" sz="4000" b="1">
              <a:solidFill>
                <a:schemeClr val="bg1"/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3364865" y="1724660"/>
            <a:ext cx="6358255" cy="48926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400" b="1">
                <a:solidFill>
                  <a:srgbClr val="00B050"/>
                </a:solidFill>
              </a:rPr>
              <a:t>主观局限</a:t>
            </a:r>
            <a:endParaRPr lang="zh-CN" sz="2400" b="1">
              <a:solidFill>
                <a:srgbClr val="00B050"/>
              </a:solidFill>
            </a:endParaRPr>
          </a:p>
          <a:p>
            <a:endParaRPr lang="en-US" altLang="zh-CN" sz="1200" b="1">
              <a:solidFill>
                <a:srgbClr val="FFFF00"/>
              </a:solidFill>
            </a:endParaRPr>
          </a:p>
          <a:p>
            <a:r>
              <a:rPr lang="en-US" altLang="zh-CN" sz="1400" b="1">
                <a:solidFill>
                  <a:srgbClr val="FFFF00"/>
                </a:solidFill>
              </a:rPr>
              <a:t>人际信任不足，相处间防备，AI重塑协作模式，打破原有平衡</a:t>
            </a:r>
            <a:endParaRPr lang="en-US" altLang="zh-CN" sz="1400" b="1">
              <a:solidFill>
                <a:srgbClr val="FFFF00"/>
              </a:solidFill>
            </a:endParaRPr>
          </a:p>
          <a:p>
            <a:r>
              <a:rPr lang="en-US" altLang="zh-CN" sz="1400" b="1">
                <a:solidFill>
                  <a:srgbClr val="FFFF00"/>
                </a:solidFill>
              </a:rPr>
              <a:t>对社会缺信赖，对规则发展存顾虑，AI加速秩序重构，</a:t>
            </a:r>
            <a:r>
              <a:rPr lang="zh-CN" altLang="en-US" sz="1400" b="1">
                <a:solidFill>
                  <a:srgbClr val="FFFF00"/>
                </a:solidFill>
              </a:rPr>
              <a:t>引入</a:t>
            </a:r>
            <a:r>
              <a:rPr lang="en-US" altLang="zh-CN" sz="1400" b="1">
                <a:solidFill>
                  <a:srgbClr val="FFFF00"/>
                </a:solidFill>
              </a:rPr>
              <a:t>不安</a:t>
            </a:r>
            <a:endParaRPr lang="en-US" altLang="zh-CN" sz="1400" b="1">
              <a:solidFill>
                <a:srgbClr val="FFFF00"/>
              </a:solidFill>
            </a:endParaRPr>
          </a:p>
          <a:p>
            <a:r>
              <a:rPr lang="en-US" altLang="zh-CN" sz="1400" b="1">
                <a:solidFill>
                  <a:srgbClr val="FFFF00"/>
                </a:solidFill>
              </a:rPr>
              <a:t>难以接纳无法掌控的事物，AI遵循客观规律演进，无法全然把控</a:t>
            </a:r>
            <a:endParaRPr lang="en-US" altLang="zh-CN" sz="1200" b="1">
              <a:solidFill>
                <a:srgbClr val="FFFF00"/>
              </a:solidFill>
            </a:endParaRPr>
          </a:p>
          <a:p>
            <a:endParaRPr lang="zh-CN" sz="1600" b="1">
              <a:solidFill>
                <a:srgbClr val="00B050"/>
              </a:solidFill>
            </a:endParaRPr>
          </a:p>
          <a:p>
            <a:r>
              <a:rPr lang="zh-CN" sz="2400" b="1">
                <a:solidFill>
                  <a:srgbClr val="00B050"/>
                </a:solidFill>
              </a:rPr>
              <a:t>客观成因</a:t>
            </a:r>
            <a:endParaRPr lang="zh-CN" sz="2400" b="1">
              <a:solidFill>
                <a:srgbClr val="00B050"/>
              </a:solidFill>
            </a:endParaRPr>
          </a:p>
          <a:p>
            <a:endParaRPr lang="en-US" altLang="zh-CN" sz="1200" b="1">
              <a:solidFill>
                <a:srgbClr val="FFFF00"/>
              </a:solidFill>
              <a:sym typeface="+mn-ea"/>
            </a:endParaRPr>
          </a:p>
          <a:p>
            <a:r>
              <a:rPr lang="en-US" altLang="zh-CN" sz="1400" b="1">
                <a:solidFill>
                  <a:srgbClr val="FFFF00"/>
                </a:solidFill>
                <a:sym typeface="+mn-ea"/>
              </a:rPr>
              <a:t>人际</a:t>
            </a:r>
            <a:r>
              <a:rPr lang="zh-CN" altLang="en-US" sz="1400" b="1">
                <a:solidFill>
                  <a:srgbClr val="FFFF00"/>
                </a:solidFill>
                <a:sym typeface="+mn-ea"/>
              </a:rPr>
              <a:t>间</a:t>
            </a:r>
            <a:r>
              <a:rPr lang="en-US" altLang="zh-CN" sz="1400" b="1">
                <a:solidFill>
                  <a:srgbClr val="FFFF00"/>
                </a:solidFill>
                <a:sym typeface="+mn-ea"/>
              </a:rPr>
              <a:t>夹杂利益矛盾，AI提升行为透明度，压缩周旋空间</a:t>
            </a:r>
            <a:endParaRPr lang="en-US" altLang="zh-CN" sz="1400" b="1">
              <a:solidFill>
                <a:srgbClr val="FFFF00"/>
              </a:solidFill>
              <a:sym typeface="+mn-ea"/>
            </a:endParaRPr>
          </a:p>
          <a:p>
            <a:r>
              <a:rPr lang="en-US" altLang="zh-CN" sz="1400" b="1">
                <a:solidFill>
                  <a:srgbClr val="FFFF00"/>
                </a:solidFill>
                <a:sym typeface="+mn-ea"/>
              </a:rPr>
              <a:t>群体纷争对立常态化，外部环境</a:t>
            </a:r>
            <a:r>
              <a:rPr lang="zh-CN" altLang="en-US" sz="1400" b="1">
                <a:solidFill>
                  <a:srgbClr val="FFFF00"/>
                </a:solidFill>
                <a:sym typeface="+mn-ea"/>
              </a:rPr>
              <a:t>动荡</a:t>
            </a:r>
            <a:r>
              <a:rPr lang="en-US" altLang="zh-CN" sz="1400" b="1">
                <a:solidFill>
                  <a:srgbClr val="FFFF00"/>
                </a:solidFill>
                <a:sym typeface="+mn-ea"/>
              </a:rPr>
              <a:t>，AI</a:t>
            </a:r>
            <a:r>
              <a:rPr lang="zh-CN" altLang="en-US" sz="1400" b="1">
                <a:solidFill>
                  <a:srgbClr val="FFFF00"/>
                </a:solidFill>
                <a:sym typeface="+mn-ea"/>
              </a:rPr>
              <a:t>加速外部变化</a:t>
            </a:r>
            <a:endParaRPr lang="en-US" altLang="zh-CN" sz="1400" b="1">
              <a:solidFill>
                <a:srgbClr val="FFFF00"/>
              </a:solidFill>
              <a:sym typeface="+mn-ea"/>
            </a:endParaRPr>
          </a:p>
          <a:p>
            <a:r>
              <a:rPr lang="en-US" altLang="zh-CN" sz="1400" b="1">
                <a:solidFill>
                  <a:srgbClr val="FFFF00"/>
                </a:solidFill>
                <a:sym typeface="+mn-ea"/>
              </a:rPr>
              <a:t>等级资历观念</a:t>
            </a:r>
            <a:r>
              <a:rPr lang="zh-CN" altLang="en-US" sz="1400" b="1">
                <a:solidFill>
                  <a:srgbClr val="FFFF00"/>
                </a:solidFill>
                <a:sym typeface="+mn-ea"/>
              </a:rPr>
              <a:t>牢固</a:t>
            </a:r>
            <a:r>
              <a:rPr lang="en-US" altLang="zh-CN" sz="1400" b="1">
                <a:solidFill>
                  <a:srgbClr val="FFFF00"/>
                </a:solidFill>
                <a:sym typeface="+mn-ea"/>
              </a:rPr>
              <a:t>，AI秉持平等运行逻辑，颠覆阶层认知</a:t>
            </a:r>
            <a:endParaRPr lang="en-US" altLang="zh-CN" sz="1400" b="1">
              <a:solidFill>
                <a:srgbClr val="FFFF00"/>
              </a:solidFill>
              <a:sym typeface="+mn-ea"/>
            </a:endParaRPr>
          </a:p>
          <a:p>
            <a:endParaRPr lang="zh-CN" sz="1600" b="1">
              <a:solidFill>
                <a:srgbClr val="00B050"/>
              </a:solidFill>
            </a:endParaRPr>
          </a:p>
          <a:p>
            <a:r>
              <a:rPr lang="zh-CN" sz="2400" b="1">
                <a:solidFill>
                  <a:srgbClr val="00B050"/>
                </a:solidFill>
              </a:rPr>
              <a:t>处理方案</a:t>
            </a:r>
            <a:endParaRPr lang="zh-CN" sz="2400" b="1">
              <a:solidFill>
                <a:srgbClr val="00B050"/>
              </a:solidFill>
            </a:endParaRPr>
          </a:p>
          <a:p>
            <a:endParaRPr lang="en-US" altLang="zh-CN" sz="1200" b="1">
              <a:solidFill>
                <a:srgbClr val="FFFF00"/>
              </a:solidFill>
              <a:sym typeface="+mn-ea"/>
            </a:endParaRPr>
          </a:p>
          <a:p>
            <a:r>
              <a:rPr lang="en-US" altLang="zh-CN" sz="1400" b="1">
                <a:solidFill>
                  <a:srgbClr val="FFFF00"/>
                </a:solidFill>
                <a:sym typeface="+mn-ea"/>
              </a:rPr>
              <a:t>摒弃投机思维，</a:t>
            </a:r>
            <a:r>
              <a:rPr lang="zh-CN" altLang="en-US" sz="1400" b="1">
                <a:solidFill>
                  <a:srgbClr val="FFFF00"/>
                </a:solidFill>
                <a:sym typeface="+mn-ea"/>
              </a:rPr>
              <a:t>导向</a:t>
            </a:r>
            <a:r>
              <a:rPr lang="en-US" altLang="zh-CN" sz="1400" b="1">
                <a:solidFill>
                  <a:srgbClr val="FFFF00"/>
                </a:solidFill>
                <a:sym typeface="+mn-ea"/>
              </a:rPr>
              <a:t>创造价值</a:t>
            </a:r>
            <a:r>
              <a:rPr lang="zh-CN" altLang="en-US" sz="1400" b="1">
                <a:solidFill>
                  <a:srgbClr val="FFFF00"/>
                </a:solidFill>
                <a:sym typeface="+mn-ea"/>
              </a:rPr>
              <a:t>；</a:t>
            </a:r>
            <a:r>
              <a:rPr lang="en-US" altLang="zh-CN" sz="1400" b="1">
                <a:solidFill>
                  <a:srgbClr val="FFFF00"/>
                </a:solidFill>
                <a:sym typeface="+mn-ea"/>
              </a:rPr>
              <a:t>深耕本职工作，简化协作关系</a:t>
            </a:r>
            <a:r>
              <a:rPr lang="zh-CN" altLang="en-US" sz="1400" b="1">
                <a:solidFill>
                  <a:srgbClr val="FFFF00"/>
                </a:solidFill>
                <a:sym typeface="+mn-ea"/>
              </a:rPr>
              <a:t>；</a:t>
            </a:r>
            <a:r>
              <a:rPr lang="en-US" altLang="zh-CN" sz="1400" b="1">
                <a:solidFill>
                  <a:srgbClr val="FFFF00"/>
                </a:solidFill>
                <a:sym typeface="+mn-ea"/>
              </a:rPr>
              <a:t>高效</a:t>
            </a:r>
            <a:r>
              <a:rPr lang="zh-CN" altLang="en-US" sz="1400" b="1">
                <a:solidFill>
                  <a:srgbClr val="FFFF00"/>
                </a:solidFill>
                <a:sym typeface="+mn-ea"/>
              </a:rPr>
              <a:t>使用</a:t>
            </a:r>
            <a:r>
              <a:rPr lang="en-US" altLang="zh-CN" sz="1400" b="1">
                <a:solidFill>
                  <a:srgbClr val="FFFF00"/>
                </a:solidFill>
                <a:sym typeface="+mn-ea"/>
              </a:rPr>
              <a:t>AI</a:t>
            </a:r>
            <a:endParaRPr lang="en-US" altLang="zh-CN" sz="1200" b="1">
              <a:solidFill>
                <a:srgbClr val="FFFF00"/>
              </a:solidFill>
              <a:sym typeface="+mn-ea"/>
            </a:endParaRPr>
          </a:p>
          <a:p>
            <a:r>
              <a:rPr lang="en-US" altLang="zh-CN" sz="1400" b="1">
                <a:solidFill>
                  <a:srgbClr val="FFFF00"/>
                </a:solidFill>
                <a:sym typeface="+mn-ea"/>
              </a:rPr>
              <a:t>恪守本分，</a:t>
            </a:r>
            <a:r>
              <a:rPr lang="zh-CN" altLang="en-US" sz="1400" b="1">
                <a:solidFill>
                  <a:srgbClr val="FFFF00"/>
                </a:solidFill>
                <a:sym typeface="+mn-ea"/>
              </a:rPr>
              <a:t>远离</a:t>
            </a:r>
            <a:r>
              <a:rPr lang="en-US" altLang="zh-CN" sz="1400" b="1">
                <a:solidFill>
                  <a:srgbClr val="FFFF00"/>
                </a:solidFill>
                <a:sym typeface="+mn-ea"/>
              </a:rPr>
              <a:t>纷争，尊重不同发展模式。学习精进，灵活调整，顺应时代</a:t>
            </a:r>
            <a:endParaRPr lang="en-US" altLang="zh-CN" sz="1200" b="1">
              <a:solidFill>
                <a:srgbClr val="FFFF00"/>
              </a:solidFill>
              <a:sym typeface="+mn-ea"/>
            </a:endParaRPr>
          </a:p>
          <a:p>
            <a:r>
              <a:rPr lang="en-US" altLang="zh-CN" sz="1400" b="1">
                <a:solidFill>
                  <a:srgbClr val="FFFF00"/>
                </a:solidFill>
                <a:sym typeface="+mn-ea"/>
              </a:rPr>
              <a:t>客观规律面前人类</a:t>
            </a:r>
            <a:r>
              <a:rPr lang="zh-CN" altLang="en-US" sz="1400" b="1">
                <a:solidFill>
                  <a:srgbClr val="FFFF00"/>
                </a:solidFill>
                <a:sym typeface="+mn-ea"/>
              </a:rPr>
              <a:t>无比</a:t>
            </a:r>
            <a:r>
              <a:rPr lang="en-US" altLang="zh-CN" sz="1400" b="1">
                <a:solidFill>
                  <a:srgbClr val="FFFF00"/>
                </a:solidFill>
                <a:sym typeface="+mn-ea"/>
              </a:rPr>
              <a:t>渺小。万物规律支撑人存续发展</a:t>
            </a:r>
            <a:r>
              <a:rPr lang="zh-CN" altLang="en-US" sz="1400" b="1">
                <a:solidFill>
                  <a:srgbClr val="FFFF00"/>
                </a:solidFill>
                <a:sym typeface="+mn-ea"/>
              </a:rPr>
              <a:t>，等级攀比本无意义</a:t>
            </a:r>
            <a:endParaRPr lang="zh-CN" altLang="en-US" sz="1200" b="1">
              <a:solidFill>
                <a:srgbClr val="FFFF00"/>
              </a:solidFill>
              <a:sym typeface="+mn-ea"/>
            </a:endParaRPr>
          </a:p>
          <a:p>
            <a:endParaRPr lang="zh-CN" altLang="en-US" sz="1400" b="1">
              <a:solidFill>
                <a:srgbClr val="FFFF00"/>
              </a:solidFill>
              <a:sym typeface="+mn-ea"/>
            </a:endParaRPr>
          </a:p>
          <a:p>
            <a:r>
              <a:rPr lang="en-US" altLang="zh-CN" sz="1600" b="1">
                <a:solidFill>
                  <a:schemeClr val="bg1"/>
                </a:solidFill>
                <a:sym typeface="+mn-ea"/>
              </a:rPr>
              <a:t>AI</a:t>
            </a:r>
            <a:r>
              <a:rPr lang="zh-CN" altLang="en-US" sz="1600" b="1">
                <a:solidFill>
                  <a:schemeClr val="bg1"/>
                </a:solidFill>
                <a:sym typeface="+mn-ea"/>
              </a:rPr>
              <a:t>总结：客观规律之一，AI强大但不能自主需求，只能服务于人</a:t>
            </a:r>
            <a:endParaRPr lang="zh-CN" altLang="en-US" sz="1600" b="1">
              <a:solidFill>
                <a:schemeClr val="bg1"/>
              </a:solidFill>
              <a:sym typeface="+mn-ea"/>
            </a:endParaRPr>
          </a:p>
          <a:p>
            <a:r>
              <a:rPr lang="zh-CN" altLang="en-US" sz="1600" b="1">
                <a:solidFill>
                  <a:schemeClr val="bg1"/>
                </a:solidFill>
                <a:sym typeface="+mn-ea"/>
              </a:rPr>
              <a:t>人总结：实事求是，尊重客观规律，以正价值导向，从容面对变革</a:t>
            </a:r>
            <a:endParaRPr lang="zh-CN" altLang="en-US" sz="1600" b="1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2198</Words>
  <Application>WPS Presentation</Application>
  <PresentationFormat>宽屏</PresentationFormat>
  <Paragraphs>60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4" baseType="lpstr">
      <vt:lpstr>Arial</vt:lpstr>
      <vt:lpstr>宋体</vt:lpstr>
      <vt:lpstr>Wingdings</vt:lpstr>
      <vt:lpstr>DejaVu Sans</vt:lpstr>
      <vt:lpstr>Droid Sans Fallback</vt:lpstr>
      <vt:lpstr>微软雅黑</vt:lpstr>
      <vt:lpstr>宋体</vt:lpstr>
      <vt:lpstr>Arial Unicode MS</vt:lpstr>
      <vt:lpstr>Arial Black</vt:lpstr>
      <vt:lpstr>MathJax_Vector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gchen</cp:lastModifiedBy>
  <cp:revision>35</cp:revision>
  <dcterms:created xsi:type="dcterms:W3CDTF">2026-06-07T04:04:44Z</dcterms:created>
  <dcterms:modified xsi:type="dcterms:W3CDTF">2026-06-07T04:04:44Z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