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3"/>
    <p:sldId id="258" r:id="rId4"/>
    <p:sldId id="277" r:id="rId5"/>
    <p:sldId id="276" r:id="rId6"/>
    <p:sldId id="275" r:id="rId7"/>
    <p:sldId id="259" r:id="rId8"/>
    <p:sldId id="274" r:id="rId9"/>
    <p:sldId id="273" r:id="rId10"/>
    <p:sldId id="272" r:id="rId11"/>
    <p:sldId id="260" r:id="rId12"/>
    <p:sldId id="271" r:id="rId13"/>
    <p:sldId id="270" r:id="rId14"/>
    <p:sldId id="269" r:id="rId15"/>
    <p:sldId id="267" r:id="rId16"/>
    <p:sldId id="268" r:id="rId17"/>
    <p:sldId id="261" r:id="rId18"/>
    <p:sldId id="266" r:id="rId19"/>
    <p:sldId id="262" r:id="rId20"/>
    <p:sldId id="265" r:id="rId21"/>
    <p:sldId id="264" r:id="rId22"/>
    <p:sldId id="263" r:id="rId2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9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868045"/>
            <a:ext cx="10515600" cy="960120"/>
          </a:xfrm>
        </p:spPr>
        <p:txBody>
          <a:bodyPr/>
          <a:p>
            <a:pPr algn="ctr"/>
            <a:r>
              <a:rPr lang="zh-CN" altLang="en-US" sz="4000">
                <a:solidFill>
                  <a:schemeClr val="accent6"/>
                </a:solidFill>
              </a:rPr>
              <a:t>运行时分析</a:t>
            </a:r>
            <a:endParaRPr lang="zh-CN" altLang="en-US" sz="400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2480310"/>
            <a:ext cx="10515600" cy="3337560"/>
          </a:xfrm>
        </p:spPr>
        <p:txBody>
          <a:bodyPr/>
          <a:p>
            <a:pPr algn="ctr"/>
            <a:r>
              <a:rPr lang="zh-CN" altLang="en-US" sz="3200" b="1">
                <a:solidFill>
                  <a:schemeClr val="accent6"/>
                </a:solidFill>
              </a:rPr>
              <a:t>整体概述</a:t>
            </a:r>
            <a:endParaRPr lang="zh-CN" altLang="en-US" sz="3200" b="1">
              <a:solidFill>
                <a:schemeClr val="accent6"/>
              </a:solidFill>
            </a:endParaRPr>
          </a:p>
          <a:p>
            <a:pPr algn="ctr"/>
            <a:r>
              <a:rPr lang="zh-CN" altLang="en-US" sz="3200" b="1">
                <a:solidFill>
                  <a:schemeClr val="accent6"/>
                </a:solidFill>
              </a:rPr>
              <a:t>具体内容</a:t>
            </a:r>
            <a:endParaRPr lang="zh-CN" altLang="en-US" sz="3200" b="1">
              <a:solidFill>
                <a:schemeClr val="accent6"/>
              </a:solidFill>
            </a:endParaRPr>
          </a:p>
          <a:p>
            <a:pPr lvl="1" algn="ctr"/>
            <a:r>
              <a:rPr lang="zh-CN" altLang="en-US" sz="2880" b="1">
                <a:solidFill>
                  <a:schemeClr val="accent6"/>
                </a:solidFill>
              </a:rPr>
              <a:t>组件联调</a:t>
            </a:r>
            <a:endParaRPr lang="zh-CN" altLang="en-US" sz="2880" b="1">
              <a:solidFill>
                <a:schemeClr val="accent6"/>
              </a:solidFill>
            </a:endParaRPr>
          </a:p>
          <a:p>
            <a:pPr lvl="1" algn="ctr"/>
            <a:r>
              <a:rPr lang="zh-CN" altLang="en-US" sz="2880" b="1">
                <a:solidFill>
                  <a:schemeClr val="accent6"/>
                </a:solidFill>
              </a:rPr>
              <a:t>问题处理</a:t>
            </a:r>
            <a:endParaRPr lang="zh-CN" altLang="en-US" sz="2880" b="1">
              <a:solidFill>
                <a:schemeClr val="accent6"/>
              </a:solidFill>
            </a:endParaRPr>
          </a:p>
          <a:p>
            <a:pPr lvl="1" algn="ctr"/>
            <a:r>
              <a:rPr lang="zh-CN" altLang="en-US" sz="2880" b="1">
                <a:solidFill>
                  <a:schemeClr val="accent6"/>
                </a:solidFill>
              </a:rPr>
              <a:t>原理分析</a:t>
            </a:r>
            <a:endParaRPr lang="zh-CN" altLang="en-US" sz="2880" b="1">
              <a:solidFill>
                <a:schemeClr val="accent6"/>
              </a:solidFill>
            </a:endParaRPr>
          </a:p>
          <a:p>
            <a:pPr algn="ctr"/>
            <a:r>
              <a:rPr lang="zh-CN" altLang="en-US" sz="3200" b="1">
                <a:solidFill>
                  <a:schemeClr val="accent6"/>
                </a:solidFill>
              </a:rPr>
              <a:t>辅助示例</a:t>
            </a:r>
            <a:endParaRPr lang="zh-CN" altLang="en-US" sz="3200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运行时分析：整体概述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定位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类别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学习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运行时分析：整体概述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定位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是对计算机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整体</a:t>
            </a:r>
            <a:r>
              <a:rPr lang="zh-CN" altLang="en-US">
                <a:solidFill>
                  <a:schemeClr val="accent6"/>
                </a:solidFill>
              </a:rPr>
              <a:t>运行环境的分析。需要动态内容与静态内容相互结合。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动态：运行时监控是主要数据来源，运行时调试是主要处理方法。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静态：体系结构（理论），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源码补丁（实践）</a:t>
            </a:r>
            <a:r>
              <a:rPr lang="zh-CN" altLang="en-US">
                <a:solidFill>
                  <a:schemeClr val="accent6"/>
                </a:solidFill>
              </a:rPr>
              <a:t>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类别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学习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运行时分析：整体概述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定位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是对计算机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整体</a:t>
            </a:r>
            <a:r>
              <a:rPr lang="zh-CN" altLang="en-US">
                <a:solidFill>
                  <a:schemeClr val="accent6"/>
                </a:solidFill>
              </a:rPr>
              <a:t>运行环境的分析。需要动态内容与静态内容相互结合。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动态：运行时监控是主要数据来源，运行时调试是主要处理方法。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静态：体系结构（理论），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源码补丁（实践）</a:t>
            </a:r>
            <a:r>
              <a:rPr lang="zh-CN" altLang="en-US">
                <a:solidFill>
                  <a:schemeClr val="accent6"/>
                </a:solidFill>
              </a:rPr>
              <a:t>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类别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需求视角：组件联调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问题处理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原理分析。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使用视角：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系统（含通用服务）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应用（含业务服务）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硬件（含设备）。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开发视角：设计层面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实现层面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调试层面。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融为一体，知行合一。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学习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运行时分析：整体概述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定位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是对计算机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整体</a:t>
            </a:r>
            <a:r>
              <a:rPr lang="zh-CN" altLang="en-US">
                <a:solidFill>
                  <a:schemeClr val="accent6"/>
                </a:solidFill>
              </a:rPr>
              <a:t>运行环境的分析。需要动态内容与静态内容相互结合。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动态：运行时监控是主要数据来源，运行时调试是主要处理方法。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静态：体系结构（理论），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源码补丁（实践）</a:t>
            </a:r>
            <a:r>
              <a:rPr lang="zh-CN" altLang="en-US">
                <a:solidFill>
                  <a:schemeClr val="accent6"/>
                </a:solidFill>
              </a:rPr>
              <a:t>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类别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需求视角：组件联调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问题处理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原理分析。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使用视角：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系统（含通用服务）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应用（含业务服务）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硬件（含设备）。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开发视角：设计层面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实现层面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调试层面。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融为一体，知行合一。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学习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实践：使用</a:t>
            </a:r>
            <a:r>
              <a:rPr lang="en-US" altLang="zh-CN" sz="1800">
                <a:solidFill>
                  <a:schemeClr val="accent6"/>
                </a:solidFill>
              </a:rPr>
              <a:t>Linux</a:t>
            </a:r>
            <a:r>
              <a:rPr lang="zh-CN" altLang="en-US" sz="1800">
                <a:solidFill>
                  <a:schemeClr val="accent6"/>
                </a:solidFill>
              </a:rPr>
              <a:t>（开源免费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覆盖面广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自主可控），</a:t>
            </a:r>
            <a:r>
              <a:rPr lang="en-US" altLang="zh-CN" sz="1800">
                <a:solidFill>
                  <a:schemeClr val="accent6"/>
                </a:solidFill>
              </a:rPr>
              <a:t>Linux</a:t>
            </a:r>
            <a:r>
              <a:rPr lang="zh-CN" altLang="en-US" sz="1800">
                <a:solidFill>
                  <a:schemeClr val="accent6"/>
                </a:solidFill>
              </a:rPr>
              <a:t>桌面融入生活工作学习，工作学习中实践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理论：科普了解整体地图（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引导思路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开拓视野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总结整理</a:t>
            </a:r>
            <a:r>
              <a:rPr lang="zh-CN" altLang="en-US" sz="1800">
                <a:solidFill>
                  <a:schemeClr val="accent6"/>
                </a:solidFill>
              </a:rPr>
              <a:t>），为实践服务，能更有效地使用</a:t>
            </a:r>
            <a:r>
              <a:rPr lang="en-US" altLang="zh-CN" sz="1800">
                <a:solidFill>
                  <a:schemeClr val="accent6"/>
                </a:solidFill>
              </a:rPr>
              <a:t>AI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</a:rPr>
              <a:t>AI</a:t>
            </a:r>
            <a:r>
              <a:rPr lang="zh-CN" altLang="en-US">
                <a:solidFill>
                  <a:schemeClr val="accent6"/>
                </a:solidFill>
              </a:rPr>
              <a:t>：豆包（交互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灵活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忽悠），</a:t>
            </a:r>
            <a:r>
              <a:rPr lang="en-US" altLang="zh-CN">
                <a:solidFill>
                  <a:schemeClr val="accent6"/>
                </a:solidFill>
              </a:rPr>
              <a:t>DeepSeek</a:t>
            </a:r>
            <a:r>
              <a:rPr lang="zh-CN" altLang="en-US">
                <a:solidFill>
                  <a:schemeClr val="accent6"/>
                </a:solidFill>
              </a:rPr>
              <a:t>（界面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呆板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踏实），千问（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互补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DeepSeek/</a:t>
            </a:r>
            <a:r>
              <a:rPr lang="zh-CN" altLang="en-US">
                <a:solidFill>
                  <a:schemeClr val="accent6"/>
                </a:solidFill>
              </a:rPr>
              <a:t>呆板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踏实）</a:t>
            </a:r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运行时分析：具体内容：</a:t>
            </a:r>
            <a:r>
              <a:rPr lang="zh-CN" altLang="en-US">
                <a:solidFill>
                  <a:schemeClr val="accent6"/>
                </a:solidFill>
              </a:rPr>
              <a:t>组件联调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29284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运行时分析：具体内容：</a:t>
            </a:r>
            <a:r>
              <a:rPr lang="zh-CN" altLang="en-US">
                <a:solidFill>
                  <a:schemeClr val="accent6"/>
                </a:solidFill>
              </a:rPr>
              <a:t>组件联调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29284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使得各相关组件整体能够完整配合，成功运行起来；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涉及多个组件，一般需要多方人员配合处理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需求目的：实现整体需求功能（可能存在各类</a:t>
            </a:r>
            <a:r>
              <a:rPr lang="en-US" altLang="zh-CN">
                <a:solidFill>
                  <a:schemeClr val="accent6"/>
                </a:solidFill>
              </a:rPr>
              <a:t>bug</a:t>
            </a:r>
            <a:r>
              <a:rPr lang="zh-CN" altLang="en-US">
                <a:solidFill>
                  <a:schemeClr val="accent6"/>
                </a:solidFill>
              </a:rPr>
              <a:t>），主体流程和数据流形成功能闭环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基础资源：必备（各相关组件可支持联调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有运行环境），可选（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</a:t>
            </a:r>
            <a:r>
              <a:rPr lang="zh-CN" altLang="en-US">
                <a:solidFill>
                  <a:schemeClr val="accent6"/>
                </a:solidFill>
              </a:rPr>
              <a:t>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运行时分析：具体内容：</a:t>
            </a:r>
            <a:r>
              <a:rPr lang="zh-CN" altLang="en-US">
                <a:solidFill>
                  <a:schemeClr val="accent6"/>
                </a:solidFill>
              </a:rPr>
              <a:t>组件联调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29284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使得各相关组件整体能够完整配合，成功运行起来；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涉及多个组件，一般需要多方人员配合处理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需求目的：实现整体需求功能（可能存在各类</a:t>
            </a:r>
            <a:r>
              <a:rPr lang="en-US" altLang="zh-CN">
                <a:solidFill>
                  <a:schemeClr val="accent6"/>
                </a:solidFill>
              </a:rPr>
              <a:t>bug</a:t>
            </a:r>
            <a:r>
              <a:rPr lang="zh-CN" altLang="en-US">
                <a:solidFill>
                  <a:schemeClr val="accent6"/>
                </a:solidFill>
              </a:rPr>
              <a:t>），主体流程和数据流形成功能闭环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基础资源：必备（各相关组件可支持联调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有运行环境），可选（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</a:t>
            </a:r>
            <a:r>
              <a:rPr lang="zh-CN" altLang="en-US">
                <a:solidFill>
                  <a:schemeClr val="accent6"/>
                </a:solidFill>
              </a:rPr>
              <a:t>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整体设计：了解整体结构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整体测试和使用，整体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监控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各类单元测试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问题拆分，看文档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总结整理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静态开发：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阅读相关源码（软硬件）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反汇编（布线板）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版本补丁，为整体设计和动态调试提供支撑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动态调试：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调试源码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定制代码（打印日志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统计），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比对分析（流程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数据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版本补丁代码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环境）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  <a:sym typeface="+mn-ea"/>
              </a:rPr>
              <a:t>AI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辅助：查资料，配合阅读源码，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配合分析问题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运行时分析：具体内容：</a:t>
            </a:r>
            <a:r>
              <a:rPr lang="zh-CN" altLang="en-US">
                <a:solidFill>
                  <a:schemeClr val="accent6"/>
                </a:solidFill>
              </a:rPr>
              <a:t>组件联调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29284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使得各相关组件整体能够完整配合，成功运行起来；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涉及多个组件，一般需要多方人员配合处理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需求目的：实现整体需求功能（可能存在各类</a:t>
            </a:r>
            <a:r>
              <a:rPr lang="en-US" altLang="zh-CN">
                <a:solidFill>
                  <a:schemeClr val="accent6"/>
                </a:solidFill>
              </a:rPr>
              <a:t>bug</a:t>
            </a:r>
            <a:r>
              <a:rPr lang="zh-CN" altLang="en-US">
                <a:solidFill>
                  <a:schemeClr val="accent6"/>
                </a:solidFill>
              </a:rPr>
              <a:t>），主体流程和数据流形成功能闭环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基础资源：必备（各相关组件可支持联调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有运行环境），可选（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</a:t>
            </a:r>
            <a:r>
              <a:rPr lang="zh-CN" altLang="en-US">
                <a:solidFill>
                  <a:schemeClr val="accent6"/>
                </a:solidFill>
              </a:rPr>
              <a:t>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整体设计：了解整体结构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整体测试和使用，整体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监控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各类单元测试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问题拆分，看文档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总结整理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静态开发：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阅读相关源码（软硬件）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反汇编（布线板）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版本补丁，为整体设计和动态调试提供支撑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动态调试：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调试源码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定制代码（打印日志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统计），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比对分析（流程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数据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版本补丁代码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环境）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  <a:sym typeface="+mn-ea"/>
              </a:rPr>
              <a:t>AI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辅助：查资料，配合阅读源码，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配合分析问题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资源缺失：缺少相关组件的可选资源（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反汇编）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环境搭建：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涉及多方协调沟通配合，复现难（出差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环境差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复现几率低）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熟悉了解：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业务（专业度高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模型复杂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无专业人员），设计（不了解结构），代码（不了解代码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无代码）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问题</a:t>
            </a:r>
            <a:r>
              <a:rPr lang="zh-CN" altLang="en-US">
                <a:solidFill>
                  <a:schemeClr val="accent6"/>
                </a:solidFill>
              </a:rPr>
              <a:t>处理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15187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问题</a:t>
            </a:r>
            <a:r>
              <a:rPr lang="zh-CN" altLang="en-US">
                <a:solidFill>
                  <a:schemeClr val="accent6"/>
                </a:solidFill>
              </a:rPr>
              <a:t>处理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15187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处理具体的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bug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（错误）；可能涉及多个组件，多方人员配合处理；也可能是单一模块单一人员。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需求目的：解决问题（不一定必须解决</a:t>
            </a:r>
            <a:r>
              <a:rPr lang="en-US" altLang="zh-CN" sz="1800">
                <a:solidFill>
                  <a:schemeClr val="accent6"/>
                </a:solidFill>
              </a:rPr>
              <a:t>bug</a:t>
            </a:r>
            <a:r>
              <a:rPr lang="zh-CN" altLang="en-US" sz="1800">
                <a:solidFill>
                  <a:schemeClr val="accent6"/>
                </a:solidFill>
              </a:rPr>
              <a:t>），功能类（业务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交互）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非功能类（性能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稳定性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兼容性）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基础资源：必备（有问题的详细描述和复现方法），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问题</a:t>
            </a:r>
            <a:r>
              <a:rPr lang="zh-CN" altLang="en-US">
                <a:solidFill>
                  <a:schemeClr val="accent6"/>
                </a:solidFill>
              </a:rPr>
              <a:t>处理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15187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处理具体的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bug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（错误）；可能涉及多个组件，多方人员配合处理；也可能是单一模块单一人员。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需求目的：解决问题（不一定必须解决</a:t>
            </a:r>
            <a:r>
              <a:rPr lang="en-US" altLang="zh-CN" sz="1800">
                <a:solidFill>
                  <a:schemeClr val="accent6"/>
                </a:solidFill>
              </a:rPr>
              <a:t>bug</a:t>
            </a:r>
            <a:r>
              <a:rPr lang="zh-CN" altLang="en-US" sz="1800">
                <a:solidFill>
                  <a:schemeClr val="accent6"/>
                </a:solidFill>
              </a:rPr>
              <a:t>），功能类（业务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交互）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非功能类（性能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稳定性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兼容性）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基础资源：必备（有问题的详细描述和复现方法），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整体设计：了解整体结构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给出解决方案（临时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长期），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监控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单元测试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问题拆分，看文档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总结整理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静态开发：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阅读相关源码（软硬件）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反汇编（布线板）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版本补丁，为整体设计和动态调试提供支撑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动态调试：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调试源码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反汇编，</a:t>
            </a:r>
            <a:r>
              <a:rPr lang="zh-CN" altLang="en-US" sz="1800">
                <a:solidFill>
                  <a:schemeClr val="accent6"/>
                </a:solidFill>
              </a:rPr>
              <a:t>定制代码（打印日志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统计），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比对分析（流程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数据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版本补丁代码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环境）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  <a:sym typeface="+mn-ea"/>
              </a:rPr>
              <a:t>AI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辅助：查资料，配合阅读源码，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配合分析问题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问题</a:t>
            </a:r>
            <a:r>
              <a:rPr lang="zh-CN" altLang="en-US">
                <a:solidFill>
                  <a:schemeClr val="accent6"/>
                </a:solidFill>
              </a:rPr>
              <a:t>处理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15187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处理具体的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bug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（错误）；可能涉及多个组件，多方人员配合处理；也可能是单一模块单一人员。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需求目的：解决问题（不一定必须解决</a:t>
            </a:r>
            <a:r>
              <a:rPr lang="en-US" altLang="zh-CN" sz="1800">
                <a:solidFill>
                  <a:schemeClr val="accent6"/>
                </a:solidFill>
              </a:rPr>
              <a:t>bug</a:t>
            </a:r>
            <a:r>
              <a:rPr lang="zh-CN" altLang="en-US" sz="1800">
                <a:solidFill>
                  <a:schemeClr val="accent6"/>
                </a:solidFill>
              </a:rPr>
              <a:t>），功能类（业务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交互）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非功能类（性能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稳定性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兼容性）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基础资源：必备（有问题的详细描述和复现方法），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整体设计：了解整体结构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给出解决方案（临时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长期），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监控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单元测试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问题拆分，看文档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总结整理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静态开发：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阅读相关源码（软硬件）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反汇编（布线板）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版本补丁，为整体设计和动态调试提供支撑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动态调试：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调试源码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反汇编，</a:t>
            </a:r>
            <a:r>
              <a:rPr lang="zh-CN" altLang="en-US" sz="1800">
                <a:solidFill>
                  <a:schemeClr val="accent6"/>
                </a:solidFill>
              </a:rPr>
              <a:t>定制代码（打印日志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统计），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比对分析（流程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数据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版本补丁代码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环境）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  <a:sym typeface="+mn-ea"/>
              </a:rPr>
              <a:t>AI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辅助：查资料，配合阅读源码，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配合分析问题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主观态度：害怕担责，顾及面子，工作量分配问题。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环境搭建：涉及多方协调沟通配合，复现难（出差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环境差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复现几率低）。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熟悉了解：业务（专业度高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模型复杂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无专业人员），设计（不了解结构），代码（不了解代码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无代码）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</a:rPr>
              <a:t>原理分析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35761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主要难点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</a:rPr>
              <a:t>原理分析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35761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对应用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系统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硬件的运行机理进行了解和学习，理论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实践，动态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静态。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需求目的：定制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评估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破解，全面掌控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局部重点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简要比对。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基础资源：必备（被分析的目标和运行环境），可选（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文档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源码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反汇编）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主要难点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</a:rPr>
              <a:t>原理分析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35761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对应用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系统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硬件的运行机理进行了解和学习，理论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实践，动态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静态。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需求目的：定制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评估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破解，全面掌控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局部重点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简要比对。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基础资源：必备（被分析的目标和运行环境），可选（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文档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源码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反汇编）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整体设计：看文档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总结整理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，熟悉运行环境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模拟输入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监控输出</a:t>
            </a:r>
            <a:r>
              <a:rPr lang="zh-CN" altLang="en-US" sz="1800">
                <a:solidFill>
                  <a:schemeClr val="accent6"/>
                </a:solidFill>
              </a:rPr>
              <a:t>，逐步建立业务模型和组织结构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静态开发：阅读源码（软硬件）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反汇编（布线板），版本补丁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比对分析，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支撑</a:t>
            </a:r>
            <a:r>
              <a:rPr lang="zh-CN" altLang="en-US" sz="1800">
                <a:solidFill>
                  <a:schemeClr val="accent6"/>
                </a:solidFill>
              </a:rPr>
              <a:t>整体设计和动态调试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动态调试：运行时调试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反调试，提供运行时详细流程数据，比对分析；配合静态开发，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支撑</a:t>
            </a:r>
            <a:r>
              <a:rPr lang="zh-CN" altLang="en-US" sz="1800">
                <a:solidFill>
                  <a:schemeClr val="accent6"/>
                </a:solidFill>
              </a:rPr>
              <a:t>整体设计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en-US" altLang="zh-CN" sz="1800">
                <a:solidFill>
                  <a:schemeClr val="accent6"/>
                </a:solidFill>
              </a:rPr>
              <a:t>AI</a:t>
            </a:r>
            <a:r>
              <a:rPr lang="zh-CN" altLang="en-US" sz="1800">
                <a:solidFill>
                  <a:schemeClr val="accent6"/>
                </a:solidFill>
              </a:rPr>
              <a:t>辅助：查资料，配合阅读源码，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配合分析问题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主要难点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</a:rPr>
              <a:t>原理分析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35761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对应用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系统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硬件的运行机理进行了解和学习，理论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实践，动态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静态。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需求目的：定制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评估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破解，全面掌控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局部重点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简要比对。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基础资源：必备（被分析的目标和运行环境），可选（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文档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源码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反汇编）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整体设计：看文档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总结整理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，熟悉运行环境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模拟输入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监控输出</a:t>
            </a:r>
            <a:r>
              <a:rPr lang="zh-CN" altLang="en-US" sz="1800">
                <a:solidFill>
                  <a:schemeClr val="accent6"/>
                </a:solidFill>
              </a:rPr>
              <a:t>，逐步建立业务模型和组织结构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静态开发：阅读源码（软硬件）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反汇编（布线板），版本补丁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比对分析，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支撑</a:t>
            </a:r>
            <a:r>
              <a:rPr lang="zh-CN" altLang="en-US" sz="1800">
                <a:solidFill>
                  <a:schemeClr val="accent6"/>
                </a:solidFill>
              </a:rPr>
              <a:t>整体设计和动态调试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动态调试：运行时调试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反调试，提供运行时详细流程数据，比对分析；配合静态开发，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支撑</a:t>
            </a:r>
            <a:r>
              <a:rPr lang="zh-CN" altLang="en-US" sz="1800">
                <a:solidFill>
                  <a:schemeClr val="accent6"/>
                </a:solidFill>
              </a:rPr>
              <a:t>整体设计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en-US" altLang="zh-CN" sz="1800">
                <a:solidFill>
                  <a:schemeClr val="accent6"/>
                </a:solidFill>
              </a:rPr>
              <a:t>AI</a:t>
            </a:r>
            <a:r>
              <a:rPr lang="zh-CN" altLang="en-US" sz="1800">
                <a:solidFill>
                  <a:schemeClr val="accent6"/>
                </a:solidFill>
              </a:rPr>
              <a:t>辅助：查资料，配合阅读源码，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配合分析问题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主要难点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通用：没有厂商或相关人员配合，缺少文档，源代码量大。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专业：业务专业度高，业务模型非常复杂，运行环境不够理想（只能算是凑合着能用）。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艰苦：没有源码，需要反汇编分析，处理反调试。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</a:rPr>
              <a:t>辅助示例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051560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处理版本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细化调试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阅读代码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</a:rPr>
              <a:t>辅助示例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051560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处理版本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切换分支比对(分布式软总线为例)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整体信息统计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切分补丁/阅读补丁/内容查找(更改确认)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细化调试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阅读代码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</a:rPr>
              <a:t>辅助示例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051560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处理版本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切换分支比对(分布式软总线为例)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整体信息统计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切分补丁/阅读补丁/内容查找(更改确认)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细化调试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汇编和源码对应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配合设计和实现的运行时数据流程确认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运行时实际加载(尤其是瞬间处理并释放资源/firefox)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阅读代码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</a:rPr>
              <a:t>辅助示例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051560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处理版本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切换分支比对(分布式软总线为例)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整体信息统计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切分补丁/阅读补丁/内容查找(更改确认)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细化调试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汇编和源码对应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配合设计和实现的运行时数据流程确认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运行时实际加载(尤其是瞬间处理并释放资源/firefox)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阅读代码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整体源码阅读(flatpak为例)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辅助工具/作者思路/整体整理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多窗口操作/针对性阅读(具体接口/数据结构/处理流程)</a:t>
            </a: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3750</Words>
  <Application>WPS Presentation</Application>
  <PresentationFormat>宽屏</PresentationFormat>
  <Paragraphs>301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Noto Sans Symbols2</vt:lpstr>
      <vt:lpstr>Office Theme</vt:lpstr>
      <vt:lpstr>运行时分析</vt:lpstr>
      <vt:lpstr>运行时分析：整体概述</vt:lpstr>
      <vt:lpstr>运行时分析：整体概述</vt:lpstr>
      <vt:lpstr>运行时分析：整体概述</vt:lpstr>
      <vt:lpstr>运行时分析：整体概述</vt:lpstr>
      <vt:lpstr>运行时分析：具体内容：组件联调</vt:lpstr>
      <vt:lpstr>运行时分析：具体内容：组件联调</vt:lpstr>
      <vt:lpstr>运行时分析：具体内容：组件联调</vt:lpstr>
      <vt:lpstr>运行时分析：具体内容：组件联调</vt:lpstr>
      <vt:lpstr>运行时分析：具体内容：问题处理</vt:lpstr>
      <vt:lpstr>运行时分析：具体内容：问题处理</vt:lpstr>
      <vt:lpstr>运行时分析：具体内容：问题处理</vt:lpstr>
      <vt:lpstr>运行时分析：具体内容：问题处理</vt:lpstr>
      <vt:lpstr>运行时分析：具体内容：原理分析</vt:lpstr>
      <vt:lpstr>运行时分析：具体内容：原理分析</vt:lpstr>
      <vt:lpstr>运行时分析：具体内容：原理分析</vt:lpstr>
      <vt:lpstr>运行时分析：具体内容：原理分析</vt:lpstr>
      <vt:lpstr>运行时分析：辅助示例</vt:lpstr>
      <vt:lpstr>运行时分析：辅助示例</vt:lpstr>
      <vt:lpstr>运行时分析：辅助示例</vt:lpstr>
      <vt:lpstr>运行时分析：辅助示例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54</cp:revision>
  <dcterms:created xsi:type="dcterms:W3CDTF">2025-11-22T21:24:19Z</dcterms:created>
  <dcterms:modified xsi:type="dcterms:W3CDTF">2025-11-22T21:24:19Z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