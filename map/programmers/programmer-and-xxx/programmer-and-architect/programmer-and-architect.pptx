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3"/>
    <p:sldId id="275" r:id="rId4"/>
    <p:sldId id="305" r:id="rId5"/>
    <p:sldId id="308" r:id="rId6"/>
    <p:sldId id="304" r:id="rId7"/>
    <p:sldId id="296" r:id="rId8"/>
    <p:sldId id="303" r:id="rId9"/>
    <p:sldId id="302" r:id="rId10"/>
    <p:sldId id="301" r:id="rId11"/>
    <p:sldId id="297" r:id="rId12"/>
    <p:sldId id="300" r:id="rId13"/>
    <p:sldId id="299" r:id="rId14"/>
    <p:sldId id="298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9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868045"/>
            <a:ext cx="10515600" cy="960120"/>
          </a:xfrm>
        </p:spPr>
        <p:txBody>
          <a:bodyPr/>
          <a:p>
            <a:pPr algn="ctr"/>
            <a:r>
              <a:rPr lang="zh-CN" altLang="en-US" sz="4000">
                <a:solidFill>
                  <a:schemeClr val="accent6"/>
                </a:solidFill>
              </a:rPr>
              <a:t>程序员与架构师</a:t>
            </a:r>
            <a:endParaRPr lang="en-US" altLang="zh-CN" sz="400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2480310"/>
            <a:ext cx="10515600" cy="3337560"/>
          </a:xfrm>
        </p:spPr>
        <p:txBody>
          <a:bodyPr/>
          <a:p>
            <a:pPr algn="ctr"/>
            <a:r>
              <a:rPr lang="zh-CN" altLang="en-US" sz="3200" b="1">
                <a:solidFill>
                  <a:schemeClr val="accent6"/>
                </a:solidFill>
              </a:rPr>
              <a:t>架构说明</a:t>
            </a:r>
            <a:endParaRPr lang="zh-CN" altLang="en-US" sz="3200" b="1">
              <a:solidFill>
                <a:schemeClr val="accent6"/>
              </a:solidFill>
            </a:endParaRPr>
          </a:p>
          <a:p>
            <a:pPr algn="ctr"/>
            <a:r>
              <a:rPr lang="zh-CN" altLang="en-US" sz="3200" b="1">
                <a:solidFill>
                  <a:schemeClr val="accent6"/>
                </a:solidFill>
              </a:rPr>
              <a:t>工作职责</a:t>
            </a:r>
            <a:endParaRPr lang="zh-CN" altLang="en-US" sz="2880" b="1">
              <a:solidFill>
                <a:schemeClr val="accent6"/>
              </a:solidFill>
            </a:endParaRPr>
          </a:p>
          <a:p>
            <a:pPr algn="ctr"/>
            <a:r>
              <a:rPr lang="zh-CN" altLang="en-US" sz="3200" b="1">
                <a:solidFill>
                  <a:schemeClr val="accent6"/>
                </a:solidFill>
              </a:rPr>
              <a:t>学习培养</a:t>
            </a:r>
            <a:endParaRPr lang="zh-CN" altLang="en-US" sz="3200"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程序员与架构师：架构说明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51205"/>
            <a:ext cx="11066145" cy="6061075"/>
          </a:xfrm>
        </p:spPr>
        <p:txBody>
          <a:bodyPr>
            <a:normAutofit lnSpcReduction="10000"/>
          </a:bodyPr>
          <a:p>
            <a:r>
              <a:rPr lang="zh-CN" altLang="en-US">
                <a:solidFill>
                  <a:schemeClr val="accent6"/>
                </a:solidFill>
              </a:rPr>
              <a:t>架构定义：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2"/>
            <a:endParaRPr lang="zh-CN" altLang="en-US" sz="1600">
              <a:solidFill>
                <a:schemeClr val="accent6"/>
              </a:solidFill>
            </a:endParaRPr>
          </a:p>
          <a:p>
            <a:pPr lvl="2"/>
            <a:endParaRPr lang="zh-CN" altLang="en-US" sz="1600">
              <a:solidFill>
                <a:schemeClr val="accent6"/>
              </a:solidFill>
            </a:endParaRPr>
          </a:p>
          <a:p>
            <a:pPr lvl="2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2"/>
            <a:endParaRPr lang="zh-CN" altLang="en-US">
              <a:solidFill>
                <a:schemeClr val="accent6"/>
              </a:solidFill>
            </a:endParaRPr>
          </a:p>
          <a:p>
            <a:pPr lvl="2"/>
            <a:endParaRPr lang="zh-CN" altLang="en-US">
              <a:solidFill>
                <a:schemeClr val="accent6"/>
              </a:solidFill>
            </a:endParaRPr>
          </a:p>
          <a:p>
            <a:pPr lvl="2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架构类别：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架构师：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程序员与架构师：架构说明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51205"/>
            <a:ext cx="11066145" cy="6061075"/>
          </a:xfrm>
        </p:spPr>
        <p:txBody>
          <a:bodyPr>
            <a:normAutofit lnSpcReduction="10000"/>
          </a:bodyPr>
          <a:p>
            <a:r>
              <a:rPr lang="zh-CN" altLang="en-US">
                <a:solidFill>
                  <a:schemeClr val="accent6"/>
                </a:solidFill>
              </a:rPr>
              <a:t>架构定义：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</a:rPr>
              <a:t>AI</a:t>
            </a:r>
            <a:r>
              <a:rPr lang="zh-CN" altLang="en-US">
                <a:solidFill>
                  <a:schemeClr val="accent6"/>
                </a:solidFill>
              </a:rPr>
              <a:t>搜索（</a:t>
            </a:r>
            <a:r>
              <a:rPr lang="en-US" altLang="zh-CN">
                <a:solidFill>
                  <a:schemeClr val="accent6"/>
                </a:solidFill>
              </a:rPr>
              <a:t>deepseek+</a:t>
            </a:r>
            <a:r>
              <a:rPr lang="zh-CN" altLang="en-US">
                <a:solidFill>
                  <a:schemeClr val="accent6"/>
                </a:solidFill>
              </a:rPr>
              <a:t>千问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豆包），各有侧重点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共同点：都是设计层面的内容；差异点：设计层面不同（软件工程视角中站位不同）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en-US" altLang="zh-CN" sz="1600">
                <a:solidFill>
                  <a:schemeClr val="accent6"/>
                </a:solidFill>
              </a:rPr>
              <a:t>deepseek</a:t>
            </a:r>
            <a:r>
              <a:rPr lang="zh-CN" altLang="en-US" sz="1600">
                <a:solidFill>
                  <a:schemeClr val="accent6"/>
                </a:solidFill>
              </a:rPr>
              <a:t>：概要的设计的概要设计（更注重解决方案，强调方向感，需求和设计中偏需求）</a:t>
            </a:r>
            <a:endParaRPr lang="zh-CN" altLang="en-US" sz="1600">
              <a:solidFill>
                <a:schemeClr val="accent6"/>
              </a:solidFill>
            </a:endParaRPr>
          </a:p>
          <a:p>
            <a:pPr lvl="2"/>
            <a:r>
              <a:rPr lang="zh-CN" altLang="en-US" sz="1600">
                <a:solidFill>
                  <a:schemeClr val="accent6"/>
                </a:solidFill>
              </a:rPr>
              <a:t>千问：覆盖概要设计的大部分内容（但不是全部，至少没有考虑测试方案）。</a:t>
            </a:r>
            <a:endParaRPr lang="zh-CN" altLang="en-US" sz="1600">
              <a:solidFill>
                <a:schemeClr val="accent6"/>
              </a:solidFill>
            </a:endParaRPr>
          </a:p>
          <a:p>
            <a:pPr lvl="2"/>
            <a:r>
              <a:rPr lang="zh-CN" altLang="en-US" sz="1600">
                <a:solidFill>
                  <a:schemeClr val="accent6"/>
                </a:solidFill>
              </a:rPr>
              <a:t>豆包：概要设计的概要设计（更注重可行性，强调能实现，需求和设计中偏设计）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个人理解：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现有定义的局限性：过度强调功能视角，而弱化实现视角和使用视角（虽然对发布和维护也都有考虑）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个人定义：以概要设计的全部内容为主（含使用视角和测试方案），根据需要，向需求测试和实现拓展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只有在相关范围内做到理论与实践融会贯通，知行合一的人，才有资质去谈理论（架构）。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架构类别：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架构师：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程序员与架构师：架构说明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51205"/>
            <a:ext cx="11066145" cy="6061075"/>
          </a:xfrm>
        </p:spPr>
        <p:txBody>
          <a:bodyPr>
            <a:normAutofit lnSpcReduction="10000"/>
          </a:bodyPr>
          <a:p>
            <a:r>
              <a:rPr lang="zh-CN" altLang="en-US">
                <a:solidFill>
                  <a:schemeClr val="accent6"/>
                </a:solidFill>
              </a:rPr>
              <a:t>架构定义：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</a:rPr>
              <a:t>AI</a:t>
            </a:r>
            <a:r>
              <a:rPr lang="zh-CN" altLang="en-US">
                <a:solidFill>
                  <a:schemeClr val="accent6"/>
                </a:solidFill>
              </a:rPr>
              <a:t>搜索（</a:t>
            </a:r>
            <a:r>
              <a:rPr lang="en-US" altLang="zh-CN">
                <a:solidFill>
                  <a:schemeClr val="accent6"/>
                </a:solidFill>
              </a:rPr>
              <a:t>deepseek+</a:t>
            </a:r>
            <a:r>
              <a:rPr lang="zh-CN" altLang="en-US">
                <a:solidFill>
                  <a:schemeClr val="accent6"/>
                </a:solidFill>
              </a:rPr>
              <a:t>千问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豆包），各有侧重点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共同点：都是设计层面的内容；差异点：设计层面不同（软件工程视角中站位不同）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en-US" altLang="zh-CN" sz="1600">
                <a:solidFill>
                  <a:schemeClr val="accent6"/>
                </a:solidFill>
              </a:rPr>
              <a:t>deepseek</a:t>
            </a:r>
            <a:r>
              <a:rPr lang="zh-CN" altLang="en-US" sz="1600">
                <a:solidFill>
                  <a:schemeClr val="accent6"/>
                </a:solidFill>
              </a:rPr>
              <a:t>：概要的设计的概要设计（更注重解决方案，强调方向感，需求和设计中偏需求）</a:t>
            </a:r>
            <a:endParaRPr lang="zh-CN" altLang="en-US" sz="1600">
              <a:solidFill>
                <a:schemeClr val="accent6"/>
              </a:solidFill>
            </a:endParaRPr>
          </a:p>
          <a:p>
            <a:pPr lvl="2"/>
            <a:r>
              <a:rPr lang="zh-CN" altLang="en-US" sz="1600">
                <a:solidFill>
                  <a:schemeClr val="accent6"/>
                </a:solidFill>
              </a:rPr>
              <a:t>千问：覆盖概要设计的大部分内容（但不是全部，至少没有考虑测试方案）。</a:t>
            </a:r>
            <a:endParaRPr lang="zh-CN" altLang="en-US" sz="1600">
              <a:solidFill>
                <a:schemeClr val="accent6"/>
              </a:solidFill>
            </a:endParaRPr>
          </a:p>
          <a:p>
            <a:pPr lvl="2"/>
            <a:r>
              <a:rPr lang="zh-CN" altLang="en-US" sz="1600">
                <a:solidFill>
                  <a:schemeClr val="accent6"/>
                </a:solidFill>
              </a:rPr>
              <a:t>豆包：概要设计的概要设计（更注重可行性，强调能实现，需求和设计中偏设计）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个人理解：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现有定义的局限性：过度强调功能视角，而弱化实现视角和使用视角（虽然对发布和维护也都有考虑）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个人定义：以概要设计的全部内容为主（含使用视角和测试方案），根据需要，向需求测试和实现拓展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只有在相关范围内做到理论与实践融会贯通，知行合一的人，才有资质去谈理论（架构）。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架构类别：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</a:rPr>
              <a:t>IT</a:t>
            </a:r>
            <a:r>
              <a:rPr lang="zh-CN" altLang="en-US">
                <a:solidFill>
                  <a:schemeClr val="accent6"/>
                </a:solidFill>
              </a:rPr>
              <a:t>领域技术类，</a:t>
            </a:r>
            <a:r>
              <a:rPr lang="en-US" altLang="zh-CN">
                <a:solidFill>
                  <a:schemeClr val="accent6"/>
                </a:solidFill>
              </a:rPr>
              <a:t>AI</a:t>
            </a:r>
            <a:r>
              <a:rPr lang="zh-CN" altLang="en-US">
                <a:solidFill>
                  <a:schemeClr val="accent6"/>
                </a:solidFill>
              </a:rPr>
              <a:t>给的都不太理想（相对来说豆包给的算是勉强及格）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软件工程：偏前期（需求和业务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功能视角）、偏后期（测试集成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使用视角），偏底层（实现视角）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公司需求：技术负责人（管理类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保镖类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成长类），非技术负责人（挂名类）。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架构师：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程序员与架构师：架构说明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51205"/>
            <a:ext cx="11066145" cy="6061075"/>
          </a:xfrm>
        </p:spPr>
        <p:txBody>
          <a:bodyPr>
            <a:normAutofit lnSpcReduction="10000"/>
          </a:bodyPr>
          <a:p>
            <a:r>
              <a:rPr lang="zh-CN" altLang="en-US">
                <a:solidFill>
                  <a:schemeClr val="accent6"/>
                </a:solidFill>
              </a:rPr>
              <a:t>架构定义：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</a:rPr>
              <a:t>AI</a:t>
            </a:r>
            <a:r>
              <a:rPr lang="zh-CN" altLang="en-US">
                <a:solidFill>
                  <a:schemeClr val="accent6"/>
                </a:solidFill>
              </a:rPr>
              <a:t>搜索（</a:t>
            </a:r>
            <a:r>
              <a:rPr lang="en-US" altLang="zh-CN">
                <a:solidFill>
                  <a:schemeClr val="accent6"/>
                </a:solidFill>
              </a:rPr>
              <a:t>deepseek+</a:t>
            </a:r>
            <a:r>
              <a:rPr lang="zh-CN" altLang="en-US">
                <a:solidFill>
                  <a:schemeClr val="accent6"/>
                </a:solidFill>
              </a:rPr>
              <a:t>千问</a:t>
            </a:r>
            <a:r>
              <a:rPr lang="en-US" altLang="zh-CN">
                <a:solidFill>
                  <a:schemeClr val="accent6"/>
                </a:solidFill>
              </a:rPr>
              <a:t>+</a:t>
            </a:r>
            <a:r>
              <a:rPr lang="zh-CN" altLang="en-US">
                <a:solidFill>
                  <a:schemeClr val="accent6"/>
                </a:solidFill>
              </a:rPr>
              <a:t>豆包），各有侧重点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共同点：都是设计层面的内容；差异点：设计层面不同（软件工程视角中站位不同）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en-US" altLang="zh-CN" sz="1600">
                <a:solidFill>
                  <a:schemeClr val="accent6"/>
                </a:solidFill>
              </a:rPr>
              <a:t>deepseek</a:t>
            </a:r>
            <a:r>
              <a:rPr lang="zh-CN" altLang="en-US" sz="1600">
                <a:solidFill>
                  <a:schemeClr val="accent6"/>
                </a:solidFill>
              </a:rPr>
              <a:t>：概要的设计的概要设计（更注重解决方案，强调方向感，需求和设计中偏需求）</a:t>
            </a:r>
            <a:endParaRPr lang="zh-CN" altLang="en-US" sz="1600">
              <a:solidFill>
                <a:schemeClr val="accent6"/>
              </a:solidFill>
            </a:endParaRPr>
          </a:p>
          <a:p>
            <a:pPr lvl="2"/>
            <a:r>
              <a:rPr lang="zh-CN" altLang="en-US" sz="1600">
                <a:solidFill>
                  <a:schemeClr val="accent6"/>
                </a:solidFill>
              </a:rPr>
              <a:t>千问：覆盖概要设计的大部分内容（但不是全部，至少没有考虑测试方案）。</a:t>
            </a:r>
            <a:endParaRPr lang="zh-CN" altLang="en-US" sz="1600">
              <a:solidFill>
                <a:schemeClr val="accent6"/>
              </a:solidFill>
            </a:endParaRPr>
          </a:p>
          <a:p>
            <a:pPr lvl="2"/>
            <a:r>
              <a:rPr lang="zh-CN" altLang="en-US" sz="1600">
                <a:solidFill>
                  <a:schemeClr val="accent6"/>
                </a:solidFill>
              </a:rPr>
              <a:t>豆包：概要设计的概要设计（更注重可行性，强调能实现，需求和设计中偏设计）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个人理解：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现有定义的局限性：过度强调功能视角，而弱化实现视角和使用视角（虽然对发布和维护也都有考虑）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个人定义：以概要设计的全部内容为主（含使用视角和测试方案），根据需要，向需求测试和实现拓展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只有在相关范围内做到理论与实践融会贯通，知行合一的人，才有资质去谈理论（架构）。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架构类别：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en-US" altLang="zh-CN">
                <a:solidFill>
                  <a:schemeClr val="accent6"/>
                </a:solidFill>
              </a:rPr>
              <a:t>IT</a:t>
            </a:r>
            <a:r>
              <a:rPr lang="zh-CN" altLang="en-US">
                <a:solidFill>
                  <a:schemeClr val="accent6"/>
                </a:solidFill>
              </a:rPr>
              <a:t>领域技术类，</a:t>
            </a:r>
            <a:r>
              <a:rPr lang="en-US" altLang="zh-CN">
                <a:solidFill>
                  <a:schemeClr val="accent6"/>
                </a:solidFill>
              </a:rPr>
              <a:t>AI</a:t>
            </a:r>
            <a:r>
              <a:rPr lang="zh-CN" altLang="en-US">
                <a:solidFill>
                  <a:schemeClr val="accent6"/>
                </a:solidFill>
              </a:rPr>
              <a:t>给的都不太理想（相对来说豆包给的算是勉强及格）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软件工程：偏前期（需求和业务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功能视角）、偏后期（测试集成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使用视角），偏底层（实现视角）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公司需求：技术负责人（管理类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保镖类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成长类），非技术负责人（挂名类）。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架构师：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理论：干架构工作的人；实际：主要工作不是架构（但至少覆盖架构的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60%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以上内容）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公司需求视角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程序员看架构师：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  <a:sym typeface="+mn-ea"/>
              </a:rPr>
              <a:t>只是挂名，但公司很重视；挺会说（但是否有效值得验证），动手能力值得怀疑；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  <a:sym typeface="+mn-ea"/>
              </a:rPr>
              <a:t>核心是对自己的价值（工作是否有帮助，是否影响自己能感觉到的发展），其他方面其实都无所谓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  <a:sym typeface="+mn-ea"/>
              </a:rPr>
              <a:t>影响自己的认知，产生误解误会，中长期下意识可能影响自己的发展（但自己没有感觉）。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  <a:sym typeface="+mn-ea"/>
              </a:rPr>
              <a:t>架构师看程序员：无需程序员理解自己，程序员要做踏实实现，同时了解架构，但别给架构师找麻烦</a:t>
            </a:r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程序员与架构师：工作职责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管理类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保镖类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成长类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程序员与架构师：工作职责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管理类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主要角色：技术总监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技术经理等，兼职架构师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核心价值：管理部门人员（研发部门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测试部门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业务专业人员）。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主要挑战：公司业绩生存（环境），管理程序员（内部），产品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售前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售后的技术内容对接（交互）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保镖类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成长类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程序员与架构师：工作职责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管理类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主要角色：技术总监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技术经理等，兼职架构师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核心价值：管理部门人员（研发部门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测试部门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业务专业人员）。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主要挑战：公司业绩生存（环境），管理程序员（内部），产品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售前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售后的技术内容对接（交互）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保镖类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主要角色：兼职架构师，其他角色很灵活（外聘兼职人员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技术组长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业务专家）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核心价值：解决各类同自己领域相关的技术问题，并能够对其他相关领域或角色提供足够支撑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主要挑战：解决其他程序员遇到的各类难题，对其他领域人员或角色支撑到位，人员相处融洽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成长类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程序员与架构师：工作职责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管理类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主要角色：技术总监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技术经理等，兼职架构师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核心价值：管理部门人员（研发部门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测试部门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业务专业人员）。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主要挑战：公司业绩生存（环境），管理程序员（内部），产品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售前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售后的技术内容对接（交互）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保镖类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主要角色：兼职架构师，其他角色很灵活（外聘兼职人员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技术组长</a:t>
            </a:r>
            <a:r>
              <a:rPr lang="en-US" altLang="zh-CN">
                <a:solidFill>
                  <a:schemeClr val="accent6"/>
                </a:solidFill>
              </a:rPr>
              <a:t>/</a:t>
            </a:r>
            <a:r>
              <a:rPr lang="zh-CN" altLang="en-US">
                <a:solidFill>
                  <a:schemeClr val="accent6"/>
                </a:solidFill>
              </a:rPr>
              <a:t>业务专家）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核心价值：解决各类同自己领域相关的技术问题，并能够对其他相关领域或角色提供足够支撑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主要挑战：解决其他程序员遇到的各类难题，对其他领域人员或角色支撑到位，人员相处融洽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成长类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主要角色：兼职架构师，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一线</a:t>
            </a:r>
            <a:r>
              <a:rPr lang="zh-CN" altLang="en-US" sz="1800">
                <a:solidFill>
                  <a:schemeClr val="accent6"/>
                </a:solidFill>
              </a:rPr>
              <a:t>主力人员（实践能力足够强，同时不断完善理论，并且理论能指导实践）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核心价值：解决同自己专业技能相关的技术问题（比领域要窄），不断成长，变成未来的保镖类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主要挑战：配合解决其他程序员遇到的各类难题，能够与其他领域人员或其他角色和谐相处</a:t>
            </a:r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程序员与架构师：学习培养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客观基础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2"/>
            <a:endParaRPr lang="zh-CN" altLang="en-US" sz="1600">
              <a:solidFill>
                <a:schemeClr val="accent6"/>
              </a:solidFill>
            </a:endParaRPr>
          </a:p>
          <a:p>
            <a:pPr lvl="2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主观素养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成长历程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2"/>
            <a:endParaRPr lang="zh-CN" altLang="en-US" sz="1600">
              <a:solidFill>
                <a:schemeClr val="accent6"/>
              </a:solidFill>
            </a:endParaRPr>
          </a:p>
          <a:p>
            <a:pPr lvl="2"/>
            <a:endParaRPr lang="zh-CN" altLang="en-US" sz="1600">
              <a:solidFill>
                <a:schemeClr val="accent6"/>
              </a:solidFill>
            </a:endParaRPr>
          </a:p>
          <a:p>
            <a:pPr lvl="2"/>
            <a:endParaRPr lang="zh-CN" altLang="en-US" sz="1600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程序员与架构师：学习培养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客观基础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在相关领域有足够的实践经验，做的足够扎实，同时至少重视理论；不会对理论产生误解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学而不思则罔，思而不学则殆</a:t>
            </a:r>
            <a:endParaRPr lang="zh-CN" altLang="en-US" sz="1600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融会贯通，知行合一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相关领域广泛，包括系统开发、应用开发、行业专业等各个领域的细节分支。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有一定的跨角色，跨部门，跨行业的实际处理经验，至少能沟通交互，有积极影响，不产生副作用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主观素养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成长历程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2"/>
            <a:endParaRPr lang="zh-CN" altLang="en-US" sz="1600">
              <a:solidFill>
                <a:schemeClr val="accent6"/>
              </a:solidFill>
            </a:endParaRPr>
          </a:p>
          <a:p>
            <a:pPr lvl="2"/>
            <a:endParaRPr lang="zh-CN" altLang="en-US" sz="1600">
              <a:solidFill>
                <a:schemeClr val="accent6"/>
              </a:solidFill>
            </a:endParaRPr>
          </a:p>
          <a:p>
            <a:pPr lvl="2"/>
            <a:endParaRPr lang="zh-CN" altLang="en-US" sz="1600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程序员与架构师：学习培养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客观基础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在相关领域有足够的实践经验，做的足够扎实，同时至少重视理论；不会对理论产生误解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学而不思则罔，思而不学则殆</a:t>
            </a:r>
            <a:endParaRPr lang="zh-CN" altLang="en-US" sz="1600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融会贯通，知行合一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相关领域广泛，包括系统开发、应用开发、行业专业等各个领域的细节分支。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有一定的跨角色，跨部门，跨行业的实际处理经验，至少能沟通交互，有积极影响，不产生副作用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主观素养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自主探索，适应环境；解决问题，面对困难；产出价值，清晰表达。一行行，行行行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三人行必有我师焉，择其善者而从之，其不善者而改之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学而时习之，不亦说乎？有朋自远方来，不亦乐乎？人不知而不愠，不亦君子乎？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成长历程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1"/>
            <a:endParaRPr lang="zh-CN" altLang="en-US" sz="1800">
              <a:solidFill>
                <a:schemeClr val="accent6"/>
              </a:solidFill>
            </a:endParaRPr>
          </a:p>
          <a:p>
            <a:pPr lvl="2"/>
            <a:endParaRPr lang="zh-CN" altLang="en-US" sz="1600">
              <a:solidFill>
                <a:schemeClr val="accent6"/>
              </a:solidFill>
            </a:endParaRPr>
          </a:p>
          <a:p>
            <a:pPr lvl="2"/>
            <a:endParaRPr lang="zh-CN" altLang="en-US" sz="1600">
              <a:solidFill>
                <a:schemeClr val="accent6"/>
              </a:solidFill>
            </a:endParaRPr>
          </a:p>
          <a:p>
            <a:pPr lvl="2"/>
            <a:endParaRPr lang="zh-CN" altLang="en-US" sz="1600">
              <a:solidFill>
                <a:schemeClr val="accent6"/>
              </a:solidFill>
            </a:endParaRPr>
          </a:p>
          <a:p>
            <a:pPr lvl="1"/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46685"/>
            <a:ext cx="10515600" cy="604520"/>
          </a:xfrm>
        </p:spPr>
        <p:txBody>
          <a:bodyPr/>
          <a:p>
            <a:pPr algn="ctr"/>
            <a:r>
              <a:rPr lang="zh-CN" altLang="en-US">
                <a:solidFill>
                  <a:schemeClr val="accent6"/>
                </a:solidFill>
              </a:rPr>
              <a:t>程序员与架构师：学习培养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52500"/>
            <a:ext cx="11066145" cy="585978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客观基础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在相关领域有足够的实践经验，做的足够扎实，同时至少重视理论；不会对理论产生误解</a:t>
            </a:r>
            <a:endParaRPr lang="zh-CN" altLang="en-US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学而不思则罔，思而不学则殆</a:t>
            </a:r>
            <a:endParaRPr lang="zh-CN" altLang="en-US" sz="1600">
              <a:solidFill>
                <a:schemeClr val="accent6"/>
              </a:solidFill>
            </a:endParaRPr>
          </a:p>
          <a:p>
            <a:pPr lvl="2"/>
            <a:r>
              <a:rPr lang="zh-CN" altLang="en-US">
                <a:solidFill>
                  <a:schemeClr val="accent6"/>
                </a:solidFill>
              </a:rPr>
              <a:t>融会贯通，知行合一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相关领域广泛，包括系统开发、应用开发、行业专业等各个领域的细节分支。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有一定的跨角色，跨部门，跨行业的实际处理经验，至少能沟通交互，有积极影响，不产生副作用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主观素养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自主探索，适应环境；解决问题，面对困难；产出价值，清晰表达。一行行，行行行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三人行必有我师焉，择其善者而从之，其不善者而改之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>
                <a:solidFill>
                  <a:schemeClr val="accent6"/>
                </a:solidFill>
              </a:rPr>
              <a:t>学而时习之，不亦说乎？有朋自远方来，不亦乐乎？人不知而不愠，不亦君子乎？</a:t>
            </a:r>
            <a:endParaRPr lang="zh-CN" altLang="en-US">
              <a:solidFill>
                <a:schemeClr val="accent6"/>
              </a:solidFill>
            </a:endParaRPr>
          </a:p>
          <a:p>
            <a:r>
              <a:rPr lang="zh-CN" altLang="en-US">
                <a:solidFill>
                  <a:schemeClr val="accent6"/>
                </a:solidFill>
              </a:rPr>
              <a:t>成长历程</a:t>
            </a:r>
            <a:endParaRPr lang="zh-CN" altLang="en-US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以技术路线为重，从实践做起，经历各种波折，最后进入稳定区间。自己的理想是架构师，但要兼职</a:t>
            </a:r>
            <a:endParaRPr lang="zh-CN" altLang="en-US" sz="18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区间类型：</a:t>
            </a:r>
            <a:endParaRPr lang="zh-CN" altLang="en-US" sz="1800">
              <a:solidFill>
                <a:schemeClr val="accent6"/>
              </a:solidFill>
            </a:endParaRPr>
          </a:p>
          <a:p>
            <a:pPr lvl="2"/>
            <a:r>
              <a:rPr lang="zh-CN" altLang="en-US" sz="1600">
                <a:solidFill>
                  <a:schemeClr val="accent6"/>
                </a:solidFill>
              </a:rPr>
              <a:t>各类上升区间：普通一线人员</a:t>
            </a:r>
            <a:r>
              <a:rPr lang="en-US" altLang="zh-CN" sz="1600">
                <a:solidFill>
                  <a:schemeClr val="accent6"/>
                </a:solidFill>
              </a:rPr>
              <a:t>-&gt;</a:t>
            </a:r>
            <a:r>
              <a:rPr lang="zh-CN" altLang="en-US" sz="1600">
                <a:solidFill>
                  <a:schemeClr val="accent6"/>
                </a:solidFill>
              </a:rPr>
              <a:t>成长类</a:t>
            </a:r>
            <a:r>
              <a:rPr lang="en-US" altLang="zh-CN" sz="1600">
                <a:solidFill>
                  <a:schemeClr val="accent6"/>
                </a:solidFill>
              </a:rPr>
              <a:t>-&gt;</a:t>
            </a:r>
            <a:r>
              <a:rPr lang="zh-CN" altLang="en-US" sz="1600">
                <a:solidFill>
                  <a:schemeClr val="accent6"/>
                </a:solidFill>
              </a:rPr>
              <a:t>保镖类</a:t>
            </a:r>
            <a:r>
              <a:rPr lang="en-US" altLang="zh-CN" sz="1600">
                <a:solidFill>
                  <a:schemeClr val="accent6"/>
                </a:solidFill>
              </a:rPr>
              <a:t>-&gt;</a:t>
            </a:r>
            <a:r>
              <a:rPr lang="zh-CN" altLang="en-US" sz="1600">
                <a:solidFill>
                  <a:schemeClr val="accent6"/>
                </a:solidFill>
              </a:rPr>
              <a:t>管理类，成长类</a:t>
            </a:r>
            <a:r>
              <a:rPr lang="en-US" altLang="zh-CN" sz="1600">
                <a:solidFill>
                  <a:schemeClr val="accent6"/>
                </a:solidFill>
              </a:rPr>
              <a:t>-&gt;</a:t>
            </a:r>
            <a:r>
              <a:rPr lang="zh-CN" altLang="en-US" sz="1600">
                <a:solidFill>
                  <a:schemeClr val="accent6"/>
                </a:solidFill>
              </a:rPr>
              <a:t>管理类</a:t>
            </a:r>
            <a:endParaRPr lang="zh-CN" altLang="en-US" sz="1600">
              <a:solidFill>
                <a:schemeClr val="accent6"/>
              </a:solidFill>
            </a:endParaRPr>
          </a:p>
          <a:p>
            <a:pPr lvl="2"/>
            <a:r>
              <a:rPr lang="zh-CN" altLang="en-US" sz="1600">
                <a:solidFill>
                  <a:schemeClr val="accent6"/>
                </a:solidFill>
              </a:rPr>
              <a:t>各类下降区间：管理类</a:t>
            </a:r>
            <a:r>
              <a:rPr lang="en-US" altLang="zh-CN" sz="1600">
                <a:solidFill>
                  <a:schemeClr val="accent6"/>
                </a:solidFill>
              </a:rPr>
              <a:t>-&gt;</a:t>
            </a:r>
            <a:r>
              <a:rPr lang="zh-CN" altLang="en-US" sz="1600">
                <a:solidFill>
                  <a:schemeClr val="accent6"/>
                </a:solidFill>
              </a:rPr>
              <a:t>保镖类</a:t>
            </a:r>
            <a:r>
              <a:rPr lang="en-US" altLang="zh-CN" sz="1600">
                <a:solidFill>
                  <a:schemeClr val="accent6"/>
                </a:solidFill>
              </a:rPr>
              <a:t>-&gt;</a:t>
            </a:r>
            <a:r>
              <a:rPr lang="zh-CN" altLang="en-US" sz="1600">
                <a:solidFill>
                  <a:schemeClr val="accent6"/>
                </a:solidFill>
              </a:rPr>
              <a:t>成长类</a:t>
            </a:r>
            <a:r>
              <a:rPr lang="en-US" altLang="zh-CN" sz="1600">
                <a:solidFill>
                  <a:schemeClr val="accent6"/>
                </a:solidFill>
              </a:rPr>
              <a:t>-&gt;</a:t>
            </a:r>
            <a:r>
              <a:rPr lang="zh-CN" altLang="en-US" sz="1600">
                <a:solidFill>
                  <a:schemeClr val="accent6"/>
                </a:solidFill>
              </a:rPr>
              <a:t>普通一线人员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，管理类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-&gt;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成长类</a:t>
            </a:r>
            <a:endParaRPr lang="zh-CN" altLang="en-US" sz="1600">
              <a:solidFill>
                <a:schemeClr val="accent6"/>
              </a:solidFill>
            </a:endParaRPr>
          </a:p>
          <a:p>
            <a:pPr lvl="2"/>
            <a:r>
              <a:rPr lang="zh-CN" altLang="en-US" sz="1600">
                <a:solidFill>
                  <a:schemeClr val="accent6"/>
                </a:solidFill>
              </a:rPr>
              <a:t>独立稳定区间：保镖类中的外聘兼职人员最稳定（外保镖内管理），保镖类其他子类其次，其他都不稳定。</a:t>
            </a:r>
            <a:endParaRPr lang="zh-CN" altLang="en-US" sz="1600">
              <a:solidFill>
                <a:schemeClr val="accent6"/>
              </a:solidFill>
            </a:endParaRPr>
          </a:p>
          <a:p>
            <a:pPr lvl="1"/>
            <a:r>
              <a:rPr lang="zh-CN" altLang="en-US" sz="1800">
                <a:solidFill>
                  <a:schemeClr val="accent6"/>
                </a:solidFill>
              </a:rPr>
              <a:t>不以物喜，不以己悲；穷则独善其身，达则兼济天下</a:t>
            </a:r>
            <a:endParaRPr lang="zh-CN" altLang="en-US" sz="1620">
              <a:solidFill>
                <a:schemeClr val="accent6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666980" y="227774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3136</Words>
  <Application>WPS Presentation</Application>
  <PresentationFormat>宽屏</PresentationFormat>
  <Paragraphs>227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Office Theme</vt:lpstr>
      <vt:lpstr>程序员与架构师</vt:lpstr>
      <vt:lpstr>运行时分析：整体概述</vt:lpstr>
      <vt:lpstr>程序员与架构师：架构说明</vt:lpstr>
      <vt:lpstr>程序员与架构师：架构说明</vt:lpstr>
      <vt:lpstr>程序员与架构师：架构说明</vt:lpstr>
      <vt:lpstr>程序员与架构师：架构说明</vt:lpstr>
      <vt:lpstr>程序员与架构师：工作职责</vt:lpstr>
      <vt:lpstr>程序员与架构师：工作职责</vt:lpstr>
      <vt:lpstr>程序员与架构师：工作职责</vt:lpstr>
      <vt:lpstr>程序员与架构师：架构说明</vt:lpstr>
      <vt:lpstr>程序员与架构师：学习培养</vt:lpstr>
      <vt:lpstr>程序员与架构师：学习培养</vt:lpstr>
      <vt:lpstr>程序员与架构师：学习培养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121</cp:revision>
  <dcterms:created xsi:type="dcterms:W3CDTF">2025-11-28T16:27:52Z</dcterms:created>
  <dcterms:modified xsi:type="dcterms:W3CDTF">2025-11-28T16:27:52Z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