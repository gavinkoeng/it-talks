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3"/>
    <p:sldId id="258" r:id="rId4"/>
    <p:sldId id="263" r:id="rId5"/>
    <p:sldId id="262" r:id="rId6"/>
    <p:sldId id="261" r:id="rId7"/>
    <p:sldId id="259" r:id="rId8"/>
    <p:sldId id="266" r:id="rId9"/>
    <p:sldId id="265" r:id="rId10"/>
    <p:sldId id="264" r:id="rId11"/>
    <p:sldId id="260" r:id="rId12"/>
    <p:sldId id="269" r:id="rId13"/>
    <p:sldId id="268" r:id="rId14"/>
    <p:sldId id="267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7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949325"/>
            <a:ext cx="10515600" cy="1584325"/>
          </a:xfrm>
        </p:spPr>
        <p:txBody>
          <a:bodyPr/>
          <a:p>
            <a:pPr algn="ctr"/>
            <a:r>
              <a:rPr lang="zh-CN" altLang="en-US" sz="4400">
                <a:solidFill>
                  <a:srgbClr val="00B050"/>
                </a:solidFill>
              </a:rPr>
              <a:t>程序员与黑客</a:t>
            </a:r>
            <a:endParaRPr lang="zh-CN" altLang="en-US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3055620"/>
            <a:ext cx="10515600" cy="3132455"/>
          </a:xfrm>
        </p:spPr>
        <p:txBody>
          <a:bodyPr/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整体概述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职业类型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学习培养</a:t>
            </a:r>
            <a:endParaRPr lang="zh-CN" altLang="en-US" sz="3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47650"/>
            <a:ext cx="10515600" cy="7112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120775"/>
            <a:ext cx="11011535" cy="5520690"/>
          </a:xfrm>
        </p:spPr>
        <p:txBody>
          <a:bodyPr>
            <a:normAutofit lnSpcReduction="10000"/>
          </a:bodyPr>
          <a:p>
            <a:r>
              <a:rPr lang="en-US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类别划分：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47650"/>
            <a:ext cx="10515600" cy="7112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120775"/>
            <a:ext cx="11011535" cy="5520690"/>
          </a:xfrm>
        </p:spPr>
        <p:txBody>
          <a:bodyPr>
            <a:normAutofit lnSpcReduction="10000"/>
          </a:bodyPr>
          <a:p>
            <a:r>
              <a:rPr lang="en-US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相同点：技术为主（偏系统技术）；都有社会视角分类，且分类一致；战术进攻，非常规，突破限制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不同点：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：强调开源开放，知识分享，明确反权威。比较全面和明确。例子介绍（</a:t>
            </a:r>
            <a:r>
              <a:rPr lang="en-US" altLang="zh-CN" sz="1600" b="1">
                <a:solidFill>
                  <a:srgbClr val="00B050"/>
                </a:solidFill>
              </a:rPr>
              <a:t>Linus</a:t>
            </a:r>
            <a:r>
              <a:rPr lang="zh-CN" altLang="en-US" sz="1600" b="1">
                <a:solidFill>
                  <a:srgbClr val="00B050"/>
                </a:solidFill>
              </a:rPr>
              <a:t>和</a:t>
            </a:r>
            <a:r>
              <a:rPr lang="en-US" altLang="zh-CN" sz="1600" b="1">
                <a:solidFill>
                  <a:srgbClr val="00B050"/>
                </a:solidFill>
              </a:rPr>
              <a:t>Stallman</a:t>
            </a:r>
            <a:r>
              <a:rPr lang="zh-CN" altLang="en-US" sz="1600" b="1">
                <a:solidFill>
                  <a:srgbClr val="00B050"/>
                </a:solidFill>
              </a:rPr>
              <a:t>）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千问：支持开源开放（属于技术进步的一种），但不如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明确，不如豆包全面。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豆包：更强调技术，包含了技术进步。比较全面，但不明确。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局限性：通过法律法规看价值，过度关注系统技术，没有从职业视角考虑，隐含个人崇拜概念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类别划分：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47650"/>
            <a:ext cx="10515600" cy="7112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120775"/>
            <a:ext cx="11011535" cy="5520690"/>
          </a:xfrm>
        </p:spPr>
        <p:txBody>
          <a:bodyPr>
            <a:normAutofit lnSpcReduction="10000"/>
          </a:bodyPr>
          <a:p>
            <a:r>
              <a:rPr lang="en-US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相同点：技术为主（偏系统技术）；都有社会视角分类，且分类一致；战术进攻，非常规，突破限制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不同点：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：强调开源开放，知识分享，明确反权威。比较全面和明确。例子介绍（</a:t>
            </a:r>
            <a:r>
              <a:rPr lang="en-US" altLang="zh-CN" sz="1600" b="1">
                <a:solidFill>
                  <a:srgbClr val="00B050"/>
                </a:solidFill>
              </a:rPr>
              <a:t>Linus</a:t>
            </a:r>
            <a:r>
              <a:rPr lang="zh-CN" altLang="en-US" sz="1600" b="1">
                <a:solidFill>
                  <a:srgbClr val="00B050"/>
                </a:solidFill>
              </a:rPr>
              <a:t>和</a:t>
            </a:r>
            <a:r>
              <a:rPr lang="en-US" altLang="zh-CN" sz="1600" b="1">
                <a:solidFill>
                  <a:srgbClr val="00B050"/>
                </a:solidFill>
              </a:rPr>
              <a:t>Stallman</a:t>
            </a:r>
            <a:r>
              <a:rPr lang="zh-CN" altLang="en-US" sz="1600" b="1">
                <a:solidFill>
                  <a:srgbClr val="00B050"/>
                </a:solidFill>
              </a:rPr>
              <a:t>）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千问：支持开源开放（属于技术进步的一种），但不如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明确，不如豆包全面。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豆包：更强调技术，包含了技术进步。比较全面，但不明确。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局限性：通过法律法规看价值，过度关注系统技术，没有从职业视角考虑，隐含个人崇拜概念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类别划分：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职业视角：系统专业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业务专业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辅助随机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社会视角：全副作用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正副作用混合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全正作用，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（战术进攻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战略进攻）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（战术进攻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战略防御）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技术视角：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类开发为主（正向为主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逆向为主），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类测试为主，非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类为主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47650"/>
            <a:ext cx="10515600" cy="7112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整体概述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120775"/>
            <a:ext cx="11011535" cy="5520690"/>
          </a:xfrm>
        </p:spPr>
        <p:txBody>
          <a:bodyPr>
            <a:normAutofit lnSpcReduction="10000"/>
          </a:bodyPr>
          <a:p>
            <a:r>
              <a:rPr lang="en-US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定义：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相同点：技术为主（偏系统技术）；都有社会视角分类，且分类一致；战术进攻，非常规，突破限制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不同点：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：强调开源开放，知识分享，明确反权威。比较全面和明确。例子介绍（</a:t>
            </a:r>
            <a:r>
              <a:rPr lang="en-US" altLang="zh-CN" sz="1600" b="1">
                <a:solidFill>
                  <a:srgbClr val="00B050"/>
                </a:solidFill>
              </a:rPr>
              <a:t>Linus</a:t>
            </a:r>
            <a:r>
              <a:rPr lang="zh-CN" altLang="en-US" sz="1600" b="1">
                <a:solidFill>
                  <a:srgbClr val="00B050"/>
                </a:solidFill>
              </a:rPr>
              <a:t>和</a:t>
            </a:r>
            <a:r>
              <a:rPr lang="en-US" altLang="zh-CN" sz="1600" b="1">
                <a:solidFill>
                  <a:srgbClr val="00B050"/>
                </a:solidFill>
              </a:rPr>
              <a:t>Stallman</a:t>
            </a:r>
            <a:r>
              <a:rPr lang="zh-CN" altLang="en-US" sz="1600" b="1">
                <a:solidFill>
                  <a:srgbClr val="00B050"/>
                </a:solidFill>
              </a:rPr>
              <a:t>）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千问：支持开源开放（属于技术进步的一种），但不如</a:t>
            </a:r>
            <a:r>
              <a:rPr lang="en-US" altLang="zh-CN" sz="1600" b="1">
                <a:solidFill>
                  <a:srgbClr val="00B050"/>
                </a:solidFill>
              </a:rPr>
              <a:t>deepseek</a:t>
            </a:r>
            <a:r>
              <a:rPr lang="zh-CN" altLang="en-US" sz="1600" b="1">
                <a:solidFill>
                  <a:srgbClr val="00B050"/>
                </a:solidFill>
              </a:rPr>
              <a:t>明确，不如豆包全面。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豆包：更强调技术，包含了技术进步。比较全面，但不明确。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局限性：通过法律法规看价值，过度关注系统技术，没有从职业视角考虑，隐含个人崇拜概念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类别划分：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职业视角：系统专业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业务专业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辅助随机</a:t>
            </a:r>
            <a:endParaRPr lang="zh-CN" altLang="en-US" sz="1800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社会视角：全副作用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正副作用混合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全正作用，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（战术进攻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战略进攻）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（战术进攻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战略防御）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技术视角：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类开发为主（正向为主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逆向为主），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类测试为主，非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类为主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个人理解：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专业技术娴熟，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行业相关，且从事</a:t>
            </a:r>
            <a:r>
              <a:rPr lang="zh-CN" altLang="en-US" b="1">
                <a:solidFill>
                  <a:srgbClr val="00B050"/>
                </a:solidFill>
              </a:rPr>
              <a:t>具有战术攻击性的活动，支持整体技术进步的普通人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程序员看黑客：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很多都是假冒的；就算是有些能力的，也总想找机会表现他自己，好让别人去崇拜他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如果他真的是黑客，无需让别人知道他是谁，别人也没必要知道；关键是他把他自己那一摊儿干好就得了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在技术层面，对于从设计到实现到调试都判死刑的内容，他竟然能通过非常规技术方法搞定或向前推进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黑客看程序员：自己至少是程序员（或至少可以很容易成为程序员），无需让程序员知道了解自己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职业类型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652905"/>
            <a:ext cx="11216640" cy="4351655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系统专业：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业务专业：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辅助随机：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职业类型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652905"/>
            <a:ext cx="11216640" cy="4351655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系统专业：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定义：与特定具体行业无关，专注于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行业本身；一般是战略进攻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战术进攻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分类：偏攻击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偏防御，正向为主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逆向为主，正负价值混合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负价值，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技术内影响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技术外溢出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挑战：第一是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技术难度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，第二是管理层面和商业层面的限制</a:t>
            </a:r>
            <a:r>
              <a:rPr lang="zh-CN" altLang="en-US" sz="1800" b="1">
                <a:solidFill>
                  <a:srgbClr val="00B050"/>
                </a:solidFill>
              </a:rPr>
              <a:t>，第三是个人人身安全。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业务专业：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辅助随机：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职业类型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652905"/>
            <a:ext cx="11216640" cy="4351655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系统专业：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定义：与特定具体行业无关，专注于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行业本身；一般是战略进攻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战术进攻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分类：偏攻击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偏防御，正向为主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逆向为主，正负价值混合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负价值，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技术内影响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技术外溢出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挑战：第一是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技术难度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，第二是管理层面和商业层面的限制</a:t>
            </a:r>
            <a:r>
              <a:rPr lang="zh-CN" altLang="en-US" sz="1800" b="1">
                <a:solidFill>
                  <a:srgbClr val="00B050"/>
                </a:solidFill>
              </a:rPr>
              <a:t>，第三是个人人身安全。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业务专业：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定义：与各个特定行业相关，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行业不是主体（但至少相关）；一般是战略进攻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战术进攻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分类：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偏攻击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偏防御，正向为主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逆向为主，正负价值混合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负价值，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技术外溢出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挑战：第一是个人人身安全，第二是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相关具体专业业务难度</a:t>
            </a:r>
            <a:r>
              <a:rPr lang="zh-CN" altLang="en-US" sz="1800" b="1">
                <a:solidFill>
                  <a:srgbClr val="00B050"/>
                </a:solidFill>
              </a:rPr>
              <a:t>，第三是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技术难度。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辅助随机：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职业类型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652905"/>
            <a:ext cx="11216640" cy="4351655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系统专业：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定义：与特定具体行业无关，专注于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行业本身；一般是战略进攻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战术进攻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分类：偏攻击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偏防御，正向为主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逆向为主，正负价值混合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负价值，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技术内影响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技术外溢出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挑战：第一是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技术难度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，第二是管理层面和商业层面的限制</a:t>
            </a:r>
            <a:r>
              <a:rPr lang="zh-CN" altLang="en-US" sz="1800" b="1">
                <a:solidFill>
                  <a:srgbClr val="00B050"/>
                </a:solidFill>
              </a:rPr>
              <a:t>，第三是个人人身安全。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业务专业：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定义：与各个特定行业相关，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行业不是主体（但至少相关）；一般是战略进攻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战术进攻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分类：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偏攻击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偏防御，正向为主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逆向为主，正负价值混合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负价值，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IT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技术外溢出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挑战：第一是个人人身安全，第二是相关具体专业业务难度，第三是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技术难度。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辅助随机：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定义：专注于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行业本身，只是在特殊时期和特殊环境下采取的防御措施；一般是战略防御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战术进攻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分类：偏攻击，正向为辅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逆向为主，正价值为主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正负价值混合为辅，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技术外溢出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挑战：第一是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管理或商业层面需要得到尊重和理解的限制，第二是技术难度，第三是降低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排除副作用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221740"/>
            <a:ext cx="10515600" cy="495554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通用基础：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核心素养：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成长历程：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221740"/>
            <a:ext cx="10515600" cy="495554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通用基础：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相关专业领域技术娴熟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至少涉及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正向思维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逆向思维混合切换，解决问题能力突出，习惯成体系化的思维和表达（不限于行业）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核心素养：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成长历程：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221740"/>
            <a:ext cx="10515600" cy="495554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通用基础：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相关专业领域技术娴熟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至少涉及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正向思维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逆向思维混合切换，解决问题能力突出，习惯成体系化的思维和表达（不限于行业）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核心素养：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有个人的价值观和理想，勇于正面实践去面对，容易受到外部启发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热爱某个或多个行业的科技（不限于行业），乐于与人分享，积极促进科技进步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不在意面子，能够放下架子去实践做事，执行能力强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成长历程：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程序员与黑客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221740"/>
            <a:ext cx="10515600" cy="4955540"/>
          </a:xfrm>
        </p:spPr>
        <p:txBody>
          <a:bodyPr/>
          <a:p>
            <a:r>
              <a:rPr lang="zh-CN" altLang="en-US" b="1">
                <a:solidFill>
                  <a:srgbClr val="00B050"/>
                </a:solidFill>
              </a:rPr>
              <a:t>通用基础：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相关专业领域技术娴熟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至少涉及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正向思维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逆向思维混合切换，解决问题能力突出，习惯成体系化的思维和表达（不限于行业）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核心素养：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有个人的价值观和理想，勇于正面实践去面对，容易受到外部启发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热爱某个或多个行业的科技（不限于行业），乐于与人分享，积极促进科技进步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不在意面子，能够放下架子去实践做事，执行能力强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成长历程：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初期：重点是核心素养成型，同时可能附带各类个人的负面问题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发展：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积累通用基础，不断强化核心素养，逐步对外产生影响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通用基础不断提升，核心素养到位，意识到自己的各类负面问题，对外影响不断产生波折起伏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通用基础到位，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逐步处理各类个人的负面问题，对外影响逐步稳定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成熟：处理到位个人负面问题（至少不对外产生不必要的副作用），对外影响持续相好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2630</Words>
  <Application>WPS Presentation</Application>
  <PresentationFormat>宽屏</PresentationFormat>
  <Paragraphs>186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DejaVu Sans</vt:lpstr>
      <vt:lpstr>Arial Black</vt:lpstr>
      <vt:lpstr>微软雅黑</vt:lpstr>
      <vt:lpstr>Droid Sans Fallback</vt:lpstr>
      <vt:lpstr>宋体</vt:lpstr>
      <vt:lpstr>Arial Unicode MS</vt:lpstr>
      <vt:lpstr>OpenSymbol</vt:lpstr>
      <vt:lpstr>Office Theme</vt:lpstr>
      <vt:lpstr>PowerPoint 演示文稿</vt:lpstr>
      <vt:lpstr>程序员与黑客</vt:lpstr>
      <vt:lpstr>程序员与黑客-整体概述</vt:lpstr>
      <vt:lpstr>程序员与黑客-整体概述</vt:lpstr>
      <vt:lpstr>程序员与黑客-整体概述</vt:lpstr>
      <vt:lpstr>程序员与黑客-整体概述</vt:lpstr>
      <vt:lpstr>程序员与黑客-职业类型</vt:lpstr>
      <vt:lpstr>程序员与黑客-职业类型</vt:lpstr>
      <vt:lpstr>程序员与黑客-职业类型</vt:lpstr>
      <vt:lpstr>程序员与黑客-工作职责</vt:lpstr>
      <vt:lpstr>程序员与黑客-学习培养</vt:lpstr>
      <vt:lpstr>程序员与黑客-学习培养</vt:lpstr>
      <vt:lpstr>程序员与黑客-学习培养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78</cp:revision>
  <dcterms:created xsi:type="dcterms:W3CDTF">2025-12-05T09:58:06Z</dcterms:created>
  <dcterms:modified xsi:type="dcterms:W3CDTF">2025-12-05T09:58:06Z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