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handoutMasterIdLst>
    <p:handoutMasterId r:id="rId90"/>
  </p:handoutMasterIdLst>
  <p:sldIdLst>
    <p:sldId id="256" r:id="rId3"/>
    <p:sldId id="258" r:id="rId4"/>
    <p:sldId id="767" r:id="rId5"/>
    <p:sldId id="1588" r:id="rId6"/>
    <p:sldId id="1601" r:id="rId7"/>
    <p:sldId id="1600" r:id="rId8"/>
    <p:sldId id="1599" r:id="rId9"/>
    <p:sldId id="1593" r:id="rId10"/>
    <p:sldId id="1592" r:id="rId11"/>
    <p:sldId id="1594" r:id="rId12"/>
    <p:sldId id="1598" r:id="rId14"/>
    <p:sldId id="1597" r:id="rId15"/>
    <p:sldId id="1595" r:id="rId16"/>
    <p:sldId id="1515" r:id="rId17"/>
    <p:sldId id="1443" r:id="rId18"/>
    <p:sldId id="1236" r:id="rId19"/>
    <p:sldId id="1441" r:id="rId20"/>
    <p:sldId id="1440" r:id="rId21"/>
    <p:sldId id="1372" r:id="rId22"/>
    <p:sldId id="1305" r:id="rId23"/>
    <p:sldId id="1304" r:id="rId24"/>
    <p:sldId id="1303" r:id="rId25"/>
    <p:sldId id="1302" r:id="rId26"/>
    <p:sldId id="1239" r:id="rId27"/>
    <p:sldId id="1238" r:id="rId28"/>
    <p:sldId id="1237" r:id="rId29"/>
    <p:sldId id="1175" r:id="rId30"/>
    <p:sldId id="1116" r:id="rId31"/>
    <p:sldId id="1115" r:id="rId32"/>
    <p:sldId id="1114" r:id="rId33"/>
    <p:sldId id="1113" r:id="rId34"/>
    <p:sldId id="1058" r:id="rId35"/>
    <p:sldId id="1004" r:id="rId36"/>
    <p:sldId id="1003" r:id="rId37"/>
    <p:sldId id="1002" r:id="rId38"/>
    <p:sldId id="1001" r:id="rId39"/>
    <p:sldId id="998" r:id="rId40"/>
    <p:sldId id="949" r:id="rId41"/>
    <p:sldId id="901" r:id="rId42"/>
    <p:sldId id="770" r:id="rId43"/>
    <p:sldId id="853" r:id="rId44"/>
    <p:sldId id="854" r:id="rId45"/>
    <p:sldId id="857" r:id="rId46"/>
    <p:sldId id="856" r:id="rId47"/>
    <p:sldId id="811" r:id="rId48"/>
    <p:sldId id="855" r:id="rId49"/>
    <p:sldId id="295" r:id="rId50"/>
    <p:sldId id="763" r:id="rId51"/>
    <p:sldId id="766" r:id="rId52"/>
    <p:sldId id="808" r:id="rId53"/>
    <p:sldId id="809" r:id="rId54"/>
    <p:sldId id="810" r:id="rId55"/>
    <p:sldId id="761" r:id="rId56"/>
    <p:sldId id="293" r:id="rId57"/>
    <p:sldId id="762" r:id="rId58"/>
    <p:sldId id="294" r:id="rId59"/>
    <p:sldId id="314" r:id="rId60"/>
    <p:sldId id="728" r:id="rId61"/>
    <p:sldId id="697" r:id="rId62"/>
    <p:sldId id="667" r:id="rId63"/>
    <p:sldId id="602" r:id="rId64"/>
    <p:sldId id="574" r:id="rId65"/>
    <p:sldId id="467" r:id="rId66"/>
    <p:sldId id="523" r:id="rId67"/>
    <p:sldId id="768" r:id="rId68"/>
    <p:sldId id="468" r:id="rId69"/>
    <p:sldId id="469" r:id="rId70"/>
    <p:sldId id="466" r:id="rId71"/>
    <p:sldId id="445" r:id="rId72"/>
    <p:sldId id="425" r:id="rId73"/>
    <p:sldId id="381" r:id="rId74"/>
    <p:sldId id="363" r:id="rId75"/>
    <p:sldId id="346" r:id="rId76"/>
    <p:sldId id="330" r:id="rId77"/>
    <p:sldId id="262" r:id="rId78"/>
    <p:sldId id="266" r:id="rId79"/>
    <p:sldId id="263" r:id="rId80"/>
    <p:sldId id="271" r:id="rId81"/>
    <p:sldId id="285" r:id="rId82"/>
    <p:sldId id="286" r:id="rId83"/>
    <p:sldId id="287" r:id="rId84"/>
    <p:sldId id="288" r:id="rId85"/>
    <p:sldId id="289" r:id="rId86"/>
    <p:sldId id="290" r:id="rId87"/>
    <p:sldId id="291" r:id="rId88"/>
    <p:sldId id="292" r:id="rId89"/>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00"/>
        <p:guide pos="3798"/>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3" Type="http://schemas.openxmlformats.org/officeDocument/2006/relationships/tableStyles" Target="tableStyles.xml"/><Relationship Id="rId92" Type="http://schemas.openxmlformats.org/officeDocument/2006/relationships/viewProps" Target="viewProps.xml"/><Relationship Id="rId91" Type="http://schemas.openxmlformats.org/officeDocument/2006/relationships/presProps" Target="presProps.xml"/><Relationship Id="rId90" Type="http://schemas.openxmlformats.org/officeDocument/2006/relationships/handoutMaster" Target="handoutMasters/handoutMaster1.xml"/><Relationship Id="rId9" Type="http://schemas.openxmlformats.org/officeDocument/2006/relationships/slide" Target="slides/slide7.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6.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5.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4.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notesMaster" Target="notesMasters/notesMaster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37.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38.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609600"/>
            <a:ext cx="12191365" cy="6248400"/>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pPr lvl="1"/>
            <a:r>
              <a:rPr lang="zh-CN" altLang="en-US" sz="2265"/>
              <a:t>我的</a:t>
            </a:r>
            <a:r>
              <a:rPr lang="en-US" altLang="zh-CN" sz="2265"/>
              <a:t>AI</a:t>
            </a:r>
            <a:r>
              <a:rPr lang="zh-CN" altLang="en-US" sz="2265"/>
              <a:t>语言：整体介绍</a:t>
            </a:r>
            <a:r>
              <a:rPr lang="en-US" altLang="zh-CN" sz="2265"/>
              <a:t>AI</a:t>
            </a:r>
            <a:r>
              <a:rPr lang="zh-CN" altLang="en-US" sz="2265"/>
              <a:t>语言</a:t>
            </a:r>
            <a:r>
              <a:rPr lang="en-US" altLang="zh-CN" sz="2265"/>
              <a:t>.</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程序的编译链接：编译原理的完整流程；编译器的整体结构；</a:t>
            </a:r>
            <a:r>
              <a:rPr lang="zh-CN" altLang="en-US" sz="2265">
                <a:sym typeface="+mn-ea"/>
              </a:rPr>
              <a:t>可执行文件格式，链接原理</a:t>
            </a:r>
            <a:endParaRPr lang="zh-CN" altLang="en-US" sz="2265">
              <a:sym typeface="+mn-ea"/>
            </a:endParaRPr>
          </a:p>
          <a:p>
            <a:pPr lvl="1"/>
            <a:r>
              <a:rPr lang="zh-CN" altLang="en-US" sz="2265">
                <a:sym typeface="+mn-ea"/>
              </a:rPr>
              <a:t>程序的加载运行：启动运行过程</a:t>
            </a:r>
            <a:r>
              <a:rPr lang="en-US" altLang="zh-CN" sz="2265">
                <a:sym typeface="+mn-ea"/>
              </a:rPr>
              <a:t>/</a:t>
            </a:r>
            <a:r>
              <a:rPr lang="zh-CN" altLang="en-US" sz="2265">
                <a:sym typeface="+mn-ea"/>
              </a:rPr>
              <a:t>库递归加载</a:t>
            </a:r>
            <a:r>
              <a:rPr lang="en-US" altLang="zh-CN" sz="2265">
                <a:sym typeface="+mn-ea"/>
              </a:rPr>
              <a:t>/</a:t>
            </a:r>
            <a:r>
              <a:rPr lang="zh-CN" altLang="en-US" sz="2265">
                <a:sym typeface="+mn-ea"/>
              </a:rPr>
              <a:t>运行状态</a:t>
            </a:r>
            <a:r>
              <a:rPr lang="en-US" altLang="zh-CN" sz="2265">
                <a:sym typeface="+mn-ea"/>
              </a:rPr>
              <a:t>/</a:t>
            </a:r>
            <a:r>
              <a:rPr lang="zh-CN" altLang="en-US" sz="2265">
                <a:sym typeface="+mn-ea"/>
              </a:rPr>
              <a:t>资源分布</a:t>
            </a:r>
            <a:r>
              <a:rPr lang="en-US" altLang="zh-CN" sz="2265">
                <a:sym typeface="+mn-ea"/>
              </a:rPr>
              <a:t>/</a:t>
            </a:r>
            <a:r>
              <a:rPr lang="zh-CN" altLang="en-US" sz="2265">
                <a:sym typeface="+mn-ea"/>
              </a:rPr>
              <a:t>动态加载</a:t>
            </a:r>
            <a:r>
              <a:rPr lang="en-US" altLang="zh-CN" sz="2265">
                <a:sym typeface="+mn-ea"/>
              </a:rPr>
              <a:t>/</a:t>
            </a:r>
            <a:r>
              <a:rPr lang="zh-CN" altLang="en-US" sz="2265">
                <a:sym typeface="+mn-ea"/>
              </a:rPr>
              <a:t>启动线程进程</a:t>
            </a:r>
            <a:endParaRPr lang="zh-CN" altLang="en-US" sz="2265">
              <a:sym typeface="+mn-ea"/>
            </a:endParaRPr>
          </a:p>
          <a:p>
            <a:pPr lvl="1"/>
            <a:r>
              <a:rPr lang="zh-CN" altLang="en-US" sz="2265"/>
              <a:t>程序的解释模拟：模拟原理</a:t>
            </a:r>
            <a:r>
              <a:rPr lang="en-US" altLang="zh-CN" sz="2265"/>
              <a:t>(Java/Python/QEMU/Mesa)/Qemu环境模拟/(J/P区别</a:t>
            </a:r>
            <a:r>
              <a:rPr lang="zh-CN" altLang="en-US" sz="2265"/>
              <a:t>和</a:t>
            </a:r>
            <a:r>
              <a:rPr lang="en-US" altLang="zh-CN" sz="2265"/>
              <a:t>j/pni)/AI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endParaRPr lang="zh-CN" altLang="en-US"/>
          </a:p>
          <a:p>
            <a:pPr lvl="1"/>
            <a:endParaRPr lang="zh-CN" altLang="en-US"/>
          </a:p>
          <a:p>
            <a:pPr lvl="1"/>
            <a:endParaRPr lang="zh-CN" altLang="en-US"/>
          </a:p>
          <a:p>
            <a:pPr lvl="1"/>
            <a:endParaRPr lang="zh-CN" altLang="en-US"/>
          </a:p>
          <a:p>
            <a:r>
              <a:rPr lang="zh-CN" altLang="en-US"/>
              <a:t>解释模拟：</a:t>
            </a:r>
            <a:endParaRPr lang="zh-CN" altLang="en-US"/>
          </a:p>
          <a:p>
            <a:pPr lvl="1"/>
            <a:endParaRPr lang="zh-CN" altLang="en-US" sz="1800"/>
          </a:p>
          <a:p>
            <a:pPr lvl="1"/>
            <a:endParaRPr lang="zh-CN" altLang="en-US" sz="1800"/>
          </a:p>
          <a:p>
            <a:pPr lvl="1"/>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endParaRPr lang="zh-CN" altLang="en-US" sz="1800"/>
          </a:p>
          <a:p>
            <a:pPr lvl="1"/>
            <a:endParaRPr lang="zh-CN" altLang="en-US" sz="1800"/>
          </a:p>
          <a:p>
            <a:pPr lvl="1"/>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r>
              <a:rPr lang="zh-CN" altLang="en-US" sz="1800"/>
              <a:t>指令解释：指令转译/前端+中间+后端/AOT+JIT+二者结合/优化/LLVM/AOT依旧需要虚拟机</a:t>
            </a:r>
            <a:endParaRPr lang="zh-CN" altLang="en-US" sz="1800"/>
          </a:p>
          <a:p>
            <a:pPr lvl="1"/>
            <a:r>
              <a:rPr lang="zh-CN" altLang="en-US" sz="1800"/>
              <a:t>环境模拟：线程模拟/内存对应/系统调用(普通+内核FS+内存Map)+信号处理/进线程关系/根FS</a:t>
            </a:r>
            <a:r>
              <a:rPr lang="en-US" altLang="zh-CN" sz="1800"/>
              <a:t>/</a:t>
            </a:r>
            <a:r>
              <a:rPr lang="en-US" altLang="zh-CN">
                <a:sym typeface="+mn-ea"/>
              </a:rPr>
              <a:t>QemuSystem</a:t>
            </a:r>
            <a:endParaRPr lang="zh-CN" altLang="en-US" sz="1800"/>
          </a:p>
          <a:p>
            <a:pPr lvl="1"/>
            <a:r>
              <a:rPr lang="zh-CN" altLang="en-US" sz="1800"/>
              <a:t>综合示例：qemu_static示例</a:t>
            </a:r>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r>
              <a:rPr lang="zh-CN" altLang="en-US" sz="1800"/>
              <a:t>指令解释：指令转译/前端+中间+后端/AOT+JIT+二者结合/优化/LLVM/AOT依旧需要虚拟机</a:t>
            </a:r>
            <a:endParaRPr lang="zh-CN" altLang="en-US" sz="1800"/>
          </a:p>
          <a:p>
            <a:pPr lvl="1"/>
            <a:r>
              <a:rPr lang="zh-CN" altLang="en-US" sz="1800"/>
              <a:t>环境模拟：线程模拟/内存对应/系统调用(普通+内核FS+内存Map)+信号处理/进线程关系/根FS</a:t>
            </a:r>
            <a:r>
              <a:rPr lang="en-US" altLang="zh-CN" sz="1800"/>
              <a:t>/</a:t>
            </a:r>
            <a:r>
              <a:rPr lang="en-US" altLang="zh-CN">
                <a:sym typeface="+mn-ea"/>
              </a:rPr>
              <a:t>QemuSystem</a:t>
            </a:r>
            <a:endParaRPr lang="zh-CN" altLang="en-US" sz="1800"/>
          </a:p>
          <a:p>
            <a:pPr lvl="1"/>
            <a:r>
              <a:rPr lang="zh-CN" altLang="en-US" sz="1800"/>
              <a:t>综合示例：qemu_static示例</a:t>
            </a:r>
            <a:endParaRPr lang="zh-CN" altLang="en-US" sz="1800"/>
          </a:p>
          <a:p>
            <a:pPr lvl="1"/>
            <a:endParaRPr lang="zh-CN" altLang="en-US" sz="1800"/>
          </a:p>
          <a:p>
            <a:r>
              <a:rPr lang="zh-CN" altLang="en-US"/>
              <a:t>硬虚拟化：</a:t>
            </a:r>
            <a:endParaRPr lang="zh-CN" altLang="en-US"/>
          </a:p>
          <a:p>
            <a:pPr lvl="1"/>
            <a:r>
              <a:rPr lang="zh-CN" altLang="en-US">
                <a:sym typeface="+mn-ea"/>
              </a:rPr>
              <a:t>初步介绍：同硬件架构，高性能，QemuKVM/VMWare/VirtualBox/ZArch, CPU/内存/显卡/网卡，基本原理</a:t>
            </a:r>
            <a:endParaRPr lang="zh-CN" altLang="en-US">
              <a:sym typeface="+mn-ea"/>
            </a:endParaRPr>
          </a:p>
          <a:p>
            <a:pPr lvl="1"/>
            <a:r>
              <a:rPr lang="zh-CN" altLang="en-US">
                <a:sym typeface="+mn-ea"/>
              </a:rPr>
              <a:t>硬件原理：参见PPT图进行详细说明</a:t>
            </a:r>
            <a:endParaRPr lang="zh-CN" altLang="en-US">
              <a:sym typeface="+mn-ea"/>
            </a:endParaRPr>
          </a:p>
          <a:p>
            <a:pPr lvl="1"/>
            <a:r>
              <a:rPr lang="zh-CN" altLang="en-US"/>
              <a:t>软件原理：参见PPT图进行详细说明</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414655"/>
            <a:ext cx="3819525" cy="583565"/>
          </a:xfrm>
        </p:spPr>
        <p:txBody>
          <a:bodyPr>
            <a:noAutofit/>
          </a:bodyPr>
          <a:p>
            <a:r>
              <a:rPr lang="zh-CN" altLang="en-US" sz="3600"/>
              <a:t>硬件虚拟化原理</a:t>
            </a:r>
            <a:endParaRPr lang="en-US" altLang="zh-CN" sz="3600"/>
          </a:p>
        </p:txBody>
      </p:sp>
      <p:sp>
        <p:nvSpPr>
          <p:cNvPr id="5" name="Rectangles 4"/>
          <p:cNvSpPr/>
          <p:nvPr/>
        </p:nvSpPr>
        <p:spPr>
          <a:xfrm>
            <a:off x="683895" y="1674495"/>
            <a:ext cx="913130" cy="230949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rPr>
              <a:t>CPU</a:t>
            </a:r>
            <a:endParaRPr lang="en-US" b="1">
              <a:solidFill>
                <a:schemeClr val="tx1"/>
              </a:solidFill>
            </a:endParaRPr>
          </a:p>
        </p:txBody>
      </p:sp>
      <p:sp>
        <p:nvSpPr>
          <p:cNvPr id="6" name="Rectangles 5"/>
          <p:cNvSpPr/>
          <p:nvPr/>
        </p:nvSpPr>
        <p:spPr>
          <a:xfrm>
            <a:off x="3305810" y="2375535"/>
            <a:ext cx="1620520" cy="2849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普通内存</a:t>
            </a:r>
            <a:endParaRPr lang="zh-CN" altLang="en-US" b="1">
              <a:solidFill>
                <a:schemeClr val="tx1"/>
              </a:solidFill>
            </a:endParaRPr>
          </a:p>
        </p:txBody>
      </p:sp>
      <p:sp>
        <p:nvSpPr>
          <p:cNvPr id="7" name="Rectangles 6"/>
          <p:cNvSpPr/>
          <p:nvPr/>
        </p:nvSpPr>
        <p:spPr>
          <a:xfrm>
            <a:off x="1597025" y="3519170"/>
            <a:ext cx="1087120" cy="464820"/>
          </a:xfrm>
          <a:prstGeom prst="rect">
            <a:avLst/>
          </a:prstGeom>
          <a:solidFill>
            <a:schemeClr val="accent4">
              <a:alpha val="53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10" name="Rectangles 9"/>
          <p:cNvSpPr/>
          <p:nvPr/>
        </p:nvSpPr>
        <p:spPr>
          <a:xfrm>
            <a:off x="5580380" y="2760345"/>
            <a:ext cx="1173480" cy="132016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4" name="Rectangles 13"/>
          <p:cNvSpPr/>
          <p:nvPr/>
        </p:nvSpPr>
        <p:spPr>
          <a:xfrm>
            <a:off x="3305810" y="1674495"/>
            <a:ext cx="1620520" cy="7194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内存映射</a:t>
            </a:r>
            <a:endParaRPr lang="zh-CN" altLang="en-US" b="1">
              <a:solidFill>
                <a:schemeClr val="tx1"/>
              </a:solidFill>
            </a:endParaRPr>
          </a:p>
          <a:p>
            <a:pPr algn="ctr"/>
            <a:r>
              <a:rPr lang="zh-CN" altLang="en-US" b="1">
                <a:solidFill>
                  <a:schemeClr val="tx1"/>
                </a:solidFill>
              </a:rPr>
              <a:t>中断控制器</a:t>
            </a:r>
            <a:endParaRPr lang="zh-CN" altLang="en-US" b="1">
              <a:solidFill>
                <a:schemeClr val="tx1"/>
              </a:solidFill>
            </a:endParaRPr>
          </a:p>
        </p:txBody>
      </p:sp>
      <p:sp>
        <p:nvSpPr>
          <p:cNvPr id="15" name="Rectangles 14"/>
          <p:cNvSpPr/>
          <p:nvPr/>
        </p:nvSpPr>
        <p:spPr>
          <a:xfrm>
            <a:off x="10754360" y="1674495"/>
            <a:ext cx="1102360" cy="35509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24" name="Straight Arrow Connector 23"/>
          <p:cNvCxnSpPr/>
          <p:nvPr/>
        </p:nvCxnSpPr>
        <p:spPr>
          <a:xfrm>
            <a:off x="2684145" y="3748405"/>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4939665" y="3716020"/>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14" idx="3"/>
          </p:cNvCxnSpPr>
          <p:nvPr/>
        </p:nvCxnSpPr>
        <p:spPr>
          <a:xfrm>
            <a:off x="4926330" y="2034540"/>
            <a:ext cx="666750" cy="7404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1607820" y="1964690"/>
            <a:ext cx="1687195" cy="508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4945380" y="1867535"/>
            <a:ext cx="5788660" cy="10795"/>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 name="Straight Arrow Connector 2"/>
          <p:cNvCxnSpPr/>
          <p:nvPr/>
        </p:nvCxnSpPr>
        <p:spPr>
          <a:xfrm flipV="1">
            <a:off x="6751320" y="3368675"/>
            <a:ext cx="3993515" cy="19050"/>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414655"/>
            <a:ext cx="3819525" cy="583565"/>
          </a:xfrm>
        </p:spPr>
        <p:txBody>
          <a:bodyPr>
            <a:noAutofit/>
          </a:bodyPr>
          <a:p>
            <a:r>
              <a:rPr lang="zh-CN" altLang="en-US" sz="3600"/>
              <a:t>硬件虚拟化原理</a:t>
            </a:r>
            <a:endParaRPr lang="en-US" altLang="zh-CN" sz="3600"/>
          </a:p>
        </p:txBody>
      </p:sp>
      <p:sp>
        <p:nvSpPr>
          <p:cNvPr id="5" name="Rectangles 4"/>
          <p:cNvSpPr/>
          <p:nvPr/>
        </p:nvSpPr>
        <p:spPr>
          <a:xfrm>
            <a:off x="683895" y="1674495"/>
            <a:ext cx="913130" cy="230949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rPr>
              <a:t>CPU</a:t>
            </a:r>
            <a:endParaRPr lang="en-US" b="1">
              <a:solidFill>
                <a:schemeClr val="tx1"/>
              </a:solidFill>
            </a:endParaRPr>
          </a:p>
        </p:txBody>
      </p:sp>
      <p:sp>
        <p:nvSpPr>
          <p:cNvPr id="6" name="Rectangles 5"/>
          <p:cNvSpPr/>
          <p:nvPr/>
        </p:nvSpPr>
        <p:spPr>
          <a:xfrm>
            <a:off x="3305810" y="2375535"/>
            <a:ext cx="1620520" cy="2849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普通内存</a:t>
            </a:r>
            <a:endParaRPr lang="zh-CN" altLang="en-US" b="1">
              <a:solidFill>
                <a:schemeClr val="tx1"/>
              </a:solidFill>
            </a:endParaRPr>
          </a:p>
        </p:txBody>
      </p:sp>
      <p:sp>
        <p:nvSpPr>
          <p:cNvPr id="7" name="Rectangles 6"/>
          <p:cNvSpPr/>
          <p:nvPr/>
        </p:nvSpPr>
        <p:spPr>
          <a:xfrm>
            <a:off x="1597025" y="3519170"/>
            <a:ext cx="1087120" cy="46482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8" name="Rectangles 7"/>
          <p:cNvSpPr/>
          <p:nvPr/>
        </p:nvSpPr>
        <p:spPr>
          <a:xfrm>
            <a:off x="1597025" y="2374900"/>
            <a:ext cx="1087120" cy="5511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扩展指令</a:t>
            </a:r>
            <a:endParaRPr lang="zh-CN" altLang="en-US" sz="1600" b="1">
              <a:solidFill>
                <a:schemeClr val="tx1"/>
              </a:solidFill>
            </a:endParaRPr>
          </a:p>
        </p:txBody>
      </p:sp>
      <p:sp>
        <p:nvSpPr>
          <p:cNvPr id="9" name="Rectangles 8"/>
          <p:cNvSpPr/>
          <p:nvPr/>
        </p:nvSpPr>
        <p:spPr>
          <a:xfrm>
            <a:off x="1597025" y="2947035"/>
            <a:ext cx="1087120" cy="5511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运行级别</a:t>
            </a:r>
            <a:endParaRPr lang="zh-CN" altLang="en-US" sz="1600" b="1">
              <a:solidFill>
                <a:schemeClr val="tx1"/>
              </a:solidFill>
            </a:endParaRPr>
          </a:p>
        </p:txBody>
      </p:sp>
      <p:sp>
        <p:nvSpPr>
          <p:cNvPr id="10" name="Rectangles 9"/>
          <p:cNvSpPr/>
          <p:nvPr/>
        </p:nvSpPr>
        <p:spPr>
          <a:xfrm>
            <a:off x="5580380" y="2760345"/>
            <a:ext cx="1173480" cy="1320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1" name="Rectangles 10"/>
          <p:cNvSpPr/>
          <p:nvPr/>
        </p:nvSpPr>
        <p:spPr>
          <a:xfrm>
            <a:off x="6753860" y="2760345"/>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隔离</a:t>
            </a:r>
            <a:endParaRPr lang="zh-CN" altLang="en-US" b="1">
              <a:solidFill>
                <a:schemeClr val="tx1"/>
              </a:solidFill>
            </a:endParaRPr>
          </a:p>
        </p:txBody>
      </p:sp>
      <p:sp>
        <p:nvSpPr>
          <p:cNvPr id="12" name="Rectangles 11"/>
          <p:cNvSpPr/>
          <p:nvPr/>
        </p:nvSpPr>
        <p:spPr>
          <a:xfrm>
            <a:off x="6753860" y="3202940"/>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交互</a:t>
            </a:r>
            <a:endParaRPr lang="zh-CN" altLang="en-US" b="1">
              <a:solidFill>
                <a:schemeClr val="tx1"/>
              </a:solidFill>
            </a:endParaRPr>
          </a:p>
        </p:txBody>
      </p:sp>
      <p:sp>
        <p:nvSpPr>
          <p:cNvPr id="13" name="Rectangles 12"/>
          <p:cNvSpPr/>
          <p:nvPr/>
        </p:nvSpPr>
        <p:spPr>
          <a:xfrm>
            <a:off x="6753860" y="3637915"/>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恢复</a:t>
            </a:r>
            <a:endParaRPr lang="zh-CN" altLang="en-US" b="1">
              <a:solidFill>
                <a:schemeClr val="tx1"/>
              </a:solidFill>
            </a:endParaRPr>
          </a:p>
        </p:txBody>
      </p:sp>
      <p:sp>
        <p:nvSpPr>
          <p:cNvPr id="14" name="Rectangles 13"/>
          <p:cNvSpPr/>
          <p:nvPr/>
        </p:nvSpPr>
        <p:spPr>
          <a:xfrm>
            <a:off x="3305810" y="1674495"/>
            <a:ext cx="1620520" cy="7194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内存映射</a:t>
            </a:r>
            <a:endParaRPr lang="zh-CN" altLang="en-US" b="1">
              <a:solidFill>
                <a:schemeClr val="tx1"/>
              </a:solidFill>
            </a:endParaRPr>
          </a:p>
          <a:p>
            <a:pPr algn="ctr"/>
            <a:r>
              <a:rPr lang="zh-CN" altLang="en-US" b="1">
                <a:solidFill>
                  <a:schemeClr val="tx1"/>
                </a:solidFill>
              </a:rPr>
              <a:t>中断控制器</a:t>
            </a:r>
            <a:endParaRPr lang="zh-CN" altLang="en-US" b="1">
              <a:solidFill>
                <a:schemeClr val="tx1"/>
              </a:solidFill>
            </a:endParaRPr>
          </a:p>
        </p:txBody>
      </p:sp>
      <p:sp>
        <p:nvSpPr>
          <p:cNvPr id="15" name="Rectangles 14"/>
          <p:cNvSpPr/>
          <p:nvPr/>
        </p:nvSpPr>
        <p:spPr>
          <a:xfrm>
            <a:off x="10754360" y="1674495"/>
            <a:ext cx="1102360" cy="35509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16" name="Rectangles 15"/>
          <p:cNvSpPr/>
          <p:nvPr/>
        </p:nvSpPr>
        <p:spPr>
          <a:xfrm>
            <a:off x="7611745" y="2764155"/>
            <a:ext cx="204470" cy="1320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en-US" altLang="zh-CN" b="1">
              <a:solidFill>
                <a:schemeClr val="tx1"/>
              </a:solidFill>
            </a:endParaRPr>
          </a:p>
        </p:txBody>
      </p:sp>
      <p:sp>
        <p:nvSpPr>
          <p:cNvPr id="17" name="Rectangles 16"/>
          <p:cNvSpPr/>
          <p:nvPr/>
        </p:nvSpPr>
        <p:spPr>
          <a:xfrm>
            <a:off x="8427720" y="2127250"/>
            <a:ext cx="232600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存储控制器</a:t>
            </a:r>
            <a:r>
              <a:rPr lang="en-US" altLang="zh-CN" sz="1600" b="1">
                <a:solidFill>
                  <a:schemeClr val="tx1"/>
                </a:solidFill>
              </a:rPr>
              <a:t>(</a:t>
            </a:r>
            <a:r>
              <a:rPr lang="zh-CN" altLang="en-US" sz="1600" b="1">
                <a:solidFill>
                  <a:schemeClr val="tx1"/>
                </a:solidFill>
              </a:rPr>
              <a:t>存储</a:t>
            </a:r>
            <a:r>
              <a:rPr lang="en-US" altLang="zh-CN" sz="1600" b="1">
                <a:solidFill>
                  <a:schemeClr val="tx1"/>
                </a:solidFill>
              </a:rPr>
              <a:t>)</a:t>
            </a:r>
            <a:endParaRPr lang="en-US" altLang="zh-CN" sz="1600" b="1">
              <a:solidFill>
                <a:schemeClr val="tx1"/>
              </a:solidFill>
            </a:endParaRPr>
          </a:p>
        </p:txBody>
      </p:sp>
      <p:sp>
        <p:nvSpPr>
          <p:cNvPr id="18" name="Rectangles 17"/>
          <p:cNvSpPr/>
          <p:nvPr/>
        </p:nvSpPr>
        <p:spPr>
          <a:xfrm>
            <a:off x="8428355" y="2569845"/>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USB</a:t>
            </a:r>
            <a:r>
              <a:rPr lang="zh-CN" altLang="en-US" sz="1600" b="1">
                <a:solidFill>
                  <a:schemeClr val="tx1"/>
                </a:solidFill>
              </a:rPr>
              <a:t>控制器</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sp>
        <p:nvSpPr>
          <p:cNvPr id="19" name="Rectangles 18"/>
          <p:cNvSpPr/>
          <p:nvPr/>
        </p:nvSpPr>
        <p:spPr>
          <a:xfrm>
            <a:off x="8427085" y="3012440"/>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sp>
        <p:nvSpPr>
          <p:cNvPr id="20" name="Rectangles 19"/>
          <p:cNvSpPr/>
          <p:nvPr/>
        </p:nvSpPr>
        <p:spPr>
          <a:xfrm>
            <a:off x="8427085" y="3455035"/>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图形</a:t>
            </a:r>
            <a:r>
              <a:rPr lang="en-US" altLang="zh-CN" sz="1600" b="1">
                <a:solidFill>
                  <a:schemeClr val="tx1"/>
                </a:solidFill>
              </a:rPr>
              <a:t>/</a:t>
            </a:r>
            <a:r>
              <a:rPr lang="zh-CN" altLang="en-US" sz="1600" b="1">
                <a:solidFill>
                  <a:schemeClr val="tx1"/>
                </a:solidFill>
              </a:rPr>
              <a:t>计算</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1" name="Rectangles 20"/>
          <p:cNvSpPr/>
          <p:nvPr/>
        </p:nvSpPr>
        <p:spPr>
          <a:xfrm>
            <a:off x="8427085" y="3897630"/>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音频</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2" name="Rectangles 21"/>
          <p:cNvSpPr/>
          <p:nvPr/>
        </p:nvSpPr>
        <p:spPr>
          <a:xfrm>
            <a:off x="8427085" y="4340225"/>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专用加速卡</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3" name="Rectangles 22"/>
          <p:cNvSpPr/>
          <p:nvPr/>
        </p:nvSpPr>
        <p:spPr>
          <a:xfrm>
            <a:off x="8427720" y="4782820"/>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串</a:t>
            </a:r>
            <a:r>
              <a:rPr lang="en-US" altLang="zh-CN" sz="1600" b="1">
                <a:solidFill>
                  <a:schemeClr val="tx1"/>
                </a:solidFill>
              </a:rPr>
              <a:t>/</a:t>
            </a:r>
            <a:r>
              <a:rPr lang="zh-CN" altLang="en-US" sz="1600" b="1">
                <a:solidFill>
                  <a:schemeClr val="tx1"/>
                </a:solidFill>
              </a:rPr>
              <a:t>并口控制器</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cxnSp>
        <p:nvCxnSpPr>
          <p:cNvPr id="24" name="Straight Arrow Connector 23"/>
          <p:cNvCxnSpPr/>
          <p:nvPr/>
        </p:nvCxnSpPr>
        <p:spPr>
          <a:xfrm>
            <a:off x="2684145" y="3748405"/>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4939665" y="3716020"/>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14" idx="3"/>
          </p:cNvCxnSpPr>
          <p:nvPr/>
        </p:nvCxnSpPr>
        <p:spPr>
          <a:xfrm>
            <a:off x="4926330" y="2034540"/>
            <a:ext cx="666750" cy="7404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16" idx="3"/>
            <a:endCxn id="17" idx="1"/>
          </p:cNvCxnSpPr>
          <p:nvPr/>
        </p:nvCxnSpPr>
        <p:spPr>
          <a:xfrm flipV="1">
            <a:off x="7816215" y="2348865"/>
            <a:ext cx="611505" cy="10756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endCxn id="18" idx="1"/>
          </p:cNvCxnSpPr>
          <p:nvPr/>
        </p:nvCxnSpPr>
        <p:spPr>
          <a:xfrm flipV="1">
            <a:off x="7828915" y="2791460"/>
            <a:ext cx="599440" cy="6311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a:endCxn id="19" idx="1"/>
          </p:cNvCxnSpPr>
          <p:nvPr/>
        </p:nvCxnSpPr>
        <p:spPr>
          <a:xfrm flipV="1">
            <a:off x="7850505" y="3234055"/>
            <a:ext cx="576580" cy="1885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16" idx="3"/>
            <a:endCxn id="20" idx="1"/>
          </p:cNvCxnSpPr>
          <p:nvPr/>
        </p:nvCxnSpPr>
        <p:spPr>
          <a:xfrm>
            <a:off x="7816215" y="3424555"/>
            <a:ext cx="610870" cy="2520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endCxn id="21" idx="1"/>
          </p:cNvCxnSpPr>
          <p:nvPr/>
        </p:nvCxnSpPr>
        <p:spPr>
          <a:xfrm>
            <a:off x="7818120" y="3411855"/>
            <a:ext cx="608965" cy="7073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a:endCxn id="22" idx="1"/>
          </p:cNvCxnSpPr>
          <p:nvPr/>
        </p:nvCxnSpPr>
        <p:spPr>
          <a:xfrm>
            <a:off x="7839710" y="3465830"/>
            <a:ext cx="587375" cy="10960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a:off x="7839710" y="3401060"/>
            <a:ext cx="586740" cy="160337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1607820" y="1964690"/>
            <a:ext cx="1687195" cy="508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4945380" y="1867535"/>
            <a:ext cx="5788660" cy="10795"/>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1" name="Rectangles 40"/>
          <p:cNvSpPr/>
          <p:nvPr/>
        </p:nvSpPr>
        <p:spPr>
          <a:xfrm>
            <a:off x="2125980" y="5432425"/>
            <a:ext cx="311531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KVM</a:t>
            </a:r>
            <a:endParaRPr lang="en-US" altLang="zh-CN"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44" name="Rectangles 43"/>
          <p:cNvSpPr/>
          <p:nvPr/>
        </p:nvSpPr>
        <p:spPr>
          <a:xfrm>
            <a:off x="5443220" y="5065395"/>
            <a:ext cx="117348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VFIO</a:t>
            </a:r>
            <a:endParaRPr lang="en-US" altLang="zh-CN" b="1">
              <a:solidFill>
                <a:schemeClr val="tx1"/>
              </a:solidFill>
            </a:endParaRPr>
          </a:p>
        </p:txBody>
      </p:sp>
      <p:sp>
        <p:nvSpPr>
          <p:cNvPr id="45" name="Rectangles 44"/>
          <p:cNvSpPr/>
          <p:nvPr/>
        </p:nvSpPr>
        <p:spPr>
          <a:xfrm>
            <a:off x="6818630" y="5075555"/>
            <a:ext cx="117348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VirtIO</a:t>
            </a:r>
            <a:endParaRPr lang="en-US" altLang="zh-CN" b="1">
              <a:solidFill>
                <a:schemeClr val="tx1"/>
              </a:solidFill>
            </a:endParaRPr>
          </a:p>
        </p:txBody>
      </p:sp>
      <p:sp>
        <p:nvSpPr>
          <p:cNvPr id="46" name="Rectangles 45"/>
          <p:cNvSpPr/>
          <p:nvPr/>
        </p:nvSpPr>
        <p:spPr>
          <a:xfrm>
            <a:off x="8114665" y="5075555"/>
            <a:ext cx="192659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brige/tun/tap</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5" name="Rectangles 54"/>
          <p:cNvSpPr/>
          <p:nvPr/>
        </p:nvSpPr>
        <p:spPr>
          <a:xfrm>
            <a:off x="2112010" y="5056505"/>
            <a:ext cx="312674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虚拟化扩展指令</a:t>
            </a:r>
            <a:r>
              <a:rPr lang="en-US" altLang="zh-CN" b="1">
                <a:solidFill>
                  <a:schemeClr val="tx1"/>
                </a:solidFill>
              </a:rPr>
              <a:t>/</a:t>
            </a:r>
            <a:r>
              <a:rPr lang="zh-CN" altLang="en-US" b="1">
                <a:solidFill>
                  <a:schemeClr val="tx1"/>
                </a:solidFill>
              </a:rPr>
              <a:t>运行级别</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58" name="Straight Arrow Connector 57"/>
          <p:cNvCxnSpPr>
            <a:endCxn id="50" idx="2"/>
          </p:cNvCxnSpPr>
          <p:nvPr/>
        </p:nvCxnSpPr>
        <p:spPr>
          <a:xfrm flipV="1">
            <a:off x="2459355" y="4171950"/>
            <a:ext cx="635" cy="92456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a:stCxn id="44" idx="0"/>
            <a:endCxn id="56" idx="2"/>
          </p:cNvCxnSpPr>
          <p:nvPr/>
        </p:nvCxnSpPr>
        <p:spPr>
          <a:xfrm flipV="1">
            <a:off x="6029960" y="4152265"/>
            <a:ext cx="1538605" cy="91313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a:stCxn id="45" idx="0"/>
            <a:endCxn id="56" idx="2"/>
          </p:cNvCxnSpPr>
          <p:nvPr/>
        </p:nvCxnSpPr>
        <p:spPr>
          <a:xfrm flipV="1">
            <a:off x="7405370" y="4152265"/>
            <a:ext cx="1631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a:stCxn id="46" idx="0"/>
            <a:endCxn id="56" idx="2"/>
          </p:cNvCxnSpPr>
          <p:nvPr/>
        </p:nvCxnSpPr>
        <p:spPr>
          <a:xfrm flipH="1" flipV="1">
            <a:off x="7568565" y="4152265"/>
            <a:ext cx="15093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1" name="Rectangles 40"/>
          <p:cNvSpPr/>
          <p:nvPr/>
        </p:nvSpPr>
        <p:spPr>
          <a:xfrm>
            <a:off x="2125980" y="5432425"/>
            <a:ext cx="311531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KVM</a:t>
            </a:r>
            <a:endParaRPr lang="en-US" altLang="zh-CN"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44" name="Rectangles 43"/>
          <p:cNvSpPr/>
          <p:nvPr/>
        </p:nvSpPr>
        <p:spPr>
          <a:xfrm>
            <a:off x="5443220" y="5065395"/>
            <a:ext cx="117348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VFIO</a:t>
            </a:r>
            <a:endParaRPr lang="en-US" altLang="zh-CN" b="1">
              <a:solidFill>
                <a:schemeClr val="tx1"/>
              </a:solidFill>
            </a:endParaRPr>
          </a:p>
        </p:txBody>
      </p:sp>
      <p:sp>
        <p:nvSpPr>
          <p:cNvPr id="45" name="Rectangles 44"/>
          <p:cNvSpPr/>
          <p:nvPr/>
        </p:nvSpPr>
        <p:spPr>
          <a:xfrm>
            <a:off x="6818630" y="5075555"/>
            <a:ext cx="117348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VirtIO</a:t>
            </a:r>
            <a:endParaRPr lang="en-US" altLang="zh-CN" b="1">
              <a:solidFill>
                <a:schemeClr val="tx1"/>
              </a:solidFill>
            </a:endParaRPr>
          </a:p>
        </p:txBody>
      </p:sp>
      <p:sp>
        <p:nvSpPr>
          <p:cNvPr id="46" name="Rectangles 45"/>
          <p:cNvSpPr/>
          <p:nvPr/>
        </p:nvSpPr>
        <p:spPr>
          <a:xfrm>
            <a:off x="8114665" y="5075555"/>
            <a:ext cx="192659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brige/tun/tap</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5" name="Rectangles 54"/>
          <p:cNvSpPr/>
          <p:nvPr/>
        </p:nvSpPr>
        <p:spPr>
          <a:xfrm>
            <a:off x="2112010" y="5056505"/>
            <a:ext cx="312674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虚拟化扩展指令</a:t>
            </a:r>
            <a:r>
              <a:rPr lang="en-US" altLang="zh-CN" b="1">
                <a:solidFill>
                  <a:schemeClr val="tx1"/>
                </a:solidFill>
              </a:rPr>
              <a:t>/</a:t>
            </a:r>
            <a:r>
              <a:rPr lang="zh-CN" altLang="en-US" b="1">
                <a:solidFill>
                  <a:schemeClr val="tx1"/>
                </a:solidFill>
              </a:rPr>
              <a:t>运行级别</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58" name="Straight Arrow Connector 57"/>
          <p:cNvCxnSpPr>
            <a:endCxn id="50" idx="2"/>
          </p:cNvCxnSpPr>
          <p:nvPr/>
        </p:nvCxnSpPr>
        <p:spPr>
          <a:xfrm flipV="1">
            <a:off x="2459355" y="4171950"/>
            <a:ext cx="635" cy="92456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a:stCxn id="44" idx="0"/>
            <a:endCxn id="56" idx="2"/>
          </p:cNvCxnSpPr>
          <p:nvPr/>
        </p:nvCxnSpPr>
        <p:spPr>
          <a:xfrm flipV="1">
            <a:off x="6029960" y="4152265"/>
            <a:ext cx="1538605" cy="91313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a:stCxn id="45" idx="0"/>
            <a:endCxn id="56" idx="2"/>
          </p:cNvCxnSpPr>
          <p:nvPr/>
        </p:nvCxnSpPr>
        <p:spPr>
          <a:xfrm flipV="1">
            <a:off x="7405370" y="4152265"/>
            <a:ext cx="1631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a:stCxn id="46" idx="0"/>
            <a:endCxn id="56" idx="2"/>
          </p:cNvCxnSpPr>
          <p:nvPr/>
        </p:nvCxnSpPr>
        <p:spPr>
          <a:xfrm flipH="1" flipV="1">
            <a:off x="7568565" y="4152265"/>
            <a:ext cx="15093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6" name="Rectangles 5"/>
          <p:cNvSpPr/>
          <p:nvPr/>
        </p:nvSpPr>
        <p:spPr>
          <a:xfrm>
            <a:off x="678180" y="3221355"/>
            <a:ext cx="937895" cy="11747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VCPU</a:t>
            </a:r>
            <a:endParaRPr lang="en-US" altLang="zh-CN" b="1">
              <a:solidFill>
                <a:schemeClr val="tx1"/>
              </a:solidFill>
            </a:endParaRPr>
          </a:p>
          <a:p>
            <a:pPr algn="ctr"/>
            <a:r>
              <a:rPr lang="zh-CN" altLang="en-US" b="1">
                <a:solidFill>
                  <a:schemeClr val="tx1"/>
                </a:solidFill>
              </a:rPr>
              <a:t>线程组</a:t>
            </a:r>
            <a:endParaRPr lang="zh-CN" altLang="en-US" b="1">
              <a:solidFill>
                <a:schemeClr val="tx1"/>
              </a:solidFill>
            </a:endParaRPr>
          </a:p>
        </p:txBody>
      </p:sp>
      <p:sp>
        <p:nvSpPr>
          <p:cNvPr id="7" name="Rectangles 6"/>
          <p:cNvSpPr/>
          <p:nvPr/>
        </p:nvSpPr>
        <p:spPr>
          <a:xfrm>
            <a:off x="9487535" y="2204085"/>
            <a:ext cx="463550" cy="21894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设备模拟线程组</a:t>
            </a:r>
            <a:endParaRPr lang="zh-CN" altLang="en-US" b="1">
              <a:solidFill>
                <a:schemeClr val="tx1"/>
              </a:solidFill>
            </a:endParaRPr>
          </a:p>
        </p:txBody>
      </p:sp>
      <p:sp>
        <p:nvSpPr>
          <p:cNvPr id="8" name="Rectangles 7"/>
          <p:cNvSpPr/>
          <p:nvPr/>
        </p:nvSpPr>
        <p:spPr>
          <a:xfrm>
            <a:off x="8325485" y="1391920"/>
            <a:ext cx="1647190" cy="431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线程组</a:t>
            </a:r>
            <a:endParaRPr lang="en-US" altLang="zh-CN" b="1">
              <a:solidFill>
                <a:schemeClr val="tx1"/>
              </a:solidFill>
            </a:endParaRPr>
          </a:p>
        </p:txBody>
      </p:sp>
      <p:sp>
        <p:nvSpPr>
          <p:cNvPr id="9" name="Rectangles 8"/>
          <p:cNvSpPr/>
          <p:nvPr/>
        </p:nvSpPr>
        <p:spPr>
          <a:xfrm>
            <a:off x="678180" y="2139315"/>
            <a:ext cx="1114425"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监控线程</a:t>
            </a:r>
            <a:endParaRPr lang="zh-CN" altLang="en-US" b="1">
              <a:solidFill>
                <a:schemeClr val="tx1"/>
              </a:solidFill>
            </a:endParaRPr>
          </a:p>
        </p:txBody>
      </p:sp>
      <p:sp>
        <p:nvSpPr>
          <p:cNvPr id="10" name="Rectangles 9"/>
          <p:cNvSpPr/>
          <p:nvPr/>
        </p:nvSpPr>
        <p:spPr>
          <a:xfrm>
            <a:off x="678815" y="867410"/>
            <a:ext cx="111379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主线程</a:t>
            </a:r>
            <a:endParaRPr lang="zh-CN" altLang="en-US" b="1">
              <a:solidFill>
                <a:schemeClr val="tx1"/>
              </a:solidFill>
            </a:endParaRPr>
          </a:p>
          <a:p>
            <a:pPr algn="ctr"/>
            <a:r>
              <a:rPr lang="zh-CN" altLang="en-US" b="1">
                <a:solidFill>
                  <a:schemeClr val="tx1"/>
                </a:solidFill>
              </a:rPr>
              <a:t>全局协调</a:t>
            </a:r>
            <a:endParaRPr lang="zh-CN" altLang="en-US"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
        <p:nvSpPr>
          <p:cNvPr id="18" name="Rectangles 17"/>
          <p:cNvSpPr/>
          <p:nvPr/>
        </p:nvSpPr>
        <p:spPr>
          <a:xfrm>
            <a:off x="10661015" y="1902460"/>
            <a:ext cx="1127760" cy="8293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调试器</a:t>
            </a:r>
            <a:endParaRPr lang="zh-CN" altLang="en-US" b="1">
              <a:solidFill>
                <a:schemeClr val="tx1"/>
              </a:solidFill>
            </a:endParaRPr>
          </a:p>
          <a:p>
            <a:pPr algn="ctr"/>
            <a:r>
              <a:rPr lang="en-US" altLang="zh-CN" b="1">
                <a:solidFill>
                  <a:schemeClr val="tx1"/>
                </a:solidFill>
              </a:rPr>
              <a:t>attach</a:t>
            </a:r>
            <a:endParaRPr lang="en-US" altLang="zh-CN" b="1">
              <a:solidFill>
                <a:schemeClr val="tx1"/>
              </a:solidFill>
            </a:endParaRPr>
          </a:p>
        </p:txBody>
      </p:sp>
      <p:cxnSp>
        <p:nvCxnSpPr>
          <p:cNvPr id="19" name="Straight Arrow Connector 18"/>
          <p:cNvCxnSpPr/>
          <p:nvPr/>
        </p:nvCxnSpPr>
        <p:spPr>
          <a:xfrm flipV="1">
            <a:off x="10128885" y="2364105"/>
            <a:ext cx="497205" cy="107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0" name="Rectangles 19"/>
          <p:cNvSpPr/>
          <p:nvPr/>
        </p:nvSpPr>
        <p:spPr>
          <a:xfrm>
            <a:off x="8325485" y="867410"/>
            <a:ext cx="1636395" cy="45974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调试辅助线程</a:t>
            </a:r>
            <a:endParaRPr lang="zh-CN" altLang="en-US" b="1">
              <a:solidFill>
                <a:schemeClr val="tx1"/>
              </a:solidFill>
            </a:endParaRPr>
          </a:p>
        </p:txBody>
      </p:sp>
      <p:sp>
        <p:nvSpPr>
          <p:cNvPr id="21" name="Rectangles 20"/>
          <p:cNvSpPr/>
          <p:nvPr/>
        </p:nvSpPr>
        <p:spPr>
          <a:xfrm>
            <a:off x="10661015" y="679450"/>
            <a:ext cx="1127760" cy="8293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调试器</a:t>
            </a:r>
            <a:endParaRPr lang="zh-CN" altLang="en-US" b="1">
              <a:solidFill>
                <a:schemeClr val="tx1"/>
              </a:solidFill>
            </a:endParaRPr>
          </a:p>
          <a:p>
            <a:pPr algn="ctr"/>
            <a:r>
              <a:rPr lang="zh-CN" altLang="en-US" b="1">
                <a:solidFill>
                  <a:schemeClr val="tx1"/>
                </a:solidFill>
              </a:rPr>
              <a:t>目标机</a:t>
            </a:r>
            <a:endParaRPr lang="zh-CN" altLang="en-US" b="1">
              <a:solidFill>
                <a:schemeClr val="tx1"/>
              </a:solidFill>
            </a:endParaRPr>
          </a:p>
        </p:txBody>
      </p:sp>
      <p:cxnSp>
        <p:nvCxnSpPr>
          <p:cNvPr id="22" name="Straight Arrow Connector 21"/>
          <p:cNvCxnSpPr>
            <a:stCxn id="20" idx="3"/>
            <a:endCxn id="21" idx="1"/>
          </p:cNvCxnSpPr>
          <p:nvPr/>
        </p:nvCxnSpPr>
        <p:spPr>
          <a:xfrm flipV="1">
            <a:off x="9961880" y="1094105"/>
            <a:ext cx="699135" cy="317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r>
              <a:rPr lang="zh-CN" altLang="en-US">
                <a:sym typeface="+mn-ea"/>
              </a:rPr>
              <a:t>普通加载：触发/内核(do_fork/exec)/加载器(ld-linux/qemu_static)/加载程序/加载关联库/动态加载，内核模块</a:t>
            </a:r>
            <a:endParaRPr lang="zh-CN" altLang="en-US">
              <a:sym typeface="+mn-ea"/>
            </a:endParaRPr>
          </a:p>
          <a:p>
            <a:pPr lvl="1"/>
            <a:r>
              <a:rPr lang="zh-CN" altLang="en-US">
                <a:sym typeface="+mn-ea"/>
              </a:rPr>
              <a:t>整体运行：进程线程/地址布局/首次触发跨动态库调用/后继动态库调用/可执行数据段/定制加载布局(qemu/wine)</a:t>
            </a:r>
            <a:endParaRPr lang="zh-CN" altLang="en-US">
              <a:sym typeface="+mn-ea"/>
            </a:endParaRPr>
          </a:p>
          <a:p>
            <a:pPr lvl="1"/>
            <a:r>
              <a:rPr lang="zh-CN" altLang="en-US"/>
              <a:t>基础平台：OS引导运行/容器(namespace/cgroup/overlayfs)/异构(运行时/内核态驱动/AI卡)/虚机(指令/OS/设备)</a:t>
            </a:r>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r>
              <a:rPr lang="zh-CN" altLang="en-US">
                <a:sym typeface="+mn-ea"/>
              </a:rPr>
              <a:t>普通加载：触发/内核(do_fork/exec)/加载器(ld-linux/qemu_static)/加载程序/加载关联库/动态加载，内核模块</a:t>
            </a:r>
            <a:endParaRPr lang="zh-CN" altLang="en-US">
              <a:sym typeface="+mn-ea"/>
            </a:endParaRPr>
          </a:p>
          <a:p>
            <a:pPr lvl="1"/>
            <a:r>
              <a:rPr lang="zh-CN" altLang="en-US">
                <a:sym typeface="+mn-ea"/>
              </a:rPr>
              <a:t>整体运行：进程线程/地址布局/首次触发跨动态库调用/后继动态库调用/可执行数据段/定制加载布局(qemu/wine)</a:t>
            </a:r>
            <a:endParaRPr lang="zh-CN" altLang="en-US">
              <a:sym typeface="+mn-ea"/>
            </a:endParaRPr>
          </a:p>
          <a:p>
            <a:pPr lvl="1"/>
            <a:r>
              <a:rPr lang="zh-CN" altLang="en-US"/>
              <a:t>基础平台：OS引导运行/容器(namespace/cgroup/overlayfs)/异构(运行时/内核态驱动/AI卡)/虚机(指令/OS/设备)</a:t>
            </a:r>
            <a:endParaRPr lang="zh-CN" altLang="en-US"/>
          </a:p>
          <a:p>
            <a:r>
              <a:rPr lang="zh-CN" altLang="en-US"/>
              <a:t>综合示例</a:t>
            </a:r>
            <a:endParaRPr lang="zh-CN" altLang="en-US"/>
          </a:p>
          <a:p>
            <a:pPr lvl="1"/>
            <a:r>
              <a:rPr lang="zh-CN" altLang="en-US"/>
              <a:t>用户态1：初步理解，简单的</a:t>
            </a:r>
            <a:r>
              <a:rPr lang="en-US" altLang="zh-CN"/>
              <a:t>demo</a:t>
            </a:r>
            <a:r>
              <a:rPr lang="zh-CN" altLang="en-US"/>
              <a:t>程序，关注基本的加载运行全流程</a:t>
            </a:r>
            <a:endParaRPr lang="zh-CN" altLang="en-US"/>
          </a:p>
          <a:p>
            <a:pPr lvl="1"/>
            <a:r>
              <a:rPr lang="zh-CN" altLang="en-US"/>
              <a:t>用户态2：概要分析，同一个简单的</a:t>
            </a:r>
            <a:r>
              <a:rPr lang="en-US" altLang="zh-CN"/>
              <a:t>demo</a:t>
            </a:r>
            <a:r>
              <a:rPr lang="zh-CN" altLang="en-US"/>
              <a:t>程序，关注运行时处理细节</a:t>
            </a:r>
            <a:endParaRPr lang="zh-CN" altLang="en-US"/>
          </a:p>
          <a:p>
            <a:pPr lvl="1"/>
            <a:r>
              <a:rPr lang="zh-CN" altLang="en-US"/>
              <a:t>内核模块：</a:t>
            </a:r>
            <a:r>
              <a:rPr lang="en-US" altLang="zh-CN"/>
              <a:t>AI</a:t>
            </a:r>
            <a:r>
              <a:rPr lang="zh-CN" altLang="en-US"/>
              <a:t>生成示例代码/加载/运行</a:t>
            </a:r>
            <a:endParaRPr lang="zh-CN" altLang="en-US"/>
          </a:p>
          <a:p>
            <a:pPr lvl="1"/>
            <a:r>
              <a:rPr lang="zh-CN" altLang="en-US"/>
              <a:t>跨机运行：</a:t>
            </a:r>
            <a:r>
              <a:rPr lang="en-US" altLang="zh-CN"/>
              <a:t>X11</a:t>
            </a:r>
            <a:r>
              <a:rPr lang="zh-CN" altLang="en-US"/>
              <a:t>程序，例如</a:t>
            </a:r>
            <a:r>
              <a:rPr lang="en-US" altLang="zh-CN"/>
              <a:t>xclock</a:t>
            </a:r>
            <a:r>
              <a:rPr lang="zh-CN" altLang="en-US"/>
              <a:t>示例</a:t>
            </a:r>
            <a:endParaRPr lang="zh-CN" altLang="en-US"/>
          </a:p>
          <a:p>
            <a:pPr lvl="1"/>
            <a:endParaRPr lang="zh-CN"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sz="1600"/>
          </a:p>
          <a:p>
            <a:pPr lvl="2"/>
            <a:endParaRPr lang="zh-CN" altLang="en-US" sz="1600"/>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r>
              <a:rPr lang="zh-CN" altLang="en-US"/>
              <a:t>编译原理：前端(功能/线性/图)/中间语言(优化)/后端(LTO/汇编/opcode)，起始/自举/交叉，开发框架</a:t>
            </a:r>
            <a:endParaRPr lang="zh-CN" altLang="en-US"/>
          </a:p>
          <a:p>
            <a:pPr lvl="1"/>
            <a:r>
              <a:rPr lang="zh-CN" altLang="en-US"/>
              <a:t>链接原理：文件布局(elf/om)/静态/动态链接/LTO，指定入口/导出符号/段设置(异构链接)，支撑库</a:t>
            </a:r>
            <a:endParaRPr lang="zh-CN" altLang="en-US"/>
          </a:p>
          <a:p>
            <a:pPr lvl="1"/>
            <a:r>
              <a:rPr lang="zh-CN" altLang="en-US"/>
              <a:t>内容方法：增加语言或功能(前端)/增加平台(后端)，解决bug，代码优化；单元测试/中间文件</a:t>
            </a:r>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a:p>
          <a:p>
            <a:pPr lvl="2"/>
            <a:endParaRPr lang="zh-CN" altLang="en-US"/>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r>
              <a:rPr lang="zh-CN" altLang="en-US"/>
              <a:t>实现：功能层面，NLP/搜索(百度</a:t>
            </a:r>
            <a:r>
              <a:rPr lang="en-US" altLang="zh-CN"/>
              <a:t>/</a:t>
            </a:r>
            <a:r>
              <a:rPr lang="zh-CN" altLang="en-US"/>
              <a:t>谷歌)/数据分析/子工具(系统/行业)；非功能层面，处理/存储/传输的显著提升</a:t>
            </a:r>
            <a:endParaRPr lang="zh-CN" altLang="en-US"/>
          </a:p>
          <a:p>
            <a:pPr lvl="1"/>
            <a:r>
              <a:rPr lang="zh-CN" altLang="en-US"/>
              <a:t>理论：语言范畴；开发，硬件(汇编)/系统(C/Shell)/应用(高级语言/Shell)/人(NLP)；使用，机器(Shell)/人(NLP)</a:t>
            </a:r>
            <a:endParaRPr lang="zh-CN" altLang="en-US"/>
          </a:p>
          <a:p>
            <a:pPr lvl="1"/>
            <a:r>
              <a:rPr lang="zh-CN" altLang="en-US">
                <a:sym typeface="+mn-ea"/>
              </a:rPr>
              <a:t>科学：仿生(脑与迷走神经/章鱼/黏菌)</a:t>
            </a:r>
            <a:r>
              <a:rPr lang="en-US" altLang="zh-CN">
                <a:sym typeface="+mn-ea"/>
              </a:rPr>
              <a:t>/</a:t>
            </a:r>
            <a:r>
              <a:rPr lang="zh-CN" altLang="en-US">
                <a:sym typeface="+mn-ea"/>
              </a:rPr>
              <a:t>量子，物理(量子计算通讯/物质时空)，数学(语言科学/逻辑公理/哲学宗教)</a:t>
            </a:r>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r>
              <a:rPr lang="zh-CN" altLang="en-US" sz="1800"/>
              <a:t>覆盖面尽可能广</a:t>
            </a:r>
            <a:endParaRPr lang="zh-CN" altLang="en-US"/>
          </a:p>
          <a:p>
            <a:pPr lvl="1"/>
            <a:r>
              <a:rPr lang="en-US" altLang="zh-CN"/>
              <a:t>Python</a:t>
            </a:r>
            <a:r>
              <a:rPr lang="zh-CN" altLang="en-US"/>
              <a:t>：与</a:t>
            </a:r>
            <a:r>
              <a:rPr lang="en-US" altLang="zh-CN"/>
              <a:t>C</a:t>
            </a:r>
            <a:r>
              <a:rPr lang="zh-CN" altLang="en-US"/>
              <a:t>交互调用</a:t>
            </a:r>
            <a:r>
              <a:rPr lang="en-US" altLang="zh-CN"/>
              <a:t>(</a:t>
            </a:r>
            <a:r>
              <a:rPr lang="zh-CN" altLang="en-US"/>
              <a:t>跨线程</a:t>
            </a:r>
            <a:r>
              <a:rPr lang="en-US" altLang="zh-CN"/>
              <a:t>)</a:t>
            </a:r>
            <a:endParaRPr lang="zh-CN" altLang="en-US"/>
          </a:p>
          <a:p>
            <a:pPr lvl="1"/>
            <a:r>
              <a:rPr lang="en-US" altLang="zh-CN"/>
              <a:t>JS</a:t>
            </a:r>
            <a:r>
              <a:rPr lang="zh-CN" altLang="en-US"/>
              <a:t>：前后端</a:t>
            </a:r>
            <a:r>
              <a:rPr lang="en-US" altLang="zh-CN"/>
              <a:t>+</a:t>
            </a:r>
            <a:r>
              <a:rPr lang="zh-CN" altLang="en-US"/>
              <a:t>调用命令</a:t>
            </a:r>
            <a:endParaRPr lang="en-US" altLang="zh-CN"/>
          </a:p>
          <a:p>
            <a:pPr lvl="1"/>
            <a:r>
              <a:rPr lang="en-US" altLang="zh-CN"/>
              <a:t>C++</a:t>
            </a:r>
            <a:r>
              <a:rPr lang="zh-CN" altLang="en-US"/>
              <a:t>：</a:t>
            </a:r>
            <a:r>
              <a:rPr lang="en-US" altLang="zh-CN"/>
              <a:t>IDE+QT+</a:t>
            </a:r>
            <a:r>
              <a:rPr lang="zh-CN" altLang="en-US"/>
              <a:t>内置</a:t>
            </a:r>
            <a:r>
              <a:rPr lang="en-US" altLang="zh-CN"/>
              <a:t>demo</a:t>
            </a:r>
            <a:r>
              <a:rPr lang="zh-CN" altLang="en-US"/>
              <a:t>，包含各类功能（含图形）</a:t>
            </a:r>
            <a:endParaRPr lang="zh-CN"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32175</Words>
  <Application>WPS Presentation</Application>
  <PresentationFormat>宽屏</PresentationFormat>
  <Paragraphs>2378</Paragraphs>
  <Slides>86</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7</vt:i4>
      </vt:variant>
      <vt:variant>
        <vt:lpstr>幻灯片标题</vt:lpstr>
      </vt:variant>
      <vt:variant>
        <vt:i4>86</vt:i4>
      </vt:variant>
    </vt:vector>
  </HeadingPairs>
  <TitlesOfParts>
    <vt:vector size="104"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Package</vt:lpstr>
      <vt:lpstr>Package</vt:lpstr>
      <vt:lpstr>Package</vt:lpstr>
      <vt:lpstr>Package</vt:lpstr>
      <vt:lpstr>Package</vt:lpstr>
      <vt:lpstr>It-talks 提纲</vt:lpstr>
      <vt:lpstr>整体提纲</vt:lpstr>
      <vt:lpstr>工具链</vt:lpstr>
      <vt:lpstr>程序的解释模拟</vt:lpstr>
      <vt:lpstr>程序的环境转换</vt:lpstr>
      <vt:lpstr>程序的环境转换</vt:lpstr>
      <vt:lpstr>程序的环境转换</vt:lpstr>
      <vt:lpstr>硬件虚拟化</vt:lpstr>
      <vt:lpstr>硬件虚拟化支撑</vt:lpstr>
      <vt:lpstr>宿主机内核态</vt:lpstr>
      <vt:lpstr>宿主机 内核态</vt:lpstr>
      <vt:lpstr>宿主机 内核态</vt:lpstr>
      <vt:lpstr>宿主机 内核态</vt:lpstr>
      <vt:lpstr>程序的加载运行</vt:lpstr>
      <vt:lpstr>程序的加载运行</vt:lpstr>
      <vt:lpstr>程序的加载运行</vt:lpstr>
      <vt:lpstr>程序的加载运行</vt:lpstr>
      <vt:lpstr>程序的加载运行</vt:lpstr>
      <vt:lpstr>程序的编译链接</vt:lpstr>
      <vt:lpstr>程序的编译链接</vt:lpstr>
      <vt:lpstr>程序的编译链接</vt:lpstr>
      <vt:lpstr>程序的编译链接</vt:lpstr>
      <vt:lpstr>我的AI语言</vt:lpstr>
      <vt:lpstr>我的AI语言</vt:lpstr>
      <vt:lpstr>我的AI语言</vt:lpstr>
      <vt:lpstr>我的AI语言</vt:lpstr>
      <vt:lpstr>我的高级语言</vt:lpstr>
      <vt:lpstr>我的高级语言</vt:lpstr>
      <vt:lpstr>我的高级语言</vt:lpstr>
      <vt:lpstr>我的高级语言</vt:lpstr>
      <vt:lpstr>我的高级语言</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842</cp:revision>
  <dcterms:created xsi:type="dcterms:W3CDTF">2025-10-11T14:53:27Z</dcterms:created>
  <dcterms:modified xsi:type="dcterms:W3CDTF">2025-10-11T14:53:27Z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