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5"/>
  </p:notesMasterIdLst>
  <p:handoutMasterIdLst>
    <p:handoutMasterId r:id="rId76"/>
  </p:handoutMasterIdLst>
  <p:sldIdLst>
    <p:sldId id="256" r:id="rId3"/>
    <p:sldId id="258" r:id="rId4"/>
    <p:sldId id="767" r:id="rId5"/>
    <p:sldId id="1236" r:id="rId6"/>
    <p:sldId id="1372" r:id="rId7"/>
    <p:sldId id="1305" r:id="rId8"/>
    <p:sldId id="1304" r:id="rId9"/>
    <p:sldId id="1303" r:id="rId10"/>
    <p:sldId id="1302" r:id="rId11"/>
    <p:sldId id="1239" r:id="rId12"/>
    <p:sldId id="1238" r:id="rId13"/>
    <p:sldId id="1237" r:id="rId14"/>
    <p:sldId id="1175" r:id="rId15"/>
    <p:sldId id="1116" r:id="rId16"/>
    <p:sldId id="1115" r:id="rId17"/>
    <p:sldId id="1114" r:id="rId18"/>
    <p:sldId id="1113" r:id="rId19"/>
    <p:sldId id="1058" r:id="rId20"/>
    <p:sldId id="1004" r:id="rId21"/>
    <p:sldId id="1003" r:id="rId22"/>
    <p:sldId id="1002" r:id="rId23"/>
    <p:sldId id="1001" r:id="rId24"/>
    <p:sldId id="998" r:id="rId25"/>
    <p:sldId id="949" r:id="rId26"/>
    <p:sldId id="901" r:id="rId27"/>
    <p:sldId id="770" r:id="rId28"/>
    <p:sldId id="853" r:id="rId29"/>
    <p:sldId id="854" r:id="rId30"/>
    <p:sldId id="857" r:id="rId31"/>
    <p:sldId id="856" r:id="rId32"/>
    <p:sldId id="811" r:id="rId33"/>
    <p:sldId id="855" r:id="rId34"/>
    <p:sldId id="295" r:id="rId35"/>
    <p:sldId id="763" r:id="rId36"/>
    <p:sldId id="766" r:id="rId37"/>
    <p:sldId id="808" r:id="rId38"/>
    <p:sldId id="809" r:id="rId39"/>
    <p:sldId id="810" r:id="rId40"/>
    <p:sldId id="761" r:id="rId41"/>
    <p:sldId id="293" r:id="rId42"/>
    <p:sldId id="762" r:id="rId43"/>
    <p:sldId id="294" r:id="rId44"/>
    <p:sldId id="314" r:id="rId45"/>
    <p:sldId id="728" r:id="rId46"/>
    <p:sldId id="697" r:id="rId47"/>
    <p:sldId id="667" r:id="rId48"/>
    <p:sldId id="602" r:id="rId49"/>
    <p:sldId id="574" r:id="rId50"/>
    <p:sldId id="467" r:id="rId51"/>
    <p:sldId id="523" r:id="rId52"/>
    <p:sldId id="768" r:id="rId53"/>
    <p:sldId id="468" r:id="rId54"/>
    <p:sldId id="469" r:id="rId55"/>
    <p:sldId id="466" r:id="rId56"/>
    <p:sldId id="445" r:id="rId57"/>
    <p:sldId id="425" r:id="rId58"/>
    <p:sldId id="381" r:id="rId59"/>
    <p:sldId id="363" r:id="rId60"/>
    <p:sldId id="346" r:id="rId61"/>
    <p:sldId id="330" r:id="rId62"/>
    <p:sldId id="262" r:id="rId63"/>
    <p:sldId id="266" r:id="rId64"/>
    <p:sldId id="263" r:id="rId65"/>
    <p:sldId id="271" r:id="rId66"/>
    <p:sldId id="285" r:id="rId67"/>
    <p:sldId id="286" r:id="rId68"/>
    <p:sldId id="287" r:id="rId69"/>
    <p:sldId id="288" r:id="rId70"/>
    <p:sldId id="289" r:id="rId71"/>
    <p:sldId id="290" r:id="rId72"/>
    <p:sldId id="291" r:id="rId73"/>
    <p:sldId id="292" r:id="rId74"/>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75" d="100"/>
          <a:sy n="75" d="100"/>
        </p:scale>
        <p:origin x="90" y="96"/>
      </p:cViewPr>
      <p:guideLst>
        <p:guide orient="horz" pos="2284"/>
        <p:guide pos="3847"/>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9" Type="http://schemas.openxmlformats.org/officeDocument/2006/relationships/tableStyles" Target="tableStyles.xml"/><Relationship Id="rId78" Type="http://schemas.openxmlformats.org/officeDocument/2006/relationships/viewProps" Target="viewProps.xml"/><Relationship Id="rId77" Type="http://schemas.openxmlformats.org/officeDocument/2006/relationships/presProps" Target="presProps.xml"/><Relationship Id="rId76" Type="http://schemas.openxmlformats.org/officeDocument/2006/relationships/handoutMaster" Target="handoutMasters/handoutMaster1.xml"/><Relationship Id="rId75" Type="http://schemas.openxmlformats.org/officeDocument/2006/relationships/notesMaster" Target="notesMasters/notesMaster1.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322962"/>
            <a:ext cx="9144000" cy="2187001"/>
          </a:xfrm>
        </p:spPr>
        <p:txBody>
          <a:bodyPr anchor="b">
            <a:normAutofit/>
          </a:bodyPr>
          <a:lstStyle>
            <a:lvl1pPr algn="ctr">
              <a:lnSpc>
                <a:spcPct val="130000"/>
              </a:lnSpc>
              <a:defRPr sz="6000">
                <a:effectLst>
                  <a:outerShdw blurRad="38100" dist="38100" dir="2700000" algn="tl">
                    <a:srgbClr val="000000">
                      <a:alpha val="43137"/>
                    </a:srgbClr>
                  </a:outerShdw>
                </a:effectLst>
              </a:defRPr>
            </a:lvl1pPr>
          </a:lstStyle>
          <a:p>
            <a:r>
              <a:rPr lang="zh-CN" altLang="en-US" dirty="0">
                <a:sym typeface="+mn-ea"/>
              </a:rPr>
              <a:t>Click to edit Master title style</a:t>
            </a:r>
            <a:endParaRPr lang="zh-CN" altLang="en-US" dirty="0">
              <a:sym typeface="+mn-ea"/>
            </a:endParaRPr>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副标题 2"/>
          <p:cNvSpPr>
            <a:spLocks noGrp="1"/>
          </p:cNvSpPr>
          <p:nvPr>
            <p:ph type="subTitle" idx="1"/>
          </p:nvPr>
        </p:nvSpPr>
        <p:spPr>
          <a:xfrm>
            <a:off x="1524000" y="3602038"/>
            <a:ext cx="91440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Click to edit Master subtitle style</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Click to edit Master title style</a:t>
            </a:r>
            <a:endParaRPr lang="zh-CN" altLang="en-US" dirty="0"/>
          </a:p>
        </p:txBody>
      </p:sp>
      <p:sp>
        <p:nvSpPr>
          <p:cNvPr id="3" name="内容占位符 2"/>
          <p:cNvSpPr>
            <a:spLocks noGrp="1"/>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sym typeface="+mn-ea"/>
              </a:rPr>
              <a:t>Click to edit Master text styles</a:t>
            </a:r>
            <a:endParaRPr lang="zh-CN" altLang="en-US" dirty="0">
              <a:sym typeface="+mn-ea"/>
            </a:endParaRPr>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0945"/>
            <a:ext cx="9848088" cy="811530"/>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Click to edit Master title style</a:t>
            </a:r>
            <a:endParaRPr lang="zh-CN" altLang="en-US" dirty="0"/>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sym typeface="+mn-ea"/>
              </a:rPr>
              <a:t>Click to edit Master text styles</a:t>
            </a:r>
            <a:endParaRPr lang="zh-CN" altLang="en-US" dirty="0">
              <a:sym typeface="+mn-ea"/>
            </a:endParaRPr>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Click to edit Master title style</a:t>
            </a:r>
            <a:endParaRPr lang="zh-CN" altLang="en-US" dirty="0"/>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sym typeface="+mn-ea"/>
              </a:rPr>
              <a:t>Click to edit Master text styles</a:t>
            </a:r>
            <a:endParaRPr lang="zh-CN" altLang="en-US" dirty="0">
              <a:sym typeface="+mn-ea"/>
            </a:endParaRPr>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sym typeface="+mn-ea"/>
              </a:rPr>
              <a:t>Click to edit Master text styles</a:t>
            </a:r>
            <a:endParaRPr lang="zh-CN" altLang="en-US" dirty="0">
              <a:sym typeface="+mn-ea"/>
            </a:endParaRPr>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
        <p:nvSpPr>
          <p:cNvPr id="5" name="日期占位符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Click to edit Master title style</a:t>
            </a:r>
            <a:endParaRPr lang="zh-CN" altLang="en-US"/>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sym typeface="+mn-ea"/>
              </a:rPr>
              <a:t>Click to edit Master text styles</a:t>
            </a:r>
            <a:endParaRPr lang="zh-CN" altLang="en-US" dirty="0">
              <a:sym typeface="+mn-ea"/>
            </a:endParaRPr>
          </a:p>
        </p:txBody>
      </p:sp>
      <p:sp>
        <p:nvSpPr>
          <p:cNvPr id="4" name="内容占位符 3"/>
          <p:cNvSpPr>
            <a:spLocks noGrp="1"/>
          </p:cNvSpPr>
          <p:nvPr>
            <p:ph sz="half" idx="2"/>
          </p:nvPr>
        </p:nvSpPr>
        <p:spPr>
          <a:xfrm>
            <a:off x="839788" y="2615609"/>
            <a:ext cx="5157787" cy="3574054"/>
          </a:xfrm>
        </p:spPr>
        <p:txBody>
          <a:bodyPr/>
          <a:lstStyle/>
          <a:p>
            <a:pPr lvl="0"/>
            <a:r>
              <a:rPr lang="zh-CN" altLang="en-US" dirty="0">
                <a:sym typeface="+mn-ea"/>
              </a:rPr>
              <a:t>Click to edit Master text styles</a:t>
            </a:r>
            <a:endParaRPr lang="zh-CN" altLang="en-US" dirty="0">
              <a:sym typeface="+mn-ea"/>
            </a:endParaRPr>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sym typeface="+mn-ea"/>
              </a:rPr>
              <a:t>Click to edit Master text styles</a:t>
            </a:r>
            <a:endParaRPr lang="zh-CN" altLang="en-US" dirty="0">
              <a:sym typeface="+mn-ea"/>
            </a:endParaRPr>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sym typeface="+mn-ea"/>
              </a:rPr>
              <a:t>Click to edit Master text styles</a:t>
            </a:r>
            <a:endParaRPr lang="zh-CN" altLang="en-US" dirty="0">
              <a:sym typeface="+mn-ea"/>
            </a:endParaRPr>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
        <p:nvSpPr>
          <p:cNvPr id="7" name="日期占位符 6"/>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Click to edit Master title style</a:t>
            </a:r>
            <a:endParaRPr lang="zh-CN" altLang="en-US" dirty="0"/>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标题 1"/>
          <p:cNvSpPr>
            <a:spLocks noGrp="1"/>
          </p:cNvSpPr>
          <p:nvPr>
            <p:ph type="title"/>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sym typeface="+mn-ea"/>
              </a:rPr>
              <a:t>Click to edit Master title style</a:t>
            </a:r>
            <a:endParaRPr lang="zh-CN" altLang="en-US" dirty="0">
              <a:sym typeface="+mn-ea"/>
            </a:endParaRPr>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Click to edit Master text styles</a:t>
            </a:r>
            <a:endParaRPr lang="zh-CN" altLang="en-US" dirty="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cxnSp>
        <p:nvCxnSpPr>
          <p:cNvPr id="8" name="直接连接符 7" hidden="1"/>
          <p:cNvCxnSpPr/>
          <p:nvPr userDrawn="1"/>
        </p:nvCxnSpPr>
        <p:spPr>
          <a:xfrm>
            <a:off x="742950" y="434340"/>
            <a:ext cx="0" cy="1391285"/>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Click to edit Master title style</a:t>
            </a:r>
            <a:endParaRPr lang="zh-CN" altLang="en-US"/>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sym typeface="+mn-ea"/>
              </a:rPr>
              <a:t>Click to edit Master text styles</a:t>
            </a:r>
            <a:endParaRPr lang="zh-CN" altLang="en-US" dirty="0">
              <a:sym typeface="+mn-ea"/>
            </a:endParaRPr>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sym typeface="+mn-ea"/>
              </a:rPr>
              <a:t>Click to edit Master text styles</a:t>
            </a:r>
            <a:endParaRPr lang="zh-CN" altLang="en-US" dirty="0">
              <a:sym typeface="+mn-ea"/>
            </a:endParaRPr>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Click to edit Master title style</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sym typeface="+mn-ea"/>
              </a:rPr>
              <a:t>Click to edit Master text styles</a:t>
            </a:r>
            <a:endParaRPr lang="zh-CN" altLang="en-US" dirty="0">
              <a:sym typeface="+mn-ea"/>
            </a:endParaRPr>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8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8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4.png"/><Relationship Id="rId7" Type="http://schemas.openxmlformats.org/officeDocument/2006/relationships/oleObject" Target="../embeddings/oleObject4.bin"/><Relationship Id="rId6" Type="http://schemas.openxmlformats.org/officeDocument/2006/relationships/image" Target="../media/image3.png"/><Relationship Id="rId5" Type="http://schemas.openxmlformats.org/officeDocument/2006/relationships/oleObject" Target="../embeddings/oleObject3.bin"/><Relationship Id="rId4" Type="http://schemas.openxmlformats.org/officeDocument/2006/relationships/image" Target="../media/image2.png"/><Relationship Id="rId3" Type="http://schemas.openxmlformats.org/officeDocument/2006/relationships/oleObject" Target="../embeddings/oleObject2.bin"/><Relationship Id="rId2" Type="http://schemas.openxmlformats.org/officeDocument/2006/relationships/image" Target="../media/image1.png"/><Relationship Id="rId10" Type="http://schemas.openxmlformats.org/officeDocument/2006/relationships/vmlDrawing" Target="../drawings/vmlDrawing1.vml"/><Relationship Id="rId1" Type="http://schemas.openxmlformats.org/officeDocument/2006/relationships/oleObject" Target="../embeddings/oleObject1.bin"/></Relationships>
</file>

<file path=ppt/slides/_rels/slide23.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oleObject" Target="../embeddings/oleObject5.bin"/></Relationships>
</file>

<file path=ppt/slides/_rels/slide24.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oleObject" Target="../embeddings/oleObject6.bin"/></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oleObject" Target="../embeddings/oleObject7.bin"/></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a:t>It-talks </a:t>
            </a:r>
            <a:r>
              <a:rPr lang="zh-CN" altLang="en-US"/>
              <a:t>提纲</a:t>
            </a:r>
            <a:endParaRPr lang="zh-CN" altLang="en-US"/>
          </a:p>
        </p:txBody>
      </p:sp>
      <p:sp>
        <p:nvSpPr>
          <p:cNvPr id="5" name="副标题 4"/>
          <p:cNvSpPr>
            <a:spLocks noGrp="1"/>
          </p:cNvSpPr>
          <p:nvPr>
            <p:ph type="subTitle" idx="1"/>
          </p:nvPr>
        </p:nvSpPr>
        <p:spPr/>
        <p:txBody>
          <a:bodyPr/>
          <a:lstStyle/>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531870" y="258445"/>
            <a:ext cx="7631430" cy="862965"/>
          </a:xfrm>
        </p:spPr>
        <p:txBody>
          <a:bodyPr/>
          <a:p>
            <a:r>
              <a:rPr lang="zh-CN" altLang="en-US" sz="3200"/>
              <a:t>整体提纲</a:t>
            </a:r>
            <a:endParaRPr lang="zh-CN" altLang="en-US" sz="3200"/>
          </a:p>
        </p:txBody>
      </p:sp>
      <p:sp>
        <p:nvSpPr>
          <p:cNvPr id="3" name="Content Placeholder 2"/>
          <p:cNvSpPr>
            <a:spLocks noGrp="1"/>
          </p:cNvSpPr>
          <p:nvPr>
            <p:ph idx="1"/>
          </p:nvPr>
        </p:nvSpPr>
        <p:spPr>
          <a:xfrm>
            <a:off x="2667635" y="1520825"/>
            <a:ext cx="8495665" cy="4397375"/>
          </a:xfrm>
        </p:spPr>
        <p:txBody>
          <a:bodyPr>
            <a:normAutofit lnSpcReduction="10000"/>
          </a:bodyPr>
          <a:p>
            <a:r>
              <a:rPr lang="zh-CN" altLang="en-US">
                <a:solidFill>
                  <a:schemeClr val="accent5"/>
                </a:solidFill>
              </a:rPr>
              <a:t>计算机：</a:t>
            </a:r>
            <a:endParaRPr lang="zh-CN" altLang="en-US">
              <a:solidFill>
                <a:schemeClr val="accent5"/>
              </a:solidFill>
            </a:endParaRPr>
          </a:p>
          <a:p>
            <a:pPr lvl="1" algn="l">
              <a:buClrTx/>
              <a:buSzTx/>
            </a:pPr>
            <a:r>
              <a:rPr lang="zh-CN" altLang="en-US" sz="1800">
                <a:solidFill>
                  <a:schemeClr val="accent5"/>
                </a:solidFill>
              </a:rPr>
              <a:t>体系原理：</a:t>
            </a:r>
            <a:endParaRPr lang="zh-CN" altLang="en-US" sz="1800">
              <a:solidFill>
                <a:schemeClr val="accent5"/>
              </a:solidFill>
            </a:endParaRPr>
          </a:p>
          <a:p>
            <a:pPr lvl="1"/>
            <a:r>
              <a:rPr lang="zh-CN" altLang="en-US" sz="1800">
                <a:solidFill>
                  <a:schemeClr val="accent5"/>
                </a:solidFill>
              </a:rPr>
              <a:t>平台组件：</a:t>
            </a:r>
            <a:endParaRPr lang="zh-CN" altLang="en-US" sz="1800"/>
          </a:p>
          <a:p>
            <a:pPr lvl="1"/>
            <a:r>
              <a:rPr lang="zh-CN" altLang="en-US" sz="1800">
                <a:solidFill>
                  <a:schemeClr val="accent5"/>
                </a:solidFill>
              </a:rPr>
              <a:t>业务应用：</a:t>
            </a:r>
            <a:endParaRPr lang="zh-CN" altLang="en-US" sz="1800"/>
          </a:p>
          <a:p>
            <a:pPr marL="457200" lvl="1" indent="0">
              <a:buNone/>
            </a:pPr>
            <a:endParaRPr lang="zh-CN" altLang="en-US"/>
          </a:p>
          <a:p>
            <a:r>
              <a:rPr lang="zh-CN" altLang="en-US"/>
              <a:t>程序员：</a:t>
            </a:r>
            <a:endParaRPr lang="zh-CN" altLang="en-US"/>
          </a:p>
          <a:p>
            <a:pPr lvl="1"/>
            <a:r>
              <a:rPr lang="zh-CN" altLang="en-US" sz="1800">
                <a:solidFill>
                  <a:schemeClr val="accent5"/>
                </a:solidFill>
              </a:rPr>
              <a:t>程序员看</a:t>
            </a:r>
            <a:r>
              <a:rPr lang="en-US" altLang="zh-CN" sz="1800">
                <a:solidFill>
                  <a:schemeClr val="accent5"/>
                </a:solidFill>
              </a:rPr>
              <a:t>xxx</a:t>
            </a:r>
            <a:endParaRPr lang="en-US" altLang="zh-CN" sz="1800">
              <a:solidFill>
                <a:schemeClr val="accent5"/>
              </a:solidFill>
            </a:endParaRPr>
          </a:p>
          <a:p>
            <a:pPr lvl="1" algn="l">
              <a:buClrTx/>
              <a:buSzTx/>
            </a:pPr>
            <a:r>
              <a:rPr lang="zh-CN" altLang="en-US" sz="1800">
                <a:solidFill>
                  <a:schemeClr val="accent5"/>
                </a:solidFill>
              </a:rPr>
              <a:t>程序员的xxx</a:t>
            </a:r>
            <a:endParaRPr lang="zh-CN" altLang="en-US" sz="1800">
              <a:solidFill>
                <a:schemeClr val="accent5"/>
              </a:solidFill>
            </a:endParaRPr>
          </a:p>
          <a:p>
            <a:pPr lvl="1"/>
            <a:r>
              <a:rPr lang="zh-CN" altLang="en-US" sz="1800"/>
              <a:t>程序员与</a:t>
            </a:r>
            <a:r>
              <a:rPr lang="en-US" altLang="zh-CN" sz="1800"/>
              <a:t>xxx</a:t>
            </a:r>
            <a:endParaRPr lang="en-US" altLang="zh-CN" sz="1800"/>
          </a:p>
          <a:p>
            <a:pPr marL="457200" lvl="1" indent="0">
              <a:buNone/>
            </a:pPr>
            <a:endParaRPr lang="zh-CN" altLang="en-US"/>
          </a:p>
          <a:p>
            <a:r>
              <a:rPr lang="zh-CN" altLang="en-US"/>
              <a:t>工具链：</a:t>
            </a:r>
            <a:endParaRPr lang="zh-CN" altLang="en-US"/>
          </a:p>
          <a:p>
            <a:pPr lvl="1"/>
            <a:r>
              <a:rPr lang="zh-CN" altLang="en-US">
                <a:solidFill>
                  <a:schemeClr val="accent5"/>
                </a:solidFill>
              </a:rPr>
              <a:t>编程语言：</a:t>
            </a:r>
            <a:endParaRPr lang="zh-CN" altLang="en-US">
              <a:solidFill>
                <a:schemeClr val="accent5"/>
              </a:solidFill>
            </a:endParaRPr>
          </a:p>
          <a:p>
            <a:pPr lvl="1"/>
            <a:r>
              <a:rPr lang="zh-CN" altLang="en-US"/>
              <a:t>编译解释：</a:t>
            </a:r>
            <a:endParaRPr lang="zh-CN" altLang="en-US"/>
          </a:p>
          <a:p>
            <a:pPr lvl="1"/>
            <a:r>
              <a:rPr lang="zh-CN" altLang="en-US"/>
              <a:t>调试</a:t>
            </a:r>
            <a:r>
              <a:rPr lang="zh-CN" altLang="en-US">
                <a:sym typeface="+mn-ea"/>
              </a:rPr>
              <a:t>监控</a:t>
            </a:r>
            <a:r>
              <a:rPr lang="zh-CN" altLang="en-US"/>
              <a:t>：</a:t>
            </a:r>
            <a:endParaRPr lang="zh-CN" altLang="en-US"/>
          </a:p>
          <a:p>
            <a:pPr marL="0" indent="0">
              <a:buNone/>
            </a:pP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284220" y="4445"/>
            <a:ext cx="3819525" cy="583565"/>
          </a:xfrm>
        </p:spPr>
        <p:txBody>
          <a:bodyPr>
            <a:noAutofit/>
          </a:bodyPr>
          <a:p>
            <a:r>
              <a:rPr lang="zh-CN" altLang="en-US" sz="2800"/>
              <a:t>工具链</a:t>
            </a:r>
            <a:endParaRPr lang="zh-CN" altLang="en-US" sz="2800"/>
          </a:p>
        </p:txBody>
      </p:sp>
      <p:sp>
        <p:nvSpPr>
          <p:cNvPr id="4" name="Content Placeholder 3"/>
          <p:cNvSpPr>
            <a:spLocks noGrp="1"/>
          </p:cNvSpPr>
          <p:nvPr>
            <p:ph idx="1"/>
          </p:nvPr>
        </p:nvSpPr>
        <p:spPr>
          <a:xfrm>
            <a:off x="54610" y="609600"/>
            <a:ext cx="12191365" cy="6248400"/>
          </a:xfrm>
        </p:spPr>
        <p:txBody>
          <a:bodyPr>
            <a:normAutofit/>
          </a:bodyPr>
          <a:p>
            <a:r>
              <a:rPr lang="zh-CN" altLang="en-US" sz="2520"/>
              <a:t>我的</a:t>
            </a:r>
            <a:r>
              <a:rPr lang="en-US" altLang="zh-CN" sz="2520"/>
              <a:t> XXX</a:t>
            </a:r>
            <a:r>
              <a:rPr lang="zh-CN" altLang="en-US" sz="2520"/>
              <a:t>：</a:t>
            </a:r>
            <a:endParaRPr lang="zh-CN" altLang="en-US" sz="2520"/>
          </a:p>
          <a:p>
            <a:pPr lvl="1"/>
            <a:r>
              <a:rPr lang="zh-CN" altLang="en-US" sz="2265"/>
              <a:t>我的编程语言：整体结构</a:t>
            </a:r>
            <a:r>
              <a:rPr lang="en-US" altLang="zh-CN" sz="2265"/>
              <a:t>PPT</a:t>
            </a:r>
            <a:r>
              <a:rPr lang="zh-CN" altLang="en-US" sz="2265"/>
              <a:t>图，概述内容，引用视频</a:t>
            </a:r>
            <a:endParaRPr lang="zh-CN" altLang="en-US" sz="2265"/>
          </a:p>
          <a:p>
            <a:pPr lvl="1"/>
            <a:r>
              <a:rPr lang="zh-CN" altLang="en-US" sz="2265"/>
              <a:t>我的</a:t>
            </a:r>
            <a:r>
              <a:rPr lang="en-US" altLang="zh-CN" sz="2265"/>
              <a:t>C</a:t>
            </a:r>
            <a:r>
              <a:rPr lang="zh-CN" altLang="en-US" sz="2265"/>
              <a:t>语言：整体介绍</a:t>
            </a:r>
            <a:r>
              <a:rPr lang="en-US" altLang="zh-CN" sz="2265"/>
              <a:t>C</a:t>
            </a:r>
            <a:r>
              <a:rPr lang="zh-CN" altLang="en-US" sz="2265"/>
              <a:t>语言。</a:t>
            </a:r>
            <a:endParaRPr lang="zh-CN" altLang="en-US" sz="2265"/>
          </a:p>
          <a:p>
            <a:pPr lvl="1"/>
            <a:r>
              <a:rPr lang="zh-CN" altLang="en-US" sz="2265"/>
              <a:t>我的汇编语言：整体介绍各类汇编语言。</a:t>
            </a:r>
            <a:endParaRPr lang="zh-CN" altLang="en-US" sz="2265"/>
          </a:p>
          <a:p>
            <a:pPr lvl="1"/>
            <a:r>
              <a:rPr lang="zh-CN" altLang="en-US" sz="2265"/>
              <a:t>我的</a:t>
            </a:r>
            <a:r>
              <a:rPr lang="en-US" altLang="zh-CN" sz="2265"/>
              <a:t>Shell</a:t>
            </a:r>
            <a:r>
              <a:rPr lang="zh-CN" altLang="en-US" sz="2265"/>
              <a:t>：整体介绍</a:t>
            </a:r>
            <a:r>
              <a:rPr lang="en-US" altLang="zh-CN" sz="2265"/>
              <a:t>Shell</a:t>
            </a:r>
            <a:r>
              <a:rPr lang="zh-CN" altLang="en-US" sz="2265"/>
              <a:t>。</a:t>
            </a:r>
            <a:endParaRPr lang="zh-CN" altLang="en-US" sz="2265"/>
          </a:p>
          <a:p>
            <a:pPr lvl="1"/>
            <a:r>
              <a:rPr lang="zh-CN" altLang="en-US" sz="2265"/>
              <a:t>我的高级语言：整体介绍各类高级语言</a:t>
            </a:r>
            <a:endParaRPr lang="zh-CN" altLang="en-US" sz="2265"/>
          </a:p>
          <a:p>
            <a:pPr lvl="1"/>
            <a:r>
              <a:rPr lang="zh-CN" altLang="en-US" sz="2265"/>
              <a:t>我的</a:t>
            </a:r>
            <a:r>
              <a:rPr lang="en-US" altLang="zh-CN" sz="2265"/>
              <a:t>AI</a:t>
            </a:r>
            <a:r>
              <a:rPr lang="zh-CN" altLang="en-US" sz="2265"/>
              <a:t>语言：整体介绍</a:t>
            </a:r>
            <a:r>
              <a:rPr lang="en-US" altLang="zh-CN" sz="2265"/>
              <a:t>AI</a:t>
            </a:r>
            <a:r>
              <a:rPr lang="zh-CN" altLang="en-US" sz="2265"/>
              <a:t>语言</a:t>
            </a:r>
            <a:r>
              <a:rPr lang="en-US" altLang="zh-CN" sz="2265"/>
              <a:t>.</a:t>
            </a:r>
            <a:endParaRPr lang="zh-CN" altLang="en-US" sz="2265"/>
          </a:p>
          <a:p>
            <a:r>
              <a:rPr lang="zh-CN" altLang="en-US" sz="2520"/>
              <a:t>程序的</a:t>
            </a:r>
            <a:r>
              <a:rPr lang="en-US" altLang="zh-CN" sz="2520"/>
              <a:t>XXX</a:t>
            </a:r>
            <a:r>
              <a:rPr lang="zh-CN" altLang="en-US" sz="2520"/>
              <a:t>：</a:t>
            </a:r>
            <a:endParaRPr lang="zh-CN" altLang="en-US" sz="2520"/>
          </a:p>
          <a:p>
            <a:pPr lvl="1"/>
            <a:r>
              <a:rPr lang="zh-CN" altLang="en-US" sz="2265"/>
              <a:t>程序的编译链接：编译原理的完整流程；编译器的整体结构；</a:t>
            </a:r>
            <a:r>
              <a:rPr lang="zh-CN" altLang="en-US" sz="2265">
                <a:sym typeface="+mn-ea"/>
              </a:rPr>
              <a:t>可执行文件格式，链接原理</a:t>
            </a:r>
            <a:endParaRPr lang="zh-CN" altLang="en-US" sz="2265">
              <a:sym typeface="+mn-ea"/>
            </a:endParaRPr>
          </a:p>
          <a:p>
            <a:pPr lvl="1"/>
            <a:r>
              <a:rPr lang="zh-CN" altLang="en-US" sz="2265">
                <a:sym typeface="+mn-ea"/>
              </a:rPr>
              <a:t>程序的加载运行：启动运行过程</a:t>
            </a:r>
            <a:r>
              <a:rPr lang="en-US" altLang="zh-CN" sz="2265">
                <a:sym typeface="+mn-ea"/>
              </a:rPr>
              <a:t>/</a:t>
            </a:r>
            <a:r>
              <a:rPr lang="zh-CN" altLang="en-US" sz="2265">
                <a:sym typeface="+mn-ea"/>
              </a:rPr>
              <a:t>库递归加载</a:t>
            </a:r>
            <a:r>
              <a:rPr lang="en-US" altLang="zh-CN" sz="2265">
                <a:sym typeface="+mn-ea"/>
              </a:rPr>
              <a:t>/</a:t>
            </a:r>
            <a:r>
              <a:rPr lang="zh-CN" altLang="en-US" sz="2265">
                <a:sym typeface="+mn-ea"/>
              </a:rPr>
              <a:t>运行状态</a:t>
            </a:r>
            <a:r>
              <a:rPr lang="en-US" altLang="zh-CN" sz="2265">
                <a:sym typeface="+mn-ea"/>
              </a:rPr>
              <a:t>/</a:t>
            </a:r>
            <a:r>
              <a:rPr lang="zh-CN" altLang="en-US" sz="2265">
                <a:sym typeface="+mn-ea"/>
              </a:rPr>
              <a:t>资源分布</a:t>
            </a:r>
            <a:r>
              <a:rPr lang="en-US" altLang="zh-CN" sz="2265">
                <a:sym typeface="+mn-ea"/>
              </a:rPr>
              <a:t>/</a:t>
            </a:r>
            <a:r>
              <a:rPr lang="zh-CN" altLang="en-US" sz="2265">
                <a:sym typeface="+mn-ea"/>
              </a:rPr>
              <a:t>动态加载</a:t>
            </a:r>
            <a:r>
              <a:rPr lang="en-US" altLang="zh-CN" sz="2265">
                <a:sym typeface="+mn-ea"/>
              </a:rPr>
              <a:t>/</a:t>
            </a:r>
            <a:r>
              <a:rPr lang="zh-CN" altLang="en-US" sz="2265">
                <a:sym typeface="+mn-ea"/>
              </a:rPr>
              <a:t>启动线程进程</a:t>
            </a:r>
            <a:endParaRPr lang="zh-CN" altLang="en-US" sz="2265">
              <a:sym typeface="+mn-ea"/>
            </a:endParaRPr>
          </a:p>
          <a:p>
            <a:pPr lvl="1"/>
            <a:r>
              <a:rPr lang="zh-CN" altLang="en-US" sz="2265"/>
              <a:t>程序的解释模拟：模拟原理</a:t>
            </a:r>
            <a:r>
              <a:rPr lang="en-US" altLang="zh-CN" sz="2265"/>
              <a:t>(Java/Python/QEMU/Mesa)/Qemu环境模拟/(J/P区别</a:t>
            </a:r>
            <a:r>
              <a:rPr lang="zh-CN" altLang="en-US" sz="2265"/>
              <a:t>和</a:t>
            </a:r>
            <a:r>
              <a:rPr lang="en-US" altLang="zh-CN" sz="2265"/>
              <a:t>j/pni)/AI</a:t>
            </a:r>
            <a:endParaRPr lang="zh-CN" altLang="en-US" sz="2265"/>
          </a:p>
          <a:p>
            <a:r>
              <a:rPr lang="zh-CN" altLang="en-US" sz="2520"/>
              <a:t>运行时</a:t>
            </a:r>
            <a:r>
              <a:rPr lang="en-US" altLang="zh-CN" sz="2520"/>
              <a:t>XXX</a:t>
            </a:r>
            <a:r>
              <a:rPr lang="zh-CN" altLang="en-US" sz="2520"/>
              <a:t>：</a:t>
            </a:r>
            <a:endParaRPr lang="zh-CN" altLang="en-US" sz="2520"/>
          </a:p>
          <a:p>
            <a:pPr lvl="1"/>
            <a:r>
              <a:rPr lang="zh-CN" altLang="en-US" sz="2265"/>
              <a:t>运行时调试：挂接和断点，线程/CPU/堆栈/内存/异常，虚拟机/内核/Core，加壳脱壳</a:t>
            </a:r>
            <a:endParaRPr lang="zh-CN" altLang="en-US" sz="2265"/>
          </a:p>
          <a:p>
            <a:pPr lvl="1"/>
            <a:r>
              <a:rPr lang="zh-CN" altLang="en-US" sz="2265"/>
              <a:t>运行时监控：综合介绍各类监控工具</a:t>
            </a:r>
            <a:endParaRPr lang="zh-CN" altLang="en-US" sz="2265"/>
          </a:p>
          <a:p>
            <a:pPr lvl="1"/>
            <a:r>
              <a:rPr lang="zh-CN" altLang="en-US" sz="2265"/>
              <a:t>运行时分析：综合介绍运行时的分析方法流程，结合调试和监控，同时还有静态分析</a:t>
            </a:r>
            <a:endParaRPr lang="zh-CN" altLang="en-US" sz="226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201795" y="123190"/>
            <a:ext cx="3819525" cy="583565"/>
          </a:xfrm>
        </p:spPr>
        <p:txBody>
          <a:bodyPr>
            <a:noAutofit/>
          </a:bodyPr>
          <a:p>
            <a:r>
              <a:rPr lang="zh-CN" altLang="en-US" sz="3600"/>
              <a:t>程序的加载运行</a:t>
            </a:r>
            <a:endParaRPr lang="en-US" altLang="zh-CN" sz="3600"/>
          </a:p>
        </p:txBody>
      </p:sp>
      <p:sp>
        <p:nvSpPr>
          <p:cNvPr id="4" name="Content Placeholder 3"/>
          <p:cNvSpPr>
            <a:spLocks noGrp="1"/>
          </p:cNvSpPr>
          <p:nvPr>
            <p:ph idx="1"/>
          </p:nvPr>
        </p:nvSpPr>
        <p:spPr>
          <a:xfrm>
            <a:off x="10795" y="945515"/>
            <a:ext cx="12192635" cy="5708015"/>
          </a:xfrm>
        </p:spPr>
        <p:txBody>
          <a:bodyPr>
            <a:normAutofit/>
          </a:bodyPr>
          <a:p>
            <a:r>
              <a:rPr lang="zh-CN" altLang="en-US"/>
              <a:t>功能视角：</a:t>
            </a:r>
            <a:endParaRPr lang="zh-CN" altLang="en-US"/>
          </a:p>
          <a:p>
            <a:pPr lvl="1"/>
            <a:r>
              <a:rPr lang="zh-CN" altLang="en-US"/>
              <a:t>定位：程序必经阶段/区别安装部署</a:t>
            </a:r>
            <a:endParaRPr lang="zh-CN" altLang="en-US"/>
          </a:p>
          <a:p>
            <a:pPr lvl="1"/>
            <a:r>
              <a:rPr lang="zh-CN" altLang="en-US"/>
              <a:t>产品：普通/容器/异构/虚机/内核</a:t>
            </a:r>
            <a:endParaRPr lang="zh-CN" altLang="en-US"/>
          </a:p>
          <a:p>
            <a:pPr lvl="1"/>
            <a:r>
              <a:rPr lang="zh-CN" altLang="en-US"/>
              <a:t>学习：实践(linux)/科普/AI</a:t>
            </a:r>
            <a:endParaRPr lang="zh-CN" altLang="en-US"/>
          </a:p>
          <a:p>
            <a:r>
              <a:rPr lang="zh-CN" altLang="en-US"/>
              <a:t>使用视角：</a:t>
            </a:r>
            <a:endParaRPr lang="zh-CN" altLang="en-US"/>
          </a:p>
          <a:p>
            <a:pPr lvl="1"/>
            <a:r>
              <a:rPr lang="zh-CN" altLang="en-US" sz="1800"/>
              <a:t>加载：原始/容器/异构/虚机</a:t>
            </a:r>
            <a:endParaRPr lang="zh-CN" altLang="en-US" sz="1800"/>
          </a:p>
          <a:p>
            <a:pPr lvl="1"/>
            <a:r>
              <a:rPr lang="zh-CN" altLang="en-US" sz="1800"/>
              <a:t>运行：原始/容器/异构/虚机</a:t>
            </a:r>
            <a:endParaRPr lang="zh-CN" altLang="en-US" sz="1800"/>
          </a:p>
          <a:p>
            <a:pPr lvl="1"/>
            <a:r>
              <a:rPr lang="zh-CN" altLang="en-US" sz="1800"/>
              <a:t>内核：引导/模块/运行</a:t>
            </a:r>
            <a:endParaRPr lang="zh-CN" altLang="en-US" sz="1800"/>
          </a:p>
          <a:p>
            <a:r>
              <a:rPr lang="zh-CN" altLang="en-US"/>
              <a:t>开发视角：</a:t>
            </a:r>
            <a:endParaRPr lang="zh-CN" altLang="en-US"/>
          </a:p>
          <a:p>
            <a:pPr lvl="1"/>
            <a:r>
              <a:rPr lang="zh-CN" altLang="en-US">
                <a:sym typeface="+mn-ea"/>
              </a:rPr>
              <a:t>加载原理：介绍各类原理</a:t>
            </a:r>
            <a:endParaRPr lang="zh-CN" altLang="en-US">
              <a:sym typeface="+mn-ea"/>
            </a:endParaRPr>
          </a:p>
          <a:p>
            <a:pPr lvl="1"/>
            <a:r>
              <a:rPr lang="zh-CN" altLang="en-US">
                <a:sym typeface="+mn-ea"/>
              </a:rPr>
              <a:t>运行原理：介绍各类原理</a:t>
            </a:r>
            <a:endParaRPr lang="zh-CN" altLang="en-US">
              <a:sym typeface="+mn-ea"/>
            </a:endParaRPr>
          </a:p>
          <a:p>
            <a:pPr lvl="1"/>
            <a:r>
              <a:rPr lang="zh-CN" altLang="en-US">
                <a:sym typeface="+mn-ea"/>
              </a:rPr>
              <a:t>基础平台：OS/容器/异构/虚机</a:t>
            </a:r>
            <a:endParaRPr lang="zh-CN" altLang="en-US"/>
          </a:p>
          <a:p>
            <a:r>
              <a:rPr lang="zh-CN" altLang="en-US"/>
              <a:t>综合示例</a:t>
            </a:r>
            <a:endParaRPr lang="zh-CN" altLang="en-US"/>
          </a:p>
          <a:p>
            <a:pPr lvl="1"/>
            <a:r>
              <a:rPr lang="zh-CN" altLang="en-US"/>
              <a:t>用户态1：初步讲解</a:t>
            </a:r>
            <a:endParaRPr lang="zh-CN" altLang="en-US"/>
          </a:p>
          <a:p>
            <a:pPr lvl="1"/>
            <a:r>
              <a:rPr lang="zh-CN" altLang="en-US"/>
              <a:t>用户态2：概要分析</a:t>
            </a:r>
            <a:endParaRPr lang="zh-CN" altLang="en-US"/>
          </a:p>
          <a:p>
            <a:pPr lvl="1"/>
            <a:r>
              <a:rPr lang="zh-CN" altLang="en-US"/>
              <a:t>内核态：模块/加载/运行</a:t>
            </a:r>
            <a:endParaRPr lang="zh-CN" altLang="en-US"/>
          </a:p>
          <a:p>
            <a:pPr lvl="1"/>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201795" y="123190"/>
            <a:ext cx="3819525" cy="583565"/>
          </a:xfrm>
        </p:spPr>
        <p:txBody>
          <a:bodyPr>
            <a:noAutofit/>
          </a:bodyPr>
          <a:p>
            <a:r>
              <a:rPr lang="zh-CN" altLang="en-US" sz="3600"/>
              <a:t>程序的</a:t>
            </a:r>
            <a:r>
              <a:rPr lang="zh-CN" sz="3600"/>
              <a:t>编译链接</a:t>
            </a:r>
            <a:endParaRPr lang="zh-CN" sz="3600"/>
          </a:p>
        </p:txBody>
      </p:sp>
      <p:sp>
        <p:nvSpPr>
          <p:cNvPr id="4" name="Content Placeholder 3"/>
          <p:cNvSpPr>
            <a:spLocks noGrp="1"/>
          </p:cNvSpPr>
          <p:nvPr>
            <p:ph idx="1"/>
          </p:nvPr>
        </p:nvSpPr>
        <p:spPr>
          <a:xfrm>
            <a:off x="10795" y="945515"/>
            <a:ext cx="12192635" cy="5708015"/>
          </a:xfrm>
        </p:spPr>
        <p:txBody>
          <a:bodyPr>
            <a:normAutofit/>
          </a:bodyPr>
          <a:p>
            <a:r>
              <a:rPr lang="zh-CN" altLang="en-US"/>
              <a:t>功能视角：</a:t>
            </a:r>
            <a:endParaRPr lang="zh-CN" altLang="en-US"/>
          </a:p>
          <a:p>
            <a:pPr lvl="1"/>
            <a:endParaRPr lang="zh-CN" altLang="en-US"/>
          </a:p>
          <a:p>
            <a:pPr lvl="1"/>
            <a:endParaRPr lang="zh-CN" altLang="en-US"/>
          </a:p>
          <a:p>
            <a:pPr lvl="2"/>
            <a:endParaRPr lang="zh-CN" altLang="en-US" sz="1600"/>
          </a:p>
          <a:p>
            <a:pPr lvl="2"/>
            <a:endParaRPr lang="zh-CN" altLang="en-US" sz="1600"/>
          </a:p>
          <a:p>
            <a:pPr lvl="2"/>
            <a:endParaRPr lang="zh-CN" altLang="en-US"/>
          </a:p>
          <a:p>
            <a:pPr lvl="1"/>
            <a:endParaRPr lang="zh-CN" altLang="en-US"/>
          </a:p>
          <a:p>
            <a:r>
              <a:rPr lang="zh-CN" altLang="en-US"/>
              <a:t>使用视角：</a:t>
            </a:r>
            <a:endParaRPr lang="zh-CN" altLang="en-US"/>
          </a:p>
          <a:p>
            <a:pPr lvl="1"/>
            <a:endParaRPr lang="zh-CN" altLang="en-US" sz="1800"/>
          </a:p>
          <a:p>
            <a:pPr lvl="1"/>
            <a:endParaRPr lang="zh-CN" altLang="en-US" sz="1800"/>
          </a:p>
          <a:p>
            <a:pPr lvl="1"/>
            <a:endParaRPr lang="zh-CN" altLang="en-US" sz="1800"/>
          </a:p>
          <a:p>
            <a:r>
              <a:rPr lang="zh-CN" altLang="en-US"/>
              <a:t>开发视角：</a:t>
            </a:r>
            <a:endParaRPr lang="zh-CN" altLang="en-US"/>
          </a:p>
          <a:p>
            <a:pPr lvl="1"/>
            <a:endParaRPr lang="zh-CN" altLang="en-US"/>
          </a:p>
          <a:p>
            <a:pPr lvl="1"/>
            <a:endParaRPr lang="zh-CN" altLang="en-US"/>
          </a:p>
          <a:p>
            <a:pPr lvl="1"/>
            <a:endParaRPr lang="zh-CN" altLang="en-US"/>
          </a:p>
          <a:p>
            <a:r>
              <a:rPr lang="zh-CN" altLang="en-US"/>
              <a:t>综合示例：</a:t>
            </a:r>
            <a:r>
              <a:rPr lang="zh-CN" altLang="en-US" sz="1800"/>
              <a:t>编译链接hello world程序，全流程的中间文件，反汇编/调试符号/二进制段布局和数据</a:t>
            </a:r>
            <a:endParaRPr lang="zh-CN" altLang="en-US" sz="1800"/>
          </a:p>
          <a:p>
            <a:pPr lvl="1"/>
            <a:endParaRPr lang="zh-CN" altLang="en-US"/>
          </a:p>
          <a:p>
            <a:pPr lvl="1"/>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201795" y="123190"/>
            <a:ext cx="3819525" cy="583565"/>
          </a:xfrm>
        </p:spPr>
        <p:txBody>
          <a:bodyPr>
            <a:noAutofit/>
          </a:bodyPr>
          <a:p>
            <a:r>
              <a:rPr lang="zh-CN" altLang="en-US" sz="3600"/>
              <a:t>程序的</a:t>
            </a:r>
            <a:r>
              <a:rPr lang="zh-CN" sz="3600"/>
              <a:t>编译链接</a:t>
            </a:r>
            <a:endParaRPr lang="zh-CN" sz="3600"/>
          </a:p>
        </p:txBody>
      </p:sp>
      <p:sp>
        <p:nvSpPr>
          <p:cNvPr id="4" name="Content Placeholder 3"/>
          <p:cNvSpPr>
            <a:spLocks noGrp="1"/>
          </p:cNvSpPr>
          <p:nvPr>
            <p:ph idx="1"/>
          </p:nvPr>
        </p:nvSpPr>
        <p:spPr>
          <a:xfrm>
            <a:off x="10795" y="945515"/>
            <a:ext cx="12192635" cy="5708015"/>
          </a:xfrm>
        </p:spPr>
        <p:txBody>
          <a:bodyPr>
            <a:normAutofit/>
          </a:bodyPr>
          <a:p>
            <a:r>
              <a:rPr lang="zh-CN" altLang="en-US"/>
              <a:t>功能视角：</a:t>
            </a:r>
            <a:endParaRPr lang="zh-CN" altLang="en-US"/>
          </a:p>
          <a:p>
            <a:pPr lvl="1"/>
            <a:r>
              <a:rPr lang="zh-CN" altLang="en-US"/>
              <a:t>定位：本职工作(前端各高级语言和AI语言/后端各CPU和智能卡)；使用的api是各语言(含汇编/智能卡)参考手册</a:t>
            </a:r>
            <a:endParaRPr lang="zh-CN" altLang="en-US"/>
          </a:p>
          <a:p>
            <a:pPr lvl="1"/>
            <a:r>
              <a:rPr lang="zh-CN" altLang="en-US"/>
              <a:t>产品：</a:t>
            </a:r>
            <a:endParaRPr lang="zh-CN" altLang="en-US"/>
          </a:p>
          <a:p>
            <a:pPr lvl="2"/>
            <a:r>
              <a:rPr lang="zh-CN" altLang="en-US"/>
              <a:t>分类：线性编译和图编译原理，流程控制+数据(标量/矢量/张量)处理+IO处理；llvm(msvc/gcc/atc)；发布</a:t>
            </a:r>
            <a:endParaRPr lang="zh-CN" altLang="en-US" sz="1600"/>
          </a:p>
          <a:p>
            <a:pPr lvl="2"/>
            <a:r>
              <a:rPr lang="zh-CN" altLang="en-US"/>
              <a:t>实例：c(ai)/c++(ai)/go/rust/mesa/cuda/昇腾/python(ai)/js/java，lld等/binutils，deb/rpm, iso/osrepo</a:t>
            </a:r>
            <a:endParaRPr lang="zh-CN" altLang="en-US" sz="1600"/>
          </a:p>
          <a:p>
            <a:pPr lvl="2"/>
            <a:r>
              <a:rPr lang="zh-CN" altLang="en-US"/>
              <a:t>发展：图编译与线性编译紧密绑定/普遍支持；LLVM通用，msvc/gcc/atc专用，每个领域两个(通用/专用)；AI语言</a:t>
            </a:r>
            <a:endParaRPr lang="zh-CN" altLang="en-US"/>
          </a:p>
          <a:p>
            <a:pPr lvl="1"/>
            <a:r>
              <a:rPr lang="zh-CN" altLang="en-US"/>
              <a:t>学习：从使用入手，从学习语言入手，做扎实编程基础，详细了解环境(尤其Linux)，对原理感兴趣，借助AI</a:t>
            </a:r>
            <a:endParaRPr lang="zh-CN" altLang="en-US"/>
          </a:p>
          <a:p>
            <a:r>
              <a:rPr lang="zh-CN" altLang="en-US"/>
              <a:t>使用视角：</a:t>
            </a:r>
            <a:endParaRPr lang="zh-CN" altLang="en-US"/>
          </a:p>
          <a:p>
            <a:pPr lvl="1"/>
            <a:endParaRPr lang="zh-CN" altLang="en-US" sz="1800"/>
          </a:p>
          <a:p>
            <a:pPr lvl="1"/>
            <a:endParaRPr lang="zh-CN" altLang="en-US" sz="1800"/>
          </a:p>
          <a:p>
            <a:pPr lvl="1"/>
            <a:endParaRPr lang="zh-CN" altLang="en-US" sz="1800"/>
          </a:p>
          <a:p>
            <a:r>
              <a:rPr lang="zh-CN" altLang="en-US"/>
              <a:t>开发视角：</a:t>
            </a:r>
            <a:endParaRPr lang="zh-CN" altLang="en-US"/>
          </a:p>
          <a:p>
            <a:pPr lvl="1"/>
            <a:endParaRPr lang="zh-CN" altLang="en-US"/>
          </a:p>
          <a:p>
            <a:pPr lvl="1"/>
            <a:endParaRPr lang="zh-CN" altLang="en-US"/>
          </a:p>
          <a:p>
            <a:pPr lvl="1"/>
            <a:endParaRPr lang="zh-CN" altLang="en-US"/>
          </a:p>
          <a:p>
            <a:r>
              <a:rPr lang="zh-CN" altLang="en-US">
                <a:sym typeface="+mn-ea"/>
              </a:rPr>
              <a:t>综合示例</a:t>
            </a:r>
            <a:r>
              <a:rPr lang="zh-CN" altLang="en-US"/>
              <a:t>：</a:t>
            </a:r>
            <a:r>
              <a:rPr lang="zh-CN" altLang="en-US" sz="1800"/>
              <a:t>编译链接hello world程序，全流程的中间文件，反汇编/调试符号/二进制段布局和数据</a:t>
            </a:r>
            <a:endParaRPr lang="zh-CN" altLang="en-US" sz="1800"/>
          </a:p>
          <a:p>
            <a:pPr lvl="1"/>
            <a:endParaRPr lang="zh-CN" altLang="en-US"/>
          </a:p>
          <a:p>
            <a:pPr lvl="1"/>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201795" y="123190"/>
            <a:ext cx="3819525" cy="583565"/>
          </a:xfrm>
        </p:spPr>
        <p:txBody>
          <a:bodyPr>
            <a:noAutofit/>
          </a:bodyPr>
          <a:p>
            <a:r>
              <a:rPr lang="zh-CN" altLang="en-US" sz="3600"/>
              <a:t>程序的</a:t>
            </a:r>
            <a:r>
              <a:rPr lang="zh-CN" sz="3600"/>
              <a:t>编译链接</a:t>
            </a:r>
            <a:endParaRPr lang="zh-CN" sz="3600"/>
          </a:p>
        </p:txBody>
      </p:sp>
      <p:sp>
        <p:nvSpPr>
          <p:cNvPr id="4" name="Content Placeholder 3"/>
          <p:cNvSpPr>
            <a:spLocks noGrp="1"/>
          </p:cNvSpPr>
          <p:nvPr>
            <p:ph idx="1"/>
          </p:nvPr>
        </p:nvSpPr>
        <p:spPr>
          <a:xfrm>
            <a:off x="10795" y="945515"/>
            <a:ext cx="12192635" cy="5708015"/>
          </a:xfrm>
        </p:spPr>
        <p:txBody>
          <a:bodyPr>
            <a:normAutofit/>
          </a:bodyPr>
          <a:p>
            <a:r>
              <a:rPr lang="zh-CN" altLang="en-US"/>
              <a:t>功能视角：</a:t>
            </a:r>
            <a:endParaRPr lang="zh-CN" altLang="en-US"/>
          </a:p>
          <a:p>
            <a:pPr lvl="1"/>
            <a:r>
              <a:rPr lang="zh-CN" altLang="en-US"/>
              <a:t>定位：本职工作(前端各高级语言和AI语言/后端各CPU和智能卡)；使用的api是各语言(含汇编/智能卡)参考手册</a:t>
            </a:r>
            <a:endParaRPr lang="zh-CN" altLang="en-US"/>
          </a:p>
          <a:p>
            <a:pPr lvl="1"/>
            <a:r>
              <a:rPr lang="zh-CN" altLang="en-US"/>
              <a:t>产品：</a:t>
            </a:r>
            <a:endParaRPr lang="zh-CN" altLang="en-US"/>
          </a:p>
          <a:p>
            <a:pPr lvl="2"/>
            <a:r>
              <a:rPr lang="zh-CN" altLang="en-US"/>
              <a:t>分类：线性编译和图编译原理，流程控制+数据(标量/矢量/张量)处理+IO处理；llvm(msvc/gcc/atc)；发布</a:t>
            </a:r>
            <a:endParaRPr lang="zh-CN" altLang="en-US" sz="1600"/>
          </a:p>
          <a:p>
            <a:pPr lvl="2"/>
            <a:r>
              <a:rPr lang="zh-CN" altLang="en-US"/>
              <a:t>实例：c(ai)/c++(ai)/go/rust/mesa/cuda/昇腾/python(ai)/js/java，lld等/binutils，deb/rpm, iso/osrepo</a:t>
            </a:r>
            <a:endParaRPr lang="zh-CN" altLang="en-US" sz="1600"/>
          </a:p>
          <a:p>
            <a:pPr lvl="2"/>
            <a:r>
              <a:rPr lang="zh-CN" altLang="en-US"/>
              <a:t>发展：图编译与线性编译紧密绑定/普遍支持；LLVM通用，msvc/gcc/atc专用，每个领域两个(通用/专用)；AI语言</a:t>
            </a:r>
            <a:endParaRPr lang="zh-CN" altLang="en-US"/>
          </a:p>
          <a:p>
            <a:pPr lvl="1"/>
            <a:r>
              <a:rPr lang="zh-CN" altLang="en-US"/>
              <a:t>学习：从使用入手，从学习语言入手，做扎实编程基础，详细了解环境(尤其Linux)，对原理感兴趣，借助AI</a:t>
            </a:r>
            <a:endParaRPr lang="zh-CN" altLang="en-US"/>
          </a:p>
          <a:p>
            <a:r>
              <a:rPr lang="zh-CN" altLang="en-US"/>
              <a:t>使用视角：</a:t>
            </a:r>
            <a:endParaRPr lang="zh-CN" altLang="en-US"/>
          </a:p>
          <a:p>
            <a:pPr lvl="1"/>
            <a:r>
              <a:rPr lang="zh-CN" altLang="en-US" sz="1800"/>
              <a:t>独立构建：编译脚本(直接/make/qmake/cmake/ninja/gn/IDE)/编译器/链接器/二进制工具/打包</a:t>
            </a:r>
            <a:endParaRPr lang="zh-CN" altLang="en-US" sz="1800"/>
          </a:p>
          <a:p>
            <a:pPr lvl="1"/>
            <a:r>
              <a:rPr lang="zh-CN" altLang="en-US" sz="1800"/>
              <a:t>集成构建：deb/rpm编包/做盘与下载源；安卓鸿蒙(估计windows/苹果也都类似)</a:t>
            </a:r>
            <a:r>
              <a:rPr lang="en-US" altLang="zh-CN" sz="1800"/>
              <a:t>/</a:t>
            </a:r>
            <a:r>
              <a:rPr lang="zh-CN" altLang="en-US" sz="1800"/>
              <a:t>适配厂商</a:t>
            </a:r>
            <a:r>
              <a:rPr lang="en-US" altLang="zh-CN" sz="1800"/>
              <a:t>/</a:t>
            </a:r>
            <a:r>
              <a:rPr lang="zh-CN" altLang="en-US" sz="1800"/>
              <a:t>交叉编译；内部定制</a:t>
            </a:r>
            <a:endParaRPr lang="zh-CN" altLang="en-US" sz="1800"/>
          </a:p>
          <a:p>
            <a:pPr lvl="1"/>
            <a:r>
              <a:rPr lang="zh-CN" altLang="en-US" sz="1800"/>
              <a:t>系统制作：输入(源码+裸机+各阶段输入内容)/输出(各阶段输出内容)；交叉编译/本地编译/标准编包</a:t>
            </a:r>
            <a:endParaRPr lang="zh-CN" altLang="en-US" sz="1800"/>
          </a:p>
          <a:p>
            <a:r>
              <a:rPr lang="zh-CN" altLang="en-US"/>
              <a:t>开发视角：</a:t>
            </a:r>
            <a:endParaRPr lang="zh-CN" altLang="en-US"/>
          </a:p>
          <a:p>
            <a:pPr lvl="1"/>
            <a:endParaRPr lang="zh-CN" altLang="en-US"/>
          </a:p>
          <a:p>
            <a:pPr lvl="1"/>
            <a:endParaRPr lang="zh-CN" altLang="en-US"/>
          </a:p>
          <a:p>
            <a:pPr lvl="1"/>
            <a:endParaRPr lang="zh-CN" altLang="en-US"/>
          </a:p>
          <a:p>
            <a:r>
              <a:rPr lang="zh-CN" altLang="en-US">
                <a:sym typeface="+mn-ea"/>
              </a:rPr>
              <a:t>综合示例</a:t>
            </a:r>
            <a:r>
              <a:rPr lang="zh-CN" altLang="en-US"/>
              <a:t>：</a:t>
            </a:r>
            <a:r>
              <a:rPr lang="zh-CN" altLang="en-US" sz="1800"/>
              <a:t>编译链接hello world程序，全流程的中间文件，反汇编/调试符号/二进制段布局和数据</a:t>
            </a:r>
            <a:endParaRPr lang="zh-CN" altLang="en-US" sz="1800"/>
          </a:p>
          <a:p>
            <a:pPr lvl="1"/>
            <a:endParaRPr lang="zh-CN" altLang="en-US"/>
          </a:p>
          <a:p>
            <a:pPr lvl="1"/>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201795" y="123190"/>
            <a:ext cx="3819525" cy="583565"/>
          </a:xfrm>
        </p:spPr>
        <p:txBody>
          <a:bodyPr>
            <a:noAutofit/>
          </a:bodyPr>
          <a:p>
            <a:r>
              <a:rPr lang="zh-CN" altLang="en-US" sz="3600"/>
              <a:t>程序的</a:t>
            </a:r>
            <a:r>
              <a:rPr lang="zh-CN" sz="3600"/>
              <a:t>编译链接</a:t>
            </a:r>
            <a:endParaRPr lang="zh-CN" sz="3600"/>
          </a:p>
        </p:txBody>
      </p:sp>
      <p:sp>
        <p:nvSpPr>
          <p:cNvPr id="4" name="Content Placeholder 3"/>
          <p:cNvSpPr>
            <a:spLocks noGrp="1"/>
          </p:cNvSpPr>
          <p:nvPr>
            <p:ph idx="1"/>
          </p:nvPr>
        </p:nvSpPr>
        <p:spPr>
          <a:xfrm>
            <a:off x="10795" y="945515"/>
            <a:ext cx="12192635" cy="5708015"/>
          </a:xfrm>
        </p:spPr>
        <p:txBody>
          <a:bodyPr>
            <a:normAutofit/>
          </a:bodyPr>
          <a:p>
            <a:r>
              <a:rPr lang="zh-CN" altLang="en-US"/>
              <a:t>功能视角：</a:t>
            </a:r>
            <a:endParaRPr lang="zh-CN" altLang="en-US"/>
          </a:p>
          <a:p>
            <a:pPr lvl="1"/>
            <a:r>
              <a:rPr lang="zh-CN" altLang="en-US"/>
              <a:t>定位：本职工作(前端各高级语言和AI语言/后端各CPU和智能卡)；使用的api是各语言(含汇编/智能卡)参考手册</a:t>
            </a:r>
            <a:endParaRPr lang="zh-CN" altLang="en-US"/>
          </a:p>
          <a:p>
            <a:pPr lvl="1"/>
            <a:r>
              <a:rPr lang="zh-CN" altLang="en-US"/>
              <a:t>产品：</a:t>
            </a:r>
            <a:endParaRPr lang="zh-CN" altLang="en-US"/>
          </a:p>
          <a:p>
            <a:pPr lvl="2"/>
            <a:r>
              <a:rPr lang="zh-CN" altLang="en-US"/>
              <a:t>分类：线性编译和图编译原理，流程控制+数据(标量/矢量/张量)处理+IO处理；llvm(msvc/gcc/atc)；发布</a:t>
            </a:r>
            <a:endParaRPr lang="zh-CN" altLang="en-US" sz="1600"/>
          </a:p>
          <a:p>
            <a:pPr lvl="2"/>
            <a:r>
              <a:rPr lang="zh-CN" altLang="en-US"/>
              <a:t>实例：c(ai)/c++(ai)/go/rust/mesa/cuda/昇腾/python(ai)/js/java，lld等/binutils，deb/rpm, iso/osrepo</a:t>
            </a:r>
            <a:endParaRPr lang="zh-CN" altLang="en-US" sz="1600"/>
          </a:p>
          <a:p>
            <a:pPr lvl="2"/>
            <a:r>
              <a:rPr lang="zh-CN" altLang="en-US"/>
              <a:t>发展：图编译与线性编译紧密绑定/普遍支持；LLVM通用，msvc/gcc/atc专用，每个领域两个(通用/专用)；AI语言</a:t>
            </a:r>
            <a:endParaRPr lang="zh-CN" altLang="en-US"/>
          </a:p>
          <a:p>
            <a:pPr lvl="1"/>
            <a:r>
              <a:rPr lang="zh-CN" altLang="en-US"/>
              <a:t>学习：从使用入手，从学习语言入手，做扎实编程基础，详细了解环境(尤其Linux)，对原理感兴趣，借助AI</a:t>
            </a:r>
            <a:endParaRPr lang="zh-CN" altLang="en-US"/>
          </a:p>
          <a:p>
            <a:r>
              <a:rPr lang="zh-CN" altLang="en-US"/>
              <a:t>使用视角：</a:t>
            </a:r>
            <a:endParaRPr lang="zh-CN" altLang="en-US"/>
          </a:p>
          <a:p>
            <a:pPr lvl="1"/>
            <a:r>
              <a:rPr lang="zh-CN" altLang="en-US" sz="1800"/>
              <a:t>独立构建：编译脚本(直接/make/qmake/cmake/ninja/gn/IDE)/编译器/链接器/二进制工具/打包</a:t>
            </a:r>
            <a:endParaRPr lang="zh-CN" altLang="en-US" sz="1800"/>
          </a:p>
          <a:p>
            <a:pPr lvl="1"/>
            <a:r>
              <a:rPr lang="zh-CN" altLang="en-US" sz="1800"/>
              <a:t>集成构建：deb/rpm编包/做盘与下载源；安卓鸿蒙(估计windows/苹果也都类似)</a:t>
            </a:r>
            <a:r>
              <a:rPr lang="en-US" altLang="zh-CN" sz="1800"/>
              <a:t>/</a:t>
            </a:r>
            <a:r>
              <a:rPr lang="zh-CN" altLang="en-US" sz="1800"/>
              <a:t>适配厂商</a:t>
            </a:r>
            <a:r>
              <a:rPr lang="en-US" altLang="zh-CN" sz="1800"/>
              <a:t>/</a:t>
            </a:r>
            <a:r>
              <a:rPr lang="zh-CN" altLang="en-US" sz="1800"/>
              <a:t>交叉编译；内部定制</a:t>
            </a:r>
            <a:endParaRPr lang="zh-CN" altLang="en-US" sz="1800"/>
          </a:p>
          <a:p>
            <a:pPr lvl="1"/>
            <a:r>
              <a:rPr lang="zh-CN" altLang="en-US" sz="1800"/>
              <a:t>系统制作：输入(源码+裸机+各阶段输入内容)/输出(各阶段输出内容)；交叉编译/本地编译/标准编包</a:t>
            </a:r>
            <a:endParaRPr lang="zh-CN" altLang="en-US" sz="1800"/>
          </a:p>
          <a:p>
            <a:r>
              <a:rPr lang="zh-CN" altLang="en-US"/>
              <a:t>开发视角：</a:t>
            </a:r>
            <a:endParaRPr lang="zh-CN" altLang="en-US"/>
          </a:p>
          <a:p>
            <a:pPr lvl="1"/>
            <a:r>
              <a:rPr lang="zh-CN" altLang="en-US"/>
              <a:t>编译原理：前端(功能/线性/图)/中间语言(优化)/后端(LTO/汇编/opcode)，起始/自举/交叉，开发框架</a:t>
            </a:r>
            <a:endParaRPr lang="zh-CN" altLang="en-US"/>
          </a:p>
          <a:p>
            <a:pPr lvl="1"/>
            <a:r>
              <a:rPr lang="zh-CN" altLang="en-US"/>
              <a:t>链接原理：文件布局(elf/om)/静态/动态链接/LTO，指定入口/导出符号/段设置(异构链接)，支撑库</a:t>
            </a:r>
            <a:endParaRPr lang="zh-CN" altLang="en-US"/>
          </a:p>
          <a:p>
            <a:pPr lvl="1"/>
            <a:r>
              <a:rPr lang="zh-CN" altLang="en-US"/>
              <a:t>内容方法：增加语言或功能(前端)/增加平台(后端)，解决bug，代码优化；单元测试/中间文件</a:t>
            </a:r>
            <a:endParaRPr lang="zh-CN" altLang="en-US"/>
          </a:p>
          <a:p>
            <a:r>
              <a:rPr lang="zh-CN" altLang="en-US">
                <a:sym typeface="+mn-ea"/>
              </a:rPr>
              <a:t>综合示例</a:t>
            </a:r>
            <a:r>
              <a:rPr lang="zh-CN" altLang="en-US"/>
              <a:t>：</a:t>
            </a:r>
            <a:r>
              <a:rPr lang="zh-CN" altLang="en-US" sz="1800"/>
              <a:t>编译链接hello world程序，全流程的中间文件，反汇编/调试符号/二进制段布局和数据</a:t>
            </a:r>
            <a:endParaRPr lang="zh-CN" altLang="en-US" sz="1800"/>
          </a:p>
          <a:p>
            <a:pPr lvl="1"/>
            <a:endParaRPr lang="zh-CN" altLang="en-US"/>
          </a:p>
          <a:p>
            <a:pPr lvl="1"/>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201795" y="123190"/>
            <a:ext cx="3819525" cy="583565"/>
          </a:xfrm>
        </p:spPr>
        <p:txBody>
          <a:bodyPr>
            <a:noAutofit/>
          </a:bodyPr>
          <a:p>
            <a:r>
              <a:rPr lang="zh-CN" altLang="en-US" sz="3600"/>
              <a:t>我的</a:t>
            </a:r>
            <a:r>
              <a:rPr lang="en-US" altLang="zh-CN" sz="3600"/>
              <a:t>AI</a:t>
            </a:r>
            <a:r>
              <a:rPr lang="zh-CN" altLang="en-US" sz="3600"/>
              <a:t>语言</a:t>
            </a:r>
            <a:endParaRPr lang="zh-CN" altLang="en-US" sz="3600"/>
          </a:p>
        </p:txBody>
      </p:sp>
      <p:sp>
        <p:nvSpPr>
          <p:cNvPr id="4" name="Content Placeholder 3"/>
          <p:cNvSpPr>
            <a:spLocks noGrp="1"/>
          </p:cNvSpPr>
          <p:nvPr>
            <p:ph idx="1"/>
          </p:nvPr>
        </p:nvSpPr>
        <p:spPr>
          <a:xfrm>
            <a:off x="10795" y="945515"/>
            <a:ext cx="12192635" cy="5708015"/>
          </a:xfrm>
        </p:spPr>
        <p:txBody>
          <a:bodyPr>
            <a:normAutofit/>
          </a:bodyPr>
          <a:p>
            <a:r>
              <a:rPr lang="zh-CN" altLang="en-US"/>
              <a:t>功能视角：</a:t>
            </a:r>
            <a:endParaRPr lang="zh-CN" altLang="en-US"/>
          </a:p>
          <a:p>
            <a:pPr lvl="1"/>
            <a:endParaRPr lang="zh-CN" altLang="en-US"/>
          </a:p>
          <a:p>
            <a:pPr lvl="1"/>
            <a:endParaRPr lang="zh-CN" altLang="en-US"/>
          </a:p>
          <a:p>
            <a:pPr lvl="2"/>
            <a:endParaRPr lang="zh-CN" altLang="en-US"/>
          </a:p>
          <a:p>
            <a:pPr lvl="2"/>
            <a:endParaRPr lang="zh-CN" altLang="en-US"/>
          </a:p>
          <a:p>
            <a:pPr lvl="2"/>
            <a:endParaRPr lang="zh-CN" altLang="en-US"/>
          </a:p>
          <a:p>
            <a:pPr lvl="1"/>
            <a:endParaRPr lang="zh-CN" altLang="en-US"/>
          </a:p>
          <a:p>
            <a:r>
              <a:rPr lang="zh-CN" altLang="en-US"/>
              <a:t>使用视角：</a:t>
            </a:r>
            <a:endParaRPr lang="zh-CN" altLang="en-US"/>
          </a:p>
          <a:p>
            <a:pPr lvl="1"/>
            <a:endParaRPr lang="zh-CN" altLang="en-US" sz="1800"/>
          </a:p>
          <a:p>
            <a:pPr lvl="1"/>
            <a:endParaRPr lang="zh-CN" altLang="en-US" sz="1800"/>
          </a:p>
          <a:p>
            <a:pPr lvl="1"/>
            <a:endParaRPr lang="zh-CN" altLang="en-US" sz="1800"/>
          </a:p>
          <a:p>
            <a:r>
              <a:rPr lang="zh-CN" altLang="en-US"/>
              <a:t>开发视角：</a:t>
            </a:r>
            <a:endParaRPr lang="zh-CN" altLang="en-US"/>
          </a:p>
          <a:p>
            <a:pPr lvl="1"/>
            <a:endParaRPr lang="zh-CN" altLang="en-US"/>
          </a:p>
          <a:p>
            <a:pPr lvl="1"/>
            <a:endParaRPr lang="zh-CN" altLang="en-US"/>
          </a:p>
          <a:p>
            <a:pPr lvl="1"/>
            <a:endParaRPr lang="zh-CN" altLang="en-US"/>
          </a:p>
          <a:p>
            <a:r>
              <a:rPr lang="zh-CN" altLang="en-US"/>
              <a:t>程序员看</a:t>
            </a:r>
            <a:r>
              <a:rPr lang="en-US" altLang="zh-CN"/>
              <a:t>AI</a:t>
            </a:r>
            <a:r>
              <a:rPr lang="zh-CN" altLang="en-US"/>
              <a:t>：</a:t>
            </a:r>
            <a:r>
              <a:rPr lang="zh-CN" altLang="en-US" sz="1800"/>
              <a:t>原始视频合集，不局限于AI语言，而是整体介绍，同时也含人文经济社会层面内容</a:t>
            </a:r>
            <a:endParaRPr lang="zh-CN" altLang="en-US"/>
          </a:p>
          <a:p>
            <a:pPr lvl="1"/>
            <a:endParaRPr lang="zh-CN" altLang="en-US"/>
          </a:p>
          <a:p>
            <a:pPr lvl="1"/>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201795" y="123190"/>
            <a:ext cx="3819525" cy="583565"/>
          </a:xfrm>
        </p:spPr>
        <p:txBody>
          <a:bodyPr>
            <a:noAutofit/>
          </a:bodyPr>
          <a:p>
            <a:r>
              <a:rPr lang="zh-CN" altLang="en-US" sz="3600"/>
              <a:t>我的</a:t>
            </a:r>
            <a:r>
              <a:rPr lang="en-US" altLang="zh-CN" sz="3600"/>
              <a:t>AI</a:t>
            </a:r>
            <a:r>
              <a:rPr lang="zh-CN" altLang="en-US" sz="3600"/>
              <a:t>语言</a:t>
            </a:r>
            <a:endParaRPr lang="zh-CN" altLang="en-US" sz="3600"/>
          </a:p>
        </p:txBody>
      </p:sp>
      <p:sp>
        <p:nvSpPr>
          <p:cNvPr id="4" name="Content Placeholder 3"/>
          <p:cNvSpPr>
            <a:spLocks noGrp="1"/>
          </p:cNvSpPr>
          <p:nvPr>
            <p:ph idx="1"/>
          </p:nvPr>
        </p:nvSpPr>
        <p:spPr>
          <a:xfrm>
            <a:off x="10795" y="945515"/>
            <a:ext cx="12192635" cy="5708015"/>
          </a:xfrm>
        </p:spPr>
        <p:txBody>
          <a:bodyPr>
            <a:normAutofit/>
          </a:bodyPr>
          <a:p>
            <a:r>
              <a:rPr lang="zh-CN" altLang="en-US"/>
              <a:t>功能视角：</a:t>
            </a:r>
            <a:endParaRPr lang="zh-CN" altLang="en-US"/>
          </a:p>
          <a:p>
            <a:pPr lvl="1"/>
            <a:r>
              <a:rPr lang="zh-CN" altLang="en-US"/>
              <a:t>定位：NLP与AI整体，主体职责，分别与Shell语言和各高级语言进行比对(AI语言模糊/高级语言量化)</a:t>
            </a:r>
            <a:endParaRPr lang="zh-CN" altLang="en-US"/>
          </a:p>
          <a:p>
            <a:pPr lvl="1"/>
            <a:r>
              <a:rPr lang="zh-CN" altLang="en-US"/>
              <a:t>产品：</a:t>
            </a:r>
            <a:endParaRPr lang="zh-CN" altLang="en-US"/>
          </a:p>
          <a:p>
            <a:pPr lvl="2"/>
            <a:r>
              <a:rPr lang="zh-CN" altLang="en-US"/>
              <a:t>主导：deepseek(纯国产化/专注文本解决问题)，豆包(ChatGPT+抖音/综合能力强/方便) ，全免费(手机/电脑/网页)</a:t>
            </a:r>
            <a:endParaRPr lang="zh-CN" altLang="en-US"/>
          </a:p>
          <a:p>
            <a:pPr lvl="2"/>
            <a:r>
              <a:rPr lang="zh-CN" altLang="en-US"/>
              <a:t>配合：语言沟通/语音转文字/翻译/文字识别</a:t>
            </a:r>
            <a:endParaRPr lang="zh-CN" altLang="en-US"/>
          </a:p>
          <a:p>
            <a:pPr lvl="2"/>
            <a:r>
              <a:rPr lang="zh-CN" altLang="en-US"/>
              <a:t>发展：基础平台化(渠道越来越广越多样)，AI语言编程化(自身编程/多语言配合)，巩固AI语言的AI核心化地位</a:t>
            </a:r>
            <a:endParaRPr lang="zh-CN" altLang="en-US"/>
          </a:p>
          <a:p>
            <a:pPr lvl="1"/>
            <a:r>
              <a:rPr lang="zh-CN" altLang="en-US"/>
              <a:t>学习：语文/数学/英语/计算机，基础教育的重要性，广义的信息技术/一部分信息科学/一部分物理</a:t>
            </a:r>
            <a:endParaRPr lang="zh-CN" altLang="en-US"/>
          </a:p>
          <a:p>
            <a:r>
              <a:rPr lang="zh-CN" altLang="en-US"/>
              <a:t>使用视角：</a:t>
            </a:r>
            <a:endParaRPr lang="zh-CN" altLang="en-US"/>
          </a:p>
          <a:p>
            <a:pPr lvl="1"/>
            <a:endParaRPr lang="zh-CN" altLang="en-US" sz="1800"/>
          </a:p>
          <a:p>
            <a:pPr lvl="1"/>
            <a:endParaRPr lang="zh-CN" altLang="en-US" sz="1800"/>
          </a:p>
          <a:p>
            <a:pPr lvl="1"/>
            <a:endParaRPr lang="zh-CN" altLang="en-US" sz="1800"/>
          </a:p>
          <a:p>
            <a:r>
              <a:rPr lang="zh-CN" altLang="en-US"/>
              <a:t>开发视角：</a:t>
            </a:r>
            <a:endParaRPr lang="zh-CN" altLang="en-US"/>
          </a:p>
          <a:p>
            <a:pPr lvl="1"/>
            <a:endParaRPr lang="zh-CN" altLang="en-US"/>
          </a:p>
          <a:p>
            <a:pPr lvl="1"/>
            <a:endParaRPr lang="zh-CN" altLang="en-US"/>
          </a:p>
          <a:p>
            <a:pPr lvl="1"/>
            <a:endParaRPr lang="zh-CN" altLang="en-US"/>
          </a:p>
          <a:p>
            <a:r>
              <a:rPr lang="zh-CN" altLang="en-US"/>
              <a:t>程序员看</a:t>
            </a:r>
            <a:r>
              <a:rPr lang="en-US" altLang="zh-CN"/>
              <a:t>AI</a:t>
            </a:r>
            <a:r>
              <a:rPr lang="zh-CN" altLang="en-US"/>
              <a:t>：</a:t>
            </a:r>
            <a:r>
              <a:rPr lang="zh-CN" altLang="en-US" sz="1800"/>
              <a:t>原始视频合集，不局限于AI语言，而是整体介绍，同时也含人文经济社会层面内容</a:t>
            </a:r>
            <a:endParaRPr lang="zh-CN" altLang="en-US"/>
          </a:p>
          <a:p>
            <a:pPr lvl="1"/>
            <a:endParaRPr lang="zh-CN" altLang="en-US"/>
          </a:p>
          <a:p>
            <a:pPr lvl="1"/>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201795" y="123190"/>
            <a:ext cx="3819525" cy="583565"/>
          </a:xfrm>
        </p:spPr>
        <p:txBody>
          <a:bodyPr>
            <a:noAutofit/>
          </a:bodyPr>
          <a:p>
            <a:r>
              <a:rPr lang="zh-CN" altLang="en-US" sz="3600"/>
              <a:t>我的</a:t>
            </a:r>
            <a:r>
              <a:rPr lang="en-US" altLang="zh-CN" sz="3600"/>
              <a:t>AI</a:t>
            </a:r>
            <a:r>
              <a:rPr lang="zh-CN" altLang="en-US" sz="3600"/>
              <a:t>语言</a:t>
            </a:r>
            <a:endParaRPr lang="zh-CN" altLang="en-US" sz="3600"/>
          </a:p>
        </p:txBody>
      </p:sp>
      <p:sp>
        <p:nvSpPr>
          <p:cNvPr id="4" name="Content Placeholder 3"/>
          <p:cNvSpPr>
            <a:spLocks noGrp="1"/>
          </p:cNvSpPr>
          <p:nvPr>
            <p:ph idx="1"/>
          </p:nvPr>
        </p:nvSpPr>
        <p:spPr>
          <a:xfrm>
            <a:off x="10795" y="945515"/>
            <a:ext cx="12192635" cy="5708015"/>
          </a:xfrm>
        </p:spPr>
        <p:txBody>
          <a:bodyPr>
            <a:normAutofit/>
          </a:bodyPr>
          <a:p>
            <a:r>
              <a:rPr lang="zh-CN" altLang="en-US"/>
              <a:t>功能视角：</a:t>
            </a:r>
            <a:endParaRPr lang="zh-CN" altLang="en-US"/>
          </a:p>
          <a:p>
            <a:pPr lvl="1"/>
            <a:r>
              <a:rPr lang="zh-CN" altLang="en-US"/>
              <a:t>定位：NLP与AI整体，主体职责，分别与Shell语言和各高级语言进行比对(AI语言模糊/高级语言量化)</a:t>
            </a:r>
            <a:endParaRPr lang="zh-CN" altLang="en-US"/>
          </a:p>
          <a:p>
            <a:pPr lvl="1"/>
            <a:r>
              <a:rPr lang="zh-CN" altLang="en-US"/>
              <a:t>产品：</a:t>
            </a:r>
            <a:endParaRPr lang="zh-CN" altLang="en-US"/>
          </a:p>
          <a:p>
            <a:pPr lvl="2"/>
            <a:r>
              <a:rPr lang="zh-CN" altLang="en-US"/>
              <a:t>主导：deepseek(纯国产化/专注文本解决问题)，豆包(ChatGPT+抖音/综合能力强/方便) ，全免费(手机/电脑/网页)</a:t>
            </a:r>
            <a:endParaRPr lang="zh-CN" altLang="en-US"/>
          </a:p>
          <a:p>
            <a:pPr lvl="2"/>
            <a:r>
              <a:rPr lang="zh-CN" altLang="en-US"/>
              <a:t>配合：语言沟通/语音转文字/翻译/文字识别</a:t>
            </a:r>
            <a:endParaRPr lang="zh-CN" altLang="en-US"/>
          </a:p>
          <a:p>
            <a:pPr lvl="2"/>
            <a:r>
              <a:rPr lang="zh-CN" altLang="en-US"/>
              <a:t>发展：基础平台化(渠道越来越广越多样)，AI语言编程化(自身编程/多语言配合)，巩固AI语言的AI核心化地位</a:t>
            </a:r>
            <a:endParaRPr lang="zh-CN" altLang="en-US"/>
          </a:p>
          <a:p>
            <a:pPr lvl="1"/>
            <a:r>
              <a:rPr lang="zh-CN" altLang="en-US"/>
              <a:t>学习：语文/数学/英语/计算机，基础教育的重要性，广义的信息技术/一部分信息科学/一部分物理</a:t>
            </a:r>
            <a:endParaRPr lang="zh-CN" altLang="en-US"/>
          </a:p>
          <a:p>
            <a:r>
              <a:rPr lang="zh-CN" altLang="en-US"/>
              <a:t>使用视角：</a:t>
            </a:r>
            <a:endParaRPr lang="zh-CN" altLang="en-US"/>
          </a:p>
          <a:p>
            <a:pPr lvl="1"/>
            <a:r>
              <a:rPr lang="zh-CN" altLang="en-US" sz="1800"/>
              <a:t>普通用户：语言直接问，只参考，需实践确认；生活/生产/科技，图文并茂；越精细越好，迭代问，专业成体系</a:t>
            </a:r>
            <a:endParaRPr lang="zh-CN" altLang="en-US" sz="1800"/>
          </a:p>
          <a:p>
            <a:pPr lvl="1"/>
            <a:r>
              <a:rPr lang="zh-CN" altLang="en-US" sz="1800"/>
              <a:t>编程人员：设计(代码阅读/产品分析/结构分析)/开发(写独立代码/代码提示)/调试(代码检查/配合解决问题)</a:t>
            </a:r>
            <a:endParaRPr lang="zh-CN" altLang="en-US" sz="1800"/>
          </a:p>
          <a:p>
            <a:pPr lvl="1"/>
            <a:r>
              <a:rPr lang="zh-CN" altLang="en-US" sz="1800"/>
              <a:t>未来场景：设备听语言/理逻辑/再执行；输入文字当作程序；学习记忆复制人说的话和文字，参数/回调/同步异步</a:t>
            </a:r>
            <a:endParaRPr lang="zh-CN" altLang="en-US" sz="1800"/>
          </a:p>
          <a:p>
            <a:r>
              <a:rPr lang="zh-CN" altLang="en-US"/>
              <a:t>开发视角：</a:t>
            </a:r>
            <a:endParaRPr lang="zh-CN" altLang="en-US"/>
          </a:p>
          <a:p>
            <a:pPr lvl="1"/>
            <a:endParaRPr lang="zh-CN" altLang="en-US"/>
          </a:p>
          <a:p>
            <a:pPr lvl="1"/>
            <a:endParaRPr lang="zh-CN" altLang="en-US"/>
          </a:p>
          <a:p>
            <a:pPr lvl="1"/>
            <a:endParaRPr lang="zh-CN" altLang="en-US"/>
          </a:p>
          <a:p>
            <a:r>
              <a:rPr lang="zh-CN" altLang="en-US"/>
              <a:t>程序员看</a:t>
            </a:r>
            <a:r>
              <a:rPr lang="en-US" altLang="zh-CN"/>
              <a:t>AI</a:t>
            </a:r>
            <a:r>
              <a:rPr lang="zh-CN" altLang="en-US"/>
              <a:t>：</a:t>
            </a:r>
            <a:r>
              <a:rPr lang="zh-CN" altLang="en-US" sz="1800"/>
              <a:t>原始视频合集，不局限于AI语言，而是整体介绍，同时也含人文经济社会层面内容</a:t>
            </a:r>
            <a:endParaRPr lang="zh-CN" altLang="en-US"/>
          </a:p>
          <a:p>
            <a:pPr lvl="1"/>
            <a:endParaRPr lang="zh-CN" altLang="en-US"/>
          </a:p>
          <a:p>
            <a:pPr lvl="1"/>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201795" y="123190"/>
            <a:ext cx="3819525" cy="583565"/>
          </a:xfrm>
        </p:spPr>
        <p:txBody>
          <a:bodyPr>
            <a:noAutofit/>
          </a:bodyPr>
          <a:p>
            <a:r>
              <a:rPr lang="zh-CN" altLang="en-US" sz="3600"/>
              <a:t>我的</a:t>
            </a:r>
            <a:r>
              <a:rPr lang="en-US" altLang="zh-CN" sz="3600"/>
              <a:t>AI</a:t>
            </a:r>
            <a:r>
              <a:rPr lang="zh-CN" altLang="en-US" sz="3600"/>
              <a:t>语言</a:t>
            </a:r>
            <a:endParaRPr lang="zh-CN" altLang="en-US" sz="3600"/>
          </a:p>
        </p:txBody>
      </p:sp>
      <p:sp>
        <p:nvSpPr>
          <p:cNvPr id="4" name="Content Placeholder 3"/>
          <p:cNvSpPr>
            <a:spLocks noGrp="1"/>
          </p:cNvSpPr>
          <p:nvPr>
            <p:ph idx="1"/>
          </p:nvPr>
        </p:nvSpPr>
        <p:spPr>
          <a:xfrm>
            <a:off x="10795" y="945515"/>
            <a:ext cx="12192635" cy="5708015"/>
          </a:xfrm>
        </p:spPr>
        <p:txBody>
          <a:bodyPr>
            <a:normAutofit/>
          </a:bodyPr>
          <a:p>
            <a:r>
              <a:rPr lang="zh-CN" altLang="en-US"/>
              <a:t>功能视角：</a:t>
            </a:r>
            <a:endParaRPr lang="zh-CN" altLang="en-US"/>
          </a:p>
          <a:p>
            <a:pPr lvl="1"/>
            <a:r>
              <a:rPr lang="zh-CN" altLang="en-US"/>
              <a:t>定位：NLP与AI整体，主体职责，分别与Shell语言和各高级语言进行比对(AI语言模糊/高级语言量化)</a:t>
            </a:r>
            <a:endParaRPr lang="zh-CN" altLang="en-US"/>
          </a:p>
          <a:p>
            <a:pPr lvl="1"/>
            <a:r>
              <a:rPr lang="zh-CN" altLang="en-US"/>
              <a:t>产品：</a:t>
            </a:r>
            <a:endParaRPr lang="zh-CN" altLang="en-US"/>
          </a:p>
          <a:p>
            <a:pPr lvl="2"/>
            <a:r>
              <a:rPr lang="zh-CN" altLang="en-US"/>
              <a:t>主导：deepseek(纯国产化/专注文本解决问题)，豆包(ChatGPT+抖音/综合能力强/方便) ，全免费(手机/电脑/网页)</a:t>
            </a:r>
            <a:endParaRPr lang="zh-CN" altLang="en-US"/>
          </a:p>
          <a:p>
            <a:pPr lvl="2"/>
            <a:r>
              <a:rPr lang="zh-CN" altLang="en-US"/>
              <a:t>配合：语言沟通/语音转文字/翻译/文字识别</a:t>
            </a:r>
            <a:endParaRPr lang="zh-CN" altLang="en-US"/>
          </a:p>
          <a:p>
            <a:pPr lvl="2"/>
            <a:r>
              <a:rPr lang="zh-CN" altLang="en-US"/>
              <a:t>发展：基础平台化(渠道越来越广越多样)，AI语言编程化(自身编程/多语言配合)，巩固AI语言的AI核心化地位</a:t>
            </a:r>
            <a:endParaRPr lang="zh-CN" altLang="en-US"/>
          </a:p>
          <a:p>
            <a:pPr lvl="1"/>
            <a:r>
              <a:rPr lang="zh-CN" altLang="en-US"/>
              <a:t>学习：语文/数学/英语/计算机，基础教育的重要性，广义的信息技术/一部分信息科学/一部分物理</a:t>
            </a:r>
            <a:endParaRPr lang="zh-CN" altLang="en-US"/>
          </a:p>
          <a:p>
            <a:r>
              <a:rPr lang="zh-CN" altLang="en-US"/>
              <a:t>使用视角：</a:t>
            </a:r>
            <a:endParaRPr lang="zh-CN" altLang="en-US"/>
          </a:p>
          <a:p>
            <a:pPr lvl="1"/>
            <a:r>
              <a:rPr lang="zh-CN" altLang="en-US" sz="1800"/>
              <a:t>普通用户：语言直接问，只参考，需实践确认；生活/生产/科技，图文并茂；越精细越好，迭代问，专业成体系</a:t>
            </a:r>
            <a:endParaRPr lang="zh-CN" altLang="en-US" sz="1800"/>
          </a:p>
          <a:p>
            <a:pPr lvl="1"/>
            <a:r>
              <a:rPr lang="zh-CN" altLang="en-US" sz="1800"/>
              <a:t>编程人员：设计(代码阅读/产品分析/结构分析)/开发(写独立代码/代码提示)/调试(代码检查/配合解决问题)</a:t>
            </a:r>
            <a:endParaRPr lang="zh-CN" altLang="en-US" sz="1800"/>
          </a:p>
          <a:p>
            <a:pPr lvl="1"/>
            <a:r>
              <a:rPr lang="zh-CN" altLang="en-US" sz="1800"/>
              <a:t>未来场景：设备听语言/理逻辑/再执行；输入文字当作程序；学习记忆复制人说的话和文字，参数/回调/同步异步</a:t>
            </a:r>
            <a:endParaRPr lang="zh-CN" altLang="en-US" sz="1800"/>
          </a:p>
          <a:p>
            <a:r>
              <a:rPr lang="zh-CN" altLang="en-US"/>
              <a:t>开发视角：</a:t>
            </a:r>
            <a:endParaRPr lang="zh-CN" altLang="en-US"/>
          </a:p>
          <a:p>
            <a:pPr lvl="1"/>
            <a:r>
              <a:rPr lang="zh-CN" altLang="en-US"/>
              <a:t>实现：功能层面，NLP/搜索(百度</a:t>
            </a:r>
            <a:r>
              <a:rPr lang="en-US" altLang="zh-CN"/>
              <a:t>/</a:t>
            </a:r>
            <a:r>
              <a:rPr lang="zh-CN" altLang="en-US"/>
              <a:t>谷歌)/数据分析/子工具(系统/行业)；非功能层面，处理/存储/传输的显著提升</a:t>
            </a:r>
            <a:endParaRPr lang="zh-CN" altLang="en-US"/>
          </a:p>
          <a:p>
            <a:pPr lvl="1"/>
            <a:r>
              <a:rPr lang="zh-CN" altLang="en-US"/>
              <a:t>理论：语言范畴；开发，硬件(汇编)/系统(C/Shell)/应用(高级语言/Shell)/人(NLP)；使用，机器(Shell)/人(NLP)</a:t>
            </a:r>
            <a:endParaRPr lang="zh-CN" altLang="en-US"/>
          </a:p>
          <a:p>
            <a:pPr lvl="1"/>
            <a:r>
              <a:rPr lang="zh-CN" altLang="en-US">
                <a:sym typeface="+mn-ea"/>
              </a:rPr>
              <a:t>科学：仿生(脑与迷走神经/章鱼/黏菌)</a:t>
            </a:r>
            <a:r>
              <a:rPr lang="en-US" altLang="zh-CN">
                <a:sym typeface="+mn-ea"/>
              </a:rPr>
              <a:t>/</a:t>
            </a:r>
            <a:r>
              <a:rPr lang="zh-CN" altLang="en-US">
                <a:sym typeface="+mn-ea"/>
              </a:rPr>
              <a:t>量子，物理(量子计算通讯/物质时空)，数学(语言科学/逻辑公理/哲学宗教)</a:t>
            </a:r>
            <a:endParaRPr lang="zh-CN" altLang="en-US"/>
          </a:p>
          <a:p>
            <a:r>
              <a:rPr lang="zh-CN" altLang="en-US"/>
              <a:t>程序员看</a:t>
            </a:r>
            <a:r>
              <a:rPr lang="en-US" altLang="zh-CN"/>
              <a:t>AI</a:t>
            </a:r>
            <a:r>
              <a:rPr lang="zh-CN" altLang="en-US"/>
              <a:t>：</a:t>
            </a:r>
            <a:r>
              <a:rPr lang="zh-CN" altLang="en-US" sz="1800"/>
              <a:t>原始视频合集，不局限于AI语言，而是整体介绍，同时也含人文经济社会层面内容</a:t>
            </a:r>
            <a:endParaRPr lang="zh-CN" altLang="en-US"/>
          </a:p>
          <a:p>
            <a:pPr lvl="1"/>
            <a:endParaRPr lang="zh-CN" altLang="en-US"/>
          </a:p>
          <a:p>
            <a:pPr lvl="1"/>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201795" y="123190"/>
            <a:ext cx="3819525" cy="583565"/>
          </a:xfrm>
        </p:spPr>
        <p:txBody>
          <a:bodyPr>
            <a:noAutofit/>
          </a:bodyPr>
          <a:p>
            <a:r>
              <a:rPr lang="zh-CN" altLang="en-US" sz="3600"/>
              <a:t>我的高级语言</a:t>
            </a:r>
            <a:endParaRPr lang="zh-CN" altLang="en-US" sz="3600"/>
          </a:p>
        </p:txBody>
      </p:sp>
      <p:sp>
        <p:nvSpPr>
          <p:cNvPr id="4" name="Content Placeholder 3"/>
          <p:cNvSpPr>
            <a:spLocks noGrp="1"/>
          </p:cNvSpPr>
          <p:nvPr>
            <p:ph idx="1"/>
          </p:nvPr>
        </p:nvSpPr>
        <p:spPr>
          <a:xfrm>
            <a:off x="10795" y="1129030"/>
            <a:ext cx="12192635" cy="5017135"/>
          </a:xfrm>
        </p:spPr>
        <p:txBody>
          <a:bodyPr>
            <a:normAutofit lnSpcReduction="10000"/>
          </a:bodyPr>
          <a:p>
            <a:r>
              <a:rPr lang="zh-CN" altLang="en-US"/>
              <a:t>功能视角：</a:t>
            </a:r>
            <a:endParaRPr lang="zh-CN" altLang="en-US"/>
          </a:p>
          <a:p>
            <a:pPr lvl="1"/>
            <a:endParaRPr lang="zh-CN" altLang="en-US"/>
          </a:p>
          <a:p>
            <a:pPr lvl="1"/>
            <a:endParaRPr lang="zh-CN" altLang="en-US"/>
          </a:p>
          <a:p>
            <a:pPr lvl="1"/>
            <a:endParaRPr lang="zh-CN" altLang="en-US"/>
          </a:p>
          <a:p>
            <a:r>
              <a:rPr lang="zh-CN" altLang="en-US"/>
              <a:t>使用视角：</a:t>
            </a:r>
            <a:endParaRPr lang="zh-CN" altLang="en-US"/>
          </a:p>
          <a:p>
            <a:pPr lvl="1"/>
            <a:endParaRPr lang="zh-CN" altLang="en-US" sz="1800"/>
          </a:p>
          <a:p>
            <a:pPr lvl="1"/>
            <a:endParaRPr lang="zh-CN" altLang="en-US" sz="1800"/>
          </a:p>
          <a:p>
            <a:pPr lvl="1"/>
            <a:endParaRPr lang="zh-CN" altLang="en-US" sz="1800"/>
          </a:p>
          <a:p>
            <a:r>
              <a:rPr lang="zh-CN" altLang="en-US"/>
              <a:t>实现视角：</a:t>
            </a:r>
            <a:endParaRPr lang="zh-CN" altLang="en-US"/>
          </a:p>
          <a:p>
            <a:pPr lvl="1"/>
            <a:endParaRPr lang="zh-CN" altLang="en-US"/>
          </a:p>
          <a:p>
            <a:pPr lvl="1"/>
            <a:endParaRPr lang="zh-CN" altLang="en-US"/>
          </a:p>
          <a:p>
            <a:pPr lvl="1"/>
            <a:endParaRPr lang="zh-CN" altLang="en-US"/>
          </a:p>
          <a:p>
            <a:r>
              <a:rPr lang="zh-CN" altLang="en-US"/>
              <a:t>综合示例：</a:t>
            </a:r>
            <a:endParaRPr lang="zh-CN" altLang="en-US"/>
          </a:p>
          <a:p>
            <a:pPr lvl="1"/>
            <a:endParaRPr lang="zh-CN" altLang="en-US"/>
          </a:p>
          <a:p>
            <a:pPr lvl="1"/>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201795" y="123190"/>
            <a:ext cx="3819525" cy="583565"/>
          </a:xfrm>
        </p:spPr>
        <p:txBody>
          <a:bodyPr>
            <a:noAutofit/>
          </a:bodyPr>
          <a:p>
            <a:r>
              <a:rPr lang="zh-CN" altLang="en-US" sz="3600"/>
              <a:t>我的高级语言</a:t>
            </a:r>
            <a:endParaRPr lang="zh-CN" altLang="en-US" sz="3600"/>
          </a:p>
        </p:txBody>
      </p:sp>
      <p:sp>
        <p:nvSpPr>
          <p:cNvPr id="4" name="Content Placeholder 3"/>
          <p:cNvSpPr>
            <a:spLocks noGrp="1"/>
          </p:cNvSpPr>
          <p:nvPr>
            <p:ph idx="1"/>
          </p:nvPr>
        </p:nvSpPr>
        <p:spPr>
          <a:xfrm>
            <a:off x="10795" y="1129030"/>
            <a:ext cx="12192635" cy="5017135"/>
          </a:xfrm>
        </p:spPr>
        <p:txBody>
          <a:bodyPr>
            <a:normAutofit lnSpcReduction="10000"/>
          </a:bodyPr>
          <a:p>
            <a:r>
              <a:rPr lang="zh-CN" altLang="en-US"/>
              <a:t>功能视角：</a:t>
            </a:r>
            <a:endParaRPr lang="zh-CN" altLang="en-US"/>
          </a:p>
          <a:p>
            <a:pPr lvl="1"/>
            <a:r>
              <a:rPr lang="zh-CN" altLang="en-US"/>
              <a:t>定位：面向业务应用，与</a:t>
            </a:r>
            <a:r>
              <a:rPr lang="en-US" altLang="zh-CN"/>
              <a:t>C/</a:t>
            </a:r>
            <a:r>
              <a:rPr lang="en-US" altLang="zh-CN"/>
              <a:t>shell/</a:t>
            </a:r>
            <a:r>
              <a:rPr lang="zh-CN" altLang="en-US"/>
              <a:t>自然语言处理进行比对，与汇编语言的关系。</a:t>
            </a:r>
            <a:endParaRPr lang="zh-CN" altLang="en-US"/>
          </a:p>
          <a:p>
            <a:pPr lvl="1"/>
            <a:r>
              <a:rPr lang="zh-CN" altLang="en-US"/>
              <a:t>举例：</a:t>
            </a:r>
            <a:r>
              <a:rPr lang="en-US" altLang="zh-CN"/>
              <a:t>Perl/Python/JS/Java/GO</a:t>
            </a:r>
            <a:r>
              <a:rPr lang="en-US" altLang="zh-CN">
                <a:sym typeface="+mn-ea"/>
              </a:rPr>
              <a:t>/Rust</a:t>
            </a:r>
            <a:r>
              <a:rPr lang="en-US" altLang="zh-CN">
                <a:sym typeface="+mn-ea"/>
              </a:rPr>
              <a:t>/C++</a:t>
            </a:r>
            <a:r>
              <a:rPr lang="zh-CN" altLang="en-US"/>
              <a:t>，进行整体概要介绍(含开发视角的整体描述的精简内容)</a:t>
            </a:r>
            <a:endParaRPr lang="zh-CN" altLang="en-US"/>
          </a:p>
          <a:p>
            <a:pPr lvl="1"/>
            <a:r>
              <a:rPr lang="zh-CN" altLang="en-US"/>
              <a:t>学习：至少要比较系统地学习了解一门高级语言；后继根据实际项目产品需求学习其他高级语言；借助</a:t>
            </a:r>
            <a:r>
              <a:rPr lang="en-US" altLang="zh-CN"/>
              <a:t>AI</a:t>
            </a:r>
            <a:endParaRPr lang="zh-CN" altLang="en-US"/>
          </a:p>
          <a:p>
            <a:r>
              <a:rPr lang="zh-CN" altLang="en-US"/>
              <a:t>使用视角：</a:t>
            </a:r>
            <a:endParaRPr lang="zh-CN" altLang="en-US"/>
          </a:p>
          <a:p>
            <a:pPr lvl="1"/>
            <a:endParaRPr lang="zh-CN" altLang="en-US" sz="1800"/>
          </a:p>
          <a:p>
            <a:pPr lvl="1"/>
            <a:endParaRPr lang="zh-CN" altLang="en-US" sz="1800"/>
          </a:p>
          <a:p>
            <a:pPr lvl="1"/>
            <a:endParaRPr lang="zh-CN" altLang="en-US" sz="1800"/>
          </a:p>
          <a:p>
            <a:r>
              <a:rPr lang="zh-CN" altLang="en-US"/>
              <a:t>实现视角：</a:t>
            </a:r>
            <a:endParaRPr lang="zh-CN" altLang="en-US"/>
          </a:p>
          <a:p>
            <a:pPr lvl="1"/>
            <a:endParaRPr lang="zh-CN" altLang="en-US"/>
          </a:p>
          <a:p>
            <a:pPr lvl="1"/>
            <a:endParaRPr lang="zh-CN" altLang="en-US"/>
          </a:p>
          <a:p>
            <a:pPr lvl="1"/>
            <a:endParaRPr lang="zh-CN" altLang="en-US"/>
          </a:p>
          <a:p>
            <a:r>
              <a:rPr lang="zh-CN" altLang="en-US"/>
              <a:t>综合示例：</a:t>
            </a:r>
            <a:endParaRPr lang="zh-CN" altLang="en-US"/>
          </a:p>
          <a:p>
            <a:pPr lvl="1"/>
            <a:endParaRPr lang="zh-CN" altLang="en-US"/>
          </a:p>
          <a:p>
            <a:pPr lvl="1"/>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201795" y="123190"/>
            <a:ext cx="3819525" cy="583565"/>
          </a:xfrm>
        </p:spPr>
        <p:txBody>
          <a:bodyPr>
            <a:noAutofit/>
          </a:bodyPr>
          <a:p>
            <a:r>
              <a:rPr lang="zh-CN" altLang="en-US" sz="3600"/>
              <a:t>我的高级语言</a:t>
            </a:r>
            <a:endParaRPr lang="zh-CN" altLang="en-US" sz="3600"/>
          </a:p>
        </p:txBody>
      </p:sp>
      <p:sp>
        <p:nvSpPr>
          <p:cNvPr id="4" name="Content Placeholder 3"/>
          <p:cNvSpPr>
            <a:spLocks noGrp="1"/>
          </p:cNvSpPr>
          <p:nvPr>
            <p:ph idx="1"/>
          </p:nvPr>
        </p:nvSpPr>
        <p:spPr>
          <a:xfrm>
            <a:off x="10795" y="1129030"/>
            <a:ext cx="12192635" cy="5017135"/>
          </a:xfrm>
        </p:spPr>
        <p:txBody>
          <a:bodyPr>
            <a:normAutofit lnSpcReduction="10000"/>
          </a:bodyPr>
          <a:p>
            <a:r>
              <a:rPr lang="zh-CN" altLang="en-US"/>
              <a:t>功能视角：</a:t>
            </a:r>
            <a:endParaRPr lang="zh-CN" altLang="en-US"/>
          </a:p>
          <a:p>
            <a:pPr lvl="1"/>
            <a:r>
              <a:rPr lang="zh-CN" altLang="en-US"/>
              <a:t>定位：面向业务应用，与</a:t>
            </a:r>
            <a:r>
              <a:rPr lang="en-US" altLang="zh-CN"/>
              <a:t>C/</a:t>
            </a:r>
            <a:r>
              <a:rPr lang="en-US" altLang="zh-CN"/>
              <a:t>shell/</a:t>
            </a:r>
            <a:r>
              <a:rPr lang="zh-CN" altLang="en-US"/>
              <a:t>自然语言处理进行比对，与汇编语言的关系。</a:t>
            </a:r>
            <a:endParaRPr lang="zh-CN" altLang="en-US"/>
          </a:p>
          <a:p>
            <a:pPr lvl="1"/>
            <a:r>
              <a:rPr lang="zh-CN" altLang="en-US"/>
              <a:t>举例：</a:t>
            </a:r>
            <a:r>
              <a:rPr lang="en-US" altLang="zh-CN"/>
              <a:t>Perl/Python/JS/Java/GO</a:t>
            </a:r>
            <a:r>
              <a:rPr lang="en-US" altLang="zh-CN">
                <a:sym typeface="+mn-ea"/>
              </a:rPr>
              <a:t>/Rust</a:t>
            </a:r>
            <a:r>
              <a:rPr lang="en-US" altLang="zh-CN">
                <a:sym typeface="+mn-ea"/>
              </a:rPr>
              <a:t>/C++</a:t>
            </a:r>
            <a:r>
              <a:rPr lang="zh-CN" altLang="en-US"/>
              <a:t>，进行整体概要介绍(含开发视角的整体描述的精简内容)</a:t>
            </a:r>
            <a:endParaRPr lang="zh-CN" altLang="en-US"/>
          </a:p>
          <a:p>
            <a:pPr lvl="1"/>
            <a:r>
              <a:rPr lang="zh-CN" altLang="en-US"/>
              <a:t>学习：至少要比较系统地学习了解一门高级语言；后继根据实际项目产品需求学习其他高级语言；借助</a:t>
            </a:r>
            <a:r>
              <a:rPr lang="en-US" altLang="zh-CN"/>
              <a:t>AI</a:t>
            </a:r>
            <a:endParaRPr lang="zh-CN" altLang="en-US"/>
          </a:p>
          <a:p>
            <a:r>
              <a:rPr lang="zh-CN" altLang="en-US"/>
              <a:t>使用视角：</a:t>
            </a:r>
            <a:r>
              <a:rPr lang="zh-CN" altLang="en-US" sz="1800"/>
              <a:t>根据项目产品需求</a:t>
            </a:r>
            <a:endParaRPr lang="zh-CN" altLang="en-US"/>
          </a:p>
          <a:p>
            <a:pPr lvl="1"/>
            <a:r>
              <a:rPr lang="zh-CN" altLang="en-US" sz="1800"/>
              <a:t>语言选择：给出选择的依据；多种语言的配合使用；每个语言的版本标准和相关厂商的选择。</a:t>
            </a:r>
            <a:endParaRPr lang="zh-CN" altLang="en-US" sz="1800"/>
          </a:p>
          <a:p>
            <a:pPr lvl="1"/>
            <a:r>
              <a:rPr lang="zh-CN" altLang="en-US" sz="1800"/>
              <a:t>环境搭建：集成化开发环境，整体编译打包环境；包含各种组件（开源</a:t>
            </a:r>
            <a:r>
              <a:rPr lang="en-US" altLang="zh-CN" sz="1800"/>
              <a:t>/</a:t>
            </a:r>
            <a:r>
              <a:rPr lang="zh-CN" altLang="en-US" sz="1800"/>
              <a:t>闭源</a:t>
            </a:r>
            <a:r>
              <a:rPr lang="en-US" altLang="zh-CN" sz="1800"/>
              <a:t>/AI </a:t>
            </a:r>
            <a:r>
              <a:rPr lang="zh-CN" altLang="en-US" sz="1800"/>
              <a:t>）；使用版本管理</a:t>
            </a:r>
            <a:endParaRPr lang="zh-CN" altLang="en-US" sz="1800"/>
          </a:p>
          <a:p>
            <a:pPr lvl="1"/>
            <a:r>
              <a:rPr lang="zh-CN" altLang="en-US" sz="1800"/>
              <a:t>集成开发：软件工程；对用户使用</a:t>
            </a:r>
            <a:r>
              <a:rPr lang="en-US" altLang="zh-CN" sz="1800"/>
              <a:t>/</a:t>
            </a:r>
            <a:r>
              <a:rPr lang="zh-CN" altLang="en-US" sz="1800"/>
              <a:t>业务建模</a:t>
            </a:r>
            <a:r>
              <a:rPr lang="en-US" altLang="zh-CN" sz="1800"/>
              <a:t>/</a:t>
            </a:r>
            <a:r>
              <a:rPr lang="zh-CN" altLang="en-US" sz="1800"/>
              <a:t>系统平台的理解；参考程序员的四维时空</a:t>
            </a:r>
            <a:r>
              <a:rPr lang="en-US" altLang="zh-CN" sz="1800"/>
              <a:t>/</a:t>
            </a:r>
            <a:r>
              <a:rPr lang="zh-CN" altLang="en-US" sz="1800"/>
              <a:t>高级语言特性</a:t>
            </a:r>
            <a:r>
              <a:rPr lang="en-US" altLang="zh-CN" sz="1800"/>
              <a:t>/AI</a:t>
            </a:r>
            <a:r>
              <a:rPr lang="zh-CN" altLang="en-US" sz="1800"/>
              <a:t>。</a:t>
            </a:r>
            <a:endParaRPr lang="zh-CN" altLang="en-US" sz="1800"/>
          </a:p>
          <a:p>
            <a:r>
              <a:rPr lang="zh-CN" altLang="en-US"/>
              <a:t>实现视角：</a:t>
            </a:r>
            <a:endParaRPr lang="zh-CN" altLang="en-US"/>
          </a:p>
          <a:p>
            <a:pPr lvl="1"/>
            <a:endParaRPr lang="zh-CN" altLang="en-US"/>
          </a:p>
          <a:p>
            <a:pPr lvl="1"/>
            <a:endParaRPr lang="zh-CN" altLang="en-US"/>
          </a:p>
          <a:p>
            <a:pPr lvl="1"/>
            <a:endParaRPr lang="zh-CN" altLang="en-US"/>
          </a:p>
          <a:p>
            <a:r>
              <a:rPr lang="zh-CN" altLang="en-US"/>
              <a:t>综合示例：</a:t>
            </a:r>
            <a:endParaRPr lang="zh-CN" altLang="en-US"/>
          </a:p>
          <a:p>
            <a:pPr lvl="1"/>
            <a:endParaRPr lang="zh-CN" altLang="en-US"/>
          </a:p>
          <a:p>
            <a:pPr lvl="1"/>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201795" y="123190"/>
            <a:ext cx="3819525" cy="583565"/>
          </a:xfrm>
        </p:spPr>
        <p:txBody>
          <a:bodyPr>
            <a:noAutofit/>
          </a:bodyPr>
          <a:p>
            <a:r>
              <a:rPr lang="zh-CN" altLang="en-US" sz="3600"/>
              <a:t>我的高级语言</a:t>
            </a:r>
            <a:endParaRPr lang="zh-CN" altLang="en-US" sz="3600"/>
          </a:p>
        </p:txBody>
      </p:sp>
      <p:sp>
        <p:nvSpPr>
          <p:cNvPr id="4" name="Content Placeholder 3"/>
          <p:cNvSpPr>
            <a:spLocks noGrp="1"/>
          </p:cNvSpPr>
          <p:nvPr>
            <p:ph idx="1"/>
          </p:nvPr>
        </p:nvSpPr>
        <p:spPr>
          <a:xfrm>
            <a:off x="10795" y="1129030"/>
            <a:ext cx="12192635" cy="5017135"/>
          </a:xfrm>
        </p:spPr>
        <p:txBody>
          <a:bodyPr>
            <a:normAutofit lnSpcReduction="10000"/>
          </a:bodyPr>
          <a:p>
            <a:r>
              <a:rPr lang="zh-CN" altLang="en-US"/>
              <a:t>功能视角：</a:t>
            </a:r>
            <a:endParaRPr lang="zh-CN" altLang="en-US"/>
          </a:p>
          <a:p>
            <a:pPr lvl="1"/>
            <a:r>
              <a:rPr lang="zh-CN" altLang="en-US"/>
              <a:t>定位：面向业务应用，与</a:t>
            </a:r>
            <a:r>
              <a:rPr lang="en-US" altLang="zh-CN"/>
              <a:t>C/</a:t>
            </a:r>
            <a:r>
              <a:rPr lang="en-US" altLang="zh-CN"/>
              <a:t>shell/</a:t>
            </a:r>
            <a:r>
              <a:rPr lang="zh-CN" altLang="en-US"/>
              <a:t>自然语言处理进行比对，与汇编语言的关系。</a:t>
            </a:r>
            <a:endParaRPr lang="zh-CN" altLang="en-US"/>
          </a:p>
          <a:p>
            <a:pPr lvl="1"/>
            <a:r>
              <a:rPr lang="zh-CN" altLang="en-US"/>
              <a:t>举例：</a:t>
            </a:r>
            <a:r>
              <a:rPr lang="en-US" altLang="zh-CN"/>
              <a:t>Perl/Python/JS/Java/GO</a:t>
            </a:r>
            <a:r>
              <a:rPr lang="en-US" altLang="zh-CN">
                <a:sym typeface="+mn-ea"/>
              </a:rPr>
              <a:t>/Rust</a:t>
            </a:r>
            <a:r>
              <a:rPr lang="en-US" altLang="zh-CN">
                <a:sym typeface="+mn-ea"/>
              </a:rPr>
              <a:t>/C++</a:t>
            </a:r>
            <a:r>
              <a:rPr lang="zh-CN" altLang="en-US"/>
              <a:t>，进行整体概要介绍(含开发视角的整体描述的精简内容)</a:t>
            </a:r>
            <a:endParaRPr lang="zh-CN" altLang="en-US"/>
          </a:p>
          <a:p>
            <a:pPr lvl="1"/>
            <a:r>
              <a:rPr lang="zh-CN" altLang="en-US"/>
              <a:t>学习：至少要比较系统地学习了解一门高级语言；后继根据实际项目产品需求学习其他高级语言；借助</a:t>
            </a:r>
            <a:r>
              <a:rPr lang="en-US" altLang="zh-CN"/>
              <a:t>AI</a:t>
            </a:r>
            <a:endParaRPr lang="zh-CN" altLang="en-US"/>
          </a:p>
          <a:p>
            <a:r>
              <a:rPr lang="zh-CN" altLang="en-US"/>
              <a:t>使用视角：</a:t>
            </a:r>
            <a:r>
              <a:rPr lang="zh-CN" altLang="en-US" sz="1800"/>
              <a:t>根据项目产品需求</a:t>
            </a:r>
            <a:endParaRPr lang="zh-CN" altLang="en-US"/>
          </a:p>
          <a:p>
            <a:pPr lvl="1"/>
            <a:r>
              <a:rPr lang="zh-CN" altLang="en-US" sz="1800"/>
              <a:t>语言选择：给出选择的依据；多种语言的配合使用；每个语言的版本标准和相关厂商的选择。</a:t>
            </a:r>
            <a:endParaRPr lang="zh-CN" altLang="en-US" sz="1800"/>
          </a:p>
          <a:p>
            <a:pPr lvl="1"/>
            <a:r>
              <a:rPr lang="zh-CN" altLang="en-US" sz="1800"/>
              <a:t>环境搭建：集成化开发环境，整体编译打包环境；包含各种组件（开源</a:t>
            </a:r>
            <a:r>
              <a:rPr lang="en-US" altLang="zh-CN" sz="1800"/>
              <a:t>/</a:t>
            </a:r>
            <a:r>
              <a:rPr lang="zh-CN" altLang="en-US" sz="1800"/>
              <a:t>闭源</a:t>
            </a:r>
            <a:r>
              <a:rPr lang="en-US" altLang="zh-CN" sz="1800"/>
              <a:t>/AI </a:t>
            </a:r>
            <a:r>
              <a:rPr lang="zh-CN" altLang="en-US" sz="1800"/>
              <a:t>）；使用版本管理</a:t>
            </a:r>
            <a:endParaRPr lang="zh-CN" altLang="en-US" sz="1800"/>
          </a:p>
          <a:p>
            <a:pPr lvl="1"/>
            <a:r>
              <a:rPr lang="zh-CN" altLang="en-US" sz="1800"/>
              <a:t>集成开发：软件工程；对用户使用</a:t>
            </a:r>
            <a:r>
              <a:rPr lang="en-US" altLang="zh-CN" sz="1800"/>
              <a:t>/</a:t>
            </a:r>
            <a:r>
              <a:rPr lang="zh-CN" altLang="en-US" sz="1800"/>
              <a:t>业务建模</a:t>
            </a:r>
            <a:r>
              <a:rPr lang="en-US" altLang="zh-CN" sz="1800"/>
              <a:t>/</a:t>
            </a:r>
            <a:r>
              <a:rPr lang="zh-CN" altLang="en-US" sz="1800"/>
              <a:t>系统平台的理解；参考程序员的四维时空</a:t>
            </a:r>
            <a:r>
              <a:rPr lang="en-US" altLang="zh-CN" sz="1800"/>
              <a:t>/</a:t>
            </a:r>
            <a:r>
              <a:rPr lang="zh-CN" altLang="en-US" sz="1800"/>
              <a:t>高级语言特性</a:t>
            </a:r>
            <a:r>
              <a:rPr lang="en-US" altLang="zh-CN" sz="1800"/>
              <a:t>/AI</a:t>
            </a:r>
            <a:r>
              <a:rPr lang="zh-CN" altLang="en-US" sz="1800"/>
              <a:t>。</a:t>
            </a:r>
            <a:endParaRPr lang="zh-CN" altLang="en-US" sz="1800"/>
          </a:p>
          <a:p>
            <a:r>
              <a:rPr lang="zh-CN" altLang="en-US"/>
              <a:t>实现视角：</a:t>
            </a:r>
            <a:endParaRPr lang="zh-CN" altLang="en-US"/>
          </a:p>
          <a:p>
            <a:pPr lvl="1"/>
            <a:r>
              <a:rPr lang="zh-CN" altLang="en-US"/>
              <a:t>整体描述：编译</a:t>
            </a:r>
            <a:r>
              <a:rPr lang="en-US" altLang="zh-CN"/>
              <a:t>/</a:t>
            </a:r>
            <a:r>
              <a:rPr lang="zh-CN" altLang="en-US"/>
              <a:t>解释</a:t>
            </a:r>
            <a:r>
              <a:rPr lang="en-US" altLang="zh-CN"/>
              <a:t>/</a:t>
            </a:r>
            <a:r>
              <a:rPr lang="zh-CN" altLang="en-US"/>
              <a:t>加载运行；</a:t>
            </a:r>
            <a:r>
              <a:rPr lang="zh-CN" altLang="en-US">
                <a:sym typeface="+mn-ea"/>
              </a:rPr>
              <a:t>多语言交叉调用；</a:t>
            </a:r>
            <a:r>
              <a:rPr lang="zh-CN" altLang="en-US"/>
              <a:t>面向对象</a:t>
            </a:r>
            <a:r>
              <a:rPr lang="en-US" altLang="zh-CN"/>
              <a:t>/</a:t>
            </a:r>
            <a:r>
              <a:rPr lang="zh-CN" altLang="en-US">
                <a:sym typeface="+mn-ea"/>
              </a:rPr>
              <a:t>泛型，</a:t>
            </a:r>
            <a:r>
              <a:rPr lang="zh-CN" altLang="en-US"/>
              <a:t>元编程，并行并发</a:t>
            </a:r>
            <a:endParaRPr lang="zh-CN" altLang="en-US"/>
          </a:p>
          <a:p>
            <a:pPr lvl="1"/>
            <a:r>
              <a:rPr lang="zh-CN" altLang="en-US"/>
              <a:t>语言层面：封装继承多态，名称范围/符号重载，多返回值；泛型；反射(元编程)；注解(元编程)，协程(并行并发)</a:t>
            </a:r>
            <a:endParaRPr lang="zh-CN" altLang="en-US"/>
          </a:p>
          <a:p>
            <a:pPr lvl="1"/>
            <a:r>
              <a:rPr lang="zh-CN" altLang="en-US"/>
              <a:t>适用层面：资源自动管理：内存，文件IO，同步对象/嵌套函数闭包；流程：异常/管道/引用；基础/扩展库</a:t>
            </a:r>
            <a:endParaRPr lang="zh-CN" altLang="en-US"/>
          </a:p>
          <a:p>
            <a:r>
              <a:rPr lang="zh-CN" altLang="en-US"/>
              <a:t>综合示例：</a:t>
            </a:r>
            <a:endParaRPr lang="zh-CN" altLang="en-US"/>
          </a:p>
          <a:p>
            <a:pPr lvl="1"/>
            <a:endParaRPr lang="zh-CN" altLang="en-US"/>
          </a:p>
          <a:p>
            <a:pPr lvl="1"/>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201795" y="123190"/>
            <a:ext cx="3819525" cy="583565"/>
          </a:xfrm>
        </p:spPr>
        <p:txBody>
          <a:bodyPr>
            <a:noAutofit/>
          </a:bodyPr>
          <a:p>
            <a:r>
              <a:rPr lang="zh-CN" altLang="en-US" sz="3600"/>
              <a:t>我的高级语言</a:t>
            </a:r>
            <a:endParaRPr lang="zh-CN" altLang="en-US" sz="3600"/>
          </a:p>
        </p:txBody>
      </p:sp>
      <p:sp>
        <p:nvSpPr>
          <p:cNvPr id="4" name="Content Placeholder 3"/>
          <p:cNvSpPr>
            <a:spLocks noGrp="1"/>
          </p:cNvSpPr>
          <p:nvPr>
            <p:ph idx="1"/>
          </p:nvPr>
        </p:nvSpPr>
        <p:spPr>
          <a:xfrm>
            <a:off x="10795" y="1129030"/>
            <a:ext cx="12192635" cy="5017135"/>
          </a:xfrm>
        </p:spPr>
        <p:txBody>
          <a:bodyPr>
            <a:normAutofit lnSpcReduction="10000"/>
          </a:bodyPr>
          <a:p>
            <a:r>
              <a:rPr lang="zh-CN" altLang="en-US"/>
              <a:t>功能视角：</a:t>
            </a:r>
            <a:endParaRPr lang="zh-CN" altLang="en-US"/>
          </a:p>
          <a:p>
            <a:pPr lvl="1"/>
            <a:r>
              <a:rPr lang="zh-CN" altLang="en-US"/>
              <a:t>定位：面向业务应用，与</a:t>
            </a:r>
            <a:r>
              <a:rPr lang="en-US" altLang="zh-CN"/>
              <a:t>C/</a:t>
            </a:r>
            <a:r>
              <a:rPr lang="en-US" altLang="zh-CN"/>
              <a:t>shell/</a:t>
            </a:r>
            <a:r>
              <a:rPr lang="zh-CN" altLang="en-US"/>
              <a:t>自然语言处理进行比对，与汇编语言的关系。</a:t>
            </a:r>
            <a:endParaRPr lang="zh-CN" altLang="en-US"/>
          </a:p>
          <a:p>
            <a:pPr lvl="1"/>
            <a:r>
              <a:rPr lang="zh-CN" altLang="en-US"/>
              <a:t>举例：</a:t>
            </a:r>
            <a:r>
              <a:rPr lang="en-US" altLang="zh-CN"/>
              <a:t>Perl/Python/JS/Java/GO</a:t>
            </a:r>
            <a:r>
              <a:rPr lang="en-US" altLang="zh-CN">
                <a:sym typeface="+mn-ea"/>
              </a:rPr>
              <a:t>/Rust</a:t>
            </a:r>
            <a:r>
              <a:rPr lang="en-US" altLang="zh-CN">
                <a:sym typeface="+mn-ea"/>
              </a:rPr>
              <a:t>/C++</a:t>
            </a:r>
            <a:r>
              <a:rPr lang="zh-CN" altLang="en-US"/>
              <a:t>，进行整体概要介绍(含开发视角的整体描述的精简内容)</a:t>
            </a:r>
            <a:endParaRPr lang="zh-CN" altLang="en-US"/>
          </a:p>
          <a:p>
            <a:pPr lvl="1"/>
            <a:r>
              <a:rPr lang="zh-CN" altLang="en-US"/>
              <a:t>学习：至少要比较系统地学习了解一门高级语言；后继根据实际项目产品需求学习其他高级语言；借助</a:t>
            </a:r>
            <a:r>
              <a:rPr lang="en-US" altLang="zh-CN"/>
              <a:t>AI</a:t>
            </a:r>
            <a:endParaRPr lang="zh-CN" altLang="en-US"/>
          </a:p>
          <a:p>
            <a:r>
              <a:rPr lang="zh-CN" altLang="en-US"/>
              <a:t>使用视角：</a:t>
            </a:r>
            <a:r>
              <a:rPr lang="zh-CN" altLang="en-US" sz="1800"/>
              <a:t>根据项目产品需求</a:t>
            </a:r>
            <a:endParaRPr lang="zh-CN" altLang="en-US"/>
          </a:p>
          <a:p>
            <a:pPr lvl="1"/>
            <a:r>
              <a:rPr lang="zh-CN" altLang="en-US" sz="1800"/>
              <a:t>语言选择：给出选择的依据；多种语言的配合使用；每个语言的版本标准和相关厂商的选择。</a:t>
            </a:r>
            <a:endParaRPr lang="zh-CN" altLang="en-US" sz="1800"/>
          </a:p>
          <a:p>
            <a:pPr lvl="1"/>
            <a:r>
              <a:rPr lang="zh-CN" altLang="en-US" sz="1800"/>
              <a:t>环境搭建：集成化开发环境，整体编译打包环境；包含各种组件（开源</a:t>
            </a:r>
            <a:r>
              <a:rPr lang="en-US" altLang="zh-CN" sz="1800"/>
              <a:t>/</a:t>
            </a:r>
            <a:r>
              <a:rPr lang="zh-CN" altLang="en-US" sz="1800"/>
              <a:t>闭源</a:t>
            </a:r>
            <a:r>
              <a:rPr lang="en-US" altLang="zh-CN" sz="1800"/>
              <a:t>/AI </a:t>
            </a:r>
            <a:r>
              <a:rPr lang="zh-CN" altLang="en-US" sz="1800"/>
              <a:t>）；使用版本管理</a:t>
            </a:r>
            <a:endParaRPr lang="zh-CN" altLang="en-US" sz="1800"/>
          </a:p>
          <a:p>
            <a:pPr lvl="1"/>
            <a:r>
              <a:rPr lang="zh-CN" altLang="en-US" sz="1800"/>
              <a:t>集成开发：软件工程；对用户使用</a:t>
            </a:r>
            <a:r>
              <a:rPr lang="en-US" altLang="zh-CN" sz="1800"/>
              <a:t>/</a:t>
            </a:r>
            <a:r>
              <a:rPr lang="zh-CN" altLang="en-US" sz="1800"/>
              <a:t>业务建模</a:t>
            </a:r>
            <a:r>
              <a:rPr lang="en-US" altLang="zh-CN" sz="1800"/>
              <a:t>/</a:t>
            </a:r>
            <a:r>
              <a:rPr lang="zh-CN" altLang="en-US" sz="1800"/>
              <a:t>系统平台的理解；参考程序员的四维时空</a:t>
            </a:r>
            <a:r>
              <a:rPr lang="en-US" altLang="zh-CN" sz="1800"/>
              <a:t>/</a:t>
            </a:r>
            <a:r>
              <a:rPr lang="zh-CN" altLang="en-US" sz="1800"/>
              <a:t>高级语言特性</a:t>
            </a:r>
            <a:r>
              <a:rPr lang="en-US" altLang="zh-CN" sz="1800"/>
              <a:t>/AI</a:t>
            </a:r>
            <a:r>
              <a:rPr lang="zh-CN" altLang="en-US" sz="1800"/>
              <a:t>。</a:t>
            </a:r>
            <a:endParaRPr lang="zh-CN" altLang="en-US" sz="1800"/>
          </a:p>
          <a:p>
            <a:r>
              <a:rPr lang="zh-CN" altLang="en-US"/>
              <a:t>实现视角：</a:t>
            </a:r>
            <a:endParaRPr lang="zh-CN" altLang="en-US"/>
          </a:p>
          <a:p>
            <a:pPr lvl="1"/>
            <a:r>
              <a:rPr lang="zh-CN" altLang="en-US"/>
              <a:t>整体描述：编译</a:t>
            </a:r>
            <a:r>
              <a:rPr lang="en-US" altLang="zh-CN"/>
              <a:t>/</a:t>
            </a:r>
            <a:r>
              <a:rPr lang="zh-CN" altLang="en-US"/>
              <a:t>解释</a:t>
            </a:r>
            <a:r>
              <a:rPr lang="en-US" altLang="zh-CN"/>
              <a:t>/</a:t>
            </a:r>
            <a:r>
              <a:rPr lang="zh-CN" altLang="en-US"/>
              <a:t>加载运行；</a:t>
            </a:r>
            <a:r>
              <a:rPr lang="zh-CN" altLang="en-US">
                <a:sym typeface="+mn-ea"/>
              </a:rPr>
              <a:t>多语言交叉调用；</a:t>
            </a:r>
            <a:r>
              <a:rPr lang="zh-CN" altLang="en-US"/>
              <a:t>面向对象</a:t>
            </a:r>
            <a:r>
              <a:rPr lang="en-US" altLang="zh-CN"/>
              <a:t>/</a:t>
            </a:r>
            <a:r>
              <a:rPr lang="zh-CN" altLang="en-US">
                <a:sym typeface="+mn-ea"/>
              </a:rPr>
              <a:t>泛型，</a:t>
            </a:r>
            <a:r>
              <a:rPr lang="zh-CN" altLang="en-US"/>
              <a:t>元编程，并行并发</a:t>
            </a:r>
            <a:endParaRPr lang="zh-CN" altLang="en-US"/>
          </a:p>
          <a:p>
            <a:pPr lvl="1"/>
            <a:r>
              <a:rPr lang="zh-CN" altLang="en-US"/>
              <a:t>语言层面：封装继承多态，名称范围/符号重载，多返回值；泛型；反射(元编程)；注解(元编程)，协程(并行并发)</a:t>
            </a:r>
            <a:endParaRPr lang="zh-CN" altLang="en-US"/>
          </a:p>
          <a:p>
            <a:pPr lvl="1"/>
            <a:r>
              <a:rPr lang="zh-CN" altLang="en-US"/>
              <a:t>适用层面：资源自动管理：内存，文件IO，同步对象/嵌套函数闭包；流程：异常/管道/引用；基础/扩展库</a:t>
            </a:r>
            <a:endParaRPr lang="zh-CN" altLang="en-US"/>
          </a:p>
          <a:p>
            <a:r>
              <a:rPr lang="zh-CN" altLang="en-US"/>
              <a:t>综合示例：</a:t>
            </a:r>
            <a:r>
              <a:rPr lang="zh-CN" altLang="en-US" sz="1800"/>
              <a:t>覆盖面尽可能广</a:t>
            </a:r>
            <a:endParaRPr lang="zh-CN" altLang="en-US"/>
          </a:p>
          <a:p>
            <a:pPr lvl="1"/>
            <a:r>
              <a:rPr lang="en-US" altLang="zh-CN"/>
              <a:t>Python</a:t>
            </a:r>
            <a:r>
              <a:rPr lang="zh-CN" altLang="en-US"/>
              <a:t>：与</a:t>
            </a:r>
            <a:r>
              <a:rPr lang="en-US" altLang="zh-CN"/>
              <a:t>C</a:t>
            </a:r>
            <a:r>
              <a:rPr lang="zh-CN" altLang="en-US"/>
              <a:t>交互调用</a:t>
            </a:r>
            <a:r>
              <a:rPr lang="en-US" altLang="zh-CN"/>
              <a:t>(</a:t>
            </a:r>
            <a:r>
              <a:rPr lang="zh-CN" altLang="en-US"/>
              <a:t>跨线程</a:t>
            </a:r>
            <a:r>
              <a:rPr lang="en-US" altLang="zh-CN"/>
              <a:t>)</a:t>
            </a:r>
            <a:endParaRPr lang="zh-CN" altLang="en-US"/>
          </a:p>
          <a:p>
            <a:pPr lvl="1"/>
            <a:r>
              <a:rPr lang="en-US" altLang="zh-CN"/>
              <a:t>JS</a:t>
            </a:r>
            <a:r>
              <a:rPr lang="zh-CN" altLang="en-US"/>
              <a:t>：前后端</a:t>
            </a:r>
            <a:r>
              <a:rPr lang="en-US" altLang="zh-CN"/>
              <a:t>+</a:t>
            </a:r>
            <a:r>
              <a:rPr lang="zh-CN" altLang="en-US"/>
              <a:t>调用命令</a:t>
            </a:r>
            <a:endParaRPr lang="en-US" altLang="zh-CN"/>
          </a:p>
          <a:p>
            <a:pPr lvl="1"/>
            <a:r>
              <a:rPr lang="en-US" altLang="zh-CN"/>
              <a:t>C++</a:t>
            </a:r>
            <a:r>
              <a:rPr lang="zh-CN" altLang="en-US"/>
              <a:t>：</a:t>
            </a:r>
            <a:r>
              <a:rPr lang="en-US" altLang="zh-CN"/>
              <a:t>IDE+QT+</a:t>
            </a:r>
            <a:r>
              <a:rPr lang="zh-CN" altLang="en-US"/>
              <a:t>内置</a:t>
            </a:r>
            <a:r>
              <a:rPr lang="en-US" altLang="zh-CN"/>
              <a:t>demo</a:t>
            </a:r>
            <a:r>
              <a:rPr lang="zh-CN" altLang="en-US"/>
              <a:t>，包含各类功能（含图形）</a:t>
            </a:r>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201795" y="123190"/>
            <a:ext cx="3819525" cy="583565"/>
          </a:xfrm>
        </p:spPr>
        <p:txBody>
          <a:bodyPr>
            <a:noAutofit/>
          </a:bodyPr>
          <a:p>
            <a:r>
              <a:rPr lang="zh-CN" altLang="en-US" sz="3600"/>
              <a:t>我的汇编语言</a:t>
            </a:r>
            <a:endParaRPr lang="zh-CN" altLang="en-US" sz="3600"/>
          </a:p>
        </p:txBody>
      </p:sp>
      <p:sp>
        <p:nvSpPr>
          <p:cNvPr id="4" name="Content Placeholder 3"/>
          <p:cNvSpPr>
            <a:spLocks noGrp="1"/>
          </p:cNvSpPr>
          <p:nvPr>
            <p:ph idx="1"/>
          </p:nvPr>
        </p:nvSpPr>
        <p:spPr>
          <a:xfrm>
            <a:off x="0" y="729615"/>
            <a:ext cx="12192635" cy="5793740"/>
          </a:xfrm>
        </p:spPr>
        <p:txBody>
          <a:bodyPr>
            <a:normAutofit/>
          </a:bodyPr>
          <a:p>
            <a:r>
              <a:rPr lang="zh-CN" altLang="en-US"/>
              <a:t>功能视角：</a:t>
            </a:r>
            <a:endParaRPr lang="zh-CN" altLang="en-US"/>
          </a:p>
          <a:p>
            <a:pPr lvl="1"/>
            <a:endParaRPr lang="zh-CN" altLang="en-US"/>
          </a:p>
          <a:p>
            <a:pPr lvl="1"/>
            <a:endParaRPr lang="zh-CN" altLang="en-US"/>
          </a:p>
          <a:p>
            <a:pPr lvl="1"/>
            <a:endParaRPr lang="zh-CN" altLang="en-US"/>
          </a:p>
          <a:p>
            <a:r>
              <a:rPr lang="zh-CN" altLang="en-US"/>
              <a:t>使用视角：</a:t>
            </a:r>
            <a:endParaRPr lang="zh-CN" altLang="en-US"/>
          </a:p>
          <a:p>
            <a:pPr lvl="1"/>
            <a:endParaRPr lang="zh-CN" altLang="en-US" sz="1800"/>
          </a:p>
          <a:p>
            <a:pPr lvl="1"/>
            <a:endParaRPr lang="zh-CN" altLang="en-US" sz="1800"/>
          </a:p>
          <a:p>
            <a:pPr lvl="1"/>
            <a:endParaRPr lang="zh-CN" altLang="en-US" sz="1800"/>
          </a:p>
          <a:p>
            <a:r>
              <a:rPr lang="zh-CN" altLang="en-US"/>
              <a:t>开发视角：</a:t>
            </a:r>
            <a:endParaRPr lang="zh-CN" altLang="en-US"/>
          </a:p>
          <a:p>
            <a:pPr lvl="1"/>
            <a:endParaRPr lang="zh-CN" altLang="en-US"/>
          </a:p>
          <a:p>
            <a:pPr lvl="1"/>
            <a:endParaRPr lang="zh-CN" altLang="en-US"/>
          </a:p>
          <a:p>
            <a:pPr lvl="1"/>
            <a:endParaRPr lang="zh-CN" altLang="en-US"/>
          </a:p>
          <a:p>
            <a:r>
              <a:rPr lang="zh-CN" altLang="en-US"/>
              <a:t>综合示例：</a:t>
            </a:r>
            <a:endParaRPr lang="zh-CN" altLang="en-US"/>
          </a:p>
          <a:p>
            <a:pPr lvl="1"/>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201795" y="123190"/>
            <a:ext cx="3819525" cy="583565"/>
          </a:xfrm>
        </p:spPr>
        <p:txBody>
          <a:bodyPr>
            <a:noAutofit/>
          </a:bodyPr>
          <a:p>
            <a:r>
              <a:rPr lang="zh-CN" altLang="en-US" sz="3600"/>
              <a:t>我的汇编语言</a:t>
            </a:r>
            <a:endParaRPr lang="zh-CN" altLang="en-US" sz="3600"/>
          </a:p>
        </p:txBody>
      </p:sp>
      <p:sp>
        <p:nvSpPr>
          <p:cNvPr id="4" name="Content Placeholder 3"/>
          <p:cNvSpPr>
            <a:spLocks noGrp="1"/>
          </p:cNvSpPr>
          <p:nvPr>
            <p:ph idx="1"/>
          </p:nvPr>
        </p:nvSpPr>
        <p:spPr>
          <a:xfrm>
            <a:off x="0" y="729615"/>
            <a:ext cx="12192635" cy="5793740"/>
          </a:xfrm>
        </p:spPr>
        <p:txBody>
          <a:bodyPr>
            <a:normAutofit/>
          </a:bodyPr>
          <a:p>
            <a:r>
              <a:rPr lang="zh-CN" altLang="en-US"/>
              <a:t>功能视角：</a:t>
            </a:r>
            <a:endParaRPr lang="zh-CN" altLang="en-US"/>
          </a:p>
          <a:p>
            <a:pPr lvl="1"/>
            <a:r>
              <a:rPr lang="zh-CN" altLang="en-US"/>
              <a:t>语言：软硬件接口；主处理/协处理，中间语言；x86_64/aarch64，学习(了解原理/强化语言基础/借助AI)</a:t>
            </a:r>
            <a:endParaRPr lang="zh-CN" altLang="en-US"/>
          </a:p>
          <a:p>
            <a:pPr lvl="1"/>
            <a:r>
              <a:rPr lang="zh-CN" altLang="en-US"/>
              <a:t>硬件：主协模型；存储(寄存器/内存/控制)，传输(读写寄存器/内存/同步控制)，处理(计算/流程/控制)；虚拟化</a:t>
            </a:r>
            <a:endParaRPr lang="zh-CN" altLang="en-US"/>
          </a:p>
          <a:p>
            <a:pPr lvl="1"/>
            <a:r>
              <a:rPr lang="zh-CN" altLang="en-US"/>
              <a:t>软件：工具链(函数参数调用返回/栈和局部存储/优化)，基础(中断信号/页表/系统调用)，扩展(CPU/协处理/交互)</a:t>
            </a:r>
            <a:endParaRPr lang="zh-CN" altLang="en-US"/>
          </a:p>
          <a:p>
            <a:r>
              <a:rPr lang="zh-CN" altLang="en-US"/>
              <a:t>使用视角：</a:t>
            </a:r>
            <a:endParaRPr lang="zh-CN" altLang="en-US"/>
          </a:p>
          <a:p>
            <a:pPr lvl="1"/>
            <a:endParaRPr lang="zh-CN" altLang="en-US" sz="1800"/>
          </a:p>
          <a:p>
            <a:pPr lvl="1"/>
            <a:endParaRPr lang="zh-CN" altLang="en-US" sz="1800"/>
          </a:p>
          <a:p>
            <a:pPr lvl="1"/>
            <a:endParaRPr lang="zh-CN" altLang="en-US" sz="1800"/>
          </a:p>
          <a:p>
            <a:r>
              <a:rPr lang="zh-CN" altLang="en-US"/>
              <a:t>开发视角：</a:t>
            </a:r>
            <a:endParaRPr lang="zh-CN" altLang="en-US"/>
          </a:p>
          <a:p>
            <a:pPr lvl="1"/>
            <a:endParaRPr lang="zh-CN" altLang="en-US"/>
          </a:p>
          <a:p>
            <a:pPr lvl="1"/>
            <a:endParaRPr lang="zh-CN" altLang="en-US"/>
          </a:p>
          <a:p>
            <a:pPr lvl="1"/>
            <a:endParaRPr lang="zh-CN" altLang="en-US"/>
          </a:p>
          <a:p>
            <a:r>
              <a:rPr lang="zh-CN" altLang="en-US"/>
              <a:t>综合示例：</a:t>
            </a:r>
            <a:endParaRPr lang="zh-CN" altLang="en-US"/>
          </a:p>
          <a:p>
            <a:pPr lvl="1"/>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201795" y="123190"/>
            <a:ext cx="3819525" cy="583565"/>
          </a:xfrm>
        </p:spPr>
        <p:txBody>
          <a:bodyPr>
            <a:noAutofit/>
          </a:bodyPr>
          <a:p>
            <a:r>
              <a:rPr lang="zh-CN" altLang="en-US" sz="3600"/>
              <a:t>我的汇编语言</a:t>
            </a:r>
            <a:endParaRPr lang="zh-CN" altLang="en-US" sz="3600"/>
          </a:p>
        </p:txBody>
      </p:sp>
      <p:sp>
        <p:nvSpPr>
          <p:cNvPr id="4" name="Content Placeholder 3"/>
          <p:cNvSpPr>
            <a:spLocks noGrp="1"/>
          </p:cNvSpPr>
          <p:nvPr>
            <p:ph idx="1"/>
          </p:nvPr>
        </p:nvSpPr>
        <p:spPr>
          <a:xfrm>
            <a:off x="0" y="729615"/>
            <a:ext cx="12192635" cy="5793740"/>
          </a:xfrm>
        </p:spPr>
        <p:txBody>
          <a:bodyPr>
            <a:normAutofit/>
          </a:bodyPr>
          <a:p>
            <a:r>
              <a:rPr lang="zh-CN" altLang="en-US"/>
              <a:t>功能视角：</a:t>
            </a:r>
            <a:endParaRPr lang="zh-CN" altLang="en-US"/>
          </a:p>
          <a:p>
            <a:pPr lvl="1"/>
            <a:r>
              <a:rPr lang="zh-CN" altLang="en-US"/>
              <a:t>语言：软硬件接口；主处理/协处理，中间语言；x86_64/aarch64，学习(了解原理/强化语言基础/借助AI)</a:t>
            </a:r>
            <a:endParaRPr lang="zh-CN" altLang="en-US"/>
          </a:p>
          <a:p>
            <a:pPr lvl="1"/>
            <a:r>
              <a:rPr lang="zh-CN" altLang="en-US"/>
              <a:t>硬件：主协模型；存储(寄存器/内存/控制)，传输(读写寄存器/内存/同步控制)，处理(计算/流程/控制)；虚拟化</a:t>
            </a:r>
            <a:endParaRPr lang="zh-CN" altLang="en-US"/>
          </a:p>
          <a:p>
            <a:pPr lvl="1"/>
            <a:r>
              <a:rPr lang="zh-CN" altLang="en-US"/>
              <a:t>软件：工具链(函数参数调用返回/栈和局部存储/优化)，基础(中断信号/页表/系统调用)，扩展(CPU/协处理/交互)</a:t>
            </a:r>
            <a:endParaRPr lang="zh-CN" altLang="en-US"/>
          </a:p>
          <a:p>
            <a:r>
              <a:rPr lang="zh-CN" altLang="en-US"/>
              <a:t>使用视角：</a:t>
            </a:r>
            <a:endParaRPr lang="zh-CN" altLang="en-US"/>
          </a:p>
          <a:p>
            <a:pPr lvl="1"/>
            <a:r>
              <a:rPr lang="zh-CN" altLang="en-US" sz="1800"/>
              <a:t>正向/小：内联汇编，处理运行环境(内核调度/空间切换)，静态截获；数据指令，动态截获/动态加载/传输调用</a:t>
            </a:r>
            <a:endParaRPr lang="zh-CN" altLang="en-US" sz="1800"/>
          </a:p>
          <a:p>
            <a:pPr lvl="1"/>
            <a:r>
              <a:rPr lang="zh-CN" altLang="en-US" sz="1800"/>
              <a:t>逆向/中：静态反汇编(修复链接依赖/分析链接依赖/查看代码对应情况/破解)，动态反汇编(性能稳定性调试)/破解</a:t>
            </a:r>
            <a:endParaRPr lang="zh-CN" altLang="en-US" sz="1800"/>
          </a:p>
          <a:p>
            <a:pPr lvl="1"/>
            <a:r>
              <a:rPr lang="zh-CN" altLang="en-US" sz="1800"/>
              <a:t>转译/大：系统处理全部汇编指令；工具链(gcc/binutils-gdb/qemu/llvm/cuda)，指令集手册/opcode/指令块/函数</a:t>
            </a:r>
            <a:endParaRPr lang="zh-CN" altLang="en-US" sz="1800"/>
          </a:p>
          <a:p>
            <a:r>
              <a:rPr lang="zh-CN" altLang="en-US"/>
              <a:t>开发视角：</a:t>
            </a:r>
            <a:endParaRPr lang="zh-CN" altLang="en-US"/>
          </a:p>
          <a:p>
            <a:pPr lvl="1"/>
            <a:endParaRPr lang="zh-CN" altLang="en-US"/>
          </a:p>
          <a:p>
            <a:pPr lvl="1"/>
            <a:endParaRPr lang="zh-CN" altLang="en-US"/>
          </a:p>
          <a:p>
            <a:pPr lvl="1"/>
            <a:endParaRPr lang="zh-CN" altLang="en-US"/>
          </a:p>
          <a:p>
            <a:r>
              <a:rPr lang="zh-CN" altLang="en-US"/>
              <a:t>综合示例：</a:t>
            </a:r>
            <a:endParaRPr lang="zh-CN" altLang="en-US"/>
          </a:p>
          <a:p>
            <a:pPr lvl="1"/>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201795" y="123190"/>
            <a:ext cx="3819525" cy="583565"/>
          </a:xfrm>
        </p:spPr>
        <p:txBody>
          <a:bodyPr>
            <a:noAutofit/>
          </a:bodyPr>
          <a:p>
            <a:r>
              <a:rPr lang="zh-CN" altLang="en-US" sz="3600"/>
              <a:t>我的汇编语言</a:t>
            </a:r>
            <a:endParaRPr lang="zh-CN" altLang="en-US" sz="3600"/>
          </a:p>
        </p:txBody>
      </p:sp>
      <p:sp>
        <p:nvSpPr>
          <p:cNvPr id="4" name="Content Placeholder 3"/>
          <p:cNvSpPr>
            <a:spLocks noGrp="1"/>
          </p:cNvSpPr>
          <p:nvPr>
            <p:ph idx="1"/>
          </p:nvPr>
        </p:nvSpPr>
        <p:spPr>
          <a:xfrm>
            <a:off x="0" y="729615"/>
            <a:ext cx="12192635" cy="5793740"/>
          </a:xfrm>
        </p:spPr>
        <p:txBody>
          <a:bodyPr>
            <a:normAutofit/>
          </a:bodyPr>
          <a:p>
            <a:r>
              <a:rPr lang="zh-CN" altLang="en-US"/>
              <a:t>功能视角：</a:t>
            </a:r>
            <a:endParaRPr lang="zh-CN" altLang="en-US"/>
          </a:p>
          <a:p>
            <a:pPr lvl="1"/>
            <a:r>
              <a:rPr lang="zh-CN" altLang="en-US"/>
              <a:t>语言：软硬件接口；主处理/协处理，中间语言；x86_64/aarch64，学习(了解原理/强化语言基础/借助AI)</a:t>
            </a:r>
            <a:endParaRPr lang="zh-CN" altLang="en-US"/>
          </a:p>
          <a:p>
            <a:pPr lvl="1"/>
            <a:r>
              <a:rPr lang="zh-CN" altLang="en-US"/>
              <a:t>硬件：主协模型；存储(寄存器/内存/控制)，传输(读写寄存器/内存/同步控制)，处理(计算/流程/控制)；虚拟化</a:t>
            </a:r>
            <a:endParaRPr lang="zh-CN" altLang="en-US"/>
          </a:p>
          <a:p>
            <a:pPr lvl="1"/>
            <a:r>
              <a:rPr lang="zh-CN" altLang="en-US"/>
              <a:t>软件：工具链(函数参数调用返回/栈和局部存储/优化)，基础(中断信号/页表/系统调用)，扩展(CPU/协处理/交互)</a:t>
            </a:r>
            <a:endParaRPr lang="zh-CN" altLang="en-US"/>
          </a:p>
          <a:p>
            <a:r>
              <a:rPr lang="zh-CN" altLang="en-US"/>
              <a:t>使用视角：</a:t>
            </a:r>
            <a:endParaRPr lang="zh-CN" altLang="en-US"/>
          </a:p>
          <a:p>
            <a:pPr lvl="1"/>
            <a:r>
              <a:rPr lang="zh-CN" altLang="en-US" sz="1800"/>
              <a:t>正向/小：内联汇编，处理运行环境(内核调度/空间切换)，静态截获；数据指令，动态截获/动态加载/传输调用</a:t>
            </a:r>
            <a:endParaRPr lang="zh-CN" altLang="en-US" sz="1800"/>
          </a:p>
          <a:p>
            <a:pPr lvl="1"/>
            <a:r>
              <a:rPr lang="zh-CN" altLang="en-US" sz="1800"/>
              <a:t>逆向/中：静态反汇编(修复链接依赖/分析链接依赖/查看代码对应情况/破解)，动态反汇编(性能稳定性调试)/破解</a:t>
            </a:r>
            <a:endParaRPr lang="zh-CN" altLang="en-US" sz="1800"/>
          </a:p>
          <a:p>
            <a:pPr lvl="1"/>
            <a:r>
              <a:rPr lang="zh-CN" altLang="en-US" sz="1800"/>
              <a:t>转译/大：系统处理全部汇编指令；工具链(gcc/binutils-gdb/qemu/llvm/cuda)，指令集手册/opcode/指令块/函数</a:t>
            </a:r>
            <a:endParaRPr lang="zh-CN" altLang="en-US" sz="1800"/>
          </a:p>
          <a:p>
            <a:r>
              <a:rPr lang="zh-CN" altLang="en-US"/>
              <a:t>开发视角：</a:t>
            </a:r>
            <a:endParaRPr lang="zh-CN" altLang="en-US"/>
          </a:p>
          <a:p>
            <a:pPr lvl="1"/>
            <a:r>
              <a:rPr lang="zh-CN" altLang="en-US"/>
              <a:t>内部：RISC/CISC，微代码</a:t>
            </a:r>
            <a:r>
              <a:rPr lang="en-US" altLang="zh-CN"/>
              <a:t>/</a:t>
            </a:r>
            <a:r>
              <a:rPr lang="zh-CN" altLang="en-US"/>
              <a:t>后门/底层漏洞(分支预测)，x86_64/aarch64</a:t>
            </a:r>
            <a:endParaRPr lang="zh-CN" altLang="en-US"/>
          </a:p>
          <a:p>
            <a:pPr lvl="1"/>
            <a:r>
              <a:rPr lang="zh-CN" altLang="en-US"/>
              <a:t>集成：向量处理/FPU/SMP/MCU</a:t>
            </a:r>
            <a:endParaRPr lang="zh-CN" altLang="en-US"/>
          </a:p>
          <a:p>
            <a:pPr lvl="1"/>
            <a:r>
              <a:rPr lang="zh-CN" altLang="en-US"/>
              <a:t>发展：主处理的指令兼容化，协处理的MCU化，协处理继续发展(含三进制)</a:t>
            </a:r>
            <a:endParaRPr lang="zh-CN" altLang="en-US"/>
          </a:p>
          <a:p>
            <a:r>
              <a:rPr lang="zh-CN" altLang="en-US"/>
              <a:t>综合示例：</a:t>
            </a:r>
            <a:endParaRPr lang="zh-CN" altLang="en-US"/>
          </a:p>
          <a:p>
            <a:pPr lvl="1"/>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201795" y="123190"/>
            <a:ext cx="3819525" cy="583565"/>
          </a:xfrm>
        </p:spPr>
        <p:txBody>
          <a:bodyPr>
            <a:noAutofit/>
          </a:bodyPr>
          <a:p>
            <a:r>
              <a:rPr lang="zh-CN" altLang="en-US" sz="3600"/>
              <a:t>我的汇编语言</a:t>
            </a:r>
            <a:endParaRPr lang="zh-CN" altLang="en-US" sz="3600"/>
          </a:p>
        </p:txBody>
      </p:sp>
      <p:sp>
        <p:nvSpPr>
          <p:cNvPr id="4" name="Content Placeholder 3"/>
          <p:cNvSpPr>
            <a:spLocks noGrp="1"/>
          </p:cNvSpPr>
          <p:nvPr>
            <p:ph idx="1"/>
          </p:nvPr>
        </p:nvSpPr>
        <p:spPr>
          <a:xfrm>
            <a:off x="0" y="729615"/>
            <a:ext cx="12192635" cy="5793740"/>
          </a:xfrm>
        </p:spPr>
        <p:txBody>
          <a:bodyPr>
            <a:normAutofit/>
          </a:bodyPr>
          <a:p>
            <a:r>
              <a:rPr lang="zh-CN" altLang="en-US"/>
              <a:t>功能视角：</a:t>
            </a:r>
            <a:endParaRPr lang="zh-CN" altLang="en-US"/>
          </a:p>
          <a:p>
            <a:pPr lvl="1"/>
            <a:r>
              <a:rPr lang="zh-CN" altLang="en-US"/>
              <a:t>语言：软硬件接口；主处理/协处理，中间语言；x86_64/aarch64，学习(了解原理/强化语言基础/借助AI)</a:t>
            </a:r>
            <a:endParaRPr lang="zh-CN" altLang="en-US"/>
          </a:p>
          <a:p>
            <a:pPr lvl="1"/>
            <a:r>
              <a:rPr lang="zh-CN" altLang="en-US"/>
              <a:t>硬件：主协模型；存储(寄存器/内存/控制)，传输(读写寄存器/内存/同步控制)，处理(计算/流程/控制)；虚拟化</a:t>
            </a:r>
            <a:endParaRPr lang="zh-CN" altLang="en-US"/>
          </a:p>
          <a:p>
            <a:pPr lvl="1"/>
            <a:r>
              <a:rPr lang="zh-CN" altLang="en-US"/>
              <a:t>软件：工具链(函数参数调用返回/栈和局部存储/优化)，基础(中断信号/页表/系统调用)，扩展(CPU/协处理/交互)</a:t>
            </a:r>
            <a:endParaRPr lang="zh-CN" altLang="en-US"/>
          </a:p>
          <a:p>
            <a:r>
              <a:rPr lang="zh-CN" altLang="en-US"/>
              <a:t>使用视角：</a:t>
            </a:r>
            <a:endParaRPr lang="zh-CN" altLang="en-US"/>
          </a:p>
          <a:p>
            <a:pPr lvl="1"/>
            <a:r>
              <a:rPr lang="zh-CN" altLang="en-US" sz="1800"/>
              <a:t>正向/小：内联汇编，处理运行环境(内核调度/空间切换)，静态截获；数据指令，动态截获/动态加载/传输调用</a:t>
            </a:r>
            <a:endParaRPr lang="zh-CN" altLang="en-US" sz="1800"/>
          </a:p>
          <a:p>
            <a:pPr lvl="1"/>
            <a:r>
              <a:rPr lang="zh-CN" altLang="en-US" sz="1800"/>
              <a:t>逆向/中：静态反汇编(修复链接依赖/分析链接依赖/查看代码对应情况/破解)，动态反汇编(性能稳定性调试)/破解</a:t>
            </a:r>
            <a:endParaRPr lang="zh-CN" altLang="en-US" sz="1800"/>
          </a:p>
          <a:p>
            <a:pPr lvl="1"/>
            <a:r>
              <a:rPr lang="zh-CN" altLang="en-US" sz="1800"/>
              <a:t>转译/大：系统处理全部汇编指令；工具链(gcc/binutils-gdb/qemu/llvm/cuda)，指令集手册/opcode/指令块/函数</a:t>
            </a:r>
            <a:endParaRPr lang="zh-CN" altLang="en-US" sz="1800"/>
          </a:p>
          <a:p>
            <a:r>
              <a:rPr lang="zh-CN" altLang="en-US"/>
              <a:t>开发视角：</a:t>
            </a:r>
            <a:endParaRPr lang="zh-CN" altLang="en-US"/>
          </a:p>
          <a:p>
            <a:pPr lvl="1"/>
            <a:r>
              <a:rPr lang="zh-CN" altLang="en-US"/>
              <a:t>内部：RISC/CISC，微代码</a:t>
            </a:r>
            <a:r>
              <a:rPr lang="en-US" altLang="zh-CN"/>
              <a:t>/</a:t>
            </a:r>
            <a:r>
              <a:rPr lang="zh-CN" altLang="en-US"/>
              <a:t>后门/底层漏洞(分支预测)，x86_64/aarch64</a:t>
            </a:r>
            <a:endParaRPr lang="zh-CN" altLang="en-US"/>
          </a:p>
          <a:p>
            <a:pPr lvl="1"/>
            <a:r>
              <a:rPr lang="zh-CN" altLang="en-US"/>
              <a:t>集成：向量处理/FPU/SMP/MCU</a:t>
            </a:r>
            <a:endParaRPr lang="zh-CN" altLang="en-US"/>
          </a:p>
          <a:p>
            <a:pPr lvl="1"/>
            <a:r>
              <a:rPr lang="zh-CN" altLang="en-US"/>
              <a:t>发展：主处理的指令兼容化，协处理的MCU化，协处理继续发展(含三进制)</a:t>
            </a:r>
            <a:endParaRPr lang="zh-CN" altLang="en-US"/>
          </a:p>
          <a:p>
            <a:r>
              <a:rPr lang="zh-CN" altLang="en-US"/>
              <a:t>综合示例：</a:t>
            </a:r>
            <a:r>
              <a:rPr lang="zh-CN" altLang="en-US" sz="1800"/>
              <a:t>(阅读了解工具链源码会更全面，各平台的指令集手册），https://chat.deepseek.com</a:t>
            </a:r>
            <a:endParaRPr lang="zh-CN" altLang="en-US"/>
          </a:p>
          <a:p>
            <a:pPr lvl="1"/>
            <a:r>
              <a:rPr lang="zh-CN" altLang="en-US"/>
              <a:t>内联汇编： asm-inline.sh</a:t>
            </a:r>
            <a:endParaRPr lang="zh-CN" altLang="en-US"/>
          </a:p>
          <a:p>
            <a:pPr lvl="1"/>
            <a:r>
              <a:rPr lang="zh-CN" altLang="en-US"/>
              <a:t>反汇编：   dis.c/dis.s</a:t>
            </a:r>
            <a:endParaRPr lang="zh-CN" altLang="en-US"/>
          </a:p>
          <a:p>
            <a:pPr lvl="1"/>
            <a:r>
              <a:rPr lang="zh-CN" altLang="en-US"/>
              <a:t>数据指令： asm-opcode.c</a:t>
            </a:r>
            <a:endParaRPr lang="zh-CN" altLang="en-US"/>
          </a:p>
        </p:txBody>
      </p:sp>
      <p:graphicFrame>
        <p:nvGraphicFramePr>
          <p:cNvPr id="3" name="Object 2">
            <a:hlinkClick r:id="" action="ppaction://ole?verb="/>
          </p:cNvPr>
          <p:cNvGraphicFramePr>
            <a:graphicFrameLocks noChangeAspect="1"/>
          </p:cNvGraphicFramePr>
          <p:nvPr/>
        </p:nvGraphicFramePr>
        <p:xfrm>
          <a:off x="4336415" y="5212080"/>
          <a:ext cx="1143000" cy="1143000"/>
        </p:xfrm>
        <a:graphic>
          <a:graphicData uri="http://schemas.openxmlformats.org/presentationml/2006/ole">
            <mc:AlternateContent xmlns:mc="http://schemas.openxmlformats.org/markup-compatibility/2006">
              <mc:Choice xmlns:v="urn:schemas-microsoft-com:vml" Requires="v">
                <p:oleObj spid="_x0000_s1025" name="" showAsIcon="1" r:id="rId1" imgW="1143000" imgH="1143000" progId="Package">
                  <p:embed/>
                </p:oleObj>
              </mc:Choice>
              <mc:Fallback>
                <p:oleObj name="" showAsIcon="1" r:id="rId1" imgW="1143000" imgH="1143000" progId="Package">
                  <p:embed/>
                  <p:pic>
                    <p:nvPicPr>
                      <p:cNvPr id="0" name="Picture 1024"/>
                      <p:cNvPicPr/>
                      <p:nvPr/>
                    </p:nvPicPr>
                    <p:blipFill>
                      <a:blip r:embed="rId2"/>
                      <a:stretch>
                        <a:fillRect/>
                      </a:stretch>
                    </p:blipFill>
                    <p:spPr>
                      <a:xfrm>
                        <a:off x="4336415" y="5212080"/>
                        <a:ext cx="1143000" cy="1143000"/>
                      </a:xfrm>
                      <a:prstGeom prst="rect">
                        <a:avLst/>
                      </a:prstGeom>
                    </p:spPr>
                  </p:pic>
                </p:oleObj>
              </mc:Fallback>
            </mc:AlternateContent>
          </a:graphicData>
        </a:graphic>
      </p:graphicFrame>
      <p:graphicFrame>
        <p:nvGraphicFramePr>
          <p:cNvPr id="6" name="Object 5">
            <a:hlinkClick r:id="" action="ppaction://ole?verb="/>
          </p:cNvPr>
          <p:cNvGraphicFramePr>
            <a:graphicFrameLocks noChangeAspect="1"/>
          </p:cNvGraphicFramePr>
          <p:nvPr/>
        </p:nvGraphicFramePr>
        <p:xfrm>
          <a:off x="5934710" y="5212080"/>
          <a:ext cx="1143000" cy="1143000"/>
        </p:xfrm>
        <a:graphic>
          <a:graphicData uri="http://schemas.openxmlformats.org/presentationml/2006/ole">
            <mc:AlternateContent xmlns:mc="http://schemas.openxmlformats.org/markup-compatibility/2006">
              <mc:Choice xmlns:v="urn:schemas-microsoft-com:vml" Requires="v">
                <p:oleObj spid="_x0000_s1027" name="" showAsIcon="1" r:id="rId3" imgW="1143000" imgH="1143000" progId="Package">
                  <p:embed/>
                </p:oleObj>
              </mc:Choice>
              <mc:Fallback>
                <p:oleObj name="" showAsIcon="1" r:id="rId3" imgW="1143000" imgH="1143000" progId="Package">
                  <p:embed/>
                  <p:pic>
                    <p:nvPicPr>
                      <p:cNvPr id="0" name="Picture 1026"/>
                      <p:cNvPicPr/>
                      <p:nvPr/>
                    </p:nvPicPr>
                    <p:blipFill>
                      <a:blip r:embed="rId4"/>
                      <a:stretch>
                        <a:fillRect/>
                      </a:stretch>
                    </p:blipFill>
                    <p:spPr>
                      <a:xfrm>
                        <a:off x="5934710" y="5212080"/>
                        <a:ext cx="1143000" cy="1143000"/>
                      </a:xfrm>
                      <a:prstGeom prst="rect">
                        <a:avLst/>
                      </a:prstGeom>
                    </p:spPr>
                  </p:pic>
                </p:oleObj>
              </mc:Fallback>
            </mc:AlternateContent>
          </a:graphicData>
        </a:graphic>
      </p:graphicFrame>
      <p:graphicFrame>
        <p:nvGraphicFramePr>
          <p:cNvPr id="7" name="Object 6">
            <a:hlinkClick r:id="" action="ppaction://ole?verb="/>
          </p:cNvPr>
          <p:cNvGraphicFramePr>
            <a:graphicFrameLocks noChangeAspect="1"/>
          </p:cNvGraphicFramePr>
          <p:nvPr/>
        </p:nvGraphicFramePr>
        <p:xfrm>
          <a:off x="7652385" y="5212080"/>
          <a:ext cx="1143000" cy="1143000"/>
        </p:xfrm>
        <a:graphic>
          <a:graphicData uri="http://schemas.openxmlformats.org/presentationml/2006/ole">
            <mc:AlternateContent xmlns:mc="http://schemas.openxmlformats.org/markup-compatibility/2006">
              <mc:Choice xmlns:v="urn:schemas-microsoft-com:vml" Requires="v">
                <p:oleObj spid="_x0000_s1028" name="" showAsIcon="1" r:id="rId5" imgW="1143000" imgH="1143000" progId="Package">
                  <p:embed/>
                </p:oleObj>
              </mc:Choice>
              <mc:Fallback>
                <p:oleObj name="" showAsIcon="1" r:id="rId5" imgW="1143000" imgH="1143000" progId="Package">
                  <p:embed/>
                  <p:pic>
                    <p:nvPicPr>
                      <p:cNvPr id="0" name="Picture 1027"/>
                      <p:cNvPicPr/>
                      <p:nvPr/>
                    </p:nvPicPr>
                    <p:blipFill>
                      <a:blip r:embed="rId6"/>
                      <a:stretch>
                        <a:fillRect/>
                      </a:stretch>
                    </p:blipFill>
                    <p:spPr>
                      <a:xfrm>
                        <a:off x="7652385" y="5212080"/>
                        <a:ext cx="1143000" cy="1143000"/>
                      </a:xfrm>
                      <a:prstGeom prst="rect">
                        <a:avLst/>
                      </a:prstGeom>
                    </p:spPr>
                  </p:pic>
                </p:oleObj>
              </mc:Fallback>
            </mc:AlternateContent>
          </a:graphicData>
        </a:graphic>
      </p:graphicFrame>
      <p:graphicFrame>
        <p:nvGraphicFramePr>
          <p:cNvPr id="5" name="Object 4">
            <a:hlinkClick r:id="" action="ppaction://ole?verb="/>
          </p:cNvPr>
          <p:cNvGraphicFramePr>
            <a:graphicFrameLocks noChangeAspect="1"/>
          </p:cNvGraphicFramePr>
          <p:nvPr/>
        </p:nvGraphicFramePr>
        <p:xfrm>
          <a:off x="9185910" y="5212080"/>
          <a:ext cx="1143000" cy="1143000"/>
        </p:xfrm>
        <a:graphic>
          <a:graphicData uri="http://schemas.openxmlformats.org/presentationml/2006/ole">
            <mc:AlternateContent xmlns:mc="http://schemas.openxmlformats.org/markup-compatibility/2006">
              <mc:Choice xmlns:v="urn:schemas-microsoft-com:vml" Requires="v">
                <p:oleObj spid="_x0000_s2049" name="" showAsIcon="1" r:id="rId7" imgW="1143000" imgH="1143000" progId="Package">
                  <p:embed/>
                </p:oleObj>
              </mc:Choice>
              <mc:Fallback>
                <p:oleObj name="" showAsIcon="1" r:id="rId7" imgW="1143000" imgH="1143000" progId="Package">
                  <p:embed/>
                  <p:pic>
                    <p:nvPicPr>
                      <p:cNvPr id="0" name="Picture 2048"/>
                      <p:cNvPicPr/>
                      <p:nvPr/>
                    </p:nvPicPr>
                    <p:blipFill>
                      <a:blip r:embed="rId8"/>
                      <a:stretch>
                        <a:fillRect/>
                      </a:stretch>
                    </p:blipFill>
                    <p:spPr>
                      <a:xfrm>
                        <a:off x="9185910" y="5212080"/>
                        <a:ext cx="1143000" cy="1143000"/>
                      </a:xfrm>
                      <a:prstGeom prst="rect">
                        <a:avLst/>
                      </a:prstGeom>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201795" y="123190"/>
            <a:ext cx="3819525" cy="583565"/>
          </a:xfrm>
        </p:spPr>
        <p:txBody>
          <a:bodyPr>
            <a:noAutofit/>
          </a:bodyPr>
          <a:p>
            <a:r>
              <a:rPr lang="zh-CN" altLang="en-US" sz="3600"/>
              <a:t>我的</a:t>
            </a:r>
            <a:r>
              <a:rPr lang="en-US" altLang="zh-CN" sz="3600"/>
              <a:t>Shell</a:t>
            </a:r>
            <a:r>
              <a:rPr lang="zh-CN" altLang="en-US" sz="3600"/>
              <a:t>语言</a:t>
            </a:r>
            <a:endParaRPr lang="zh-CN" altLang="en-US" sz="3600"/>
          </a:p>
        </p:txBody>
      </p:sp>
      <p:sp>
        <p:nvSpPr>
          <p:cNvPr id="4" name="Content Placeholder 3"/>
          <p:cNvSpPr>
            <a:spLocks noGrp="1"/>
          </p:cNvSpPr>
          <p:nvPr>
            <p:ph idx="1"/>
          </p:nvPr>
        </p:nvSpPr>
        <p:spPr>
          <a:xfrm>
            <a:off x="0" y="729615"/>
            <a:ext cx="12192635" cy="5793740"/>
          </a:xfrm>
        </p:spPr>
        <p:txBody>
          <a:bodyPr>
            <a:normAutofit/>
          </a:bodyPr>
          <a:p>
            <a:r>
              <a:rPr lang="zh-CN" altLang="en-US"/>
              <a:t>功能视角：（语言定位）</a:t>
            </a:r>
            <a:endParaRPr lang="zh-CN" altLang="en-US"/>
          </a:p>
          <a:p>
            <a:pPr lvl="1"/>
            <a:r>
              <a:rPr lang="zh-CN" altLang="en-US"/>
              <a:t>定位：作为计算机提供给人的最接近电脑的完整可用的界面，并具有完整的语言属性</a:t>
            </a:r>
            <a:endParaRPr lang="zh-CN" altLang="en-US"/>
          </a:p>
          <a:p>
            <a:pPr lvl="1"/>
            <a:r>
              <a:rPr lang="zh-CN" altLang="en-US"/>
              <a:t>特色：人直接交互/使用电脑大部分功能/程序作为用户；不友好/体系框架弱/程序语言里最弱</a:t>
            </a:r>
            <a:endParaRPr lang="zh-CN" altLang="en-US"/>
          </a:p>
          <a:p>
            <a:pPr lvl="1"/>
            <a:r>
              <a:rPr lang="zh-CN" altLang="en-US"/>
              <a:t>学习：融入生活（平时独立使用Linux桌面）；制定简单的小目标；AI辅助+网上查找学习资料</a:t>
            </a:r>
            <a:endParaRPr lang="zh-CN" altLang="en-US"/>
          </a:p>
          <a:p>
            <a:r>
              <a:rPr lang="zh-CN" altLang="en-US"/>
              <a:t>使用视角：</a:t>
            </a:r>
            <a:endParaRPr lang="zh-CN" altLang="en-US"/>
          </a:p>
          <a:p>
            <a:pPr lvl="1"/>
            <a:r>
              <a:rPr lang="zh-CN" altLang="en-US" sz="1800"/>
              <a:t>核心：</a:t>
            </a:r>
            <a:endParaRPr lang="zh-CN" altLang="en-US" sz="1800"/>
          </a:p>
          <a:p>
            <a:pPr lvl="2"/>
            <a:r>
              <a:rPr lang="zh-CN" altLang="en-US" sz="1600"/>
              <a:t>语言：命令/函数，变量(语言变量/数组/环境)，流程(语言流程，并发/同步/回调)</a:t>
            </a:r>
            <a:endParaRPr lang="zh-CN" altLang="en-US" sz="1600"/>
          </a:p>
          <a:p>
            <a:pPr lvl="2"/>
            <a:r>
              <a:rPr sz="1600"/>
              <a:t>接口：标准IOE/管道/重定向；路径名自身识别/参数处理传递/返回值；入口(灵活/重复/合并)/前后台/终端(多路/定制/分割)</a:t>
            </a:r>
            <a:endParaRPr sz="1600"/>
          </a:p>
          <a:p>
            <a:pPr lvl="2"/>
            <a:r>
              <a:rPr lang="zh-CN" altLang="en-US" sz="1600"/>
              <a:t>支撑：存储(文件系统)，传输(正则表达式)，处理(行/列/切/拼/查/替/编辑/计算</a:t>
            </a:r>
            <a:r>
              <a:rPr lang="en-US" altLang="zh-CN" sz="1600"/>
              <a:t>/</a:t>
            </a:r>
            <a:r>
              <a:rPr lang="zh-CN" altLang="en-US" sz="1600"/>
              <a:t>调试</a:t>
            </a:r>
            <a:r>
              <a:rPr lang="en-US" altLang="zh-CN" sz="1600"/>
              <a:t>)</a:t>
            </a:r>
            <a:endParaRPr lang="zh-CN" altLang="en-US" sz="1600"/>
          </a:p>
          <a:p>
            <a:pPr lvl="1"/>
            <a:r>
              <a:rPr lang="zh-CN" altLang="en-US" sz="1800"/>
              <a:t>管理：配置(存储/传输/处理)；监控(存储/传输/处理)，支撑(安装/卸载/升级</a:t>
            </a:r>
            <a:r>
              <a:rPr lang="en-US" altLang="zh-CN" sz="1800"/>
              <a:t>/</a:t>
            </a:r>
            <a:r>
              <a:rPr lang="zh-CN" altLang="en-US" sz="1800"/>
              <a:t>各类日志)</a:t>
            </a:r>
            <a:endParaRPr lang="zh-CN" altLang="en-US" sz="1800"/>
          </a:p>
          <a:p>
            <a:pPr lvl="1"/>
            <a:r>
              <a:rPr lang="zh-CN" altLang="en-US" sz="1800"/>
              <a:t>集成：各类子平台对接和融合(docker/python/k8s/子平台包管理)；各类程序深度融合；配合开发(git/vim/make)</a:t>
            </a:r>
            <a:endParaRPr lang="zh-CN" altLang="en-US" sz="1800"/>
          </a:p>
          <a:p>
            <a:r>
              <a:rPr lang="zh-CN" altLang="en-US"/>
              <a:t>开发视角：</a:t>
            </a:r>
            <a:endParaRPr lang="zh-CN" altLang="en-US"/>
          </a:p>
          <a:p>
            <a:pPr lvl="1"/>
            <a:r>
              <a:rPr lang="zh-CN" altLang="en-US" sz="1800"/>
              <a:t>需求维护：配合使用角色，快速简单实现demo；快速提供临时解决方案(也可能是最终方案)</a:t>
            </a:r>
            <a:endParaRPr lang="zh-CN" altLang="en-US" sz="1800"/>
          </a:p>
          <a:p>
            <a:pPr lvl="1"/>
            <a:r>
              <a:rPr lang="zh-CN" altLang="en-US" sz="1800"/>
              <a:t>设计实现：一种语言之一；可执行程序接口；作为用户使用系统环境(功能/环境信息/源码管理编译链接打包)</a:t>
            </a:r>
            <a:endParaRPr lang="zh-CN" altLang="en-US" sz="1800"/>
          </a:p>
          <a:p>
            <a:pPr lvl="1"/>
            <a:r>
              <a:rPr lang="zh-CN" altLang="en-US"/>
              <a:t>调试测试：单元测试/自动化；数据处理(文本/数据/调试信息)；截获控制获取(环境变量/参数传递</a:t>
            </a:r>
            <a:r>
              <a:rPr lang="en-US" altLang="zh-CN"/>
              <a:t>/</a:t>
            </a:r>
            <a:r>
              <a:rPr lang="zh-CN" altLang="en-US"/>
              <a:t>性能/关联资源)</a:t>
            </a:r>
            <a:endParaRPr lang="zh-CN" altLang="en-US"/>
          </a:p>
          <a:p>
            <a:r>
              <a:rPr lang="zh-CN" altLang="en-US"/>
              <a:t>综合示例：https://chat.deepseek.com</a:t>
            </a:r>
            <a:endParaRPr lang="zh-CN" altLang="en-US"/>
          </a:p>
        </p:txBody>
      </p:sp>
      <p:graphicFrame>
        <p:nvGraphicFramePr>
          <p:cNvPr id="5" name="Object 4">
            <a:hlinkClick r:id="" action="ppaction://ole?verb="/>
          </p:cNvPr>
          <p:cNvGraphicFramePr>
            <a:graphicFrameLocks noChangeAspect="1"/>
          </p:cNvGraphicFramePr>
          <p:nvPr/>
        </p:nvGraphicFramePr>
        <p:xfrm>
          <a:off x="4821555" y="5643880"/>
          <a:ext cx="1143000" cy="1143000"/>
        </p:xfrm>
        <a:graphic>
          <a:graphicData uri="http://schemas.openxmlformats.org/presentationml/2006/ole">
            <mc:AlternateContent xmlns:mc="http://schemas.openxmlformats.org/markup-compatibility/2006">
              <mc:Choice xmlns:v="urn:schemas-microsoft-com:vml" Requires="v">
                <p:oleObj spid="_x0000_s1026" name="" showAsIcon="1" r:id="rId1" imgW="1143000" imgH="1143000" progId="Package">
                  <p:embed/>
                </p:oleObj>
              </mc:Choice>
              <mc:Fallback>
                <p:oleObj name="" showAsIcon="1" r:id="rId1" imgW="1143000" imgH="1143000" progId="Package">
                  <p:embed/>
                  <p:pic>
                    <p:nvPicPr>
                      <p:cNvPr id="0" name="Picture 1025"/>
                      <p:cNvPicPr/>
                      <p:nvPr/>
                    </p:nvPicPr>
                    <p:blipFill>
                      <a:blip r:embed="rId2"/>
                      <a:stretch>
                        <a:fillRect/>
                      </a:stretch>
                    </p:blipFill>
                    <p:spPr>
                      <a:xfrm>
                        <a:off x="4821555" y="5643880"/>
                        <a:ext cx="1143000" cy="1143000"/>
                      </a:xfrm>
                      <a:prstGeom prst="rect">
                        <a:avLst/>
                      </a:prstGeom>
                    </p:spPr>
                  </p:pic>
                </p:oleObj>
              </mc:Fallback>
            </mc:AlternateContent>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201795" y="123190"/>
            <a:ext cx="3819525" cy="583565"/>
          </a:xfrm>
        </p:spPr>
        <p:txBody>
          <a:bodyPr>
            <a:noAutofit/>
          </a:bodyPr>
          <a:p>
            <a:r>
              <a:rPr lang="zh-CN" altLang="en-US" sz="3600"/>
              <a:t>我的</a:t>
            </a:r>
            <a:r>
              <a:rPr lang="en-US" altLang="zh-CN" sz="3600"/>
              <a:t>C</a:t>
            </a:r>
            <a:r>
              <a:rPr lang="zh-CN" altLang="en-US" sz="3600"/>
              <a:t>语言</a:t>
            </a:r>
            <a:endParaRPr lang="zh-CN" altLang="en-US" sz="3600"/>
          </a:p>
        </p:txBody>
      </p:sp>
      <p:sp>
        <p:nvSpPr>
          <p:cNvPr id="4" name="Content Placeholder 3"/>
          <p:cNvSpPr>
            <a:spLocks noGrp="1"/>
          </p:cNvSpPr>
          <p:nvPr>
            <p:ph idx="1"/>
          </p:nvPr>
        </p:nvSpPr>
        <p:spPr>
          <a:xfrm>
            <a:off x="0" y="751205"/>
            <a:ext cx="12191365" cy="5438140"/>
          </a:xfrm>
        </p:spPr>
        <p:txBody>
          <a:bodyPr>
            <a:normAutofit lnSpcReduction="10000"/>
          </a:bodyPr>
          <a:p>
            <a:r>
              <a:rPr lang="zh-CN" altLang="en-US" sz="2265"/>
              <a:t>程序员视角：</a:t>
            </a:r>
            <a:endParaRPr lang="zh-CN" altLang="en-US" sz="2265"/>
          </a:p>
          <a:p>
            <a:pPr lvl="1"/>
            <a:r>
              <a:rPr lang="zh-CN" altLang="en-US" sz="2035"/>
              <a:t>定位：中级语言；各类汇编语言和机器底层的统一软件化描述；各高级语言的基础和之间的纽带</a:t>
            </a:r>
            <a:endParaRPr lang="zh-CN" altLang="en-US" sz="2035"/>
          </a:p>
          <a:p>
            <a:pPr lvl="1"/>
            <a:r>
              <a:rPr lang="zh-CN" altLang="en-US" sz="2035"/>
              <a:t>特点：代码生成简洁高效</a:t>
            </a:r>
            <a:r>
              <a:rPr lang="en-US" altLang="zh-CN" sz="2035"/>
              <a:t>/</a:t>
            </a:r>
            <a:r>
              <a:rPr lang="zh-CN" altLang="en-US" sz="2035"/>
              <a:t>链接加载简单明确，调试</a:t>
            </a:r>
            <a:r>
              <a:rPr lang="en-US" altLang="zh-CN" sz="2035"/>
              <a:t>/</a:t>
            </a:r>
            <a:r>
              <a:rPr lang="zh-CN" altLang="en-US" sz="2035"/>
              <a:t>接口；语言功能弱，模板</a:t>
            </a:r>
            <a:r>
              <a:rPr lang="en-US" altLang="zh-CN" sz="2035"/>
              <a:t>/</a:t>
            </a:r>
            <a:r>
              <a:rPr lang="zh-CN" altLang="en-US" sz="2035"/>
              <a:t>动态类型识别</a:t>
            </a:r>
            <a:endParaRPr lang="zh-CN" altLang="en-US" sz="2035"/>
          </a:p>
          <a:p>
            <a:pPr lvl="1"/>
            <a:r>
              <a:rPr lang="zh-CN" altLang="en-US" sz="2035"/>
              <a:t>学习：理解整体系统的关键入手点，系统开发的关键语言之一，其他语言的基础，现有资料</a:t>
            </a:r>
            <a:r>
              <a:rPr lang="en-US" altLang="zh-CN" sz="2035"/>
              <a:t>/</a:t>
            </a:r>
            <a:r>
              <a:rPr lang="zh-CN" altLang="en-US" sz="2035"/>
              <a:t>AI处理</a:t>
            </a:r>
            <a:endParaRPr lang="zh-CN" altLang="en-US" sz="2035"/>
          </a:p>
          <a:p>
            <a:r>
              <a:rPr lang="zh-CN" altLang="en-US" sz="2265"/>
              <a:t>工具链视角：</a:t>
            </a:r>
            <a:endParaRPr lang="zh-CN" altLang="en-US" sz="2265"/>
          </a:p>
          <a:p>
            <a:pPr lvl="1"/>
            <a:r>
              <a:rPr lang="zh-CN" altLang="en-US" sz="2035"/>
              <a:t>编译：预处理，宏(程序)/pragma(编译)</a:t>
            </a:r>
            <a:r>
              <a:rPr lang="en-US" altLang="zh-CN" sz="2035"/>
              <a:t>/</a:t>
            </a:r>
            <a:r>
              <a:rPr lang="zh-CN" altLang="en-US" sz="2035"/>
              <a:t>.i文件；前端(词/语/义/优化)；后端(内联汇编)，.s文件</a:t>
            </a:r>
            <a:endParaRPr lang="zh-CN" altLang="en-US" sz="2035"/>
          </a:p>
          <a:p>
            <a:pPr lvl="1"/>
            <a:r>
              <a:rPr lang="zh-CN" altLang="en-US" sz="2035"/>
              <a:t>链接：声明/定义/性质</a:t>
            </a:r>
            <a:r>
              <a:rPr lang="en-US" altLang="zh-CN" sz="2035"/>
              <a:t>/</a:t>
            </a:r>
            <a:r>
              <a:rPr lang="zh-CN" altLang="en-US" sz="2035"/>
              <a:t>接口，动/静态链接，入口定制</a:t>
            </a:r>
            <a:r>
              <a:rPr lang="en-US" altLang="zh-CN" sz="2035"/>
              <a:t>/</a:t>
            </a:r>
            <a:r>
              <a:rPr lang="zh-CN" altLang="en-US" sz="2035"/>
              <a:t>弱符号，多语言链接(汇编/C++/其他语言)</a:t>
            </a:r>
            <a:endParaRPr lang="zh-CN" altLang="en-US" sz="2035"/>
          </a:p>
          <a:p>
            <a:pPr lvl="1"/>
            <a:r>
              <a:rPr lang="zh-CN" altLang="en-US" sz="2035"/>
              <a:t>加载：初始化(dllmain)，弱符号，BSS段(局部变量初始化)，相同全局符号先到先用，后面忽略</a:t>
            </a:r>
            <a:endParaRPr lang="zh-CN" altLang="en-US" sz="2035"/>
          </a:p>
          <a:p>
            <a:pPr lvl="1"/>
            <a:r>
              <a:rPr lang="zh-CN" altLang="en-US" sz="2035"/>
              <a:t>运行：线程局部存储，线程栈，堆，代码段，普通/可执行/共享数据段，原子操作，版本兼容调试</a:t>
            </a:r>
            <a:endParaRPr lang="zh-CN" altLang="en-US" sz="2035"/>
          </a:p>
          <a:p>
            <a:r>
              <a:rPr lang="zh-CN" altLang="en-US" sz="2265"/>
              <a:t>计算机视角：</a:t>
            </a:r>
            <a:r>
              <a:rPr lang="zh-CN" altLang="en-US" sz="2265">
                <a:sym typeface="+mn-ea"/>
              </a:rPr>
              <a:t>是纯软件层的开始接口</a:t>
            </a:r>
            <a:endParaRPr lang="zh-CN" altLang="en-US" sz="2265">
              <a:sym typeface="+mn-ea"/>
            </a:endParaRPr>
          </a:p>
          <a:p>
            <a:pPr lvl="1"/>
            <a:r>
              <a:rPr lang="zh-CN" altLang="en-US" sz="2035">
                <a:sym typeface="+mn-ea"/>
              </a:rPr>
              <a:t>处理：通用计算</a:t>
            </a:r>
            <a:r>
              <a:rPr lang="en-US" altLang="zh-CN" sz="2035">
                <a:sym typeface="+mn-ea"/>
              </a:rPr>
              <a:t>/</a:t>
            </a:r>
            <a:r>
              <a:rPr lang="zh-CN" altLang="en-US" sz="2035">
                <a:sym typeface="+mn-ea"/>
              </a:rPr>
              <a:t>通用流程</a:t>
            </a:r>
            <a:r>
              <a:rPr lang="en-US" altLang="zh-CN" sz="2035">
                <a:sym typeface="+mn-ea"/>
              </a:rPr>
              <a:t>/</a:t>
            </a:r>
            <a:r>
              <a:rPr lang="zh-CN" altLang="en-US" sz="2035">
                <a:sym typeface="+mn-ea"/>
              </a:rPr>
              <a:t>函数结构(参数传递)</a:t>
            </a:r>
            <a:r>
              <a:rPr lang="en-US" altLang="zh-CN" sz="2035">
                <a:sym typeface="+mn-ea"/>
              </a:rPr>
              <a:t>/</a:t>
            </a:r>
            <a:r>
              <a:rPr lang="zh-CN" altLang="en-US" sz="2035">
                <a:sym typeface="+mn-ea"/>
              </a:rPr>
              <a:t>跳转结构(setjmp/longjmp)</a:t>
            </a:r>
            <a:r>
              <a:rPr lang="en-US" altLang="zh-CN" sz="2035">
                <a:sym typeface="+mn-ea"/>
              </a:rPr>
              <a:t>/</a:t>
            </a:r>
            <a:r>
              <a:rPr lang="zh-CN" altLang="en-US" sz="2035">
                <a:sym typeface="+mn-ea"/>
              </a:rPr>
              <a:t>异常处理(signal)</a:t>
            </a:r>
            <a:r>
              <a:rPr lang="en-US" altLang="zh-CN" sz="2035">
                <a:sym typeface="+mn-ea"/>
              </a:rPr>
              <a:t>/</a:t>
            </a:r>
            <a:r>
              <a:rPr lang="zh-CN" altLang="en-US" sz="2035">
                <a:sym typeface="+mn-ea"/>
              </a:rPr>
              <a:t>C库</a:t>
            </a:r>
            <a:endParaRPr lang="zh-CN" altLang="en-US" sz="2035">
              <a:sym typeface="+mn-ea"/>
            </a:endParaRPr>
          </a:p>
          <a:p>
            <a:pPr lvl="1"/>
            <a:r>
              <a:rPr lang="zh-CN" altLang="en-US" sz="2035">
                <a:sym typeface="+mn-ea"/>
              </a:rPr>
              <a:t>存储：表达(数组/结构/联合/枚举/普通量/位/字节序)，位置环境(代码段/数据段/栈/堆/线程局部存储)</a:t>
            </a:r>
            <a:endParaRPr lang="zh-CN" altLang="en-US" sz="2035">
              <a:sym typeface="+mn-ea"/>
            </a:endParaRPr>
          </a:p>
          <a:p>
            <a:pPr lvl="1"/>
            <a:r>
              <a:rPr lang="zh-CN" altLang="en-US" sz="2035">
                <a:sym typeface="+mn-ea"/>
              </a:rPr>
              <a:t>传输：地址操作</a:t>
            </a:r>
            <a:r>
              <a:rPr lang="en-US" altLang="zh-CN" sz="2035">
                <a:sym typeface="+mn-ea"/>
              </a:rPr>
              <a:t>/</a:t>
            </a:r>
            <a:r>
              <a:rPr lang="zh-CN" altLang="en-US" sz="2035">
                <a:sym typeface="+mn-ea"/>
              </a:rPr>
              <a:t>数据赋值</a:t>
            </a:r>
            <a:r>
              <a:rPr lang="en-US" altLang="zh-CN" sz="2035">
                <a:sym typeface="+mn-ea"/>
              </a:rPr>
              <a:t>/</a:t>
            </a:r>
            <a:r>
              <a:rPr lang="zh-CN" altLang="en-US" sz="2035">
                <a:sym typeface="+mn-ea"/>
              </a:rPr>
              <a:t>可执行数据段，指针(处理地址)</a:t>
            </a:r>
            <a:r>
              <a:rPr lang="en-US" altLang="zh-CN" sz="2035">
                <a:sym typeface="+mn-ea"/>
              </a:rPr>
              <a:t>/</a:t>
            </a:r>
            <a:r>
              <a:rPr lang="zh-CN" altLang="en-US" sz="2035">
                <a:sym typeface="+mn-ea"/>
              </a:rPr>
              <a:t>数组(立即数偏移)，寄存器(内联汇编)</a:t>
            </a:r>
            <a:endParaRPr lang="zh-CN" altLang="en-US" sz="2035"/>
          </a:p>
          <a:p>
            <a:r>
              <a:rPr lang="zh-CN" altLang="en-US" sz="2265"/>
              <a:t>综合示例：</a:t>
            </a:r>
            <a:r>
              <a:rPr lang="zh-CN" altLang="en-US"/>
              <a:t>用工具链编译，用</a:t>
            </a:r>
            <a:r>
              <a:rPr lang="en-US" altLang="zh-CN"/>
              <a:t>deepseek</a:t>
            </a:r>
            <a:r>
              <a:rPr lang="zh-CN" altLang="en-US"/>
              <a:t>解释并给出示例（给的基本完整）</a:t>
            </a:r>
            <a:endParaRPr lang="zh-CN" altLang="en-US"/>
          </a:p>
        </p:txBody>
      </p:sp>
      <p:graphicFrame>
        <p:nvGraphicFramePr>
          <p:cNvPr id="3" name="Object 2">
            <a:hlinkClick r:id="" action="ppaction://ole?verb="/>
          </p:cNvPr>
          <p:cNvGraphicFramePr>
            <a:graphicFrameLocks noChangeAspect="1"/>
          </p:cNvGraphicFramePr>
          <p:nvPr/>
        </p:nvGraphicFramePr>
        <p:xfrm>
          <a:off x="8916035" y="5481955"/>
          <a:ext cx="1143000" cy="1143000"/>
        </p:xfrm>
        <a:graphic>
          <a:graphicData uri="http://schemas.openxmlformats.org/presentationml/2006/ole">
            <mc:AlternateContent xmlns:mc="http://schemas.openxmlformats.org/markup-compatibility/2006">
              <mc:Choice xmlns:v="urn:schemas-microsoft-com:vml" Requires="v">
                <p:oleObj spid="_x0000_s1025" name="" showAsIcon="1" r:id="rId1" imgW="1143000" imgH="1143000" progId="Package">
                  <p:embed/>
                </p:oleObj>
              </mc:Choice>
              <mc:Fallback>
                <p:oleObj name="" showAsIcon="1" r:id="rId1" imgW="1143000" imgH="1143000" progId="Package">
                  <p:embed/>
                  <p:pic>
                    <p:nvPicPr>
                      <p:cNvPr id="0" name="Picture 1024"/>
                      <p:cNvPicPr/>
                      <p:nvPr/>
                    </p:nvPicPr>
                    <p:blipFill>
                      <a:blip r:embed="rId2"/>
                      <a:stretch>
                        <a:fillRect/>
                      </a:stretch>
                    </p:blipFill>
                    <p:spPr>
                      <a:xfrm>
                        <a:off x="8916035" y="5481955"/>
                        <a:ext cx="1143000" cy="1143000"/>
                      </a:xfrm>
                      <a:prstGeom prst="rect">
                        <a:avLst/>
                      </a:prstGeom>
                    </p:spPr>
                  </p:pic>
                </p:oleObj>
              </mc:Fallback>
            </mc:AlternateContent>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284220" y="393065"/>
            <a:ext cx="3819525" cy="583565"/>
          </a:xfrm>
        </p:spPr>
        <p:txBody>
          <a:bodyPr>
            <a:noAutofit/>
          </a:bodyPr>
          <a:p>
            <a:r>
              <a:rPr lang="zh-CN" altLang="en-US" sz="4000"/>
              <a:t>我的编程语言</a:t>
            </a:r>
            <a:endParaRPr lang="zh-CN" altLang="en-US" sz="4000"/>
          </a:p>
        </p:txBody>
      </p:sp>
      <p:sp>
        <p:nvSpPr>
          <p:cNvPr id="4" name="Content Placeholder 3"/>
          <p:cNvSpPr>
            <a:spLocks noGrp="1"/>
          </p:cNvSpPr>
          <p:nvPr>
            <p:ph idx="1"/>
          </p:nvPr>
        </p:nvSpPr>
        <p:spPr>
          <a:xfrm>
            <a:off x="901065" y="1775460"/>
            <a:ext cx="10831195" cy="3409315"/>
          </a:xfrm>
        </p:spPr>
        <p:txBody>
          <a:bodyPr>
            <a:normAutofit lnSpcReduction="10000"/>
          </a:bodyPr>
          <a:p>
            <a:r>
              <a:rPr lang="zh-CN" altLang="en-US" sz="2520"/>
              <a:t>整体模块：</a:t>
            </a:r>
            <a:r>
              <a:rPr lang="en-US" altLang="zh-CN" sz="2520"/>
              <a:t>PPT</a:t>
            </a:r>
            <a:r>
              <a:rPr lang="zh-CN" altLang="en-US" sz="2520"/>
              <a:t>图，介绍编程语言与人和计算机的。。。</a:t>
            </a:r>
            <a:endParaRPr lang="zh-CN" altLang="en-US" sz="2520"/>
          </a:p>
          <a:p>
            <a:pPr lvl="1"/>
            <a:r>
              <a:rPr lang="zh-CN" altLang="en-US" sz="2265"/>
              <a:t>相对位置</a:t>
            </a:r>
            <a:endParaRPr lang="zh-CN" altLang="en-US" sz="2265"/>
          </a:p>
          <a:p>
            <a:pPr lvl="1"/>
            <a:r>
              <a:rPr lang="zh-CN" altLang="en-US" sz="2265"/>
              <a:t>关系特色</a:t>
            </a:r>
            <a:endParaRPr lang="zh-CN" altLang="en-US" sz="2265"/>
          </a:p>
          <a:p>
            <a:pPr lvl="1"/>
            <a:r>
              <a:rPr lang="zh-CN" altLang="en-US" sz="2265"/>
              <a:t>发展趋势</a:t>
            </a:r>
            <a:endParaRPr lang="zh-CN" altLang="en-US" sz="2520"/>
          </a:p>
          <a:p>
            <a:r>
              <a:rPr lang="zh-CN" altLang="en-US" sz="2520"/>
              <a:t>提纲概述：介绍视频合集的原始提纲</a:t>
            </a:r>
            <a:endParaRPr lang="zh-CN" altLang="en-US" sz="2520"/>
          </a:p>
          <a:p>
            <a:r>
              <a:rPr lang="zh-CN" altLang="en-US" sz="2520"/>
              <a:t>视频合集：已经发送</a:t>
            </a:r>
            <a:endParaRPr lang="zh-CN" altLang="en-US" sz="2265"/>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Rectangles 5"/>
          <p:cNvSpPr/>
          <p:nvPr/>
        </p:nvSpPr>
        <p:spPr>
          <a:xfrm>
            <a:off x="6956425" y="4482465"/>
            <a:ext cx="3105150" cy="74295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sz="2000" b="1">
                <a:solidFill>
                  <a:schemeClr val="tx1"/>
                </a:solidFill>
              </a:rPr>
              <a:t>汇编语言</a:t>
            </a:r>
            <a:endParaRPr lang="zh-CN" altLang="en-US" sz="2000" b="1">
              <a:solidFill>
                <a:schemeClr val="tx1"/>
              </a:solidFill>
            </a:endParaRPr>
          </a:p>
        </p:txBody>
      </p:sp>
      <p:sp>
        <p:nvSpPr>
          <p:cNvPr id="43" name="Rectangles 42"/>
          <p:cNvSpPr/>
          <p:nvPr/>
        </p:nvSpPr>
        <p:spPr>
          <a:xfrm>
            <a:off x="4236085" y="4311015"/>
            <a:ext cx="2070735" cy="1183640"/>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zh-CN" altLang="en-US" b="1">
                <a:solidFill>
                  <a:schemeClr val="tx1"/>
                </a:solidFill>
              </a:rPr>
              <a:t>电脑的软硬接口</a:t>
            </a:r>
            <a:endParaRPr lang="zh-CN" altLang="en-US" b="1">
              <a:solidFill>
                <a:schemeClr val="tx1"/>
              </a:solidFill>
            </a:endParaRPr>
          </a:p>
        </p:txBody>
      </p:sp>
      <p:sp>
        <p:nvSpPr>
          <p:cNvPr id="15" name="Rectangles 14"/>
          <p:cNvSpPr/>
          <p:nvPr/>
        </p:nvSpPr>
        <p:spPr>
          <a:xfrm>
            <a:off x="4230370" y="5494655"/>
            <a:ext cx="2081530" cy="1056640"/>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endParaRPr lang="zh-CN" altLang="en-US" b="1">
              <a:solidFill>
                <a:schemeClr val="tx1"/>
              </a:solidFill>
            </a:endParaRPr>
          </a:p>
          <a:p>
            <a:pPr algn="ctr"/>
            <a:r>
              <a:rPr lang="zh-CN" altLang="en-US" b="1">
                <a:solidFill>
                  <a:schemeClr val="tx1"/>
                </a:solidFill>
              </a:rPr>
              <a:t>电脑的硬件模型</a:t>
            </a:r>
            <a:endParaRPr lang="zh-CN" altLang="en-US" b="1">
              <a:solidFill>
                <a:schemeClr val="tx1"/>
              </a:solidFill>
            </a:endParaRPr>
          </a:p>
        </p:txBody>
      </p:sp>
      <p:sp>
        <p:nvSpPr>
          <p:cNvPr id="28" name="Rectangles 27"/>
          <p:cNvSpPr/>
          <p:nvPr/>
        </p:nvSpPr>
        <p:spPr>
          <a:xfrm>
            <a:off x="1691005" y="4521835"/>
            <a:ext cx="1868805" cy="665480"/>
          </a:xfrm>
          <a:prstGeom prst="rect">
            <a:avLst/>
          </a:prstGeom>
          <a:solidFill>
            <a:schemeClr val="bg1">
              <a:lumMod val="85000"/>
            </a:schemeClr>
          </a:solidFill>
          <a:ln w="101600">
            <a:solidFill>
              <a:schemeClr val="accent4"/>
            </a:solidFill>
          </a:ln>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en-US" altLang="zh-CN" sz="2000" b="1">
                <a:solidFill>
                  <a:schemeClr val="tx1"/>
                </a:solidFill>
              </a:rPr>
              <a:t>UEFI Shell</a:t>
            </a:r>
            <a:endParaRPr lang="en-US" altLang="zh-CN" sz="2000" b="1">
              <a:solidFill>
                <a:schemeClr val="tx1"/>
              </a:solidFill>
            </a:endParaRPr>
          </a:p>
        </p:txBody>
      </p:sp>
      <p:sp>
        <p:nvSpPr>
          <p:cNvPr id="33" name="Rectangles 32"/>
          <p:cNvSpPr/>
          <p:nvPr/>
        </p:nvSpPr>
        <p:spPr>
          <a:xfrm>
            <a:off x="520065" y="4483100"/>
            <a:ext cx="1120140" cy="742315"/>
          </a:xfrm>
          <a:prstGeom prst="rect">
            <a:avLst/>
          </a:prstGeom>
          <a:solidFill>
            <a:schemeClr val="bg1">
              <a:lumMod val="85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b="1">
                <a:solidFill>
                  <a:schemeClr val="tx1"/>
                </a:solidFill>
              </a:rPr>
              <a:t>裸机器</a:t>
            </a:r>
            <a:endParaRPr lang="zh-CN" altLang="en-US" b="1">
              <a:solidFill>
                <a:schemeClr val="tx1"/>
              </a:solidFill>
            </a:endParaRPr>
          </a:p>
        </p:txBody>
      </p:sp>
      <p:sp>
        <p:nvSpPr>
          <p:cNvPr id="36" name="Rectangles 35"/>
          <p:cNvSpPr/>
          <p:nvPr/>
        </p:nvSpPr>
        <p:spPr>
          <a:xfrm>
            <a:off x="10061575" y="4483100"/>
            <a:ext cx="1120140" cy="742315"/>
          </a:xfrm>
          <a:prstGeom prst="rect">
            <a:avLst/>
          </a:prstGeom>
          <a:solidFill>
            <a:schemeClr val="bg1">
              <a:lumMod val="85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b="1">
                <a:solidFill>
                  <a:schemeClr val="tx1"/>
                </a:solidFill>
              </a:rPr>
              <a:t>主接口</a:t>
            </a:r>
            <a:endParaRPr lang="zh-CN" altLang="en-US" b="1">
              <a:solidFill>
                <a:schemeClr val="tx1"/>
              </a:solidFill>
            </a:endParaRPr>
          </a:p>
        </p:txBody>
      </p:sp>
      <p:sp>
        <p:nvSpPr>
          <p:cNvPr id="11" name="Text Box 10"/>
          <p:cNvSpPr txBox="1"/>
          <p:nvPr/>
        </p:nvSpPr>
        <p:spPr>
          <a:xfrm>
            <a:off x="1758950" y="334010"/>
            <a:ext cx="1706245" cy="521970"/>
          </a:xfrm>
          <a:prstGeom prst="rect">
            <a:avLst/>
          </a:prstGeom>
          <a:noFill/>
        </p:spPr>
        <p:txBody>
          <a:bodyPr wrap="square" rtlCol="0">
            <a:spAutoFit/>
          </a:bodyPr>
          <a:p>
            <a:r>
              <a:rPr lang="zh-CN" altLang="en-US" sz="2800" b="1"/>
              <a:t>使</a:t>
            </a:r>
            <a:r>
              <a:rPr lang="en-US" altLang="zh-CN" sz="2800" b="1"/>
              <a:t> </a:t>
            </a:r>
            <a:r>
              <a:rPr lang="zh-CN" altLang="en-US" sz="2800" b="1"/>
              <a:t>用</a:t>
            </a:r>
            <a:endParaRPr lang="zh-CN" altLang="en-US" sz="2800" b="1"/>
          </a:p>
        </p:txBody>
      </p:sp>
      <p:sp>
        <p:nvSpPr>
          <p:cNvPr id="17" name="Text Box 16"/>
          <p:cNvSpPr txBox="1"/>
          <p:nvPr/>
        </p:nvSpPr>
        <p:spPr>
          <a:xfrm>
            <a:off x="8009890" y="320675"/>
            <a:ext cx="1706245" cy="521970"/>
          </a:xfrm>
          <a:prstGeom prst="rect">
            <a:avLst/>
          </a:prstGeom>
          <a:noFill/>
        </p:spPr>
        <p:txBody>
          <a:bodyPr wrap="square" rtlCol="0">
            <a:spAutoFit/>
          </a:bodyPr>
          <a:p>
            <a:r>
              <a:rPr lang="zh-CN" altLang="en-US" sz="2800" b="1"/>
              <a:t>开</a:t>
            </a:r>
            <a:r>
              <a:rPr lang="en-US" altLang="zh-CN" sz="2800" b="1"/>
              <a:t> </a:t>
            </a:r>
            <a:r>
              <a:rPr lang="zh-CN" altLang="en-US" sz="2800" b="1"/>
              <a:t>发</a:t>
            </a:r>
            <a:endParaRPr lang="zh-CN" altLang="en-US" sz="2800" b="1"/>
          </a:p>
        </p:txBody>
      </p:sp>
      <p:cxnSp>
        <p:nvCxnSpPr>
          <p:cNvPr id="16" name="Straight Arrow Connector 15"/>
          <p:cNvCxnSpPr/>
          <p:nvPr/>
        </p:nvCxnSpPr>
        <p:spPr>
          <a:xfrm flipH="1">
            <a:off x="3613785" y="4853940"/>
            <a:ext cx="62230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6317615" y="4822190"/>
            <a:ext cx="656590" cy="1143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Rectangles 5"/>
          <p:cNvSpPr/>
          <p:nvPr/>
        </p:nvSpPr>
        <p:spPr>
          <a:xfrm>
            <a:off x="6956425" y="4482465"/>
            <a:ext cx="3105150" cy="74295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sz="2000" b="1">
                <a:solidFill>
                  <a:schemeClr val="tx1"/>
                </a:solidFill>
              </a:rPr>
              <a:t>汇编语言</a:t>
            </a:r>
            <a:endParaRPr lang="zh-CN" altLang="en-US" sz="2000" b="1">
              <a:solidFill>
                <a:schemeClr val="tx1"/>
              </a:solidFill>
            </a:endParaRPr>
          </a:p>
        </p:txBody>
      </p:sp>
      <p:sp>
        <p:nvSpPr>
          <p:cNvPr id="35" name="Rectangles 34"/>
          <p:cNvSpPr/>
          <p:nvPr/>
        </p:nvSpPr>
        <p:spPr>
          <a:xfrm>
            <a:off x="10061575" y="2946400"/>
            <a:ext cx="1196975" cy="742315"/>
          </a:xfrm>
          <a:prstGeom prst="rect">
            <a:avLst/>
          </a:prstGeom>
          <a:solidFill>
            <a:schemeClr val="bg1">
              <a:lumMod val="85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b="1">
                <a:solidFill>
                  <a:schemeClr val="tx1"/>
                </a:solidFill>
              </a:rPr>
              <a:t>软件建模</a:t>
            </a:r>
            <a:endParaRPr lang="zh-CN" altLang="en-US" b="1">
              <a:solidFill>
                <a:schemeClr val="tx1"/>
              </a:solidFill>
            </a:endParaRPr>
          </a:p>
        </p:txBody>
      </p:sp>
      <p:sp>
        <p:nvSpPr>
          <p:cNvPr id="43" name="Rectangles 42"/>
          <p:cNvSpPr/>
          <p:nvPr/>
        </p:nvSpPr>
        <p:spPr>
          <a:xfrm>
            <a:off x="4236085" y="4311015"/>
            <a:ext cx="2070735" cy="1183640"/>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zh-CN" altLang="en-US" b="1">
                <a:solidFill>
                  <a:schemeClr val="tx1"/>
                </a:solidFill>
              </a:rPr>
              <a:t>电脑的软硬接口</a:t>
            </a:r>
            <a:endParaRPr lang="zh-CN" altLang="en-US" b="1">
              <a:solidFill>
                <a:schemeClr val="tx1"/>
              </a:solidFill>
            </a:endParaRPr>
          </a:p>
        </p:txBody>
      </p:sp>
      <p:sp>
        <p:nvSpPr>
          <p:cNvPr id="3" name="Rectangles 2"/>
          <p:cNvSpPr/>
          <p:nvPr/>
        </p:nvSpPr>
        <p:spPr>
          <a:xfrm>
            <a:off x="4236085" y="2867025"/>
            <a:ext cx="2070735" cy="1443355"/>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zh-CN" altLang="en-US" b="1">
                <a:solidFill>
                  <a:schemeClr val="tx1"/>
                </a:solidFill>
              </a:rPr>
              <a:t>系统的基础平台</a:t>
            </a:r>
            <a:endParaRPr lang="zh-CN" altLang="en-US" b="1">
              <a:solidFill>
                <a:schemeClr val="tx1"/>
              </a:solidFill>
            </a:endParaRPr>
          </a:p>
          <a:p>
            <a:pPr algn="ctr"/>
            <a:endParaRPr lang="zh-CN" altLang="en-US" b="1">
              <a:solidFill>
                <a:schemeClr val="tx1"/>
              </a:solidFill>
            </a:endParaRPr>
          </a:p>
        </p:txBody>
      </p:sp>
      <p:sp>
        <p:nvSpPr>
          <p:cNvPr id="4" name="Rectangles 3"/>
          <p:cNvSpPr/>
          <p:nvPr/>
        </p:nvSpPr>
        <p:spPr>
          <a:xfrm>
            <a:off x="6956425" y="2945765"/>
            <a:ext cx="3105150" cy="74295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en-US" altLang="zh-CN" sz="2000" b="1">
                <a:solidFill>
                  <a:schemeClr val="tx1"/>
                </a:solidFill>
              </a:rPr>
              <a:t>C</a:t>
            </a:r>
            <a:r>
              <a:rPr lang="zh-CN" altLang="en-US" sz="2000" b="1">
                <a:solidFill>
                  <a:schemeClr val="tx1"/>
                </a:solidFill>
              </a:rPr>
              <a:t>语言</a:t>
            </a:r>
            <a:endParaRPr lang="zh-CN" altLang="en-US" sz="2000" b="1">
              <a:solidFill>
                <a:schemeClr val="tx1"/>
              </a:solidFill>
            </a:endParaRPr>
          </a:p>
        </p:txBody>
      </p:sp>
      <p:sp>
        <p:nvSpPr>
          <p:cNvPr id="8" name="Rectangles 7"/>
          <p:cNvSpPr/>
          <p:nvPr/>
        </p:nvSpPr>
        <p:spPr>
          <a:xfrm>
            <a:off x="1642745" y="2953385"/>
            <a:ext cx="1973580" cy="74295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en-US" altLang="zh-CN" sz="2000" b="1">
                <a:solidFill>
                  <a:schemeClr val="tx1"/>
                </a:solidFill>
              </a:rPr>
              <a:t>Shell</a:t>
            </a:r>
            <a:endParaRPr lang="zh-CN" altLang="en-US" sz="2000" b="1">
              <a:solidFill>
                <a:schemeClr val="tx1"/>
              </a:solidFill>
            </a:endParaRPr>
          </a:p>
        </p:txBody>
      </p:sp>
      <p:sp>
        <p:nvSpPr>
          <p:cNvPr id="10" name="Rectangles 9"/>
          <p:cNvSpPr/>
          <p:nvPr/>
        </p:nvSpPr>
        <p:spPr>
          <a:xfrm>
            <a:off x="522605" y="2954020"/>
            <a:ext cx="1120140" cy="742315"/>
          </a:xfrm>
          <a:prstGeom prst="rect">
            <a:avLst/>
          </a:prstGeom>
          <a:solidFill>
            <a:schemeClr val="bg1">
              <a:lumMod val="85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b="1">
                <a:solidFill>
                  <a:schemeClr val="tx1"/>
                </a:solidFill>
              </a:rPr>
              <a:t>平台建模</a:t>
            </a:r>
            <a:endParaRPr lang="zh-CN" altLang="en-US" b="1">
              <a:solidFill>
                <a:schemeClr val="tx1"/>
              </a:solidFill>
            </a:endParaRPr>
          </a:p>
        </p:txBody>
      </p:sp>
      <p:sp>
        <p:nvSpPr>
          <p:cNvPr id="15" name="Rectangles 14"/>
          <p:cNvSpPr/>
          <p:nvPr/>
        </p:nvSpPr>
        <p:spPr>
          <a:xfrm>
            <a:off x="4230370" y="5494655"/>
            <a:ext cx="2081530" cy="1056640"/>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endParaRPr lang="zh-CN" altLang="en-US" b="1">
              <a:solidFill>
                <a:schemeClr val="tx1"/>
              </a:solidFill>
            </a:endParaRPr>
          </a:p>
          <a:p>
            <a:pPr algn="ctr"/>
            <a:r>
              <a:rPr lang="zh-CN" altLang="en-US" b="1">
                <a:solidFill>
                  <a:schemeClr val="tx1"/>
                </a:solidFill>
              </a:rPr>
              <a:t>电脑的硬件模型</a:t>
            </a:r>
            <a:endParaRPr lang="zh-CN" altLang="en-US" b="1">
              <a:solidFill>
                <a:schemeClr val="tx1"/>
              </a:solidFill>
            </a:endParaRPr>
          </a:p>
        </p:txBody>
      </p:sp>
      <p:sp>
        <p:nvSpPr>
          <p:cNvPr id="28" name="Rectangles 27"/>
          <p:cNvSpPr/>
          <p:nvPr/>
        </p:nvSpPr>
        <p:spPr>
          <a:xfrm>
            <a:off x="1691005" y="4521835"/>
            <a:ext cx="1868805" cy="665480"/>
          </a:xfrm>
          <a:prstGeom prst="rect">
            <a:avLst/>
          </a:prstGeom>
          <a:solidFill>
            <a:schemeClr val="bg1">
              <a:lumMod val="85000"/>
            </a:schemeClr>
          </a:solidFill>
          <a:ln w="101600">
            <a:solidFill>
              <a:schemeClr val="accent4"/>
            </a:solidFill>
          </a:ln>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en-US" altLang="zh-CN" sz="2000" b="1">
                <a:solidFill>
                  <a:schemeClr val="tx1"/>
                </a:solidFill>
              </a:rPr>
              <a:t>UEFI Shell</a:t>
            </a:r>
            <a:endParaRPr lang="en-US" altLang="zh-CN" sz="2000" b="1">
              <a:solidFill>
                <a:schemeClr val="tx1"/>
              </a:solidFill>
            </a:endParaRPr>
          </a:p>
        </p:txBody>
      </p:sp>
      <p:sp>
        <p:nvSpPr>
          <p:cNvPr id="33" name="Rectangles 32"/>
          <p:cNvSpPr/>
          <p:nvPr/>
        </p:nvSpPr>
        <p:spPr>
          <a:xfrm>
            <a:off x="520065" y="4483100"/>
            <a:ext cx="1120140" cy="742315"/>
          </a:xfrm>
          <a:prstGeom prst="rect">
            <a:avLst/>
          </a:prstGeom>
          <a:solidFill>
            <a:schemeClr val="bg1">
              <a:lumMod val="85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b="1">
                <a:solidFill>
                  <a:schemeClr val="tx1"/>
                </a:solidFill>
              </a:rPr>
              <a:t>裸机器</a:t>
            </a:r>
            <a:endParaRPr lang="zh-CN" altLang="en-US" b="1">
              <a:solidFill>
                <a:schemeClr val="tx1"/>
              </a:solidFill>
            </a:endParaRPr>
          </a:p>
        </p:txBody>
      </p:sp>
      <p:sp>
        <p:nvSpPr>
          <p:cNvPr id="36" name="Rectangles 35"/>
          <p:cNvSpPr/>
          <p:nvPr/>
        </p:nvSpPr>
        <p:spPr>
          <a:xfrm>
            <a:off x="10061575" y="4483100"/>
            <a:ext cx="1120140" cy="742315"/>
          </a:xfrm>
          <a:prstGeom prst="rect">
            <a:avLst/>
          </a:prstGeom>
          <a:solidFill>
            <a:schemeClr val="bg1">
              <a:lumMod val="85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b="1">
                <a:solidFill>
                  <a:schemeClr val="tx1"/>
                </a:solidFill>
              </a:rPr>
              <a:t>主接口</a:t>
            </a:r>
            <a:endParaRPr lang="zh-CN" altLang="en-US" b="1">
              <a:solidFill>
                <a:schemeClr val="tx1"/>
              </a:solidFill>
            </a:endParaRPr>
          </a:p>
        </p:txBody>
      </p:sp>
      <p:sp>
        <p:nvSpPr>
          <p:cNvPr id="11" name="Text Box 10"/>
          <p:cNvSpPr txBox="1"/>
          <p:nvPr/>
        </p:nvSpPr>
        <p:spPr>
          <a:xfrm>
            <a:off x="1758950" y="334010"/>
            <a:ext cx="1706245" cy="521970"/>
          </a:xfrm>
          <a:prstGeom prst="rect">
            <a:avLst/>
          </a:prstGeom>
          <a:noFill/>
        </p:spPr>
        <p:txBody>
          <a:bodyPr wrap="square" rtlCol="0">
            <a:spAutoFit/>
          </a:bodyPr>
          <a:p>
            <a:r>
              <a:rPr lang="zh-CN" altLang="en-US" sz="2800" b="1"/>
              <a:t>使</a:t>
            </a:r>
            <a:r>
              <a:rPr lang="en-US" altLang="zh-CN" sz="2800" b="1"/>
              <a:t> </a:t>
            </a:r>
            <a:r>
              <a:rPr lang="zh-CN" altLang="en-US" sz="2800" b="1"/>
              <a:t>用</a:t>
            </a:r>
            <a:endParaRPr lang="zh-CN" altLang="en-US" sz="2800" b="1"/>
          </a:p>
        </p:txBody>
      </p:sp>
      <p:sp>
        <p:nvSpPr>
          <p:cNvPr id="17" name="Text Box 16"/>
          <p:cNvSpPr txBox="1"/>
          <p:nvPr/>
        </p:nvSpPr>
        <p:spPr>
          <a:xfrm>
            <a:off x="8009890" y="320675"/>
            <a:ext cx="1706245" cy="521970"/>
          </a:xfrm>
          <a:prstGeom prst="rect">
            <a:avLst/>
          </a:prstGeom>
          <a:noFill/>
        </p:spPr>
        <p:txBody>
          <a:bodyPr wrap="square" rtlCol="0">
            <a:spAutoFit/>
          </a:bodyPr>
          <a:p>
            <a:r>
              <a:rPr lang="zh-CN" altLang="en-US" sz="2800" b="1"/>
              <a:t>开</a:t>
            </a:r>
            <a:r>
              <a:rPr lang="en-US" altLang="zh-CN" sz="2800" b="1"/>
              <a:t> </a:t>
            </a:r>
            <a:r>
              <a:rPr lang="zh-CN" altLang="en-US" sz="2800" b="1"/>
              <a:t>发</a:t>
            </a:r>
            <a:endParaRPr lang="zh-CN" altLang="en-US" sz="2800" b="1"/>
          </a:p>
        </p:txBody>
      </p:sp>
      <p:cxnSp>
        <p:nvCxnSpPr>
          <p:cNvPr id="16" name="Straight Arrow Connector 15"/>
          <p:cNvCxnSpPr/>
          <p:nvPr/>
        </p:nvCxnSpPr>
        <p:spPr>
          <a:xfrm flipH="1">
            <a:off x="3613785" y="4853940"/>
            <a:ext cx="62230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H="1">
            <a:off x="6320790" y="3325495"/>
            <a:ext cx="636270" cy="0"/>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6317615" y="4822190"/>
            <a:ext cx="656590" cy="1143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H="1">
            <a:off x="3616325" y="3350260"/>
            <a:ext cx="636270" cy="0"/>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Rectangles 5"/>
          <p:cNvSpPr/>
          <p:nvPr/>
        </p:nvSpPr>
        <p:spPr>
          <a:xfrm>
            <a:off x="6956425" y="4482465"/>
            <a:ext cx="3105150" cy="74295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sz="2000" b="1">
                <a:solidFill>
                  <a:schemeClr val="tx1"/>
                </a:solidFill>
              </a:rPr>
              <a:t>汇编语言</a:t>
            </a:r>
            <a:endParaRPr lang="zh-CN" altLang="en-US" sz="2000" b="1">
              <a:solidFill>
                <a:schemeClr val="tx1"/>
              </a:solidFill>
            </a:endParaRPr>
          </a:p>
        </p:txBody>
      </p:sp>
      <p:sp>
        <p:nvSpPr>
          <p:cNvPr id="35" name="Rectangles 34"/>
          <p:cNvSpPr/>
          <p:nvPr/>
        </p:nvSpPr>
        <p:spPr>
          <a:xfrm>
            <a:off x="10061575" y="2946400"/>
            <a:ext cx="1196975" cy="742315"/>
          </a:xfrm>
          <a:prstGeom prst="rect">
            <a:avLst/>
          </a:prstGeom>
          <a:solidFill>
            <a:schemeClr val="bg1">
              <a:lumMod val="85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b="1">
                <a:solidFill>
                  <a:schemeClr val="tx1"/>
                </a:solidFill>
              </a:rPr>
              <a:t>软件建模</a:t>
            </a:r>
            <a:endParaRPr lang="zh-CN" altLang="en-US" b="1">
              <a:solidFill>
                <a:schemeClr val="tx1"/>
              </a:solidFill>
            </a:endParaRPr>
          </a:p>
        </p:txBody>
      </p:sp>
      <p:sp>
        <p:nvSpPr>
          <p:cNvPr id="43" name="Rectangles 42"/>
          <p:cNvSpPr/>
          <p:nvPr/>
        </p:nvSpPr>
        <p:spPr>
          <a:xfrm>
            <a:off x="4236085" y="4311015"/>
            <a:ext cx="2070735" cy="1183640"/>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zh-CN" altLang="en-US" b="1">
                <a:solidFill>
                  <a:schemeClr val="tx1"/>
                </a:solidFill>
              </a:rPr>
              <a:t>电脑的软硬接口</a:t>
            </a:r>
            <a:endParaRPr lang="zh-CN" altLang="en-US" b="1">
              <a:solidFill>
                <a:schemeClr val="tx1"/>
              </a:solidFill>
            </a:endParaRPr>
          </a:p>
        </p:txBody>
      </p:sp>
      <p:sp>
        <p:nvSpPr>
          <p:cNvPr id="3" name="Rectangles 2"/>
          <p:cNvSpPr/>
          <p:nvPr/>
        </p:nvSpPr>
        <p:spPr>
          <a:xfrm>
            <a:off x="4236085" y="2867025"/>
            <a:ext cx="2070735" cy="1443355"/>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zh-CN" altLang="en-US" b="1">
                <a:solidFill>
                  <a:schemeClr val="tx1"/>
                </a:solidFill>
              </a:rPr>
              <a:t>系统的基础平台</a:t>
            </a:r>
            <a:endParaRPr lang="zh-CN" altLang="en-US" b="1">
              <a:solidFill>
                <a:schemeClr val="tx1"/>
              </a:solidFill>
            </a:endParaRPr>
          </a:p>
          <a:p>
            <a:pPr algn="ctr"/>
            <a:endParaRPr lang="zh-CN" altLang="en-US" b="1">
              <a:solidFill>
                <a:schemeClr val="tx1"/>
              </a:solidFill>
            </a:endParaRPr>
          </a:p>
        </p:txBody>
      </p:sp>
      <p:sp>
        <p:nvSpPr>
          <p:cNvPr id="4" name="Rectangles 3"/>
          <p:cNvSpPr/>
          <p:nvPr/>
        </p:nvSpPr>
        <p:spPr>
          <a:xfrm>
            <a:off x="6956425" y="2945765"/>
            <a:ext cx="3105150" cy="74295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en-US" altLang="zh-CN" sz="2000" b="1">
                <a:solidFill>
                  <a:schemeClr val="tx1"/>
                </a:solidFill>
              </a:rPr>
              <a:t>C</a:t>
            </a:r>
            <a:r>
              <a:rPr lang="zh-CN" altLang="en-US" sz="2000" b="1">
                <a:solidFill>
                  <a:schemeClr val="tx1"/>
                </a:solidFill>
              </a:rPr>
              <a:t>语言</a:t>
            </a:r>
            <a:endParaRPr lang="zh-CN" altLang="en-US" sz="2000" b="1">
              <a:solidFill>
                <a:schemeClr val="tx1"/>
              </a:solidFill>
            </a:endParaRPr>
          </a:p>
        </p:txBody>
      </p:sp>
      <p:sp>
        <p:nvSpPr>
          <p:cNvPr id="5" name="Rectangles 4"/>
          <p:cNvSpPr/>
          <p:nvPr/>
        </p:nvSpPr>
        <p:spPr>
          <a:xfrm>
            <a:off x="4236085" y="1311275"/>
            <a:ext cx="2070735" cy="1554480"/>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zh-CN" altLang="en-US" b="1">
                <a:solidFill>
                  <a:schemeClr val="tx1"/>
                </a:solidFill>
              </a:rPr>
              <a:t>系统的扩展平台</a:t>
            </a:r>
            <a:endParaRPr lang="zh-CN" altLang="en-US" b="1">
              <a:solidFill>
                <a:schemeClr val="tx1"/>
              </a:solidFill>
            </a:endParaRPr>
          </a:p>
          <a:p>
            <a:pPr algn="ctr"/>
            <a:endParaRPr lang="en-US" altLang="zh-CN" b="1">
              <a:solidFill>
                <a:schemeClr val="tx1"/>
              </a:solidFill>
            </a:endParaRPr>
          </a:p>
          <a:p>
            <a:pPr algn="ctr"/>
            <a:endParaRPr lang="en-US" altLang="zh-CN" b="1">
              <a:solidFill>
                <a:schemeClr val="tx1"/>
              </a:solidFill>
            </a:endParaRPr>
          </a:p>
        </p:txBody>
      </p:sp>
      <p:sp>
        <p:nvSpPr>
          <p:cNvPr id="8" name="Rectangles 7"/>
          <p:cNvSpPr/>
          <p:nvPr/>
        </p:nvSpPr>
        <p:spPr>
          <a:xfrm>
            <a:off x="1642745" y="2953385"/>
            <a:ext cx="1973580" cy="74295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en-US" altLang="zh-CN" sz="2000" b="1">
                <a:solidFill>
                  <a:schemeClr val="tx1"/>
                </a:solidFill>
              </a:rPr>
              <a:t>Shell</a:t>
            </a:r>
            <a:endParaRPr lang="zh-CN" altLang="en-US" sz="2000" b="1">
              <a:solidFill>
                <a:schemeClr val="tx1"/>
              </a:solidFill>
            </a:endParaRPr>
          </a:p>
        </p:txBody>
      </p:sp>
      <p:sp>
        <p:nvSpPr>
          <p:cNvPr id="9" name="Rectangles 8"/>
          <p:cNvSpPr/>
          <p:nvPr/>
        </p:nvSpPr>
        <p:spPr>
          <a:xfrm>
            <a:off x="6956425" y="1311275"/>
            <a:ext cx="3105150" cy="74295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sz="2000" b="1">
                <a:solidFill>
                  <a:schemeClr val="tx1"/>
                </a:solidFill>
              </a:rPr>
              <a:t>各高级语言（含协处理）</a:t>
            </a:r>
            <a:endParaRPr lang="zh-CN" altLang="en-US" sz="2000" b="1">
              <a:solidFill>
                <a:schemeClr val="tx1"/>
              </a:solidFill>
            </a:endParaRPr>
          </a:p>
        </p:txBody>
      </p:sp>
      <p:sp>
        <p:nvSpPr>
          <p:cNvPr id="10" name="Rectangles 9"/>
          <p:cNvSpPr/>
          <p:nvPr/>
        </p:nvSpPr>
        <p:spPr>
          <a:xfrm>
            <a:off x="522605" y="2954020"/>
            <a:ext cx="1120140" cy="742315"/>
          </a:xfrm>
          <a:prstGeom prst="rect">
            <a:avLst/>
          </a:prstGeom>
          <a:solidFill>
            <a:schemeClr val="bg1">
              <a:lumMod val="85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b="1">
                <a:solidFill>
                  <a:schemeClr val="tx1"/>
                </a:solidFill>
              </a:rPr>
              <a:t>平台建模</a:t>
            </a:r>
            <a:endParaRPr lang="zh-CN" altLang="en-US" b="1">
              <a:solidFill>
                <a:schemeClr val="tx1"/>
              </a:solidFill>
            </a:endParaRPr>
          </a:p>
        </p:txBody>
      </p:sp>
      <p:sp>
        <p:nvSpPr>
          <p:cNvPr id="12" name="Rectangles 11"/>
          <p:cNvSpPr/>
          <p:nvPr/>
        </p:nvSpPr>
        <p:spPr>
          <a:xfrm>
            <a:off x="1642745" y="1311910"/>
            <a:ext cx="1973580" cy="74295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sz="2000" b="1">
                <a:solidFill>
                  <a:schemeClr val="tx1"/>
                </a:solidFill>
              </a:rPr>
              <a:t>人类语言</a:t>
            </a:r>
            <a:endParaRPr lang="zh-CN" altLang="en-US" sz="2000" b="1">
              <a:solidFill>
                <a:schemeClr val="tx1"/>
              </a:solidFill>
            </a:endParaRPr>
          </a:p>
        </p:txBody>
      </p:sp>
      <p:sp>
        <p:nvSpPr>
          <p:cNvPr id="13" name="Rectangles 12"/>
          <p:cNvSpPr/>
          <p:nvPr/>
        </p:nvSpPr>
        <p:spPr>
          <a:xfrm>
            <a:off x="10061575" y="1311275"/>
            <a:ext cx="1205865" cy="742315"/>
          </a:xfrm>
          <a:prstGeom prst="rect">
            <a:avLst/>
          </a:prstGeom>
          <a:solidFill>
            <a:schemeClr val="bg1">
              <a:lumMod val="85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b="1">
                <a:solidFill>
                  <a:schemeClr val="tx1"/>
                </a:solidFill>
              </a:rPr>
              <a:t>集成开发</a:t>
            </a:r>
            <a:endParaRPr lang="zh-CN" altLang="en-US" b="1">
              <a:solidFill>
                <a:schemeClr val="tx1"/>
              </a:solidFill>
            </a:endParaRPr>
          </a:p>
        </p:txBody>
      </p:sp>
      <p:sp>
        <p:nvSpPr>
          <p:cNvPr id="15" name="Rectangles 14"/>
          <p:cNvSpPr/>
          <p:nvPr/>
        </p:nvSpPr>
        <p:spPr>
          <a:xfrm>
            <a:off x="4230370" y="5494655"/>
            <a:ext cx="2081530" cy="1056640"/>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endParaRPr lang="zh-CN" altLang="en-US" b="1">
              <a:solidFill>
                <a:schemeClr val="tx1"/>
              </a:solidFill>
            </a:endParaRPr>
          </a:p>
          <a:p>
            <a:pPr algn="ctr"/>
            <a:r>
              <a:rPr lang="zh-CN" altLang="en-US" b="1">
                <a:solidFill>
                  <a:schemeClr val="tx1"/>
                </a:solidFill>
              </a:rPr>
              <a:t>电脑的硬件模型</a:t>
            </a:r>
            <a:endParaRPr lang="zh-CN" altLang="en-US" b="1">
              <a:solidFill>
                <a:schemeClr val="tx1"/>
              </a:solidFill>
            </a:endParaRPr>
          </a:p>
        </p:txBody>
      </p:sp>
      <p:sp>
        <p:nvSpPr>
          <p:cNvPr id="28" name="Rectangles 27"/>
          <p:cNvSpPr/>
          <p:nvPr/>
        </p:nvSpPr>
        <p:spPr>
          <a:xfrm>
            <a:off x="1691005" y="4521835"/>
            <a:ext cx="1868805" cy="665480"/>
          </a:xfrm>
          <a:prstGeom prst="rect">
            <a:avLst/>
          </a:prstGeom>
          <a:solidFill>
            <a:schemeClr val="bg1">
              <a:lumMod val="85000"/>
            </a:schemeClr>
          </a:solidFill>
          <a:ln w="101600">
            <a:solidFill>
              <a:schemeClr val="accent4"/>
            </a:solidFill>
          </a:ln>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en-US" altLang="zh-CN" sz="2000" b="1">
                <a:solidFill>
                  <a:schemeClr val="tx1"/>
                </a:solidFill>
              </a:rPr>
              <a:t>UEFI Shell</a:t>
            </a:r>
            <a:endParaRPr lang="en-US" altLang="zh-CN" sz="2000" b="1">
              <a:solidFill>
                <a:schemeClr val="tx1"/>
              </a:solidFill>
            </a:endParaRPr>
          </a:p>
        </p:txBody>
      </p:sp>
      <p:sp>
        <p:nvSpPr>
          <p:cNvPr id="33" name="Rectangles 32"/>
          <p:cNvSpPr/>
          <p:nvPr/>
        </p:nvSpPr>
        <p:spPr>
          <a:xfrm>
            <a:off x="520065" y="4483100"/>
            <a:ext cx="1120140" cy="742315"/>
          </a:xfrm>
          <a:prstGeom prst="rect">
            <a:avLst/>
          </a:prstGeom>
          <a:solidFill>
            <a:schemeClr val="bg1">
              <a:lumMod val="85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b="1">
                <a:solidFill>
                  <a:schemeClr val="tx1"/>
                </a:solidFill>
              </a:rPr>
              <a:t>裸机器</a:t>
            </a:r>
            <a:endParaRPr lang="zh-CN" altLang="en-US" b="1">
              <a:solidFill>
                <a:schemeClr val="tx1"/>
              </a:solidFill>
            </a:endParaRPr>
          </a:p>
        </p:txBody>
      </p:sp>
      <p:sp>
        <p:nvSpPr>
          <p:cNvPr id="34" name="Rectangles 33"/>
          <p:cNvSpPr/>
          <p:nvPr/>
        </p:nvSpPr>
        <p:spPr>
          <a:xfrm>
            <a:off x="522605" y="1312545"/>
            <a:ext cx="1120140" cy="742315"/>
          </a:xfrm>
          <a:prstGeom prst="rect">
            <a:avLst/>
          </a:prstGeom>
          <a:solidFill>
            <a:schemeClr val="bg1">
              <a:lumMod val="85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b="1">
                <a:solidFill>
                  <a:schemeClr val="tx1"/>
                </a:solidFill>
              </a:rPr>
              <a:t>使用建模</a:t>
            </a:r>
            <a:endParaRPr lang="zh-CN" altLang="en-US" b="1">
              <a:solidFill>
                <a:schemeClr val="tx1"/>
              </a:solidFill>
            </a:endParaRPr>
          </a:p>
        </p:txBody>
      </p:sp>
      <p:sp>
        <p:nvSpPr>
          <p:cNvPr id="36" name="Rectangles 35"/>
          <p:cNvSpPr/>
          <p:nvPr/>
        </p:nvSpPr>
        <p:spPr>
          <a:xfrm>
            <a:off x="10061575" y="4483100"/>
            <a:ext cx="1120140" cy="742315"/>
          </a:xfrm>
          <a:prstGeom prst="rect">
            <a:avLst/>
          </a:prstGeom>
          <a:solidFill>
            <a:schemeClr val="bg1">
              <a:lumMod val="85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b="1">
                <a:solidFill>
                  <a:schemeClr val="tx1"/>
                </a:solidFill>
              </a:rPr>
              <a:t>主接口</a:t>
            </a:r>
            <a:endParaRPr lang="zh-CN" altLang="en-US" b="1">
              <a:solidFill>
                <a:schemeClr val="tx1"/>
              </a:solidFill>
            </a:endParaRPr>
          </a:p>
        </p:txBody>
      </p:sp>
      <p:sp>
        <p:nvSpPr>
          <p:cNvPr id="11" name="Text Box 10"/>
          <p:cNvSpPr txBox="1"/>
          <p:nvPr/>
        </p:nvSpPr>
        <p:spPr>
          <a:xfrm>
            <a:off x="1758950" y="334010"/>
            <a:ext cx="1706245" cy="521970"/>
          </a:xfrm>
          <a:prstGeom prst="rect">
            <a:avLst/>
          </a:prstGeom>
          <a:noFill/>
        </p:spPr>
        <p:txBody>
          <a:bodyPr wrap="square" rtlCol="0">
            <a:spAutoFit/>
          </a:bodyPr>
          <a:p>
            <a:r>
              <a:rPr lang="zh-CN" altLang="en-US" sz="2800" b="1"/>
              <a:t>使</a:t>
            </a:r>
            <a:r>
              <a:rPr lang="en-US" altLang="zh-CN" sz="2800" b="1"/>
              <a:t> </a:t>
            </a:r>
            <a:r>
              <a:rPr lang="zh-CN" altLang="en-US" sz="2800" b="1"/>
              <a:t>用</a:t>
            </a:r>
            <a:endParaRPr lang="zh-CN" altLang="en-US" sz="2800" b="1"/>
          </a:p>
        </p:txBody>
      </p:sp>
      <p:sp>
        <p:nvSpPr>
          <p:cNvPr id="17" name="Text Box 16"/>
          <p:cNvSpPr txBox="1"/>
          <p:nvPr/>
        </p:nvSpPr>
        <p:spPr>
          <a:xfrm>
            <a:off x="8009890" y="320675"/>
            <a:ext cx="1706245" cy="521970"/>
          </a:xfrm>
          <a:prstGeom prst="rect">
            <a:avLst/>
          </a:prstGeom>
          <a:noFill/>
        </p:spPr>
        <p:txBody>
          <a:bodyPr wrap="square" rtlCol="0">
            <a:spAutoFit/>
          </a:bodyPr>
          <a:p>
            <a:r>
              <a:rPr lang="zh-CN" altLang="en-US" sz="2800" b="1"/>
              <a:t>开</a:t>
            </a:r>
            <a:r>
              <a:rPr lang="en-US" altLang="zh-CN" sz="2800" b="1"/>
              <a:t> </a:t>
            </a:r>
            <a:r>
              <a:rPr lang="zh-CN" altLang="en-US" sz="2800" b="1"/>
              <a:t>发</a:t>
            </a:r>
            <a:endParaRPr lang="zh-CN" altLang="en-US" sz="2800" b="1"/>
          </a:p>
        </p:txBody>
      </p:sp>
      <p:cxnSp>
        <p:nvCxnSpPr>
          <p:cNvPr id="14" name="Straight Arrow Connector 13"/>
          <p:cNvCxnSpPr/>
          <p:nvPr/>
        </p:nvCxnSpPr>
        <p:spPr>
          <a:xfrm flipH="1">
            <a:off x="3616325" y="1683385"/>
            <a:ext cx="61976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flipH="1">
            <a:off x="3613785" y="4853940"/>
            <a:ext cx="62230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H="1">
            <a:off x="6320790" y="1734820"/>
            <a:ext cx="636270" cy="0"/>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H="1">
            <a:off x="6320790" y="3325495"/>
            <a:ext cx="636270" cy="0"/>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6317615" y="4822190"/>
            <a:ext cx="656590" cy="1143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H="1">
            <a:off x="3616325" y="3350260"/>
            <a:ext cx="636270" cy="0"/>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Rectangles 5"/>
          <p:cNvSpPr/>
          <p:nvPr/>
        </p:nvSpPr>
        <p:spPr>
          <a:xfrm>
            <a:off x="6956425" y="4482465"/>
            <a:ext cx="3105150" cy="74295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sz="2000" b="1">
                <a:solidFill>
                  <a:schemeClr val="tx1"/>
                </a:solidFill>
              </a:rPr>
              <a:t>汇编语言</a:t>
            </a:r>
            <a:endParaRPr lang="zh-CN" altLang="en-US" sz="2000" b="1">
              <a:solidFill>
                <a:schemeClr val="tx1"/>
              </a:solidFill>
            </a:endParaRPr>
          </a:p>
        </p:txBody>
      </p:sp>
      <p:sp>
        <p:nvSpPr>
          <p:cNvPr id="35" name="Rectangles 34"/>
          <p:cNvSpPr/>
          <p:nvPr/>
        </p:nvSpPr>
        <p:spPr>
          <a:xfrm>
            <a:off x="10061575" y="2946400"/>
            <a:ext cx="1196975" cy="742315"/>
          </a:xfrm>
          <a:prstGeom prst="rect">
            <a:avLst/>
          </a:prstGeom>
          <a:solidFill>
            <a:schemeClr val="bg1">
              <a:lumMod val="85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b="1">
                <a:solidFill>
                  <a:schemeClr val="tx1"/>
                </a:solidFill>
              </a:rPr>
              <a:t>软件建模</a:t>
            </a:r>
            <a:endParaRPr lang="zh-CN" altLang="en-US" b="1">
              <a:solidFill>
                <a:schemeClr val="tx1"/>
              </a:solidFill>
            </a:endParaRPr>
          </a:p>
        </p:txBody>
      </p:sp>
      <p:sp>
        <p:nvSpPr>
          <p:cNvPr id="43" name="Rectangles 42"/>
          <p:cNvSpPr/>
          <p:nvPr/>
        </p:nvSpPr>
        <p:spPr>
          <a:xfrm>
            <a:off x="4236085" y="4311015"/>
            <a:ext cx="2070735" cy="1183640"/>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zh-CN" altLang="en-US" b="1">
                <a:solidFill>
                  <a:schemeClr val="tx1"/>
                </a:solidFill>
              </a:rPr>
              <a:t>电脑的软硬接口</a:t>
            </a:r>
            <a:endParaRPr lang="zh-CN" altLang="en-US" b="1">
              <a:solidFill>
                <a:schemeClr val="tx1"/>
              </a:solidFill>
            </a:endParaRPr>
          </a:p>
        </p:txBody>
      </p:sp>
      <p:sp>
        <p:nvSpPr>
          <p:cNvPr id="3" name="Rectangles 2"/>
          <p:cNvSpPr/>
          <p:nvPr/>
        </p:nvSpPr>
        <p:spPr>
          <a:xfrm>
            <a:off x="4236085" y="2867025"/>
            <a:ext cx="2070735" cy="1443355"/>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zh-CN" altLang="en-US" b="1">
                <a:solidFill>
                  <a:schemeClr val="tx1"/>
                </a:solidFill>
              </a:rPr>
              <a:t>系统的基础平台</a:t>
            </a:r>
            <a:endParaRPr lang="zh-CN" altLang="en-US" b="1">
              <a:solidFill>
                <a:schemeClr val="tx1"/>
              </a:solidFill>
            </a:endParaRPr>
          </a:p>
          <a:p>
            <a:pPr algn="ctr"/>
            <a:endParaRPr lang="zh-CN" altLang="en-US" b="1">
              <a:solidFill>
                <a:schemeClr val="tx1"/>
              </a:solidFill>
            </a:endParaRPr>
          </a:p>
        </p:txBody>
      </p:sp>
      <p:sp>
        <p:nvSpPr>
          <p:cNvPr id="4" name="Rectangles 3"/>
          <p:cNvSpPr/>
          <p:nvPr/>
        </p:nvSpPr>
        <p:spPr>
          <a:xfrm>
            <a:off x="6956425" y="2945765"/>
            <a:ext cx="3105150" cy="74295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en-US" altLang="zh-CN" sz="2000" b="1">
                <a:solidFill>
                  <a:schemeClr val="tx1"/>
                </a:solidFill>
              </a:rPr>
              <a:t>C</a:t>
            </a:r>
            <a:r>
              <a:rPr lang="zh-CN" altLang="en-US" sz="2000" b="1">
                <a:solidFill>
                  <a:schemeClr val="tx1"/>
                </a:solidFill>
              </a:rPr>
              <a:t>语言</a:t>
            </a:r>
            <a:endParaRPr lang="zh-CN" altLang="en-US" sz="2000" b="1">
              <a:solidFill>
                <a:schemeClr val="tx1"/>
              </a:solidFill>
            </a:endParaRPr>
          </a:p>
        </p:txBody>
      </p:sp>
      <p:sp>
        <p:nvSpPr>
          <p:cNvPr id="5" name="Rectangles 4"/>
          <p:cNvSpPr/>
          <p:nvPr/>
        </p:nvSpPr>
        <p:spPr>
          <a:xfrm>
            <a:off x="4236085" y="1311275"/>
            <a:ext cx="2070735" cy="1554480"/>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zh-CN" altLang="en-US" b="1">
                <a:solidFill>
                  <a:schemeClr val="tx1"/>
                </a:solidFill>
              </a:rPr>
              <a:t>系统的扩展平台</a:t>
            </a:r>
            <a:endParaRPr lang="zh-CN" altLang="en-US" b="1">
              <a:solidFill>
                <a:schemeClr val="tx1"/>
              </a:solidFill>
            </a:endParaRPr>
          </a:p>
          <a:p>
            <a:pPr algn="ctr"/>
            <a:endParaRPr lang="en-US" altLang="zh-CN" b="1">
              <a:solidFill>
                <a:schemeClr val="tx1"/>
              </a:solidFill>
            </a:endParaRPr>
          </a:p>
          <a:p>
            <a:pPr algn="ctr"/>
            <a:endParaRPr lang="en-US" altLang="zh-CN" b="1">
              <a:solidFill>
                <a:schemeClr val="tx1"/>
              </a:solidFill>
            </a:endParaRPr>
          </a:p>
        </p:txBody>
      </p:sp>
      <p:sp>
        <p:nvSpPr>
          <p:cNvPr id="8" name="Rectangles 7"/>
          <p:cNvSpPr/>
          <p:nvPr/>
        </p:nvSpPr>
        <p:spPr>
          <a:xfrm>
            <a:off x="1642745" y="2953385"/>
            <a:ext cx="1973580" cy="74295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en-US" altLang="zh-CN" sz="2000" b="1">
                <a:solidFill>
                  <a:schemeClr val="tx1"/>
                </a:solidFill>
              </a:rPr>
              <a:t>Shell</a:t>
            </a:r>
            <a:endParaRPr lang="zh-CN" altLang="en-US" sz="2000" b="1">
              <a:solidFill>
                <a:schemeClr val="tx1"/>
              </a:solidFill>
            </a:endParaRPr>
          </a:p>
        </p:txBody>
      </p:sp>
      <p:sp>
        <p:nvSpPr>
          <p:cNvPr id="9" name="Rectangles 8"/>
          <p:cNvSpPr/>
          <p:nvPr/>
        </p:nvSpPr>
        <p:spPr>
          <a:xfrm>
            <a:off x="6956425" y="1311275"/>
            <a:ext cx="3105150" cy="74295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sz="2000" b="1">
                <a:solidFill>
                  <a:schemeClr val="tx1"/>
                </a:solidFill>
              </a:rPr>
              <a:t>各高级语言（含协处理）</a:t>
            </a:r>
            <a:endParaRPr lang="zh-CN" altLang="en-US" sz="2000" b="1">
              <a:solidFill>
                <a:schemeClr val="tx1"/>
              </a:solidFill>
            </a:endParaRPr>
          </a:p>
        </p:txBody>
      </p:sp>
      <p:sp>
        <p:nvSpPr>
          <p:cNvPr id="10" name="Rectangles 9"/>
          <p:cNvSpPr/>
          <p:nvPr/>
        </p:nvSpPr>
        <p:spPr>
          <a:xfrm>
            <a:off x="522605" y="2954020"/>
            <a:ext cx="1120140" cy="742315"/>
          </a:xfrm>
          <a:prstGeom prst="rect">
            <a:avLst/>
          </a:prstGeom>
          <a:solidFill>
            <a:schemeClr val="bg1">
              <a:lumMod val="85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b="1">
                <a:solidFill>
                  <a:schemeClr val="tx1"/>
                </a:solidFill>
              </a:rPr>
              <a:t>平台建模</a:t>
            </a:r>
            <a:endParaRPr lang="zh-CN" altLang="en-US" b="1">
              <a:solidFill>
                <a:schemeClr val="tx1"/>
              </a:solidFill>
            </a:endParaRPr>
          </a:p>
        </p:txBody>
      </p:sp>
      <p:sp>
        <p:nvSpPr>
          <p:cNvPr id="12" name="Rectangles 11"/>
          <p:cNvSpPr/>
          <p:nvPr/>
        </p:nvSpPr>
        <p:spPr>
          <a:xfrm>
            <a:off x="1642745" y="1311910"/>
            <a:ext cx="1973580" cy="74295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sz="2000" b="1">
                <a:solidFill>
                  <a:schemeClr val="tx1"/>
                </a:solidFill>
              </a:rPr>
              <a:t>人类语言</a:t>
            </a:r>
            <a:endParaRPr lang="zh-CN" altLang="en-US" sz="2000" b="1">
              <a:solidFill>
                <a:schemeClr val="tx1"/>
              </a:solidFill>
            </a:endParaRPr>
          </a:p>
        </p:txBody>
      </p:sp>
      <p:sp>
        <p:nvSpPr>
          <p:cNvPr id="13" name="Rectangles 12"/>
          <p:cNvSpPr/>
          <p:nvPr/>
        </p:nvSpPr>
        <p:spPr>
          <a:xfrm>
            <a:off x="10061575" y="1311275"/>
            <a:ext cx="1205865" cy="742315"/>
          </a:xfrm>
          <a:prstGeom prst="rect">
            <a:avLst/>
          </a:prstGeom>
          <a:solidFill>
            <a:schemeClr val="bg1">
              <a:lumMod val="85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b="1">
                <a:solidFill>
                  <a:schemeClr val="tx1"/>
                </a:solidFill>
              </a:rPr>
              <a:t>集成开发</a:t>
            </a:r>
            <a:endParaRPr lang="zh-CN" altLang="en-US" b="1">
              <a:solidFill>
                <a:schemeClr val="tx1"/>
              </a:solidFill>
            </a:endParaRPr>
          </a:p>
        </p:txBody>
      </p:sp>
      <p:sp>
        <p:nvSpPr>
          <p:cNvPr id="15" name="Rectangles 14"/>
          <p:cNvSpPr/>
          <p:nvPr/>
        </p:nvSpPr>
        <p:spPr>
          <a:xfrm>
            <a:off x="4230370" y="5494655"/>
            <a:ext cx="2081530" cy="1056640"/>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endParaRPr lang="zh-CN" altLang="en-US" b="1">
              <a:solidFill>
                <a:schemeClr val="tx1"/>
              </a:solidFill>
            </a:endParaRPr>
          </a:p>
          <a:p>
            <a:pPr algn="ctr"/>
            <a:r>
              <a:rPr lang="zh-CN" altLang="en-US" b="1">
                <a:solidFill>
                  <a:schemeClr val="tx1"/>
                </a:solidFill>
              </a:rPr>
              <a:t>电脑的硬件模型</a:t>
            </a:r>
            <a:endParaRPr lang="zh-CN" altLang="en-US" b="1">
              <a:solidFill>
                <a:schemeClr val="tx1"/>
              </a:solidFill>
            </a:endParaRPr>
          </a:p>
        </p:txBody>
      </p:sp>
      <p:cxnSp>
        <p:nvCxnSpPr>
          <p:cNvPr id="20" name="Straight Arrow Connector 19"/>
          <p:cNvCxnSpPr/>
          <p:nvPr/>
        </p:nvCxnSpPr>
        <p:spPr>
          <a:xfrm flipH="1">
            <a:off x="3616325" y="1683385"/>
            <a:ext cx="61976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 name="Rectangles 27"/>
          <p:cNvSpPr/>
          <p:nvPr/>
        </p:nvSpPr>
        <p:spPr>
          <a:xfrm>
            <a:off x="1691005" y="4521835"/>
            <a:ext cx="1868805" cy="665480"/>
          </a:xfrm>
          <a:prstGeom prst="rect">
            <a:avLst/>
          </a:prstGeom>
          <a:solidFill>
            <a:schemeClr val="bg1">
              <a:lumMod val="85000"/>
            </a:schemeClr>
          </a:solidFill>
          <a:ln w="101600">
            <a:solidFill>
              <a:schemeClr val="accent4"/>
            </a:solidFill>
          </a:ln>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en-US" altLang="zh-CN" sz="2000" b="1">
                <a:solidFill>
                  <a:schemeClr val="tx1"/>
                </a:solidFill>
              </a:rPr>
              <a:t>UEFI Shell</a:t>
            </a:r>
            <a:endParaRPr lang="en-US" altLang="zh-CN" sz="2000" b="1">
              <a:solidFill>
                <a:schemeClr val="tx1"/>
              </a:solidFill>
            </a:endParaRPr>
          </a:p>
        </p:txBody>
      </p:sp>
      <p:cxnSp>
        <p:nvCxnSpPr>
          <p:cNvPr id="29" name="Straight Arrow Connector 28"/>
          <p:cNvCxnSpPr/>
          <p:nvPr/>
        </p:nvCxnSpPr>
        <p:spPr>
          <a:xfrm flipH="1">
            <a:off x="3613785" y="4853940"/>
            <a:ext cx="62230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3" name="Rectangles 32"/>
          <p:cNvSpPr/>
          <p:nvPr/>
        </p:nvSpPr>
        <p:spPr>
          <a:xfrm>
            <a:off x="520065" y="4483100"/>
            <a:ext cx="1120140" cy="742315"/>
          </a:xfrm>
          <a:prstGeom prst="rect">
            <a:avLst/>
          </a:prstGeom>
          <a:solidFill>
            <a:schemeClr val="bg1">
              <a:lumMod val="85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b="1">
                <a:solidFill>
                  <a:schemeClr val="tx1"/>
                </a:solidFill>
              </a:rPr>
              <a:t>裸机器</a:t>
            </a:r>
            <a:endParaRPr lang="zh-CN" altLang="en-US" b="1">
              <a:solidFill>
                <a:schemeClr val="tx1"/>
              </a:solidFill>
            </a:endParaRPr>
          </a:p>
        </p:txBody>
      </p:sp>
      <p:sp>
        <p:nvSpPr>
          <p:cNvPr id="34" name="Rectangles 33"/>
          <p:cNvSpPr/>
          <p:nvPr/>
        </p:nvSpPr>
        <p:spPr>
          <a:xfrm>
            <a:off x="522605" y="1312545"/>
            <a:ext cx="1120140" cy="742315"/>
          </a:xfrm>
          <a:prstGeom prst="rect">
            <a:avLst/>
          </a:prstGeom>
          <a:solidFill>
            <a:schemeClr val="bg1">
              <a:lumMod val="85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b="1">
                <a:solidFill>
                  <a:schemeClr val="tx1"/>
                </a:solidFill>
              </a:rPr>
              <a:t>使用建模</a:t>
            </a:r>
            <a:endParaRPr lang="zh-CN" altLang="en-US" b="1">
              <a:solidFill>
                <a:schemeClr val="tx1"/>
              </a:solidFill>
            </a:endParaRPr>
          </a:p>
        </p:txBody>
      </p:sp>
      <p:sp>
        <p:nvSpPr>
          <p:cNvPr id="36" name="Rectangles 35"/>
          <p:cNvSpPr/>
          <p:nvPr/>
        </p:nvSpPr>
        <p:spPr>
          <a:xfrm>
            <a:off x="10061575" y="4483100"/>
            <a:ext cx="1120140" cy="742315"/>
          </a:xfrm>
          <a:prstGeom prst="rect">
            <a:avLst/>
          </a:prstGeom>
          <a:solidFill>
            <a:schemeClr val="bg1">
              <a:lumMod val="85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b="1">
                <a:solidFill>
                  <a:schemeClr val="tx1"/>
                </a:solidFill>
              </a:rPr>
              <a:t>主接口</a:t>
            </a:r>
            <a:endParaRPr lang="zh-CN" altLang="en-US" b="1">
              <a:solidFill>
                <a:schemeClr val="tx1"/>
              </a:solidFill>
            </a:endParaRPr>
          </a:p>
        </p:txBody>
      </p:sp>
      <p:cxnSp>
        <p:nvCxnSpPr>
          <p:cNvPr id="41" name="Straight Arrow Connector 40"/>
          <p:cNvCxnSpPr/>
          <p:nvPr/>
        </p:nvCxnSpPr>
        <p:spPr>
          <a:xfrm flipH="1">
            <a:off x="6320790" y="1734820"/>
            <a:ext cx="636270" cy="0"/>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flipH="1">
            <a:off x="6320790" y="3325495"/>
            <a:ext cx="636270" cy="0"/>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p:nvPr/>
        </p:nvCxnSpPr>
        <p:spPr>
          <a:xfrm>
            <a:off x="6317615" y="4822190"/>
            <a:ext cx="656590" cy="1143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p:nvPr/>
        </p:nvCxnSpPr>
        <p:spPr>
          <a:xfrm flipH="1">
            <a:off x="3616325" y="3350260"/>
            <a:ext cx="636270" cy="0"/>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2" name="Rectangles 1"/>
          <p:cNvSpPr/>
          <p:nvPr/>
        </p:nvSpPr>
        <p:spPr>
          <a:xfrm>
            <a:off x="4234815" y="823595"/>
            <a:ext cx="2070735" cy="486410"/>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en-US" altLang="zh-CN" b="1">
                <a:solidFill>
                  <a:schemeClr val="tx1"/>
                </a:solidFill>
              </a:rPr>
              <a:t>IT</a:t>
            </a:r>
            <a:r>
              <a:rPr lang="zh-CN" altLang="en-US" b="1">
                <a:solidFill>
                  <a:schemeClr val="tx1"/>
                </a:solidFill>
              </a:rPr>
              <a:t>的业务模型</a:t>
            </a:r>
            <a:endParaRPr lang="en-US" altLang="zh-CN" b="1">
              <a:solidFill>
                <a:schemeClr val="tx1"/>
              </a:solidFill>
            </a:endParaRPr>
          </a:p>
        </p:txBody>
      </p:sp>
      <p:sp>
        <p:nvSpPr>
          <p:cNvPr id="7" name="Rectangles 6"/>
          <p:cNvSpPr/>
          <p:nvPr/>
        </p:nvSpPr>
        <p:spPr>
          <a:xfrm>
            <a:off x="4232275" y="328930"/>
            <a:ext cx="2070735" cy="486410"/>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en-US" altLang="zh-CN" b="1">
                <a:solidFill>
                  <a:schemeClr val="tx1"/>
                </a:solidFill>
              </a:rPr>
              <a:t>IT</a:t>
            </a:r>
            <a:r>
              <a:rPr lang="zh-CN" altLang="en-US" b="1">
                <a:solidFill>
                  <a:schemeClr val="tx1"/>
                </a:solidFill>
              </a:rPr>
              <a:t>的应用模型</a:t>
            </a:r>
            <a:endParaRPr lang="en-US" altLang="zh-CN" b="1">
              <a:solidFill>
                <a:schemeClr val="tx1"/>
              </a:solidFill>
            </a:endParaRPr>
          </a:p>
        </p:txBody>
      </p:sp>
      <p:cxnSp>
        <p:nvCxnSpPr>
          <p:cNvPr id="14" name="Straight Arrow Connector 13"/>
          <p:cNvCxnSpPr>
            <a:endCxn id="2" idx="3"/>
          </p:cNvCxnSpPr>
          <p:nvPr/>
        </p:nvCxnSpPr>
        <p:spPr>
          <a:xfrm flipH="1" flipV="1">
            <a:off x="6305550" y="1066800"/>
            <a:ext cx="659130" cy="260985"/>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endCxn id="7" idx="1"/>
          </p:cNvCxnSpPr>
          <p:nvPr/>
        </p:nvCxnSpPr>
        <p:spPr>
          <a:xfrm flipV="1">
            <a:off x="3616960" y="572135"/>
            <a:ext cx="615315" cy="701675"/>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 name="Text Box 10"/>
          <p:cNvSpPr txBox="1"/>
          <p:nvPr/>
        </p:nvSpPr>
        <p:spPr>
          <a:xfrm>
            <a:off x="1758950" y="334010"/>
            <a:ext cx="1706245" cy="521970"/>
          </a:xfrm>
          <a:prstGeom prst="rect">
            <a:avLst/>
          </a:prstGeom>
          <a:noFill/>
        </p:spPr>
        <p:txBody>
          <a:bodyPr wrap="square" rtlCol="0">
            <a:spAutoFit/>
          </a:bodyPr>
          <a:p>
            <a:r>
              <a:rPr lang="zh-CN" altLang="en-US" sz="2800" b="1"/>
              <a:t>使</a:t>
            </a:r>
            <a:r>
              <a:rPr lang="en-US" altLang="zh-CN" sz="2800" b="1"/>
              <a:t> </a:t>
            </a:r>
            <a:r>
              <a:rPr lang="zh-CN" altLang="en-US" sz="2800" b="1"/>
              <a:t>用</a:t>
            </a:r>
            <a:endParaRPr lang="zh-CN" altLang="en-US" sz="2800" b="1"/>
          </a:p>
        </p:txBody>
      </p:sp>
      <p:sp>
        <p:nvSpPr>
          <p:cNvPr id="17" name="Text Box 16"/>
          <p:cNvSpPr txBox="1"/>
          <p:nvPr/>
        </p:nvSpPr>
        <p:spPr>
          <a:xfrm>
            <a:off x="8009890" y="320675"/>
            <a:ext cx="1706245" cy="521970"/>
          </a:xfrm>
          <a:prstGeom prst="rect">
            <a:avLst/>
          </a:prstGeom>
          <a:noFill/>
        </p:spPr>
        <p:txBody>
          <a:bodyPr wrap="square" rtlCol="0">
            <a:spAutoFit/>
          </a:bodyPr>
          <a:p>
            <a:r>
              <a:rPr lang="zh-CN" altLang="en-US" sz="2800" b="1"/>
              <a:t>开</a:t>
            </a:r>
            <a:r>
              <a:rPr lang="en-US" altLang="zh-CN" sz="2800" b="1"/>
              <a:t> </a:t>
            </a:r>
            <a:r>
              <a:rPr lang="zh-CN" altLang="en-US" sz="2800" b="1"/>
              <a:t>发</a:t>
            </a:r>
            <a:endParaRPr lang="zh-CN" altLang="en-US" sz="2800" b="1"/>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Rectangles 5"/>
          <p:cNvSpPr/>
          <p:nvPr/>
        </p:nvSpPr>
        <p:spPr>
          <a:xfrm>
            <a:off x="6956425" y="4482465"/>
            <a:ext cx="3105150" cy="74295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sz="2000" b="1">
                <a:solidFill>
                  <a:schemeClr val="tx1"/>
                </a:solidFill>
              </a:rPr>
              <a:t>汇编语言</a:t>
            </a:r>
            <a:endParaRPr lang="zh-CN" altLang="en-US" sz="2000" b="1">
              <a:solidFill>
                <a:schemeClr val="tx1"/>
              </a:solidFill>
            </a:endParaRPr>
          </a:p>
        </p:txBody>
      </p:sp>
      <p:sp>
        <p:nvSpPr>
          <p:cNvPr id="35" name="Rectangles 34"/>
          <p:cNvSpPr/>
          <p:nvPr/>
        </p:nvSpPr>
        <p:spPr>
          <a:xfrm>
            <a:off x="10061575" y="2946400"/>
            <a:ext cx="1196975" cy="742315"/>
          </a:xfrm>
          <a:prstGeom prst="rect">
            <a:avLst/>
          </a:prstGeom>
          <a:solidFill>
            <a:schemeClr val="bg1">
              <a:lumMod val="85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b="1">
                <a:solidFill>
                  <a:schemeClr val="tx1"/>
                </a:solidFill>
              </a:rPr>
              <a:t>软件建模</a:t>
            </a:r>
            <a:endParaRPr lang="zh-CN" altLang="en-US" b="1">
              <a:solidFill>
                <a:schemeClr val="tx1"/>
              </a:solidFill>
            </a:endParaRPr>
          </a:p>
        </p:txBody>
      </p:sp>
      <p:sp>
        <p:nvSpPr>
          <p:cNvPr id="43" name="Rectangles 42"/>
          <p:cNvSpPr/>
          <p:nvPr/>
        </p:nvSpPr>
        <p:spPr>
          <a:xfrm>
            <a:off x="4236085" y="4311015"/>
            <a:ext cx="2070735" cy="1183640"/>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zh-CN" altLang="en-US" b="1">
                <a:solidFill>
                  <a:schemeClr val="tx1"/>
                </a:solidFill>
              </a:rPr>
              <a:t>电脑的软硬接口</a:t>
            </a:r>
            <a:endParaRPr lang="zh-CN" altLang="en-US" b="1">
              <a:solidFill>
                <a:schemeClr val="tx1"/>
              </a:solidFill>
            </a:endParaRPr>
          </a:p>
        </p:txBody>
      </p:sp>
      <p:sp>
        <p:nvSpPr>
          <p:cNvPr id="3" name="Rectangles 2"/>
          <p:cNvSpPr/>
          <p:nvPr/>
        </p:nvSpPr>
        <p:spPr>
          <a:xfrm>
            <a:off x="4236085" y="2867025"/>
            <a:ext cx="2070735" cy="1443355"/>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zh-CN" altLang="en-US" b="1">
                <a:solidFill>
                  <a:schemeClr val="tx1"/>
                </a:solidFill>
              </a:rPr>
              <a:t>系统的基础平台</a:t>
            </a:r>
            <a:endParaRPr lang="zh-CN" altLang="en-US" b="1">
              <a:solidFill>
                <a:schemeClr val="tx1"/>
              </a:solidFill>
            </a:endParaRPr>
          </a:p>
          <a:p>
            <a:pPr algn="ctr"/>
            <a:endParaRPr lang="zh-CN" altLang="en-US" b="1">
              <a:solidFill>
                <a:schemeClr val="tx1"/>
              </a:solidFill>
            </a:endParaRPr>
          </a:p>
        </p:txBody>
      </p:sp>
      <p:sp>
        <p:nvSpPr>
          <p:cNvPr id="4" name="Rectangles 3"/>
          <p:cNvSpPr/>
          <p:nvPr/>
        </p:nvSpPr>
        <p:spPr>
          <a:xfrm>
            <a:off x="6956425" y="2945765"/>
            <a:ext cx="3105150" cy="74295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en-US" altLang="zh-CN" sz="2000" b="1">
                <a:solidFill>
                  <a:schemeClr val="tx1"/>
                </a:solidFill>
              </a:rPr>
              <a:t>C</a:t>
            </a:r>
            <a:r>
              <a:rPr lang="zh-CN" altLang="en-US" sz="2000" b="1">
                <a:solidFill>
                  <a:schemeClr val="tx1"/>
                </a:solidFill>
              </a:rPr>
              <a:t>语言</a:t>
            </a:r>
            <a:endParaRPr lang="zh-CN" altLang="en-US" sz="2000" b="1">
              <a:solidFill>
                <a:schemeClr val="tx1"/>
              </a:solidFill>
            </a:endParaRPr>
          </a:p>
        </p:txBody>
      </p:sp>
      <p:sp>
        <p:nvSpPr>
          <p:cNvPr id="5" name="Rectangles 4"/>
          <p:cNvSpPr/>
          <p:nvPr/>
        </p:nvSpPr>
        <p:spPr>
          <a:xfrm>
            <a:off x="4236085" y="1311275"/>
            <a:ext cx="2070735" cy="1554480"/>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zh-CN" altLang="en-US" b="1">
                <a:solidFill>
                  <a:schemeClr val="tx1"/>
                </a:solidFill>
              </a:rPr>
              <a:t>系统的扩展平台</a:t>
            </a:r>
            <a:endParaRPr lang="zh-CN" altLang="en-US" b="1">
              <a:solidFill>
                <a:schemeClr val="tx1"/>
              </a:solidFill>
            </a:endParaRPr>
          </a:p>
          <a:p>
            <a:pPr algn="ctr"/>
            <a:endParaRPr lang="en-US" altLang="zh-CN" b="1">
              <a:solidFill>
                <a:schemeClr val="tx1"/>
              </a:solidFill>
            </a:endParaRPr>
          </a:p>
          <a:p>
            <a:pPr algn="ctr"/>
            <a:endParaRPr lang="en-US" altLang="zh-CN" b="1">
              <a:solidFill>
                <a:schemeClr val="tx1"/>
              </a:solidFill>
            </a:endParaRPr>
          </a:p>
        </p:txBody>
      </p:sp>
      <p:sp>
        <p:nvSpPr>
          <p:cNvPr id="8" name="Rectangles 7"/>
          <p:cNvSpPr/>
          <p:nvPr/>
        </p:nvSpPr>
        <p:spPr>
          <a:xfrm>
            <a:off x="1642745" y="2953385"/>
            <a:ext cx="1973580" cy="74295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en-US" altLang="zh-CN" sz="2000" b="1">
                <a:solidFill>
                  <a:schemeClr val="tx1"/>
                </a:solidFill>
              </a:rPr>
              <a:t>Shell</a:t>
            </a:r>
            <a:endParaRPr lang="zh-CN" altLang="en-US" sz="2000" b="1">
              <a:solidFill>
                <a:schemeClr val="tx1"/>
              </a:solidFill>
            </a:endParaRPr>
          </a:p>
        </p:txBody>
      </p:sp>
      <p:sp>
        <p:nvSpPr>
          <p:cNvPr id="9" name="Rectangles 8"/>
          <p:cNvSpPr/>
          <p:nvPr/>
        </p:nvSpPr>
        <p:spPr>
          <a:xfrm>
            <a:off x="6956425" y="1311275"/>
            <a:ext cx="3105150" cy="74295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sz="2000" b="1">
                <a:solidFill>
                  <a:schemeClr val="tx1"/>
                </a:solidFill>
              </a:rPr>
              <a:t>各高级语言（含协处理）</a:t>
            </a:r>
            <a:endParaRPr lang="zh-CN" altLang="en-US" sz="2000" b="1">
              <a:solidFill>
                <a:schemeClr val="tx1"/>
              </a:solidFill>
            </a:endParaRPr>
          </a:p>
        </p:txBody>
      </p:sp>
      <p:sp>
        <p:nvSpPr>
          <p:cNvPr id="10" name="Rectangles 9"/>
          <p:cNvSpPr/>
          <p:nvPr/>
        </p:nvSpPr>
        <p:spPr>
          <a:xfrm>
            <a:off x="522605" y="2954020"/>
            <a:ext cx="1120140" cy="742315"/>
          </a:xfrm>
          <a:prstGeom prst="rect">
            <a:avLst/>
          </a:prstGeom>
          <a:solidFill>
            <a:schemeClr val="bg1">
              <a:lumMod val="85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b="1">
                <a:solidFill>
                  <a:schemeClr val="tx1"/>
                </a:solidFill>
              </a:rPr>
              <a:t>平台建模</a:t>
            </a:r>
            <a:endParaRPr lang="zh-CN" altLang="en-US" b="1">
              <a:solidFill>
                <a:schemeClr val="tx1"/>
              </a:solidFill>
            </a:endParaRPr>
          </a:p>
        </p:txBody>
      </p:sp>
      <p:sp>
        <p:nvSpPr>
          <p:cNvPr id="12" name="Rectangles 11"/>
          <p:cNvSpPr/>
          <p:nvPr/>
        </p:nvSpPr>
        <p:spPr>
          <a:xfrm>
            <a:off x="1642745" y="1311910"/>
            <a:ext cx="1973580" cy="74295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sz="2000" b="1">
                <a:solidFill>
                  <a:schemeClr val="tx1"/>
                </a:solidFill>
              </a:rPr>
              <a:t>人类语言</a:t>
            </a:r>
            <a:endParaRPr lang="zh-CN" altLang="en-US" sz="2000" b="1">
              <a:solidFill>
                <a:schemeClr val="tx1"/>
              </a:solidFill>
            </a:endParaRPr>
          </a:p>
        </p:txBody>
      </p:sp>
      <p:sp>
        <p:nvSpPr>
          <p:cNvPr id="13" name="Rectangles 12"/>
          <p:cNvSpPr/>
          <p:nvPr/>
        </p:nvSpPr>
        <p:spPr>
          <a:xfrm>
            <a:off x="10061575" y="1311275"/>
            <a:ext cx="1205865" cy="742315"/>
          </a:xfrm>
          <a:prstGeom prst="rect">
            <a:avLst/>
          </a:prstGeom>
          <a:solidFill>
            <a:schemeClr val="bg1">
              <a:lumMod val="85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b="1">
                <a:solidFill>
                  <a:schemeClr val="tx1"/>
                </a:solidFill>
              </a:rPr>
              <a:t>集成开发</a:t>
            </a:r>
            <a:endParaRPr lang="zh-CN" altLang="en-US" b="1">
              <a:solidFill>
                <a:schemeClr val="tx1"/>
              </a:solidFill>
            </a:endParaRPr>
          </a:p>
        </p:txBody>
      </p:sp>
      <p:sp>
        <p:nvSpPr>
          <p:cNvPr id="15" name="Rectangles 14"/>
          <p:cNvSpPr/>
          <p:nvPr/>
        </p:nvSpPr>
        <p:spPr>
          <a:xfrm>
            <a:off x="4230370" y="5494655"/>
            <a:ext cx="2081530" cy="1056640"/>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endParaRPr lang="zh-CN" altLang="en-US" b="1">
              <a:solidFill>
                <a:schemeClr val="tx1"/>
              </a:solidFill>
            </a:endParaRPr>
          </a:p>
          <a:p>
            <a:pPr algn="ctr"/>
            <a:r>
              <a:rPr lang="zh-CN" altLang="en-US" b="1">
                <a:solidFill>
                  <a:schemeClr val="tx1"/>
                </a:solidFill>
              </a:rPr>
              <a:t>电脑的硬件模型</a:t>
            </a:r>
            <a:endParaRPr lang="zh-CN" altLang="en-US" b="1">
              <a:solidFill>
                <a:schemeClr val="tx1"/>
              </a:solidFill>
            </a:endParaRPr>
          </a:p>
        </p:txBody>
      </p:sp>
      <p:cxnSp>
        <p:nvCxnSpPr>
          <p:cNvPr id="20" name="Straight Arrow Connector 19"/>
          <p:cNvCxnSpPr/>
          <p:nvPr/>
        </p:nvCxnSpPr>
        <p:spPr>
          <a:xfrm flipH="1">
            <a:off x="3616325" y="1683385"/>
            <a:ext cx="61976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 name="Rectangles 27"/>
          <p:cNvSpPr/>
          <p:nvPr/>
        </p:nvSpPr>
        <p:spPr>
          <a:xfrm>
            <a:off x="1691005" y="4521835"/>
            <a:ext cx="1868805" cy="665480"/>
          </a:xfrm>
          <a:prstGeom prst="rect">
            <a:avLst/>
          </a:prstGeom>
          <a:solidFill>
            <a:schemeClr val="bg1">
              <a:lumMod val="85000"/>
            </a:schemeClr>
          </a:solidFill>
          <a:ln w="101600">
            <a:solidFill>
              <a:schemeClr val="accent4"/>
            </a:solidFill>
          </a:ln>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en-US" altLang="zh-CN" sz="2000" b="1">
                <a:solidFill>
                  <a:schemeClr val="tx1"/>
                </a:solidFill>
              </a:rPr>
              <a:t>UEFI Shell</a:t>
            </a:r>
            <a:endParaRPr lang="en-US" altLang="zh-CN" sz="2000" b="1">
              <a:solidFill>
                <a:schemeClr val="tx1"/>
              </a:solidFill>
            </a:endParaRPr>
          </a:p>
        </p:txBody>
      </p:sp>
      <p:cxnSp>
        <p:nvCxnSpPr>
          <p:cNvPr id="29" name="Straight Arrow Connector 28"/>
          <p:cNvCxnSpPr/>
          <p:nvPr/>
        </p:nvCxnSpPr>
        <p:spPr>
          <a:xfrm flipH="1">
            <a:off x="3613785" y="4853940"/>
            <a:ext cx="62230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3" name="Rectangles 32"/>
          <p:cNvSpPr/>
          <p:nvPr/>
        </p:nvSpPr>
        <p:spPr>
          <a:xfrm>
            <a:off x="520065" y="4483100"/>
            <a:ext cx="1120140" cy="742315"/>
          </a:xfrm>
          <a:prstGeom prst="rect">
            <a:avLst/>
          </a:prstGeom>
          <a:solidFill>
            <a:schemeClr val="bg1">
              <a:lumMod val="85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b="1">
                <a:solidFill>
                  <a:schemeClr val="tx1"/>
                </a:solidFill>
              </a:rPr>
              <a:t>裸机器</a:t>
            </a:r>
            <a:endParaRPr lang="zh-CN" altLang="en-US" b="1">
              <a:solidFill>
                <a:schemeClr val="tx1"/>
              </a:solidFill>
            </a:endParaRPr>
          </a:p>
        </p:txBody>
      </p:sp>
      <p:sp>
        <p:nvSpPr>
          <p:cNvPr id="34" name="Rectangles 33"/>
          <p:cNvSpPr/>
          <p:nvPr/>
        </p:nvSpPr>
        <p:spPr>
          <a:xfrm>
            <a:off x="522605" y="1312545"/>
            <a:ext cx="1120140" cy="742315"/>
          </a:xfrm>
          <a:prstGeom prst="rect">
            <a:avLst/>
          </a:prstGeom>
          <a:solidFill>
            <a:schemeClr val="bg1">
              <a:lumMod val="85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b="1">
                <a:solidFill>
                  <a:schemeClr val="tx1"/>
                </a:solidFill>
              </a:rPr>
              <a:t>使用建模</a:t>
            </a:r>
            <a:endParaRPr lang="zh-CN" altLang="en-US" b="1">
              <a:solidFill>
                <a:schemeClr val="tx1"/>
              </a:solidFill>
            </a:endParaRPr>
          </a:p>
        </p:txBody>
      </p:sp>
      <p:sp>
        <p:nvSpPr>
          <p:cNvPr id="36" name="Rectangles 35"/>
          <p:cNvSpPr/>
          <p:nvPr/>
        </p:nvSpPr>
        <p:spPr>
          <a:xfrm>
            <a:off x="10061575" y="4483100"/>
            <a:ext cx="1120140" cy="742315"/>
          </a:xfrm>
          <a:prstGeom prst="rect">
            <a:avLst/>
          </a:prstGeom>
          <a:solidFill>
            <a:schemeClr val="bg1">
              <a:lumMod val="85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b="1">
                <a:solidFill>
                  <a:schemeClr val="tx1"/>
                </a:solidFill>
              </a:rPr>
              <a:t>主接口</a:t>
            </a:r>
            <a:endParaRPr lang="zh-CN" altLang="en-US" b="1">
              <a:solidFill>
                <a:schemeClr val="tx1"/>
              </a:solidFill>
            </a:endParaRPr>
          </a:p>
        </p:txBody>
      </p:sp>
      <p:cxnSp>
        <p:nvCxnSpPr>
          <p:cNvPr id="41" name="Straight Arrow Connector 40"/>
          <p:cNvCxnSpPr/>
          <p:nvPr/>
        </p:nvCxnSpPr>
        <p:spPr>
          <a:xfrm flipH="1">
            <a:off x="6320790" y="1734820"/>
            <a:ext cx="636270" cy="0"/>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flipH="1">
            <a:off x="6320790" y="3325495"/>
            <a:ext cx="636270" cy="0"/>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p:nvPr/>
        </p:nvCxnSpPr>
        <p:spPr>
          <a:xfrm>
            <a:off x="6317615" y="4822190"/>
            <a:ext cx="656590" cy="1143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flipH="1" flipV="1">
            <a:off x="6337935" y="3364230"/>
            <a:ext cx="625475" cy="116459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p:nvPr/>
        </p:nvCxnSpPr>
        <p:spPr>
          <a:xfrm flipH="1" flipV="1">
            <a:off x="6337935" y="1951355"/>
            <a:ext cx="636270" cy="2534285"/>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p:nvPr/>
        </p:nvCxnSpPr>
        <p:spPr>
          <a:xfrm flipH="1" flipV="1">
            <a:off x="6327140" y="1800860"/>
            <a:ext cx="629920" cy="113157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nvCxnSpPr>
        <p:spPr>
          <a:xfrm flipH="1">
            <a:off x="6327140" y="2070100"/>
            <a:ext cx="625475" cy="1218565"/>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p:nvPr/>
        </p:nvCxnSpPr>
        <p:spPr>
          <a:xfrm flipH="1">
            <a:off x="3616325" y="3350260"/>
            <a:ext cx="636270" cy="0"/>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p:nvPr/>
        </p:nvCxnSpPr>
        <p:spPr>
          <a:xfrm flipV="1">
            <a:off x="3609975" y="1746885"/>
            <a:ext cx="603885" cy="1218565"/>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p:nvPr/>
        </p:nvCxnSpPr>
        <p:spPr>
          <a:xfrm flipV="1">
            <a:off x="3609975" y="3429000"/>
            <a:ext cx="603885" cy="1067435"/>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 name="Rectangles 1"/>
          <p:cNvSpPr/>
          <p:nvPr/>
        </p:nvSpPr>
        <p:spPr>
          <a:xfrm>
            <a:off x="4234815" y="823595"/>
            <a:ext cx="2070735" cy="486410"/>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en-US" altLang="zh-CN" b="1">
                <a:solidFill>
                  <a:schemeClr val="tx1"/>
                </a:solidFill>
              </a:rPr>
              <a:t>IT</a:t>
            </a:r>
            <a:r>
              <a:rPr lang="zh-CN" altLang="en-US" b="1">
                <a:solidFill>
                  <a:schemeClr val="tx1"/>
                </a:solidFill>
              </a:rPr>
              <a:t>的业务模型</a:t>
            </a:r>
            <a:endParaRPr lang="en-US" altLang="zh-CN" b="1">
              <a:solidFill>
                <a:schemeClr val="tx1"/>
              </a:solidFill>
            </a:endParaRPr>
          </a:p>
        </p:txBody>
      </p:sp>
      <p:sp>
        <p:nvSpPr>
          <p:cNvPr id="7" name="Rectangles 6"/>
          <p:cNvSpPr/>
          <p:nvPr/>
        </p:nvSpPr>
        <p:spPr>
          <a:xfrm>
            <a:off x="4232275" y="328930"/>
            <a:ext cx="2070735" cy="486410"/>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en-US" altLang="zh-CN" b="1">
                <a:solidFill>
                  <a:schemeClr val="tx1"/>
                </a:solidFill>
              </a:rPr>
              <a:t>IT</a:t>
            </a:r>
            <a:r>
              <a:rPr lang="zh-CN" altLang="en-US" b="1">
                <a:solidFill>
                  <a:schemeClr val="tx1"/>
                </a:solidFill>
              </a:rPr>
              <a:t>的应用模型</a:t>
            </a:r>
            <a:endParaRPr lang="en-US" altLang="zh-CN" b="1">
              <a:solidFill>
                <a:schemeClr val="tx1"/>
              </a:solidFill>
            </a:endParaRPr>
          </a:p>
        </p:txBody>
      </p:sp>
      <p:cxnSp>
        <p:nvCxnSpPr>
          <p:cNvPr id="14" name="Straight Arrow Connector 13"/>
          <p:cNvCxnSpPr>
            <a:endCxn id="2" idx="3"/>
          </p:cNvCxnSpPr>
          <p:nvPr/>
        </p:nvCxnSpPr>
        <p:spPr>
          <a:xfrm flipH="1" flipV="1">
            <a:off x="6305550" y="1066800"/>
            <a:ext cx="659130" cy="260985"/>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endCxn id="7" idx="1"/>
          </p:cNvCxnSpPr>
          <p:nvPr/>
        </p:nvCxnSpPr>
        <p:spPr>
          <a:xfrm flipV="1">
            <a:off x="3616960" y="572135"/>
            <a:ext cx="615315" cy="701675"/>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 name="Text Box 10"/>
          <p:cNvSpPr txBox="1"/>
          <p:nvPr/>
        </p:nvSpPr>
        <p:spPr>
          <a:xfrm>
            <a:off x="1758950" y="334010"/>
            <a:ext cx="1706245" cy="521970"/>
          </a:xfrm>
          <a:prstGeom prst="rect">
            <a:avLst/>
          </a:prstGeom>
          <a:noFill/>
        </p:spPr>
        <p:txBody>
          <a:bodyPr wrap="square" rtlCol="0">
            <a:spAutoFit/>
          </a:bodyPr>
          <a:p>
            <a:r>
              <a:rPr lang="zh-CN" altLang="en-US" sz="2800" b="1"/>
              <a:t>使</a:t>
            </a:r>
            <a:r>
              <a:rPr lang="en-US" altLang="zh-CN" sz="2800" b="1"/>
              <a:t> </a:t>
            </a:r>
            <a:r>
              <a:rPr lang="zh-CN" altLang="en-US" sz="2800" b="1"/>
              <a:t>用</a:t>
            </a:r>
            <a:endParaRPr lang="zh-CN" altLang="en-US" sz="2800" b="1"/>
          </a:p>
        </p:txBody>
      </p:sp>
      <p:sp>
        <p:nvSpPr>
          <p:cNvPr id="17" name="Text Box 16"/>
          <p:cNvSpPr txBox="1"/>
          <p:nvPr/>
        </p:nvSpPr>
        <p:spPr>
          <a:xfrm>
            <a:off x="8009890" y="320675"/>
            <a:ext cx="1706245" cy="521970"/>
          </a:xfrm>
          <a:prstGeom prst="rect">
            <a:avLst/>
          </a:prstGeom>
          <a:noFill/>
        </p:spPr>
        <p:txBody>
          <a:bodyPr wrap="square" rtlCol="0">
            <a:spAutoFit/>
          </a:bodyPr>
          <a:p>
            <a:r>
              <a:rPr lang="zh-CN" altLang="en-US" sz="2800" b="1"/>
              <a:t>开</a:t>
            </a:r>
            <a:r>
              <a:rPr lang="en-US" altLang="zh-CN" sz="2800" b="1"/>
              <a:t> </a:t>
            </a:r>
            <a:r>
              <a:rPr lang="zh-CN" altLang="en-US" sz="2800" b="1"/>
              <a:t>发</a:t>
            </a:r>
            <a:endParaRPr lang="zh-CN" altLang="en-US" sz="2800" b="1"/>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Rectangles 5"/>
          <p:cNvSpPr/>
          <p:nvPr/>
        </p:nvSpPr>
        <p:spPr>
          <a:xfrm>
            <a:off x="6956425" y="4482465"/>
            <a:ext cx="3105150" cy="74295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sz="2000" b="1">
                <a:solidFill>
                  <a:schemeClr val="tx1"/>
                </a:solidFill>
              </a:rPr>
              <a:t>汇编语言</a:t>
            </a:r>
            <a:endParaRPr lang="zh-CN" altLang="en-US" sz="2000" b="1">
              <a:solidFill>
                <a:schemeClr val="tx1"/>
              </a:solidFill>
            </a:endParaRPr>
          </a:p>
        </p:txBody>
      </p:sp>
      <p:sp>
        <p:nvSpPr>
          <p:cNvPr id="35" name="Rectangles 34"/>
          <p:cNvSpPr/>
          <p:nvPr/>
        </p:nvSpPr>
        <p:spPr>
          <a:xfrm>
            <a:off x="10061575" y="2946400"/>
            <a:ext cx="1196975" cy="742315"/>
          </a:xfrm>
          <a:prstGeom prst="rect">
            <a:avLst/>
          </a:prstGeom>
          <a:solidFill>
            <a:schemeClr val="bg1">
              <a:lumMod val="85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b="1">
                <a:solidFill>
                  <a:schemeClr val="tx1"/>
                </a:solidFill>
              </a:rPr>
              <a:t>软件建模</a:t>
            </a:r>
            <a:endParaRPr lang="zh-CN" altLang="en-US" b="1">
              <a:solidFill>
                <a:schemeClr val="tx1"/>
              </a:solidFill>
            </a:endParaRPr>
          </a:p>
        </p:txBody>
      </p:sp>
      <p:sp>
        <p:nvSpPr>
          <p:cNvPr id="43" name="Rectangles 42"/>
          <p:cNvSpPr/>
          <p:nvPr/>
        </p:nvSpPr>
        <p:spPr>
          <a:xfrm>
            <a:off x="4236085" y="4311015"/>
            <a:ext cx="2070735" cy="1183640"/>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zh-CN" altLang="en-US" b="1">
                <a:solidFill>
                  <a:schemeClr val="tx1"/>
                </a:solidFill>
              </a:rPr>
              <a:t>电脑的软硬接口</a:t>
            </a:r>
            <a:endParaRPr lang="zh-CN" altLang="en-US" b="1">
              <a:solidFill>
                <a:schemeClr val="tx1"/>
              </a:solidFill>
            </a:endParaRPr>
          </a:p>
        </p:txBody>
      </p:sp>
      <p:sp>
        <p:nvSpPr>
          <p:cNvPr id="3" name="Rectangles 2"/>
          <p:cNvSpPr/>
          <p:nvPr/>
        </p:nvSpPr>
        <p:spPr>
          <a:xfrm>
            <a:off x="4236085" y="2867025"/>
            <a:ext cx="2070735" cy="1443355"/>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zh-CN" altLang="en-US" b="1">
                <a:solidFill>
                  <a:schemeClr val="tx1"/>
                </a:solidFill>
              </a:rPr>
              <a:t>系统的基础平台</a:t>
            </a:r>
            <a:endParaRPr lang="zh-CN" altLang="en-US" b="1">
              <a:solidFill>
                <a:schemeClr val="tx1"/>
              </a:solidFill>
            </a:endParaRPr>
          </a:p>
          <a:p>
            <a:pPr algn="ctr"/>
            <a:endParaRPr lang="zh-CN" altLang="en-US" b="1">
              <a:solidFill>
                <a:schemeClr val="tx1"/>
              </a:solidFill>
            </a:endParaRPr>
          </a:p>
        </p:txBody>
      </p:sp>
      <p:sp>
        <p:nvSpPr>
          <p:cNvPr id="4" name="Rectangles 3"/>
          <p:cNvSpPr/>
          <p:nvPr/>
        </p:nvSpPr>
        <p:spPr>
          <a:xfrm>
            <a:off x="6956425" y="2945765"/>
            <a:ext cx="3105150" cy="74295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en-US" altLang="zh-CN" sz="2000" b="1">
                <a:solidFill>
                  <a:schemeClr val="tx1"/>
                </a:solidFill>
              </a:rPr>
              <a:t>C</a:t>
            </a:r>
            <a:r>
              <a:rPr lang="zh-CN" altLang="en-US" sz="2000" b="1">
                <a:solidFill>
                  <a:schemeClr val="tx1"/>
                </a:solidFill>
              </a:rPr>
              <a:t>语言</a:t>
            </a:r>
            <a:endParaRPr lang="zh-CN" altLang="en-US" sz="2000" b="1">
              <a:solidFill>
                <a:schemeClr val="tx1"/>
              </a:solidFill>
            </a:endParaRPr>
          </a:p>
        </p:txBody>
      </p:sp>
      <p:sp>
        <p:nvSpPr>
          <p:cNvPr id="5" name="Rectangles 4"/>
          <p:cNvSpPr/>
          <p:nvPr/>
        </p:nvSpPr>
        <p:spPr>
          <a:xfrm>
            <a:off x="4236085" y="1311275"/>
            <a:ext cx="2070735" cy="1554480"/>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zh-CN" altLang="en-US" b="1">
                <a:solidFill>
                  <a:schemeClr val="tx1"/>
                </a:solidFill>
              </a:rPr>
              <a:t>系统的扩展平台</a:t>
            </a:r>
            <a:endParaRPr lang="zh-CN" altLang="en-US" b="1">
              <a:solidFill>
                <a:schemeClr val="tx1"/>
              </a:solidFill>
            </a:endParaRPr>
          </a:p>
          <a:p>
            <a:pPr algn="ctr"/>
            <a:endParaRPr lang="en-US" altLang="zh-CN" b="1">
              <a:solidFill>
                <a:schemeClr val="tx1"/>
              </a:solidFill>
            </a:endParaRPr>
          </a:p>
          <a:p>
            <a:pPr algn="ctr"/>
            <a:endParaRPr lang="en-US" altLang="zh-CN" b="1">
              <a:solidFill>
                <a:schemeClr val="tx1"/>
              </a:solidFill>
            </a:endParaRPr>
          </a:p>
        </p:txBody>
      </p:sp>
      <p:sp>
        <p:nvSpPr>
          <p:cNvPr id="8" name="Rectangles 7"/>
          <p:cNvSpPr/>
          <p:nvPr/>
        </p:nvSpPr>
        <p:spPr>
          <a:xfrm>
            <a:off x="1642745" y="2953385"/>
            <a:ext cx="1973580" cy="74295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en-US" altLang="zh-CN" sz="2000" b="1">
                <a:solidFill>
                  <a:schemeClr val="tx1"/>
                </a:solidFill>
              </a:rPr>
              <a:t>Shell</a:t>
            </a:r>
            <a:endParaRPr lang="zh-CN" altLang="en-US" sz="2000" b="1">
              <a:solidFill>
                <a:schemeClr val="tx1"/>
              </a:solidFill>
            </a:endParaRPr>
          </a:p>
        </p:txBody>
      </p:sp>
      <p:sp>
        <p:nvSpPr>
          <p:cNvPr id="9" name="Rectangles 8"/>
          <p:cNvSpPr/>
          <p:nvPr/>
        </p:nvSpPr>
        <p:spPr>
          <a:xfrm>
            <a:off x="6956425" y="1311275"/>
            <a:ext cx="3105150" cy="74295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sz="2000" b="1">
                <a:solidFill>
                  <a:schemeClr val="tx1"/>
                </a:solidFill>
              </a:rPr>
              <a:t>各高级语言（含协处理）</a:t>
            </a:r>
            <a:endParaRPr lang="zh-CN" altLang="en-US" sz="2000" b="1">
              <a:solidFill>
                <a:schemeClr val="tx1"/>
              </a:solidFill>
            </a:endParaRPr>
          </a:p>
        </p:txBody>
      </p:sp>
      <p:sp>
        <p:nvSpPr>
          <p:cNvPr id="10" name="Rectangles 9"/>
          <p:cNvSpPr/>
          <p:nvPr/>
        </p:nvSpPr>
        <p:spPr>
          <a:xfrm>
            <a:off x="522605" y="2954020"/>
            <a:ext cx="1120140" cy="742315"/>
          </a:xfrm>
          <a:prstGeom prst="rect">
            <a:avLst/>
          </a:prstGeom>
          <a:solidFill>
            <a:schemeClr val="bg1">
              <a:lumMod val="85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b="1">
                <a:solidFill>
                  <a:schemeClr val="tx1"/>
                </a:solidFill>
              </a:rPr>
              <a:t>平台建模</a:t>
            </a:r>
            <a:endParaRPr lang="zh-CN" altLang="en-US" b="1">
              <a:solidFill>
                <a:schemeClr val="tx1"/>
              </a:solidFill>
            </a:endParaRPr>
          </a:p>
        </p:txBody>
      </p:sp>
      <p:sp>
        <p:nvSpPr>
          <p:cNvPr id="12" name="Rectangles 11"/>
          <p:cNvSpPr/>
          <p:nvPr/>
        </p:nvSpPr>
        <p:spPr>
          <a:xfrm>
            <a:off x="1642745" y="1311910"/>
            <a:ext cx="1973580" cy="74295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sz="2000" b="1">
                <a:solidFill>
                  <a:schemeClr val="tx1"/>
                </a:solidFill>
              </a:rPr>
              <a:t>人类语言</a:t>
            </a:r>
            <a:endParaRPr lang="zh-CN" altLang="en-US" sz="2000" b="1">
              <a:solidFill>
                <a:schemeClr val="tx1"/>
              </a:solidFill>
            </a:endParaRPr>
          </a:p>
        </p:txBody>
      </p:sp>
      <p:sp>
        <p:nvSpPr>
          <p:cNvPr id="13" name="Rectangles 12"/>
          <p:cNvSpPr/>
          <p:nvPr/>
        </p:nvSpPr>
        <p:spPr>
          <a:xfrm>
            <a:off x="10061575" y="1311275"/>
            <a:ext cx="1205865" cy="742315"/>
          </a:xfrm>
          <a:prstGeom prst="rect">
            <a:avLst/>
          </a:prstGeom>
          <a:solidFill>
            <a:schemeClr val="bg1">
              <a:lumMod val="85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b="1">
                <a:solidFill>
                  <a:schemeClr val="tx1"/>
                </a:solidFill>
              </a:rPr>
              <a:t>集成开发</a:t>
            </a:r>
            <a:endParaRPr lang="zh-CN" altLang="en-US" b="1">
              <a:solidFill>
                <a:schemeClr val="tx1"/>
              </a:solidFill>
            </a:endParaRPr>
          </a:p>
        </p:txBody>
      </p:sp>
      <p:sp>
        <p:nvSpPr>
          <p:cNvPr id="15" name="Rectangles 14"/>
          <p:cNvSpPr/>
          <p:nvPr/>
        </p:nvSpPr>
        <p:spPr>
          <a:xfrm>
            <a:off x="4230370" y="5494655"/>
            <a:ext cx="2081530" cy="1056640"/>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endParaRPr lang="zh-CN" altLang="en-US" b="1">
              <a:solidFill>
                <a:schemeClr val="tx1"/>
              </a:solidFill>
            </a:endParaRPr>
          </a:p>
          <a:p>
            <a:pPr algn="ctr"/>
            <a:r>
              <a:rPr lang="zh-CN" altLang="en-US" b="1">
                <a:solidFill>
                  <a:schemeClr val="tx1"/>
                </a:solidFill>
              </a:rPr>
              <a:t>电脑的硬件模型</a:t>
            </a:r>
            <a:endParaRPr lang="zh-CN" altLang="en-US" b="1">
              <a:solidFill>
                <a:schemeClr val="tx1"/>
              </a:solidFill>
            </a:endParaRPr>
          </a:p>
        </p:txBody>
      </p:sp>
      <p:cxnSp>
        <p:nvCxnSpPr>
          <p:cNvPr id="20" name="Straight Arrow Connector 19"/>
          <p:cNvCxnSpPr/>
          <p:nvPr/>
        </p:nvCxnSpPr>
        <p:spPr>
          <a:xfrm flipH="1">
            <a:off x="3616325" y="1683385"/>
            <a:ext cx="61976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6311900" y="6179820"/>
            <a:ext cx="644525"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 name="Rectangles 27"/>
          <p:cNvSpPr/>
          <p:nvPr/>
        </p:nvSpPr>
        <p:spPr>
          <a:xfrm>
            <a:off x="1691005" y="4521835"/>
            <a:ext cx="1868805" cy="665480"/>
          </a:xfrm>
          <a:prstGeom prst="rect">
            <a:avLst/>
          </a:prstGeom>
          <a:solidFill>
            <a:schemeClr val="bg1">
              <a:lumMod val="85000"/>
            </a:schemeClr>
          </a:solidFill>
          <a:ln w="101600">
            <a:solidFill>
              <a:schemeClr val="accent4"/>
            </a:solidFill>
          </a:ln>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en-US" altLang="zh-CN" sz="2000" b="1">
                <a:solidFill>
                  <a:schemeClr val="tx1"/>
                </a:solidFill>
              </a:rPr>
              <a:t>UEFI Shell</a:t>
            </a:r>
            <a:endParaRPr lang="en-US" altLang="zh-CN" sz="2000" b="1">
              <a:solidFill>
                <a:schemeClr val="tx1"/>
              </a:solidFill>
            </a:endParaRPr>
          </a:p>
        </p:txBody>
      </p:sp>
      <p:cxnSp>
        <p:nvCxnSpPr>
          <p:cNvPr id="29" name="Straight Arrow Connector 28"/>
          <p:cNvCxnSpPr/>
          <p:nvPr/>
        </p:nvCxnSpPr>
        <p:spPr>
          <a:xfrm flipH="1">
            <a:off x="3613785" y="4853940"/>
            <a:ext cx="62230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flipH="1" flipV="1">
            <a:off x="6337935" y="5078730"/>
            <a:ext cx="618490" cy="110109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Elbow Connector 30"/>
          <p:cNvCxnSpPr>
            <a:stCxn id="13" idx="3"/>
            <a:endCxn id="40" idx="3"/>
          </p:cNvCxnSpPr>
          <p:nvPr/>
        </p:nvCxnSpPr>
        <p:spPr>
          <a:xfrm flipH="1">
            <a:off x="11181715" y="1682750"/>
            <a:ext cx="85725" cy="4497070"/>
          </a:xfrm>
          <a:prstGeom prst="bentConnector3">
            <a:avLst>
              <a:gd name="adj1" fmla="val -277778"/>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3" name="Rectangles 32"/>
          <p:cNvSpPr/>
          <p:nvPr/>
        </p:nvSpPr>
        <p:spPr>
          <a:xfrm>
            <a:off x="520065" y="4483100"/>
            <a:ext cx="1120140" cy="742315"/>
          </a:xfrm>
          <a:prstGeom prst="rect">
            <a:avLst/>
          </a:prstGeom>
          <a:solidFill>
            <a:schemeClr val="bg1">
              <a:lumMod val="85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b="1">
                <a:solidFill>
                  <a:schemeClr val="tx1"/>
                </a:solidFill>
              </a:rPr>
              <a:t>裸机器</a:t>
            </a:r>
            <a:endParaRPr lang="zh-CN" altLang="en-US" b="1">
              <a:solidFill>
                <a:schemeClr val="tx1"/>
              </a:solidFill>
            </a:endParaRPr>
          </a:p>
        </p:txBody>
      </p:sp>
      <p:sp>
        <p:nvSpPr>
          <p:cNvPr id="34" name="Rectangles 33"/>
          <p:cNvSpPr/>
          <p:nvPr/>
        </p:nvSpPr>
        <p:spPr>
          <a:xfrm>
            <a:off x="522605" y="1312545"/>
            <a:ext cx="1120140" cy="742315"/>
          </a:xfrm>
          <a:prstGeom prst="rect">
            <a:avLst/>
          </a:prstGeom>
          <a:solidFill>
            <a:schemeClr val="bg1">
              <a:lumMod val="85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b="1">
                <a:solidFill>
                  <a:schemeClr val="tx1"/>
                </a:solidFill>
              </a:rPr>
              <a:t>使用建模</a:t>
            </a:r>
            <a:endParaRPr lang="zh-CN" altLang="en-US" b="1">
              <a:solidFill>
                <a:schemeClr val="tx1"/>
              </a:solidFill>
            </a:endParaRPr>
          </a:p>
        </p:txBody>
      </p:sp>
      <p:sp>
        <p:nvSpPr>
          <p:cNvPr id="36" name="Rectangles 35"/>
          <p:cNvSpPr/>
          <p:nvPr/>
        </p:nvSpPr>
        <p:spPr>
          <a:xfrm>
            <a:off x="10061575" y="4483100"/>
            <a:ext cx="1120140" cy="742315"/>
          </a:xfrm>
          <a:prstGeom prst="rect">
            <a:avLst/>
          </a:prstGeom>
          <a:solidFill>
            <a:schemeClr val="bg1">
              <a:lumMod val="85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b="1">
                <a:solidFill>
                  <a:schemeClr val="tx1"/>
                </a:solidFill>
              </a:rPr>
              <a:t>主接口</a:t>
            </a:r>
            <a:endParaRPr lang="zh-CN" altLang="en-US" b="1">
              <a:solidFill>
                <a:schemeClr val="tx1"/>
              </a:solidFill>
            </a:endParaRPr>
          </a:p>
        </p:txBody>
      </p:sp>
      <p:sp>
        <p:nvSpPr>
          <p:cNvPr id="39" name="Rectangles 38"/>
          <p:cNvSpPr/>
          <p:nvPr/>
        </p:nvSpPr>
        <p:spPr>
          <a:xfrm>
            <a:off x="6956425" y="5808345"/>
            <a:ext cx="3105150" cy="742950"/>
          </a:xfrm>
          <a:prstGeom prst="rect">
            <a:avLst/>
          </a:prstGeom>
          <a:solidFill>
            <a:schemeClr val="accent4">
              <a:alpha val="50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sz="2000" b="1">
                <a:solidFill>
                  <a:schemeClr val="tx1"/>
                </a:solidFill>
              </a:rPr>
              <a:t>各硬件设计语言</a:t>
            </a:r>
            <a:endParaRPr lang="zh-CN" altLang="en-US" sz="2000" b="1">
              <a:solidFill>
                <a:schemeClr val="tx1"/>
              </a:solidFill>
            </a:endParaRPr>
          </a:p>
        </p:txBody>
      </p:sp>
      <p:sp>
        <p:nvSpPr>
          <p:cNvPr id="40" name="Rectangles 39"/>
          <p:cNvSpPr/>
          <p:nvPr/>
        </p:nvSpPr>
        <p:spPr>
          <a:xfrm>
            <a:off x="10061575" y="5808345"/>
            <a:ext cx="1120140" cy="742315"/>
          </a:xfrm>
          <a:prstGeom prst="rect">
            <a:avLst/>
          </a:prstGeom>
          <a:solidFill>
            <a:schemeClr val="bg1">
              <a:lumMod val="85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b="1">
                <a:solidFill>
                  <a:schemeClr val="tx1"/>
                </a:solidFill>
              </a:rPr>
              <a:t>模型实现</a:t>
            </a:r>
            <a:endParaRPr lang="zh-CN" altLang="en-US" b="1">
              <a:solidFill>
                <a:schemeClr val="tx1"/>
              </a:solidFill>
            </a:endParaRPr>
          </a:p>
        </p:txBody>
      </p:sp>
      <p:cxnSp>
        <p:nvCxnSpPr>
          <p:cNvPr id="41" name="Straight Arrow Connector 40"/>
          <p:cNvCxnSpPr/>
          <p:nvPr/>
        </p:nvCxnSpPr>
        <p:spPr>
          <a:xfrm flipH="1">
            <a:off x="6320790" y="1734820"/>
            <a:ext cx="636270" cy="0"/>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flipH="1">
            <a:off x="6320790" y="3325495"/>
            <a:ext cx="636270" cy="0"/>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p:nvPr/>
        </p:nvCxnSpPr>
        <p:spPr>
          <a:xfrm>
            <a:off x="6317615" y="4822190"/>
            <a:ext cx="656590" cy="1143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flipH="1" flipV="1">
            <a:off x="6337935" y="3364230"/>
            <a:ext cx="625475" cy="116459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p:nvPr/>
        </p:nvCxnSpPr>
        <p:spPr>
          <a:xfrm flipH="1" flipV="1">
            <a:off x="6337935" y="1951355"/>
            <a:ext cx="636270" cy="2534285"/>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p:nvPr/>
        </p:nvCxnSpPr>
        <p:spPr>
          <a:xfrm flipH="1" flipV="1">
            <a:off x="6327140" y="1800860"/>
            <a:ext cx="629920" cy="113157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nvCxnSpPr>
        <p:spPr>
          <a:xfrm flipH="1">
            <a:off x="6327140" y="2070100"/>
            <a:ext cx="625475" cy="1218565"/>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p:nvPr/>
        </p:nvCxnSpPr>
        <p:spPr>
          <a:xfrm flipH="1">
            <a:off x="3616325" y="3350260"/>
            <a:ext cx="636270" cy="0"/>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p:nvPr/>
        </p:nvCxnSpPr>
        <p:spPr>
          <a:xfrm flipV="1">
            <a:off x="3609975" y="1746885"/>
            <a:ext cx="603885" cy="1218565"/>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p:nvPr/>
        </p:nvCxnSpPr>
        <p:spPr>
          <a:xfrm flipV="1">
            <a:off x="3609975" y="3429000"/>
            <a:ext cx="603885" cy="1067435"/>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 name="Rectangles 1"/>
          <p:cNvSpPr/>
          <p:nvPr/>
        </p:nvSpPr>
        <p:spPr>
          <a:xfrm>
            <a:off x="4234815" y="823595"/>
            <a:ext cx="2070735" cy="486410"/>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en-US" altLang="zh-CN" b="1">
                <a:solidFill>
                  <a:schemeClr val="tx1"/>
                </a:solidFill>
              </a:rPr>
              <a:t>IT</a:t>
            </a:r>
            <a:r>
              <a:rPr lang="zh-CN" altLang="en-US" b="1">
                <a:solidFill>
                  <a:schemeClr val="tx1"/>
                </a:solidFill>
              </a:rPr>
              <a:t>的业务模型</a:t>
            </a:r>
            <a:endParaRPr lang="en-US" altLang="zh-CN" b="1">
              <a:solidFill>
                <a:schemeClr val="tx1"/>
              </a:solidFill>
            </a:endParaRPr>
          </a:p>
        </p:txBody>
      </p:sp>
      <p:sp>
        <p:nvSpPr>
          <p:cNvPr id="7" name="Rectangles 6"/>
          <p:cNvSpPr/>
          <p:nvPr/>
        </p:nvSpPr>
        <p:spPr>
          <a:xfrm>
            <a:off x="4232275" y="328930"/>
            <a:ext cx="2070735" cy="486410"/>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en-US" altLang="zh-CN" b="1">
                <a:solidFill>
                  <a:schemeClr val="tx1"/>
                </a:solidFill>
              </a:rPr>
              <a:t>IT</a:t>
            </a:r>
            <a:r>
              <a:rPr lang="zh-CN" altLang="en-US" b="1">
                <a:solidFill>
                  <a:schemeClr val="tx1"/>
                </a:solidFill>
              </a:rPr>
              <a:t>的应用模型</a:t>
            </a:r>
            <a:endParaRPr lang="en-US" altLang="zh-CN" b="1">
              <a:solidFill>
                <a:schemeClr val="tx1"/>
              </a:solidFill>
            </a:endParaRPr>
          </a:p>
        </p:txBody>
      </p:sp>
      <p:cxnSp>
        <p:nvCxnSpPr>
          <p:cNvPr id="14" name="Straight Arrow Connector 13"/>
          <p:cNvCxnSpPr>
            <a:endCxn id="2" idx="3"/>
          </p:cNvCxnSpPr>
          <p:nvPr/>
        </p:nvCxnSpPr>
        <p:spPr>
          <a:xfrm flipH="1" flipV="1">
            <a:off x="6305550" y="1066800"/>
            <a:ext cx="659130" cy="260985"/>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endCxn id="7" idx="1"/>
          </p:cNvCxnSpPr>
          <p:nvPr/>
        </p:nvCxnSpPr>
        <p:spPr>
          <a:xfrm flipV="1">
            <a:off x="3616960" y="572135"/>
            <a:ext cx="615315" cy="701675"/>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 name="Text Box 10"/>
          <p:cNvSpPr txBox="1"/>
          <p:nvPr/>
        </p:nvSpPr>
        <p:spPr>
          <a:xfrm>
            <a:off x="1758950" y="334010"/>
            <a:ext cx="1706245" cy="521970"/>
          </a:xfrm>
          <a:prstGeom prst="rect">
            <a:avLst/>
          </a:prstGeom>
          <a:noFill/>
        </p:spPr>
        <p:txBody>
          <a:bodyPr wrap="square" rtlCol="0">
            <a:spAutoFit/>
          </a:bodyPr>
          <a:p>
            <a:r>
              <a:rPr lang="zh-CN" altLang="en-US" sz="2800" b="1"/>
              <a:t>使</a:t>
            </a:r>
            <a:r>
              <a:rPr lang="en-US" altLang="zh-CN" sz="2800" b="1"/>
              <a:t> </a:t>
            </a:r>
            <a:r>
              <a:rPr lang="zh-CN" altLang="en-US" sz="2800" b="1"/>
              <a:t>用</a:t>
            </a:r>
            <a:endParaRPr lang="zh-CN" altLang="en-US" sz="2800" b="1"/>
          </a:p>
        </p:txBody>
      </p:sp>
      <p:sp>
        <p:nvSpPr>
          <p:cNvPr id="17" name="Text Box 16"/>
          <p:cNvSpPr txBox="1"/>
          <p:nvPr/>
        </p:nvSpPr>
        <p:spPr>
          <a:xfrm>
            <a:off x="8009890" y="320675"/>
            <a:ext cx="1706245" cy="521970"/>
          </a:xfrm>
          <a:prstGeom prst="rect">
            <a:avLst/>
          </a:prstGeom>
          <a:noFill/>
        </p:spPr>
        <p:txBody>
          <a:bodyPr wrap="square" rtlCol="0">
            <a:spAutoFit/>
          </a:bodyPr>
          <a:p>
            <a:r>
              <a:rPr lang="zh-CN" altLang="en-US" sz="2800" b="1"/>
              <a:t>开</a:t>
            </a:r>
            <a:r>
              <a:rPr lang="en-US" altLang="zh-CN" sz="2800" b="1"/>
              <a:t> </a:t>
            </a:r>
            <a:r>
              <a:rPr lang="zh-CN" altLang="en-US" sz="2800" b="1"/>
              <a:t>发</a:t>
            </a:r>
            <a:endParaRPr lang="zh-CN" altLang="en-US" sz="2800" b="1"/>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Rectangles 5"/>
          <p:cNvSpPr/>
          <p:nvPr/>
        </p:nvSpPr>
        <p:spPr>
          <a:xfrm>
            <a:off x="6956425" y="4482465"/>
            <a:ext cx="3105150" cy="74295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sz="2000" b="1">
                <a:solidFill>
                  <a:schemeClr val="tx1"/>
                </a:solidFill>
              </a:rPr>
              <a:t>汇编语言</a:t>
            </a:r>
            <a:endParaRPr lang="zh-CN" altLang="en-US" sz="2000" b="1">
              <a:solidFill>
                <a:schemeClr val="tx1"/>
              </a:solidFill>
            </a:endParaRPr>
          </a:p>
        </p:txBody>
      </p:sp>
      <p:sp>
        <p:nvSpPr>
          <p:cNvPr id="35" name="Rectangles 34"/>
          <p:cNvSpPr/>
          <p:nvPr/>
        </p:nvSpPr>
        <p:spPr>
          <a:xfrm>
            <a:off x="10061575" y="2946400"/>
            <a:ext cx="1196975" cy="742315"/>
          </a:xfrm>
          <a:prstGeom prst="rect">
            <a:avLst/>
          </a:prstGeom>
          <a:solidFill>
            <a:schemeClr val="bg1">
              <a:lumMod val="85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b="1">
                <a:solidFill>
                  <a:schemeClr val="tx1"/>
                </a:solidFill>
              </a:rPr>
              <a:t>软件建模</a:t>
            </a:r>
            <a:endParaRPr lang="zh-CN" altLang="en-US" b="1">
              <a:solidFill>
                <a:schemeClr val="tx1"/>
              </a:solidFill>
            </a:endParaRPr>
          </a:p>
        </p:txBody>
      </p:sp>
      <p:sp>
        <p:nvSpPr>
          <p:cNvPr id="43" name="Rectangles 42"/>
          <p:cNvSpPr/>
          <p:nvPr/>
        </p:nvSpPr>
        <p:spPr>
          <a:xfrm>
            <a:off x="4236085" y="4311015"/>
            <a:ext cx="2070735" cy="1183640"/>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zh-CN" altLang="en-US" b="1">
                <a:solidFill>
                  <a:schemeClr val="tx1"/>
                </a:solidFill>
              </a:rPr>
              <a:t>电脑的软硬接口</a:t>
            </a:r>
            <a:endParaRPr lang="zh-CN" altLang="en-US" b="1">
              <a:solidFill>
                <a:schemeClr val="tx1"/>
              </a:solidFill>
            </a:endParaRPr>
          </a:p>
        </p:txBody>
      </p:sp>
      <p:sp>
        <p:nvSpPr>
          <p:cNvPr id="3" name="Rectangles 2"/>
          <p:cNvSpPr/>
          <p:nvPr/>
        </p:nvSpPr>
        <p:spPr>
          <a:xfrm>
            <a:off x="4236085" y="2867025"/>
            <a:ext cx="2070735" cy="1443355"/>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zh-CN" altLang="en-US" b="1">
                <a:solidFill>
                  <a:schemeClr val="tx1"/>
                </a:solidFill>
              </a:rPr>
              <a:t>系统的基础平台</a:t>
            </a:r>
            <a:endParaRPr lang="zh-CN" altLang="en-US" b="1">
              <a:solidFill>
                <a:schemeClr val="tx1"/>
              </a:solidFill>
            </a:endParaRPr>
          </a:p>
          <a:p>
            <a:pPr algn="ctr"/>
            <a:endParaRPr lang="zh-CN" altLang="en-US" b="1">
              <a:solidFill>
                <a:schemeClr val="tx1"/>
              </a:solidFill>
            </a:endParaRPr>
          </a:p>
        </p:txBody>
      </p:sp>
      <p:sp>
        <p:nvSpPr>
          <p:cNvPr id="4" name="Rectangles 3"/>
          <p:cNvSpPr/>
          <p:nvPr/>
        </p:nvSpPr>
        <p:spPr>
          <a:xfrm>
            <a:off x="6956425" y="2945765"/>
            <a:ext cx="3105150" cy="74295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en-US" altLang="zh-CN" sz="2000" b="1">
                <a:solidFill>
                  <a:schemeClr val="tx1"/>
                </a:solidFill>
              </a:rPr>
              <a:t>C</a:t>
            </a:r>
            <a:r>
              <a:rPr lang="zh-CN" altLang="en-US" sz="2000" b="1">
                <a:solidFill>
                  <a:schemeClr val="tx1"/>
                </a:solidFill>
              </a:rPr>
              <a:t>语言</a:t>
            </a:r>
            <a:endParaRPr lang="zh-CN" altLang="en-US" sz="2000" b="1">
              <a:solidFill>
                <a:schemeClr val="tx1"/>
              </a:solidFill>
            </a:endParaRPr>
          </a:p>
        </p:txBody>
      </p:sp>
      <p:sp>
        <p:nvSpPr>
          <p:cNvPr id="5" name="Rectangles 4"/>
          <p:cNvSpPr/>
          <p:nvPr/>
        </p:nvSpPr>
        <p:spPr>
          <a:xfrm>
            <a:off x="4236085" y="1311275"/>
            <a:ext cx="2070735" cy="1554480"/>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zh-CN" altLang="en-US" b="1">
                <a:solidFill>
                  <a:schemeClr val="tx1"/>
                </a:solidFill>
              </a:rPr>
              <a:t>系统的扩展平台</a:t>
            </a:r>
            <a:endParaRPr lang="zh-CN" altLang="en-US" b="1">
              <a:solidFill>
                <a:schemeClr val="tx1"/>
              </a:solidFill>
            </a:endParaRPr>
          </a:p>
          <a:p>
            <a:pPr algn="ctr"/>
            <a:endParaRPr lang="en-US" altLang="zh-CN" b="1">
              <a:solidFill>
                <a:schemeClr val="tx1"/>
              </a:solidFill>
            </a:endParaRPr>
          </a:p>
          <a:p>
            <a:pPr algn="ctr"/>
            <a:endParaRPr lang="en-US" altLang="zh-CN" b="1">
              <a:solidFill>
                <a:schemeClr val="tx1"/>
              </a:solidFill>
            </a:endParaRPr>
          </a:p>
        </p:txBody>
      </p:sp>
      <p:sp>
        <p:nvSpPr>
          <p:cNvPr id="8" name="Rectangles 7"/>
          <p:cNvSpPr/>
          <p:nvPr/>
        </p:nvSpPr>
        <p:spPr>
          <a:xfrm>
            <a:off x="1642745" y="2953385"/>
            <a:ext cx="1973580" cy="74295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en-US" altLang="zh-CN" sz="2000" b="1">
                <a:solidFill>
                  <a:schemeClr val="tx1"/>
                </a:solidFill>
              </a:rPr>
              <a:t>Shell</a:t>
            </a:r>
            <a:endParaRPr lang="zh-CN" altLang="en-US" sz="2000" b="1">
              <a:solidFill>
                <a:schemeClr val="tx1"/>
              </a:solidFill>
            </a:endParaRPr>
          </a:p>
        </p:txBody>
      </p:sp>
      <p:sp>
        <p:nvSpPr>
          <p:cNvPr id="9" name="Rectangles 8"/>
          <p:cNvSpPr/>
          <p:nvPr/>
        </p:nvSpPr>
        <p:spPr>
          <a:xfrm>
            <a:off x="6956425" y="1311275"/>
            <a:ext cx="3105150" cy="74295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sz="2000" b="1">
                <a:solidFill>
                  <a:schemeClr val="tx1"/>
                </a:solidFill>
              </a:rPr>
              <a:t>各高级语言（含协处理）</a:t>
            </a:r>
            <a:endParaRPr lang="zh-CN" altLang="en-US" sz="2000" b="1">
              <a:solidFill>
                <a:schemeClr val="tx1"/>
              </a:solidFill>
            </a:endParaRPr>
          </a:p>
        </p:txBody>
      </p:sp>
      <p:sp>
        <p:nvSpPr>
          <p:cNvPr id="10" name="Rectangles 9"/>
          <p:cNvSpPr/>
          <p:nvPr/>
        </p:nvSpPr>
        <p:spPr>
          <a:xfrm>
            <a:off x="522605" y="2954020"/>
            <a:ext cx="1120140" cy="742315"/>
          </a:xfrm>
          <a:prstGeom prst="rect">
            <a:avLst/>
          </a:prstGeom>
          <a:solidFill>
            <a:schemeClr val="bg1">
              <a:lumMod val="85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b="1">
                <a:solidFill>
                  <a:schemeClr val="tx1"/>
                </a:solidFill>
              </a:rPr>
              <a:t>平台建模</a:t>
            </a:r>
            <a:endParaRPr lang="zh-CN" altLang="en-US" b="1">
              <a:solidFill>
                <a:schemeClr val="tx1"/>
              </a:solidFill>
            </a:endParaRPr>
          </a:p>
        </p:txBody>
      </p:sp>
      <p:sp>
        <p:nvSpPr>
          <p:cNvPr id="12" name="Rectangles 11"/>
          <p:cNvSpPr/>
          <p:nvPr/>
        </p:nvSpPr>
        <p:spPr>
          <a:xfrm>
            <a:off x="1642745" y="1311910"/>
            <a:ext cx="1973580" cy="74295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sz="2000" b="1">
                <a:solidFill>
                  <a:schemeClr val="tx1"/>
                </a:solidFill>
              </a:rPr>
              <a:t>人类语言</a:t>
            </a:r>
            <a:endParaRPr lang="zh-CN" altLang="en-US" sz="2000" b="1">
              <a:solidFill>
                <a:schemeClr val="tx1"/>
              </a:solidFill>
            </a:endParaRPr>
          </a:p>
        </p:txBody>
      </p:sp>
      <p:sp>
        <p:nvSpPr>
          <p:cNvPr id="13" name="Rectangles 12"/>
          <p:cNvSpPr/>
          <p:nvPr/>
        </p:nvSpPr>
        <p:spPr>
          <a:xfrm>
            <a:off x="10061575" y="1311275"/>
            <a:ext cx="1205865" cy="742315"/>
          </a:xfrm>
          <a:prstGeom prst="rect">
            <a:avLst/>
          </a:prstGeom>
          <a:solidFill>
            <a:schemeClr val="bg1">
              <a:lumMod val="85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b="1">
                <a:solidFill>
                  <a:schemeClr val="tx1"/>
                </a:solidFill>
              </a:rPr>
              <a:t>集成开发</a:t>
            </a:r>
            <a:endParaRPr lang="zh-CN" altLang="en-US" b="1">
              <a:solidFill>
                <a:schemeClr val="tx1"/>
              </a:solidFill>
            </a:endParaRPr>
          </a:p>
        </p:txBody>
      </p:sp>
      <p:sp>
        <p:nvSpPr>
          <p:cNvPr id="15" name="Rectangles 14"/>
          <p:cNvSpPr/>
          <p:nvPr/>
        </p:nvSpPr>
        <p:spPr>
          <a:xfrm>
            <a:off x="4230370" y="5494655"/>
            <a:ext cx="2081530" cy="1056640"/>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endParaRPr lang="zh-CN" altLang="en-US" b="1">
              <a:solidFill>
                <a:schemeClr val="tx1"/>
              </a:solidFill>
            </a:endParaRPr>
          </a:p>
          <a:p>
            <a:pPr algn="ctr"/>
            <a:r>
              <a:rPr lang="zh-CN" altLang="en-US" b="1">
                <a:solidFill>
                  <a:schemeClr val="tx1"/>
                </a:solidFill>
              </a:rPr>
              <a:t>电脑的硬件模型</a:t>
            </a:r>
            <a:endParaRPr lang="zh-CN" altLang="en-US" b="1">
              <a:solidFill>
                <a:schemeClr val="tx1"/>
              </a:solidFill>
            </a:endParaRPr>
          </a:p>
        </p:txBody>
      </p:sp>
      <p:cxnSp>
        <p:nvCxnSpPr>
          <p:cNvPr id="20" name="Straight Arrow Connector 19"/>
          <p:cNvCxnSpPr/>
          <p:nvPr/>
        </p:nvCxnSpPr>
        <p:spPr>
          <a:xfrm flipH="1">
            <a:off x="3616325" y="1683385"/>
            <a:ext cx="61976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6311900" y="6179820"/>
            <a:ext cx="644525"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 name="Rectangles 27"/>
          <p:cNvSpPr/>
          <p:nvPr/>
        </p:nvSpPr>
        <p:spPr>
          <a:xfrm>
            <a:off x="1637030" y="4482465"/>
            <a:ext cx="1987550" cy="742950"/>
          </a:xfrm>
          <a:prstGeom prst="rect">
            <a:avLst/>
          </a:prstGeom>
          <a:solidFill>
            <a:schemeClr val="accent4"/>
          </a:solidFill>
          <a:ln w="15875">
            <a:solidFill>
              <a:schemeClr val="accent4">
                <a:lumMod val="75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en-US" altLang="zh-CN" sz="2000" b="1">
                <a:solidFill>
                  <a:schemeClr val="tx1"/>
                </a:solidFill>
              </a:rPr>
              <a:t>UEFI Shell</a:t>
            </a:r>
            <a:endParaRPr lang="en-US" altLang="zh-CN" sz="2000" b="1">
              <a:solidFill>
                <a:schemeClr val="tx1"/>
              </a:solidFill>
            </a:endParaRPr>
          </a:p>
        </p:txBody>
      </p:sp>
      <p:cxnSp>
        <p:nvCxnSpPr>
          <p:cNvPr id="29" name="Straight Arrow Connector 28"/>
          <p:cNvCxnSpPr/>
          <p:nvPr/>
        </p:nvCxnSpPr>
        <p:spPr>
          <a:xfrm flipH="1">
            <a:off x="3613785" y="4853940"/>
            <a:ext cx="62230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flipH="1" flipV="1">
            <a:off x="6337935" y="5078730"/>
            <a:ext cx="618490" cy="110109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Elbow Connector 30"/>
          <p:cNvCxnSpPr>
            <a:stCxn id="13" idx="3"/>
            <a:endCxn id="40" idx="3"/>
          </p:cNvCxnSpPr>
          <p:nvPr/>
        </p:nvCxnSpPr>
        <p:spPr>
          <a:xfrm flipH="1">
            <a:off x="11181715" y="1682750"/>
            <a:ext cx="85725" cy="4497070"/>
          </a:xfrm>
          <a:prstGeom prst="bentConnector3">
            <a:avLst>
              <a:gd name="adj1" fmla="val -277778"/>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3" name="Rectangles 32"/>
          <p:cNvSpPr/>
          <p:nvPr/>
        </p:nvSpPr>
        <p:spPr>
          <a:xfrm>
            <a:off x="520065" y="4483100"/>
            <a:ext cx="1120140" cy="742315"/>
          </a:xfrm>
          <a:prstGeom prst="rect">
            <a:avLst/>
          </a:prstGeom>
          <a:solidFill>
            <a:schemeClr val="bg1">
              <a:lumMod val="85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b="1">
                <a:solidFill>
                  <a:schemeClr val="tx1"/>
                </a:solidFill>
              </a:rPr>
              <a:t>裸机器</a:t>
            </a:r>
            <a:endParaRPr lang="zh-CN" altLang="en-US" b="1">
              <a:solidFill>
                <a:schemeClr val="tx1"/>
              </a:solidFill>
            </a:endParaRPr>
          </a:p>
        </p:txBody>
      </p:sp>
      <p:sp>
        <p:nvSpPr>
          <p:cNvPr id="34" name="Rectangles 33"/>
          <p:cNvSpPr/>
          <p:nvPr/>
        </p:nvSpPr>
        <p:spPr>
          <a:xfrm>
            <a:off x="522605" y="1312545"/>
            <a:ext cx="1120140" cy="742315"/>
          </a:xfrm>
          <a:prstGeom prst="rect">
            <a:avLst/>
          </a:prstGeom>
          <a:solidFill>
            <a:schemeClr val="bg1">
              <a:lumMod val="85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b="1">
                <a:solidFill>
                  <a:schemeClr val="tx1"/>
                </a:solidFill>
              </a:rPr>
              <a:t>使用建模</a:t>
            </a:r>
            <a:endParaRPr lang="zh-CN" altLang="en-US" b="1">
              <a:solidFill>
                <a:schemeClr val="tx1"/>
              </a:solidFill>
            </a:endParaRPr>
          </a:p>
        </p:txBody>
      </p:sp>
      <p:sp>
        <p:nvSpPr>
          <p:cNvPr id="36" name="Rectangles 35"/>
          <p:cNvSpPr/>
          <p:nvPr/>
        </p:nvSpPr>
        <p:spPr>
          <a:xfrm>
            <a:off x="10061575" y="4483100"/>
            <a:ext cx="1120140" cy="742315"/>
          </a:xfrm>
          <a:prstGeom prst="rect">
            <a:avLst/>
          </a:prstGeom>
          <a:solidFill>
            <a:schemeClr val="bg1">
              <a:lumMod val="85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b="1">
                <a:solidFill>
                  <a:schemeClr val="tx1"/>
                </a:solidFill>
              </a:rPr>
              <a:t>主接口</a:t>
            </a:r>
            <a:endParaRPr lang="zh-CN" altLang="en-US" b="1">
              <a:solidFill>
                <a:schemeClr val="tx1"/>
              </a:solidFill>
            </a:endParaRPr>
          </a:p>
        </p:txBody>
      </p:sp>
      <p:sp>
        <p:nvSpPr>
          <p:cNvPr id="39" name="Rectangles 38"/>
          <p:cNvSpPr/>
          <p:nvPr/>
        </p:nvSpPr>
        <p:spPr>
          <a:xfrm>
            <a:off x="6956425" y="5808345"/>
            <a:ext cx="3105150" cy="742950"/>
          </a:xfrm>
          <a:prstGeom prst="rect">
            <a:avLst/>
          </a:prstGeom>
          <a:solidFill>
            <a:schemeClr val="accent4">
              <a:alpha val="50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sz="2000" b="1">
                <a:solidFill>
                  <a:schemeClr val="tx1"/>
                </a:solidFill>
              </a:rPr>
              <a:t>各硬件设计语言</a:t>
            </a:r>
            <a:endParaRPr lang="zh-CN" altLang="en-US" sz="2000" b="1">
              <a:solidFill>
                <a:schemeClr val="tx1"/>
              </a:solidFill>
            </a:endParaRPr>
          </a:p>
        </p:txBody>
      </p:sp>
      <p:sp>
        <p:nvSpPr>
          <p:cNvPr id="40" name="Rectangles 39"/>
          <p:cNvSpPr/>
          <p:nvPr/>
        </p:nvSpPr>
        <p:spPr>
          <a:xfrm>
            <a:off x="10061575" y="5808345"/>
            <a:ext cx="1120140" cy="742315"/>
          </a:xfrm>
          <a:prstGeom prst="rect">
            <a:avLst/>
          </a:prstGeom>
          <a:solidFill>
            <a:schemeClr val="bg1">
              <a:lumMod val="85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b="1">
                <a:solidFill>
                  <a:schemeClr val="tx1"/>
                </a:solidFill>
              </a:rPr>
              <a:t>模型实现</a:t>
            </a:r>
            <a:endParaRPr lang="zh-CN" altLang="en-US" b="1">
              <a:solidFill>
                <a:schemeClr val="tx1"/>
              </a:solidFill>
            </a:endParaRPr>
          </a:p>
        </p:txBody>
      </p:sp>
      <p:cxnSp>
        <p:nvCxnSpPr>
          <p:cNvPr id="41" name="Straight Arrow Connector 40"/>
          <p:cNvCxnSpPr/>
          <p:nvPr/>
        </p:nvCxnSpPr>
        <p:spPr>
          <a:xfrm flipH="1">
            <a:off x="6320790" y="1734820"/>
            <a:ext cx="636270" cy="0"/>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flipH="1">
            <a:off x="6320790" y="3325495"/>
            <a:ext cx="636270" cy="0"/>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p:nvPr/>
        </p:nvCxnSpPr>
        <p:spPr>
          <a:xfrm>
            <a:off x="6317615" y="4822190"/>
            <a:ext cx="656590" cy="1143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flipH="1" flipV="1">
            <a:off x="6337935" y="3364230"/>
            <a:ext cx="625475" cy="116459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p:nvPr/>
        </p:nvCxnSpPr>
        <p:spPr>
          <a:xfrm flipH="1" flipV="1">
            <a:off x="6337935" y="1951355"/>
            <a:ext cx="636270" cy="2534285"/>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p:nvPr/>
        </p:nvCxnSpPr>
        <p:spPr>
          <a:xfrm flipH="1" flipV="1">
            <a:off x="6327140" y="1800860"/>
            <a:ext cx="629920" cy="113157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nvCxnSpPr>
        <p:spPr>
          <a:xfrm flipH="1">
            <a:off x="6327140" y="2070100"/>
            <a:ext cx="625475" cy="1218565"/>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p:nvPr/>
        </p:nvCxnSpPr>
        <p:spPr>
          <a:xfrm flipH="1">
            <a:off x="3616325" y="3350260"/>
            <a:ext cx="636270" cy="0"/>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p:nvPr/>
        </p:nvCxnSpPr>
        <p:spPr>
          <a:xfrm flipV="1">
            <a:off x="3609975" y="1746885"/>
            <a:ext cx="603885" cy="1218565"/>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p:nvPr/>
        </p:nvCxnSpPr>
        <p:spPr>
          <a:xfrm flipV="1">
            <a:off x="3609975" y="3429000"/>
            <a:ext cx="603885" cy="1067435"/>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 name="Rectangles 1"/>
          <p:cNvSpPr/>
          <p:nvPr/>
        </p:nvSpPr>
        <p:spPr>
          <a:xfrm>
            <a:off x="4234815" y="823595"/>
            <a:ext cx="2070735" cy="486410"/>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en-US" altLang="zh-CN" b="1">
                <a:solidFill>
                  <a:schemeClr val="tx1"/>
                </a:solidFill>
              </a:rPr>
              <a:t>IT</a:t>
            </a:r>
            <a:r>
              <a:rPr lang="zh-CN" altLang="en-US" b="1">
                <a:solidFill>
                  <a:schemeClr val="tx1"/>
                </a:solidFill>
              </a:rPr>
              <a:t>的业务模型</a:t>
            </a:r>
            <a:endParaRPr lang="en-US" altLang="zh-CN" b="1">
              <a:solidFill>
                <a:schemeClr val="tx1"/>
              </a:solidFill>
            </a:endParaRPr>
          </a:p>
        </p:txBody>
      </p:sp>
      <p:sp>
        <p:nvSpPr>
          <p:cNvPr id="7" name="Rectangles 6"/>
          <p:cNvSpPr/>
          <p:nvPr/>
        </p:nvSpPr>
        <p:spPr>
          <a:xfrm>
            <a:off x="4232275" y="328930"/>
            <a:ext cx="2070735" cy="486410"/>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en-US" altLang="zh-CN" b="1">
                <a:solidFill>
                  <a:schemeClr val="tx1"/>
                </a:solidFill>
              </a:rPr>
              <a:t>IT</a:t>
            </a:r>
            <a:r>
              <a:rPr lang="zh-CN" altLang="en-US" b="1">
                <a:solidFill>
                  <a:schemeClr val="tx1"/>
                </a:solidFill>
              </a:rPr>
              <a:t>的应用模型</a:t>
            </a:r>
            <a:endParaRPr lang="en-US" altLang="zh-CN" b="1">
              <a:solidFill>
                <a:schemeClr val="tx1"/>
              </a:solidFill>
            </a:endParaRPr>
          </a:p>
        </p:txBody>
      </p:sp>
      <p:cxnSp>
        <p:nvCxnSpPr>
          <p:cNvPr id="14" name="Straight Arrow Connector 13"/>
          <p:cNvCxnSpPr>
            <a:endCxn id="2" idx="3"/>
          </p:cNvCxnSpPr>
          <p:nvPr/>
        </p:nvCxnSpPr>
        <p:spPr>
          <a:xfrm flipH="1" flipV="1">
            <a:off x="6305550" y="1066800"/>
            <a:ext cx="659130" cy="260985"/>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endCxn id="7" idx="1"/>
          </p:cNvCxnSpPr>
          <p:nvPr/>
        </p:nvCxnSpPr>
        <p:spPr>
          <a:xfrm flipV="1">
            <a:off x="3616960" y="572135"/>
            <a:ext cx="615315" cy="701675"/>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V="1">
            <a:off x="3660140" y="1489710"/>
            <a:ext cx="561340" cy="10795"/>
          </a:xfrm>
          <a:prstGeom prst="straightConnector1">
            <a:avLst/>
          </a:prstGeom>
          <a:ln w="28575" cmpd="sng">
            <a:solidFill>
              <a:schemeClr val="accent1">
                <a:shade val="50000"/>
              </a:schemeClr>
            </a:solidFill>
            <a:prstDash val="sysDash"/>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endCxn id="2" idx="1"/>
          </p:cNvCxnSpPr>
          <p:nvPr/>
        </p:nvCxnSpPr>
        <p:spPr>
          <a:xfrm flipV="1">
            <a:off x="3649345" y="1066800"/>
            <a:ext cx="585470" cy="444500"/>
          </a:xfrm>
          <a:prstGeom prst="straightConnector1">
            <a:avLst/>
          </a:prstGeom>
          <a:ln w="28575" cmpd="sng">
            <a:solidFill>
              <a:schemeClr val="accent1">
                <a:shade val="50000"/>
              </a:schemeClr>
            </a:solidFill>
            <a:prstDash val="sysDash"/>
            <a:tailEnd type="arrow"/>
          </a:ln>
        </p:spPr>
        <p:style>
          <a:lnRef idx="1">
            <a:schemeClr val="accent1"/>
          </a:lnRef>
          <a:fillRef idx="0">
            <a:schemeClr val="accent1"/>
          </a:fillRef>
          <a:effectRef idx="0">
            <a:schemeClr val="accent1"/>
          </a:effectRef>
          <a:fontRef idx="minor">
            <a:schemeClr val="tx1"/>
          </a:fontRef>
        </p:style>
      </p:cxnSp>
      <p:sp>
        <p:nvSpPr>
          <p:cNvPr id="11" name="Text Box 10"/>
          <p:cNvSpPr txBox="1"/>
          <p:nvPr/>
        </p:nvSpPr>
        <p:spPr>
          <a:xfrm>
            <a:off x="1758950" y="334010"/>
            <a:ext cx="1706245" cy="521970"/>
          </a:xfrm>
          <a:prstGeom prst="rect">
            <a:avLst/>
          </a:prstGeom>
          <a:noFill/>
        </p:spPr>
        <p:txBody>
          <a:bodyPr wrap="square" rtlCol="0">
            <a:spAutoFit/>
          </a:bodyPr>
          <a:p>
            <a:r>
              <a:rPr lang="zh-CN" altLang="en-US" sz="2800" b="1"/>
              <a:t>使</a:t>
            </a:r>
            <a:r>
              <a:rPr lang="en-US" altLang="zh-CN" sz="2800" b="1"/>
              <a:t> </a:t>
            </a:r>
            <a:r>
              <a:rPr lang="zh-CN" altLang="en-US" sz="2800" b="1"/>
              <a:t>用</a:t>
            </a:r>
            <a:endParaRPr lang="zh-CN" altLang="en-US" sz="2800" b="1"/>
          </a:p>
        </p:txBody>
      </p:sp>
      <p:sp>
        <p:nvSpPr>
          <p:cNvPr id="17" name="Text Box 16"/>
          <p:cNvSpPr txBox="1"/>
          <p:nvPr/>
        </p:nvSpPr>
        <p:spPr>
          <a:xfrm>
            <a:off x="8009890" y="320675"/>
            <a:ext cx="1706245" cy="521970"/>
          </a:xfrm>
          <a:prstGeom prst="rect">
            <a:avLst/>
          </a:prstGeom>
          <a:noFill/>
        </p:spPr>
        <p:txBody>
          <a:bodyPr wrap="square" rtlCol="0">
            <a:spAutoFit/>
          </a:bodyPr>
          <a:p>
            <a:r>
              <a:rPr lang="zh-CN" altLang="en-US" sz="2800" b="1"/>
              <a:t>开</a:t>
            </a:r>
            <a:r>
              <a:rPr lang="en-US" altLang="zh-CN" sz="2800" b="1"/>
              <a:t> </a:t>
            </a:r>
            <a:r>
              <a:rPr lang="zh-CN" altLang="en-US" sz="2800" b="1"/>
              <a:t>发</a:t>
            </a:r>
            <a:endParaRPr lang="zh-CN" altLang="en-US" sz="2800" b="1"/>
          </a:p>
        </p:txBody>
      </p:sp>
      <p:cxnSp>
        <p:nvCxnSpPr>
          <p:cNvPr id="21" name="Straight Arrow Connector 20"/>
          <p:cNvCxnSpPr>
            <a:endCxn id="7" idx="3"/>
          </p:cNvCxnSpPr>
          <p:nvPr/>
        </p:nvCxnSpPr>
        <p:spPr>
          <a:xfrm flipH="1" flipV="1">
            <a:off x="6303010" y="572135"/>
            <a:ext cx="672465" cy="755650"/>
          </a:xfrm>
          <a:prstGeom prst="straightConnector1">
            <a:avLst/>
          </a:prstGeom>
          <a:ln w="28575" cmpd="sng">
            <a:solidFill>
              <a:schemeClr val="accent1">
                <a:shade val="50000"/>
              </a:schemeClr>
            </a:solidFill>
            <a:prstDash val="sysDash"/>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47700" y="258445"/>
            <a:ext cx="10515600" cy="862965"/>
          </a:xfrm>
        </p:spPr>
        <p:txBody>
          <a:bodyPr/>
          <a:p>
            <a:r>
              <a:rPr lang="zh-CN" altLang="en-US"/>
              <a:t>编程语言</a:t>
            </a:r>
            <a:r>
              <a:rPr lang="en-US" altLang="zh-CN"/>
              <a:t>-</a:t>
            </a:r>
            <a:r>
              <a:rPr lang="zh-CN" altLang="en-US"/>
              <a:t>整体描述</a:t>
            </a:r>
            <a:endParaRPr lang="zh-CN" altLang="en-US"/>
          </a:p>
        </p:txBody>
      </p:sp>
      <p:sp>
        <p:nvSpPr>
          <p:cNvPr id="3" name="Content Placeholder 2"/>
          <p:cNvSpPr>
            <a:spLocks noGrp="1"/>
          </p:cNvSpPr>
          <p:nvPr>
            <p:ph idx="1"/>
          </p:nvPr>
        </p:nvSpPr>
        <p:spPr>
          <a:xfrm>
            <a:off x="647700" y="1121410"/>
            <a:ext cx="10515600" cy="5055870"/>
          </a:xfrm>
        </p:spPr>
        <p:txBody>
          <a:bodyPr>
            <a:normAutofit lnSpcReduction="10000"/>
          </a:bodyPr>
          <a:p>
            <a:r>
              <a:rPr lang="zh-CN" altLang="en-US"/>
              <a:t>基本原理。</a:t>
            </a:r>
            <a:endParaRPr lang="zh-CN" altLang="en-US"/>
          </a:p>
          <a:p>
            <a:pPr lvl="1"/>
            <a:r>
              <a:rPr lang="zh-CN" altLang="en-US"/>
              <a:t>数据（名词</a:t>
            </a:r>
            <a:r>
              <a:rPr lang="en-US" altLang="zh-CN"/>
              <a:t>/</a:t>
            </a:r>
            <a:r>
              <a:rPr lang="zh-CN" altLang="en-US"/>
              <a:t>代词）</a:t>
            </a:r>
            <a:r>
              <a:rPr lang="en-US" altLang="zh-CN"/>
              <a:t>+</a:t>
            </a:r>
            <a:r>
              <a:rPr lang="zh-CN" altLang="en-US"/>
              <a:t>方法（动词</a:t>
            </a:r>
            <a:r>
              <a:rPr lang="en-US" altLang="zh-CN"/>
              <a:t>/</a:t>
            </a:r>
            <a:r>
              <a:rPr lang="zh-CN" altLang="en-US"/>
              <a:t>形容词</a:t>
            </a:r>
            <a:r>
              <a:rPr lang="en-US" altLang="zh-CN"/>
              <a:t>/</a:t>
            </a:r>
            <a:r>
              <a:rPr lang="zh-CN" altLang="en-US"/>
              <a:t>副词）</a:t>
            </a:r>
            <a:endParaRPr lang="zh-CN" altLang="en-US"/>
          </a:p>
          <a:p>
            <a:pPr lvl="1"/>
            <a:r>
              <a:rPr lang="zh-CN" altLang="en-US"/>
              <a:t>有语法（主谓宾，定状补，标点符号，连词），可递归</a:t>
            </a:r>
            <a:endParaRPr lang="zh-CN" altLang="en-US"/>
          </a:p>
          <a:p>
            <a:pPr lvl="1"/>
            <a:r>
              <a:rPr lang="zh-CN" altLang="en-US"/>
              <a:t>有流程：顺序，判断，跳转（包括循环）。</a:t>
            </a:r>
            <a:endParaRPr lang="zh-CN" altLang="en-US"/>
          </a:p>
          <a:p>
            <a:pPr lvl="1"/>
            <a:endParaRPr lang="zh-CN" altLang="en-US"/>
          </a:p>
          <a:p>
            <a:r>
              <a:rPr lang="zh-CN" altLang="en-US"/>
              <a:t>整体发展。</a:t>
            </a:r>
            <a:endParaRPr lang="zh-CN" altLang="en-US"/>
          </a:p>
          <a:p>
            <a:pPr lvl="1"/>
            <a:r>
              <a:rPr lang="zh-CN" altLang="en-US" sz="1800"/>
              <a:t>对于某一特色和实用场景，曾经都会出现多个语言，</a:t>
            </a:r>
            <a:endParaRPr lang="zh-CN" altLang="en-US" sz="1800"/>
          </a:p>
          <a:p>
            <a:pPr lvl="1"/>
            <a:r>
              <a:rPr lang="zh-CN" altLang="en-US" sz="1800"/>
              <a:t>但经过时间沉淀（例如</a:t>
            </a:r>
            <a:r>
              <a:rPr lang="en-US" altLang="zh-CN" sz="1800"/>
              <a:t>10</a:t>
            </a:r>
            <a:r>
              <a:rPr lang="zh-CN" altLang="en-US" sz="1800"/>
              <a:t>年），最后就会在每个特色和实用场景下就只保留一个编程语言了。</a:t>
            </a:r>
            <a:endParaRPr lang="zh-CN" altLang="en-US" sz="1800"/>
          </a:p>
          <a:p>
            <a:pPr lvl="1"/>
            <a:r>
              <a:rPr lang="en-US" altLang="zh-CN" sz="1800"/>
              <a:t>Java/JS</a:t>
            </a:r>
            <a:r>
              <a:rPr lang="zh-CN" altLang="en-US" sz="1800"/>
              <a:t>合并成一个，</a:t>
            </a:r>
            <a:r>
              <a:rPr lang="en-US" altLang="zh-CN" sz="1800"/>
              <a:t>Perl</a:t>
            </a:r>
            <a:r>
              <a:rPr lang="zh-CN" altLang="en-US" sz="1800"/>
              <a:t>逐步被淘汰，</a:t>
            </a:r>
            <a:r>
              <a:rPr lang="en-US" altLang="zh-CN" sz="1800"/>
              <a:t>C#</a:t>
            </a:r>
            <a:r>
              <a:rPr lang="zh-CN" altLang="en-US" sz="1800"/>
              <a:t>和</a:t>
            </a:r>
            <a:r>
              <a:rPr lang="en-US" altLang="zh-CN" sz="1800"/>
              <a:t>Obj-C</a:t>
            </a:r>
            <a:r>
              <a:rPr lang="zh-CN" altLang="en-US" sz="1800"/>
              <a:t>。通用语言的框架和库更丰富，更多专用语言。</a:t>
            </a:r>
            <a:endParaRPr lang="zh-CN" altLang="en-US" sz="1800"/>
          </a:p>
          <a:p>
            <a:pPr lvl="1"/>
            <a:endParaRPr lang="zh-CN" altLang="en-US"/>
          </a:p>
          <a:p>
            <a:r>
              <a:rPr lang="zh-CN" altLang="en-US"/>
              <a:t>语言分类：</a:t>
            </a:r>
            <a:endParaRPr lang="zh-CN" altLang="en-US"/>
          </a:p>
          <a:p>
            <a:pPr lvl="1"/>
            <a:r>
              <a:rPr lang="zh-CN" altLang="en-US"/>
              <a:t>整体分为专用编程语言，通用编程语言，平台受限编程语言。</a:t>
            </a:r>
            <a:endParaRPr lang="zh-CN" altLang="en-US"/>
          </a:p>
          <a:p>
            <a:pPr lvl="1"/>
            <a:r>
              <a:rPr lang="zh-CN" altLang="en-US" sz="1800"/>
              <a:t>通用编程语言按照距离机器的远近来进行划分</a:t>
            </a:r>
            <a:endParaRPr lang="zh-CN" altLang="en-US" sz="1800"/>
          </a:p>
          <a:p>
            <a:pPr lvl="1"/>
            <a:r>
              <a:rPr lang="zh-CN" altLang="en-US" sz="1800"/>
              <a:t>专用编程语言按照领域进行划分</a:t>
            </a:r>
            <a:endParaRPr lang="zh-CN" altLang="en-US" sz="1800"/>
          </a:p>
          <a:p>
            <a:pPr lvl="1"/>
            <a:r>
              <a:rPr lang="zh-CN" altLang="en-US" sz="1800"/>
              <a:t>平台受限编程语言同具体系统平台相关</a:t>
            </a:r>
            <a:endParaRPr lang="zh-CN" altLang="en-US"/>
          </a:p>
          <a:p>
            <a:endParaRPr lang="zh-CN"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47700" y="-20955"/>
            <a:ext cx="10515600" cy="741680"/>
          </a:xfrm>
        </p:spPr>
        <p:txBody>
          <a:bodyPr/>
          <a:p>
            <a:r>
              <a:rPr lang="zh-CN" altLang="en-US"/>
              <a:t>编程语言</a:t>
            </a:r>
            <a:r>
              <a:rPr lang="en-US" altLang="zh-CN"/>
              <a:t>-</a:t>
            </a:r>
            <a:r>
              <a:rPr lang="zh-CN" altLang="en-US"/>
              <a:t>具体语言</a:t>
            </a:r>
            <a:endParaRPr lang="zh-CN" altLang="en-US"/>
          </a:p>
        </p:txBody>
      </p:sp>
      <p:sp>
        <p:nvSpPr>
          <p:cNvPr id="3" name="Content Placeholder 2"/>
          <p:cNvSpPr>
            <a:spLocks noGrp="1"/>
          </p:cNvSpPr>
          <p:nvPr>
            <p:ph idx="1"/>
          </p:nvPr>
        </p:nvSpPr>
        <p:spPr>
          <a:xfrm>
            <a:off x="183515" y="638175"/>
            <a:ext cx="11683365" cy="6089650"/>
          </a:xfrm>
        </p:spPr>
        <p:txBody>
          <a:bodyPr>
            <a:normAutofit lnSpcReduction="10000"/>
          </a:bodyPr>
          <a:p>
            <a:pPr marL="0" indent="0">
              <a:buNone/>
            </a:pPr>
            <a:r>
              <a:rPr lang="zh-CN" altLang="en-US"/>
              <a:t>汇编语言：</a:t>
            </a:r>
            <a:r>
              <a:rPr lang="en-US" altLang="zh-CN"/>
              <a:t>CPU</a:t>
            </a:r>
            <a:r>
              <a:rPr lang="zh-CN" altLang="en-US"/>
              <a:t>类，</a:t>
            </a:r>
            <a:r>
              <a:rPr lang="en-US" altLang="zh-CN"/>
              <a:t>GPU/NPU</a:t>
            </a:r>
            <a:r>
              <a:rPr lang="zh-CN" altLang="en-US"/>
              <a:t>类，中间汇编类（</a:t>
            </a:r>
            <a:r>
              <a:rPr lang="en-US" altLang="zh-CN"/>
              <a:t>Java/Web</a:t>
            </a:r>
            <a:r>
              <a:rPr lang="zh-CN" altLang="en-US"/>
              <a:t>），外围设备类（</a:t>
            </a:r>
            <a:r>
              <a:rPr lang="en-US" altLang="zh-CN"/>
              <a:t>DVD</a:t>
            </a:r>
            <a:r>
              <a:rPr lang="zh-CN" altLang="en-US"/>
              <a:t>）</a:t>
            </a:r>
            <a:endParaRPr lang="zh-CN" altLang="en-US"/>
          </a:p>
          <a:p>
            <a:r>
              <a:rPr lang="en-US" altLang="zh-CN"/>
              <a:t>C</a:t>
            </a:r>
            <a:r>
              <a:rPr lang="zh-CN" altLang="en-US"/>
              <a:t>：性能最高，灵活度最好，反汇编最简洁，开发效率低，不容易驾驭。</a:t>
            </a:r>
            <a:endParaRPr lang="zh-CN" altLang="en-US"/>
          </a:p>
          <a:p>
            <a:r>
              <a:rPr lang="en-US" altLang="zh-CN"/>
              <a:t>C++</a:t>
            </a:r>
            <a:r>
              <a:rPr lang="zh-CN" altLang="en-US"/>
              <a:t>：性能其次，灵活度最好，反汇编复杂，开发效率中，最不容易驾驭。</a:t>
            </a:r>
            <a:endParaRPr lang="zh-CN" altLang="en-US"/>
          </a:p>
          <a:p>
            <a:r>
              <a:rPr lang="en-US" altLang="zh-CN"/>
              <a:t>Rust</a:t>
            </a:r>
            <a:r>
              <a:rPr lang="zh-CN" altLang="en-US"/>
              <a:t>：性能不如</a:t>
            </a:r>
            <a:r>
              <a:rPr lang="en-US" altLang="zh-CN"/>
              <a:t>C++</a:t>
            </a:r>
            <a:r>
              <a:rPr lang="zh-CN" altLang="en-US"/>
              <a:t>，灵活度不如</a:t>
            </a:r>
            <a:r>
              <a:rPr lang="en-US" altLang="zh-CN"/>
              <a:t>C/C++</a:t>
            </a:r>
            <a:r>
              <a:rPr lang="zh-CN" altLang="en-US"/>
              <a:t>，反汇编复杂，开发效率中偏低，比较容易驾驭。</a:t>
            </a:r>
            <a:endParaRPr lang="zh-CN" altLang="en-US"/>
          </a:p>
          <a:p>
            <a:r>
              <a:rPr lang="en-US" altLang="zh-CN"/>
              <a:t>Golang</a:t>
            </a:r>
            <a:r>
              <a:rPr lang="zh-CN" altLang="en-US"/>
              <a:t>：性能不如</a:t>
            </a:r>
            <a:r>
              <a:rPr lang="en-US" altLang="zh-CN"/>
              <a:t>Rust</a:t>
            </a:r>
            <a:r>
              <a:rPr lang="zh-CN" altLang="en-US"/>
              <a:t>，灵活度与</a:t>
            </a:r>
            <a:r>
              <a:rPr lang="en-US" altLang="zh-CN"/>
              <a:t>Rust</a:t>
            </a:r>
            <a:r>
              <a:rPr lang="zh-CN" altLang="en-US"/>
              <a:t>相当，反汇编复杂，开发效率较高，容易驾驭。</a:t>
            </a:r>
            <a:endParaRPr lang="zh-CN" altLang="en-US"/>
          </a:p>
          <a:p>
            <a:r>
              <a:rPr lang="en-US" altLang="zh-CN"/>
              <a:t>Java</a:t>
            </a:r>
            <a:r>
              <a:rPr lang="zh-CN" altLang="en-US"/>
              <a:t>：性能不如</a:t>
            </a:r>
            <a:r>
              <a:rPr lang="en-US" altLang="zh-CN"/>
              <a:t>Golang</a:t>
            </a:r>
            <a:r>
              <a:rPr lang="zh-CN" altLang="en-US"/>
              <a:t>，灵活度与</a:t>
            </a:r>
            <a:r>
              <a:rPr lang="en-US" altLang="zh-CN"/>
              <a:t>Golang</a:t>
            </a:r>
            <a:r>
              <a:rPr lang="zh-CN" altLang="en-US"/>
              <a:t>相当，需要虚拟机，开发效率高（更通用），容易驾驭。</a:t>
            </a:r>
            <a:endParaRPr lang="zh-CN" altLang="en-US"/>
          </a:p>
          <a:p>
            <a:r>
              <a:rPr lang="en-US" altLang="zh-CN"/>
              <a:t>JS</a:t>
            </a:r>
            <a:r>
              <a:rPr lang="zh-CN" altLang="en-US"/>
              <a:t>：性能同</a:t>
            </a:r>
            <a:r>
              <a:rPr lang="en-US" altLang="zh-CN"/>
              <a:t>Java</a:t>
            </a:r>
            <a:r>
              <a:rPr lang="zh-CN" altLang="en-US"/>
              <a:t>基本一致，灵活度与</a:t>
            </a:r>
            <a:r>
              <a:rPr lang="en-US" altLang="zh-CN"/>
              <a:t>Java</a:t>
            </a:r>
            <a:r>
              <a:rPr lang="zh-CN" altLang="en-US"/>
              <a:t>相当，需要虚拟机，开发效率最高（偏</a:t>
            </a:r>
            <a:r>
              <a:rPr lang="en-US" altLang="zh-CN"/>
              <a:t>Web</a:t>
            </a:r>
            <a:r>
              <a:rPr lang="zh-CN" altLang="en-US"/>
              <a:t>），容易驾驭。</a:t>
            </a:r>
            <a:endParaRPr lang="zh-CN" altLang="en-US"/>
          </a:p>
          <a:p>
            <a:r>
              <a:rPr lang="en-US" altLang="zh-CN"/>
              <a:t>Python</a:t>
            </a:r>
            <a:r>
              <a:rPr lang="zh-CN" altLang="en-US"/>
              <a:t>：性能不如</a:t>
            </a:r>
            <a:r>
              <a:rPr lang="en-US" altLang="zh-CN"/>
              <a:t>Java</a:t>
            </a:r>
            <a:r>
              <a:rPr lang="zh-CN" altLang="en-US"/>
              <a:t>，灵活度与</a:t>
            </a:r>
            <a:r>
              <a:rPr lang="en-US" altLang="zh-CN"/>
              <a:t>Java</a:t>
            </a:r>
            <a:r>
              <a:rPr lang="zh-CN" altLang="en-US"/>
              <a:t>相当，需要解释器，开发效率最高（偏大规模），容易驾驭。</a:t>
            </a:r>
            <a:endParaRPr lang="zh-CN" altLang="en-US"/>
          </a:p>
          <a:p>
            <a:r>
              <a:rPr lang="en-US" altLang="zh-CN"/>
              <a:t>Perl</a:t>
            </a:r>
            <a:r>
              <a:rPr lang="zh-CN" altLang="en-US"/>
              <a:t>：性能同</a:t>
            </a:r>
            <a:r>
              <a:rPr lang="en-US" altLang="zh-CN"/>
              <a:t>Python</a:t>
            </a:r>
            <a:r>
              <a:rPr lang="zh-CN" altLang="en-US"/>
              <a:t>，灵活度与</a:t>
            </a:r>
            <a:r>
              <a:rPr lang="en-US" altLang="zh-CN"/>
              <a:t>Python</a:t>
            </a:r>
            <a:r>
              <a:rPr lang="zh-CN" altLang="en-US"/>
              <a:t>相当，需要解释器，开发效率最高（偏小规模），容易驾驭。</a:t>
            </a:r>
            <a:endParaRPr lang="zh-CN" altLang="en-US"/>
          </a:p>
          <a:p>
            <a:r>
              <a:rPr lang="en-US" altLang="zh-CN"/>
              <a:t>Shell</a:t>
            </a:r>
            <a:r>
              <a:rPr lang="zh-CN" altLang="en-US"/>
              <a:t>：</a:t>
            </a:r>
            <a:r>
              <a:rPr lang="en-US" altLang="zh-CN"/>
              <a:t>bash, sh</a:t>
            </a:r>
            <a:r>
              <a:rPr lang="zh-CN" altLang="en-US"/>
              <a:t>，</a:t>
            </a:r>
            <a:r>
              <a:rPr lang="en-US" altLang="zh-CN"/>
              <a:t>windows dos</a:t>
            </a:r>
            <a:r>
              <a:rPr lang="zh-CN" altLang="en-US"/>
              <a:t>。性能最差，灵活度最低，需要解释器，开发效率高，最容易驾驭。</a:t>
            </a:r>
            <a:endParaRPr lang="zh-CN" altLang="en-US"/>
          </a:p>
          <a:p>
            <a:r>
              <a:rPr lang="zh-CN" altLang="en-US"/>
              <a:t>专用语言：</a:t>
            </a:r>
            <a:endParaRPr lang="zh-CN" altLang="en-US"/>
          </a:p>
          <a:p>
            <a:pPr lvl="1"/>
            <a:r>
              <a:rPr lang="zh-CN" altLang="en-US"/>
              <a:t>数据库：</a:t>
            </a:r>
            <a:r>
              <a:rPr lang="en-US" altLang="zh-CN"/>
              <a:t>SQL</a:t>
            </a:r>
            <a:endParaRPr lang="en-US" altLang="zh-CN"/>
          </a:p>
          <a:p>
            <a:pPr lvl="1"/>
            <a:r>
              <a:rPr lang="zh-CN" altLang="en-US"/>
              <a:t>数学：</a:t>
            </a:r>
            <a:r>
              <a:rPr lang="en-US" altLang="zh-CN"/>
              <a:t>Matlab/Fortrain</a:t>
            </a:r>
            <a:endParaRPr lang="en-US" altLang="zh-CN"/>
          </a:p>
          <a:p>
            <a:pPr lvl="1"/>
            <a:r>
              <a:rPr lang="zh-CN" altLang="en-US"/>
              <a:t>硬件设计：</a:t>
            </a:r>
            <a:r>
              <a:rPr lang="en-US" altLang="zh-CN"/>
              <a:t>Verilog</a:t>
            </a:r>
            <a:endParaRPr lang="en-US" altLang="zh-CN"/>
          </a:p>
          <a:p>
            <a:pPr lvl="1"/>
            <a:r>
              <a:rPr lang="en-US" altLang="zh-CN"/>
              <a:t>Web</a:t>
            </a:r>
            <a:r>
              <a:rPr lang="zh-CN" altLang="en-US"/>
              <a:t>：</a:t>
            </a:r>
            <a:r>
              <a:rPr lang="en-US" altLang="zh-CN"/>
              <a:t>HTML/JS/PHP</a:t>
            </a:r>
            <a:endParaRPr lang="en-US" altLang="zh-CN"/>
          </a:p>
          <a:p>
            <a:pPr lvl="1"/>
            <a:r>
              <a:rPr lang="zh-CN" altLang="en-US"/>
              <a:t>多媒体：</a:t>
            </a:r>
            <a:r>
              <a:rPr lang="en-US" altLang="zh-CN"/>
              <a:t>ffmpeg</a:t>
            </a:r>
            <a:r>
              <a:rPr lang="zh-CN" altLang="en-US"/>
              <a:t>流处理</a:t>
            </a:r>
            <a:endParaRPr lang="zh-C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47700" y="258445"/>
            <a:ext cx="10515600" cy="887730"/>
          </a:xfrm>
        </p:spPr>
        <p:txBody>
          <a:bodyPr/>
          <a:p>
            <a:r>
              <a:rPr lang="zh-CN" altLang="en-US"/>
              <a:t>编程语言</a:t>
            </a:r>
            <a:r>
              <a:rPr lang="en-US" altLang="zh-CN"/>
              <a:t>-</a:t>
            </a:r>
            <a:r>
              <a:rPr lang="zh-CN" altLang="en-US"/>
              <a:t>学习建议</a:t>
            </a:r>
            <a:endParaRPr lang="zh-CN" altLang="en-US"/>
          </a:p>
        </p:txBody>
      </p:sp>
      <p:sp>
        <p:nvSpPr>
          <p:cNvPr id="3" name="Content Placeholder 2"/>
          <p:cNvSpPr>
            <a:spLocks noGrp="1"/>
          </p:cNvSpPr>
          <p:nvPr>
            <p:ph idx="1"/>
          </p:nvPr>
        </p:nvSpPr>
        <p:spPr>
          <a:xfrm>
            <a:off x="647700" y="1145540"/>
            <a:ext cx="10515600" cy="5376545"/>
          </a:xfrm>
        </p:spPr>
        <p:txBody>
          <a:bodyPr/>
          <a:p>
            <a:r>
              <a:rPr lang="zh-CN" altLang="en-US"/>
              <a:t>脱产学习：</a:t>
            </a:r>
            <a:endParaRPr lang="zh-CN" altLang="en-US"/>
          </a:p>
          <a:p>
            <a:pPr lvl="1"/>
            <a:r>
              <a:rPr lang="zh-CN" altLang="en-US" sz="1800"/>
              <a:t>重点学习</a:t>
            </a:r>
            <a:r>
              <a:rPr lang="en-US" altLang="zh-CN" sz="1800"/>
              <a:t>C</a:t>
            </a:r>
            <a:r>
              <a:rPr lang="zh-CN" altLang="en-US" sz="1800"/>
              <a:t>语言</a:t>
            </a:r>
            <a:endParaRPr lang="zh-CN" altLang="en-US" sz="1800"/>
          </a:p>
          <a:p>
            <a:pPr lvl="1"/>
            <a:r>
              <a:rPr lang="en-US" altLang="zh-CN">
                <a:sym typeface="+mn-ea"/>
              </a:rPr>
              <a:t>C++/Java/JS/Python/Golang</a:t>
            </a:r>
            <a:r>
              <a:rPr lang="zh-CN" altLang="en-US">
                <a:sym typeface="+mn-ea"/>
              </a:rPr>
              <a:t>任选一种进行熟悉</a:t>
            </a:r>
            <a:endParaRPr lang="zh-CN" altLang="en-US"/>
          </a:p>
          <a:p>
            <a:pPr lvl="1"/>
            <a:r>
              <a:rPr lang="zh-CN" altLang="en-US" sz="1800"/>
              <a:t>了解至少一种</a:t>
            </a:r>
            <a:r>
              <a:rPr lang="en-US" altLang="zh-CN" sz="1800"/>
              <a:t>CPU</a:t>
            </a:r>
            <a:r>
              <a:rPr lang="zh-CN" altLang="en-US" sz="1800"/>
              <a:t>平台的汇编语言</a:t>
            </a:r>
            <a:endParaRPr lang="zh-CN" altLang="en-US" sz="1800"/>
          </a:p>
          <a:p>
            <a:pPr lvl="1"/>
            <a:endParaRPr lang="zh-CN" altLang="en-US" sz="1800"/>
          </a:p>
          <a:p>
            <a:r>
              <a:rPr lang="zh-CN" altLang="en-US"/>
              <a:t>边干边学：</a:t>
            </a:r>
            <a:endParaRPr lang="zh-CN" altLang="en-US"/>
          </a:p>
          <a:p>
            <a:pPr lvl="1"/>
            <a:r>
              <a:rPr lang="zh-CN" altLang="en-US" sz="1800"/>
              <a:t>最常用的是</a:t>
            </a:r>
            <a:r>
              <a:rPr lang="en-US" altLang="zh-CN" sz="1800"/>
              <a:t>bash</a:t>
            </a:r>
            <a:r>
              <a:rPr lang="zh-CN" altLang="en-US" sz="1800"/>
              <a:t>和</a:t>
            </a:r>
            <a:r>
              <a:rPr lang="en-US" altLang="zh-CN" sz="1800"/>
              <a:t>sql</a:t>
            </a:r>
            <a:r>
              <a:rPr lang="zh-CN" altLang="en-US" sz="1800"/>
              <a:t>语言，最后总是要学习的</a:t>
            </a:r>
            <a:endParaRPr lang="zh-CN" altLang="en-US" sz="1800"/>
          </a:p>
          <a:p>
            <a:pPr lvl="1"/>
            <a:r>
              <a:rPr lang="zh-CN" altLang="en-US"/>
              <a:t>其他各个通用语言和专用语言都会随着工作涉及的内容进行学习。</a:t>
            </a:r>
            <a:endParaRPr lang="zh-CN" altLang="en-US"/>
          </a:p>
          <a:p>
            <a:pPr lvl="1"/>
            <a:r>
              <a:rPr lang="zh-CN" altLang="en-US"/>
              <a:t>配合其他内容进行学习：软件工程，阅读写作能力，解决问题的能力，沟通协调能力等。</a:t>
            </a:r>
            <a:endParaRPr lang="zh-CN" altLang="en-US"/>
          </a:p>
          <a:p>
            <a:pPr lvl="1"/>
            <a:endParaRPr lang="zh-CN" altLang="en-US"/>
          </a:p>
          <a:p>
            <a:r>
              <a:rPr lang="zh-CN" altLang="en-US"/>
              <a:t>基础支撑：</a:t>
            </a:r>
            <a:endParaRPr lang="zh-CN" altLang="en-US"/>
          </a:p>
          <a:p>
            <a:pPr lvl="1"/>
            <a:r>
              <a:rPr lang="zh-CN" altLang="en-US"/>
              <a:t>开发环境：集成开发环境，使用的框架，支撑库，编译器，调试器，编辑器，发布打包等。</a:t>
            </a:r>
            <a:endParaRPr lang="zh-CN" altLang="en-US"/>
          </a:p>
          <a:p>
            <a:pPr lvl="1"/>
            <a:r>
              <a:rPr lang="zh-CN" altLang="en-US"/>
              <a:t>运行环境：操作系统运行环境，所使用的框架运行环境，性能分析，稳定性分析等。</a:t>
            </a:r>
            <a:endParaRPr lang="zh-CN" altLang="en-US"/>
          </a:p>
          <a:p>
            <a:pPr lvl="1"/>
            <a:r>
              <a:rPr lang="zh-CN" altLang="en-US"/>
              <a:t>工具链：编译器、连接器、调试器的工作原理。</a:t>
            </a:r>
            <a:endParaRPr lang="zh-CN" altLang="en-US"/>
          </a:p>
          <a:p>
            <a:pPr lvl="1"/>
            <a:endParaRPr lang="zh-CN"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137025" y="123190"/>
            <a:ext cx="5147945" cy="529590"/>
          </a:xfrm>
        </p:spPr>
        <p:txBody>
          <a:bodyPr>
            <a:noAutofit/>
          </a:bodyPr>
          <a:p>
            <a:r>
              <a:rPr lang="zh-CN" altLang="en-US" sz="2800"/>
              <a:t>业务应用（</a:t>
            </a:r>
            <a:r>
              <a:rPr lang="en-US" altLang="zh-CN" sz="2800"/>
              <a:t>IT</a:t>
            </a:r>
            <a:r>
              <a:rPr lang="zh-CN" altLang="en-US" sz="2800"/>
              <a:t>的</a:t>
            </a:r>
            <a:r>
              <a:rPr lang="en-US" altLang="zh-CN" sz="2800"/>
              <a:t>XXX</a:t>
            </a:r>
            <a:r>
              <a:rPr lang="zh-CN" altLang="en-US" sz="2800"/>
              <a:t>）</a:t>
            </a:r>
            <a:endParaRPr lang="zh-CN" altLang="en-US" sz="2800"/>
          </a:p>
        </p:txBody>
      </p:sp>
      <p:sp>
        <p:nvSpPr>
          <p:cNvPr id="4" name="Content Placeholder 3"/>
          <p:cNvSpPr>
            <a:spLocks noGrp="1"/>
          </p:cNvSpPr>
          <p:nvPr>
            <p:ph idx="1"/>
          </p:nvPr>
        </p:nvSpPr>
        <p:spPr>
          <a:xfrm>
            <a:off x="635" y="652780"/>
            <a:ext cx="12191365" cy="6183630"/>
          </a:xfrm>
        </p:spPr>
        <p:txBody>
          <a:bodyPr>
            <a:normAutofit/>
          </a:bodyPr>
          <a:p>
            <a:r>
              <a:rPr lang="en-US" altLang="zh-CN" sz="2265"/>
              <a:t>IT</a:t>
            </a:r>
            <a:r>
              <a:rPr lang="zh-CN" altLang="en-US" sz="2265"/>
              <a:t>的业务模型：（实现视角）</a:t>
            </a:r>
            <a:endParaRPr lang="zh-CN" altLang="en-US" sz="2265"/>
          </a:p>
          <a:p>
            <a:pPr lvl="1"/>
            <a:r>
              <a:rPr lang="zh-CN" altLang="en-US" sz="2035"/>
              <a:t>专业建模：同各个具体行业相关的抽象建模</a:t>
            </a:r>
            <a:endParaRPr lang="zh-CN" altLang="en-US" sz="2035"/>
          </a:p>
          <a:p>
            <a:pPr lvl="1"/>
            <a:r>
              <a:rPr lang="zh-CN" altLang="en-US" sz="2035"/>
              <a:t>需求建模：业务需求，使用需求(展现人员/交互)，集成需求(稳定性/性能/兼容性/可扩展性)</a:t>
            </a:r>
            <a:endParaRPr lang="zh-CN" altLang="en-US" sz="2035"/>
          </a:p>
          <a:p>
            <a:pPr lvl="1"/>
            <a:r>
              <a:rPr lang="zh-CN" altLang="en-US" sz="2035"/>
              <a:t>平台环境：硬件/基础平台/扩展平台/各类组件，含所需的开发语言</a:t>
            </a:r>
            <a:endParaRPr lang="zh-CN" altLang="en-US" sz="2035"/>
          </a:p>
          <a:p>
            <a:pPr lvl="1"/>
            <a:r>
              <a:rPr lang="zh-CN" altLang="en-US" sz="2035"/>
              <a:t>集成开发：协调整合专业模型和需求模型，形成整体工作模型，再转换成平台环境可执行的模型</a:t>
            </a:r>
            <a:endParaRPr lang="zh-CN" altLang="en-US" sz="2035"/>
          </a:p>
          <a:p>
            <a:pPr lvl="1"/>
            <a:r>
              <a:rPr lang="zh-CN" altLang="en-US" sz="2035"/>
              <a:t>发展趋势：</a:t>
            </a:r>
            <a:endParaRPr lang="zh-CN" altLang="en-US" sz="2035"/>
          </a:p>
          <a:p>
            <a:r>
              <a:rPr lang="en-US" altLang="zh-CN" sz="2265"/>
              <a:t>IT</a:t>
            </a:r>
            <a:r>
              <a:rPr lang="zh-CN" altLang="en-US" sz="2265"/>
              <a:t>的应用模型：（功能视角和使用视角）</a:t>
            </a:r>
            <a:endParaRPr lang="zh-CN" altLang="en-US" sz="2265"/>
          </a:p>
          <a:p>
            <a:pPr lvl="1"/>
            <a:r>
              <a:rPr lang="zh-CN" altLang="en-US" sz="2035"/>
              <a:t>价值建模：价值定位/功能边界/推广使用，至少需要了解业务模型</a:t>
            </a:r>
            <a:endParaRPr lang="zh-CN" altLang="en-US" sz="2035"/>
          </a:p>
          <a:p>
            <a:pPr lvl="1"/>
            <a:r>
              <a:rPr lang="zh-CN" altLang="en-US" sz="2035"/>
              <a:t>展现形式：安装包</a:t>
            </a:r>
            <a:r>
              <a:rPr lang="en-US" altLang="zh-CN" sz="2035"/>
              <a:t> (</a:t>
            </a:r>
            <a:r>
              <a:rPr lang="zh-CN" altLang="en-US" sz="2035"/>
              <a:t>图形程序</a:t>
            </a:r>
            <a:r>
              <a:rPr lang="en-US" altLang="zh-CN" sz="2035"/>
              <a:t>/</a:t>
            </a:r>
            <a:r>
              <a:rPr lang="zh-CN" altLang="en-US" sz="2035"/>
              <a:t>命令程序</a:t>
            </a:r>
            <a:r>
              <a:rPr lang="en-US" altLang="zh-CN" sz="2035"/>
              <a:t>)</a:t>
            </a:r>
            <a:r>
              <a:rPr lang="zh-CN" altLang="en-US" sz="2035"/>
              <a:t>，图形插件，业务插件，传感器类(含AI)，无展现形式</a:t>
            </a:r>
            <a:endParaRPr lang="zh-CN" altLang="en-US" sz="2035"/>
          </a:p>
          <a:p>
            <a:pPr lvl="1"/>
            <a:r>
              <a:rPr lang="zh-CN" altLang="en-US" sz="2035"/>
              <a:t>人员角色：普通用户，系统管理，开发调试，自动处理，并发量，相互间关系和协调</a:t>
            </a:r>
            <a:endParaRPr lang="zh-CN" altLang="en-US" sz="2035"/>
          </a:p>
          <a:p>
            <a:pPr lvl="1"/>
            <a:r>
              <a:rPr lang="zh-CN" altLang="en-US" sz="2035"/>
              <a:t>交互方式：复杂交互(图形/命令/语音/记录)，简单交互(指纹/刷卡/二维码/面部/手势)，传感器触发</a:t>
            </a:r>
            <a:endParaRPr lang="zh-CN" altLang="en-US" sz="2035"/>
          </a:p>
          <a:p>
            <a:pPr lvl="1"/>
            <a:r>
              <a:rPr lang="zh-CN" altLang="en-US" sz="2035"/>
              <a:t>发展趋势：</a:t>
            </a:r>
            <a:endParaRPr lang="zh-CN" altLang="en-US" sz="2035"/>
          </a:p>
          <a:p>
            <a:r>
              <a:rPr lang="en-US" altLang="zh-CN" sz="2265"/>
              <a:t>IT</a:t>
            </a:r>
            <a:r>
              <a:rPr lang="zh-CN" altLang="en-US" sz="2265"/>
              <a:t>的价值产出：（整体视角）</a:t>
            </a:r>
            <a:endParaRPr lang="zh-CN" altLang="en-US" sz="2265"/>
          </a:p>
          <a:p>
            <a:pPr lvl="1"/>
            <a:r>
              <a:rPr lang="zh-CN" altLang="en-US" sz="2035"/>
              <a:t>生产：效率及创新</a:t>
            </a:r>
            <a:endParaRPr lang="zh-CN" altLang="en-US" sz="2035"/>
          </a:p>
          <a:p>
            <a:pPr lvl="1"/>
            <a:r>
              <a:rPr lang="zh-CN" altLang="en-US" sz="2035"/>
              <a:t>消费：成本及创新</a:t>
            </a:r>
            <a:endParaRPr lang="zh-CN" altLang="en-US" sz="2035"/>
          </a:p>
          <a:p>
            <a:pPr lvl="1"/>
            <a:r>
              <a:rPr lang="zh-CN" altLang="en-US" sz="2035"/>
              <a:t>投资：壁垒及创新</a:t>
            </a:r>
            <a:endParaRPr lang="zh-CN" altLang="en-US" sz="2035"/>
          </a:p>
          <a:p>
            <a:pPr lvl="1"/>
            <a:r>
              <a:rPr lang="zh-CN" altLang="en-US" sz="2035"/>
              <a:t>社会：治理及趋势</a:t>
            </a:r>
            <a:endParaRPr lang="zh-CN" altLang="en-US" sz="2035"/>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139950" y="15240"/>
            <a:ext cx="7901940" cy="810260"/>
          </a:xfrm>
        </p:spPr>
        <p:txBody>
          <a:bodyPr>
            <a:noAutofit/>
          </a:bodyPr>
          <a:p>
            <a:r>
              <a:rPr lang="zh-CN" altLang="en-US" sz="4000"/>
              <a:t>平台组件（系统的</a:t>
            </a:r>
            <a:r>
              <a:rPr lang="en-US" altLang="zh-CN" sz="4000"/>
              <a:t>XXX</a:t>
            </a:r>
            <a:r>
              <a:rPr lang="zh-CN" altLang="en-US" sz="4000"/>
              <a:t>）</a:t>
            </a:r>
            <a:endParaRPr lang="zh-CN" altLang="en-US" sz="4000"/>
          </a:p>
        </p:txBody>
      </p:sp>
      <p:sp>
        <p:nvSpPr>
          <p:cNvPr id="4" name="Content Placeholder 3"/>
          <p:cNvSpPr>
            <a:spLocks noGrp="1"/>
          </p:cNvSpPr>
          <p:nvPr>
            <p:ph idx="1"/>
          </p:nvPr>
        </p:nvSpPr>
        <p:spPr>
          <a:xfrm>
            <a:off x="54610" y="825500"/>
            <a:ext cx="12191365" cy="5902325"/>
          </a:xfrm>
        </p:spPr>
        <p:txBody>
          <a:bodyPr>
            <a:normAutofit/>
          </a:bodyPr>
          <a:p>
            <a:r>
              <a:rPr lang="zh-CN" altLang="en-US" sz="2520"/>
              <a:t>系统的基础平台</a:t>
            </a:r>
            <a:endParaRPr lang="zh-CN" altLang="en-US" sz="2520"/>
          </a:p>
          <a:p>
            <a:pPr lvl="1"/>
            <a:r>
              <a:rPr lang="zh-CN" altLang="en-US" sz="2265"/>
              <a:t>操作系统：功能视角，使用视角，实现视角</a:t>
            </a:r>
            <a:endParaRPr lang="zh-CN" altLang="en-US" sz="2265"/>
          </a:p>
          <a:p>
            <a:pPr lvl="1"/>
            <a:r>
              <a:rPr lang="zh-CN" altLang="en-US" sz="2265"/>
              <a:t>虚拟机：重量级，轻量级，桌面级</a:t>
            </a:r>
            <a:endParaRPr lang="zh-CN" altLang="en-US" sz="2265"/>
          </a:p>
          <a:p>
            <a:pPr lvl="1"/>
            <a:r>
              <a:rPr lang="zh-CN" altLang="en-US" sz="2265"/>
              <a:t>分布式：重量级，轻量级，服务级</a:t>
            </a:r>
            <a:endParaRPr lang="zh-CN" altLang="en-US" sz="2265"/>
          </a:p>
          <a:p>
            <a:pPr lvl="1"/>
            <a:r>
              <a:rPr lang="zh-CN" altLang="en-US" sz="2265"/>
              <a:t>发展趋势：物联化，</a:t>
            </a:r>
            <a:r>
              <a:rPr lang="en-US" altLang="zh-CN" sz="2265"/>
              <a:t>AI</a:t>
            </a:r>
            <a:r>
              <a:rPr lang="zh-CN" altLang="en-US" sz="2265"/>
              <a:t>化，</a:t>
            </a:r>
            <a:r>
              <a:rPr lang="en-US" altLang="zh-CN" sz="2265"/>
              <a:t>OS</a:t>
            </a:r>
            <a:r>
              <a:rPr lang="zh-CN" altLang="en-US" sz="2265"/>
              <a:t>化</a:t>
            </a:r>
            <a:endParaRPr lang="zh-CN" altLang="en-US" sz="2265"/>
          </a:p>
          <a:p>
            <a:r>
              <a:rPr lang="zh-CN" altLang="en-US" sz="2520"/>
              <a:t>系统的扩展平台</a:t>
            </a:r>
            <a:endParaRPr lang="zh-CN" altLang="en-US" sz="2520"/>
          </a:p>
          <a:p>
            <a:pPr lvl="1"/>
            <a:r>
              <a:rPr lang="zh-CN" altLang="en-US" sz="2265"/>
              <a:t>处理类：高级语言引擎，协处理引擎，</a:t>
            </a:r>
            <a:r>
              <a:rPr lang="en-US" altLang="zh-CN" sz="2265"/>
              <a:t>Web</a:t>
            </a:r>
            <a:r>
              <a:rPr lang="zh-CN" altLang="en-US" sz="2265"/>
              <a:t>服务</a:t>
            </a:r>
            <a:endParaRPr lang="zh-CN" altLang="en-US" sz="2265"/>
          </a:p>
          <a:p>
            <a:pPr lvl="1"/>
            <a:r>
              <a:rPr lang="zh-CN" altLang="en-US" sz="2265"/>
              <a:t>存储类：各种不同类型的数据库管理，分布式存储服务（包括</a:t>
            </a:r>
            <a:r>
              <a:rPr lang="en-US" altLang="zh-CN" sz="2265"/>
              <a:t>ftp</a:t>
            </a:r>
            <a:r>
              <a:rPr lang="zh-CN" altLang="en-US" sz="2265"/>
              <a:t>）。</a:t>
            </a:r>
            <a:endParaRPr lang="zh-CN" altLang="en-US" sz="2265"/>
          </a:p>
          <a:p>
            <a:pPr lvl="1"/>
            <a:r>
              <a:rPr lang="zh-CN" altLang="en-US" sz="2265"/>
              <a:t>传输类：交互通道（</a:t>
            </a:r>
            <a:r>
              <a:rPr lang="en-US" altLang="zh-CN" sz="2265"/>
              <a:t>ssh/</a:t>
            </a:r>
            <a:r>
              <a:rPr lang="zh-CN" altLang="en-US" sz="2265"/>
              <a:t>向日葵），地址处理（</a:t>
            </a:r>
            <a:r>
              <a:rPr lang="en-US" altLang="zh-CN" sz="2265"/>
              <a:t>DNS/</a:t>
            </a:r>
            <a:r>
              <a:rPr lang="zh-CN" altLang="en-US" sz="2265"/>
              <a:t>路由</a:t>
            </a:r>
            <a:r>
              <a:rPr lang="en-US" altLang="zh-CN" sz="2265"/>
              <a:t>/vpn</a:t>
            </a:r>
            <a:r>
              <a:rPr lang="zh-CN" altLang="en-US" sz="2265"/>
              <a:t>），搜索</a:t>
            </a:r>
            <a:r>
              <a:rPr lang="en-US" altLang="zh-CN" sz="2265"/>
              <a:t>/</a:t>
            </a:r>
            <a:r>
              <a:rPr lang="zh-CN" altLang="en-US" sz="2265"/>
              <a:t>推荐引擎</a:t>
            </a:r>
            <a:endParaRPr lang="zh-CN" altLang="en-US" sz="2265"/>
          </a:p>
          <a:p>
            <a:pPr lvl="1"/>
            <a:r>
              <a:rPr lang="zh-CN" altLang="en-US" sz="2265"/>
              <a:t>集成类：同具体业务领域相关（使用各种不同的语言），</a:t>
            </a:r>
            <a:r>
              <a:rPr lang="en-US" altLang="zh-CN" sz="2265"/>
              <a:t>AI</a:t>
            </a:r>
            <a:r>
              <a:rPr lang="zh-CN" altLang="en-US" sz="2265"/>
              <a:t>为例进行说明。</a:t>
            </a:r>
            <a:endParaRPr lang="zh-CN" altLang="en-US" sz="2265"/>
          </a:p>
          <a:p>
            <a:r>
              <a:rPr lang="zh-CN" altLang="en-US" sz="2520"/>
              <a:t>系统的各种组件</a:t>
            </a:r>
            <a:endParaRPr lang="zh-CN" altLang="en-US" sz="2520"/>
          </a:p>
          <a:p>
            <a:pPr lvl="1"/>
            <a:r>
              <a:rPr lang="zh-CN" altLang="en-US" sz="2265"/>
              <a:t>类型划分：全绑定（框架），半通用（专用库），全通用（通用库）；源码</a:t>
            </a:r>
            <a:r>
              <a:rPr lang="en-US" altLang="zh-CN" sz="2265"/>
              <a:t>/</a:t>
            </a:r>
            <a:r>
              <a:rPr lang="zh-CN" altLang="en-US" sz="2265"/>
              <a:t>运行</a:t>
            </a:r>
            <a:r>
              <a:rPr lang="en-US" altLang="zh-CN" sz="2265"/>
              <a:t>/</a:t>
            </a:r>
            <a:r>
              <a:rPr lang="zh-CN" altLang="en-US" sz="2265"/>
              <a:t>符号</a:t>
            </a:r>
            <a:endParaRPr lang="zh-CN" altLang="en-US" sz="2265"/>
          </a:p>
          <a:p>
            <a:pPr lvl="1"/>
            <a:r>
              <a:rPr lang="zh-CN" altLang="en-US" sz="2265"/>
              <a:t>封装发行：独立插件，安装包；下载源，光盘，容器，镜像</a:t>
            </a:r>
            <a:endParaRPr lang="zh-CN" altLang="en-US" sz="2265"/>
          </a:p>
          <a:p>
            <a:pPr lvl="1"/>
            <a:r>
              <a:rPr lang="zh-CN" altLang="en-US" sz="2265"/>
              <a:t>使用形式：框架运行，库使用，多语言种类相互调用</a:t>
            </a:r>
            <a:endParaRPr lang="zh-CN" altLang="en-US" sz="2265"/>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139950" y="4445"/>
            <a:ext cx="7901940" cy="896620"/>
          </a:xfrm>
        </p:spPr>
        <p:txBody>
          <a:bodyPr>
            <a:noAutofit/>
          </a:bodyPr>
          <a:p>
            <a:r>
              <a:rPr lang="zh-CN" altLang="en-US" sz="4000"/>
              <a:t>体系原理（电脑的</a:t>
            </a:r>
            <a:r>
              <a:rPr lang="en-US" altLang="zh-CN" sz="4000"/>
              <a:t>XXX</a:t>
            </a:r>
            <a:r>
              <a:rPr lang="zh-CN" altLang="en-US" sz="4000"/>
              <a:t>）</a:t>
            </a:r>
            <a:endParaRPr lang="zh-CN" altLang="en-US" sz="4000"/>
          </a:p>
        </p:txBody>
      </p:sp>
      <p:sp>
        <p:nvSpPr>
          <p:cNvPr id="4" name="Content Placeholder 3"/>
          <p:cNvSpPr>
            <a:spLocks noGrp="1"/>
          </p:cNvSpPr>
          <p:nvPr>
            <p:ph idx="1"/>
          </p:nvPr>
        </p:nvSpPr>
        <p:spPr>
          <a:xfrm>
            <a:off x="54610" y="976630"/>
            <a:ext cx="12191365" cy="5751195"/>
          </a:xfrm>
        </p:spPr>
        <p:txBody>
          <a:bodyPr>
            <a:normAutofit fontScale="70000"/>
          </a:bodyPr>
          <a:p>
            <a:r>
              <a:rPr lang="zh-CN" altLang="en-US" sz="2800"/>
              <a:t>电脑的硬件模型</a:t>
            </a:r>
            <a:endParaRPr lang="zh-CN" altLang="en-US" sz="2800"/>
          </a:p>
          <a:p>
            <a:pPr lvl="1"/>
            <a:r>
              <a:rPr lang="zh-CN" altLang="en-US" sz="2520"/>
              <a:t>数字建模：数字化原理；2/16/10进制，8/16/32/64位，小数；时序量化（基频）；总线</a:t>
            </a:r>
            <a:endParaRPr lang="zh-CN" altLang="en-US" sz="2520"/>
          </a:p>
          <a:p>
            <a:pPr lvl="1"/>
            <a:r>
              <a:rPr lang="zh-CN" altLang="en-US" sz="2520"/>
              <a:t>语言建模：词性</a:t>
            </a:r>
            <a:r>
              <a:rPr lang="en-US" altLang="zh-CN" sz="2520"/>
              <a:t>(</a:t>
            </a:r>
            <a:r>
              <a:rPr lang="zh-CN" altLang="en-US" sz="2520"/>
              <a:t>数据/地址/控制</a:t>
            </a:r>
            <a:r>
              <a:rPr lang="en-US" altLang="zh-CN" sz="2520"/>
              <a:t>)</a:t>
            </a:r>
            <a:r>
              <a:rPr lang="zh-CN" altLang="en-US" sz="2520"/>
              <a:t>，语法</a:t>
            </a:r>
            <a:r>
              <a:rPr lang="en-US" altLang="zh-CN" sz="2520"/>
              <a:t>(</a:t>
            </a:r>
            <a:r>
              <a:rPr lang="zh-CN" altLang="en-US" sz="2520"/>
              <a:t>指令</a:t>
            </a:r>
            <a:r>
              <a:rPr lang="en-US" altLang="zh-CN" sz="2520"/>
              <a:t>)</a:t>
            </a:r>
            <a:r>
              <a:rPr lang="zh-CN" altLang="en-US" sz="2520"/>
              <a:t>，句子段落</a:t>
            </a:r>
            <a:r>
              <a:rPr lang="en-US" altLang="zh-CN" sz="2520"/>
              <a:t>(</a:t>
            </a:r>
            <a:r>
              <a:rPr lang="zh-CN" altLang="en-US" sz="2520"/>
              <a:t>代码/数据</a:t>
            </a:r>
            <a:r>
              <a:rPr lang="en-US" altLang="zh-CN" sz="2520"/>
              <a:t>)</a:t>
            </a:r>
            <a:r>
              <a:rPr lang="zh-CN" altLang="en-US" sz="2520"/>
              <a:t>，文章</a:t>
            </a:r>
            <a:r>
              <a:rPr lang="en-US" altLang="zh-CN" sz="2520"/>
              <a:t>(</a:t>
            </a:r>
            <a:r>
              <a:rPr lang="zh-CN" altLang="en-US" sz="2520"/>
              <a:t>程序</a:t>
            </a:r>
            <a:r>
              <a:rPr lang="en-US" altLang="zh-CN" sz="2520"/>
              <a:t>)</a:t>
            </a:r>
            <a:r>
              <a:rPr lang="zh-CN" altLang="en-US" sz="2520"/>
              <a:t>；记忆保存；虚拟化</a:t>
            </a:r>
            <a:endParaRPr lang="zh-CN" altLang="en-US" sz="2520"/>
          </a:p>
          <a:p>
            <a:pPr lvl="1"/>
            <a:r>
              <a:rPr lang="zh-CN" altLang="en-US" sz="2520"/>
              <a:t>模型示例：处理，传输，集成</a:t>
            </a:r>
            <a:endParaRPr lang="zh-CN" altLang="en-US" sz="2520"/>
          </a:p>
          <a:p>
            <a:pPr lvl="1"/>
            <a:endParaRPr lang="zh-CN" altLang="en-US" sz="2520"/>
          </a:p>
          <a:p>
            <a:r>
              <a:rPr lang="zh-CN" altLang="en-US" sz="2800"/>
              <a:t>电脑的软硬接口</a:t>
            </a:r>
            <a:endParaRPr lang="zh-CN" altLang="en-US" sz="2800"/>
          </a:p>
          <a:p>
            <a:pPr lvl="1"/>
            <a:r>
              <a:rPr lang="zh-CN" altLang="en-US" sz="2520"/>
              <a:t>处理类：寄存器，内存模型（软件配合），指令集，调用栈（规则由软件工具链定义并配合实现）</a:t>
            </a:r>
            <a:endParaRPr lang="zh-CN" altLang="en-US" sz="2520"/>
          </a:p>
          <a:p>
            <a:pPr lvl="1"/>
            <a:r>
              <a:rPr sz="2520"/>
              <a:t>传输类：寄存器映射，DMA映射，中断异常；时钟/定时器；路由</a:t>
            </a:r>
            <a:endParaRPr sz="2520"/>
          </a:p>
          <a:p>
            <a:pPr lvl="1"/>
            <a:r>
              <a:rPr lang="zh-CN" altLang="en-US" sz="2520"/>
              <a:t>集成类：bios, uboot, IPMI，智能网卡；硬件软件化/软件硬件化</a:t>
            </a:r>
            <a:endParaRPr lang="zh-CN" altLang="en-US" sz="2520"/>
          </a:p>
          <a:p>
            <a:pPr lvl="1"/>
            <a:r>
              <a:rPr lang="zh-CN" altLang="en-US" sz="2520"/>
              <a:t>半成品：服务器/台式机/笔记本/手机/路由器/交换机/各类嵌入式设备/裸机，网卡/显卡/智能卡/硬盘/USB转串口...</a:t>
            </a:r>
            <a:endParaRPr lang="zh-CN" altLang="en-US" sz="2520"/>
          </a:p>
          <a:p>
            <a:pPr lvl="1"/>
            <a:endParaRPr lang="zh-CN" altLang="en-US" sz="2265"/>
          </a:p>
          <a:p>
            <a:r>
              <a:rPr lang="zh-CN" altLang="en-US" sz="2800"/>
              <a:t>电脑的软件模型：</a:t>
            </a:r>
            <a:endParaRPr lang="zh-CN" altLang="en-US" sz="1830"/>
          </a:p>
          <a:p>
            <a:pPr lvl="1"/>
            <a:r>
              <a:rPr lang="zh-CN" altLang="en-US" sz="2520"/>
              <a:t>模型类型：操作系统，工具链（含虚拟化），平台组件，业务应用</a:t>
            </a:r>
            <a:endParaRPr lang="zh-CN" altLang="en-US" sz="2520"/>
          </a:p>
          <a:p>
            <a:pPr lvl="1"/>
            <a:r>
              <a:rPr lang="zh-CN" altLang="en-US" sz="2520"/>
              <a:t>操作系统：软件环境模型（开发/部署/运行），用户使用模型，系统管理模型</a:t>
            </a:r>
            <a:endParaRPr lang="zh-CN" altLang="en-US" sz="2520"/>
          </a:p>
          <a:p>
            <a:pPr lvl="1"/>
            <a:r>
              <a:rPr lang="zh-CN" altLang="en-US" sz="2520"/>
              <a:t>实用产品：服务器/台式机/笔记本/手机，一体机，各类桌面应用软件，各类单机/分布式业务系统...</a:t>
            </a:r>
            <a:endParaRPr lang="zh-CN" altLang="en-US" sz="252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47700" y="42545"/>
            <a:ext cx="10515600" cy="713740"/>
          </a:xfrm>
        </p:spPr>
        <p:txBody>
          <a:bodyPr/>
          <a:p>
            <a:r>
              <a:rPr lang="zh-CN" altLang="en-US"/>
              <a:t>程序员看</a:t>
            </a:r>
            <a:r>
              <a:rPr lang="en-US" altLang="zh-CN"/>
              <a:t>35</a:t>
            </a:r>
            <a:r>
              <a:rPr lang="zh-CN" altLang="en-US"/>
              <a:t>岁</a:t>
            </a:r>
            <a:endParaRPr lang="zh-CN" altLang="en-US"/>
          </a:p>
        </p:txBody>
      </p:sp>
      <p:sp>
        <p:nvSpPr>
          <p:cNvPr id="3" name="Content Placeholder 2"/>
          <p:cNvSpPr>
            <a:spLocks noGrp="1"/>
          </p:cNvSpPr>
          <p:nvPr>
            <p:ph idx="1"/>
          </p:nvPr>
        </p:nvSpPr>
        <p:spPr>
          <a:xfrm>
            <a:off x="257810" y="1068070"/>
            <a:ext cx="11780520" cy="5083810"/>
          </a:xfrm>
        </p:spPr>
        <p:txBody>
          <a:bodyPr/>
          <a:p>
            <a:r>
              <a:rPr lang="zh-CN" altLang="en-US"/>
              <a:t>主观体验</a:t>
            </a:r>
            <a:endParaRPr lang="zh-CN" altLang="en-US"/>
          </a:p>
          <a:p>
            <a:pPr lvl="1"/>
            <a:r>
              <a:rPr lang="zh-CN" altLang="en-US"/>
              <a:t>天生就是不喜欢，但被逼无奈，生活所迫，不得不选择这个行业。不断学习，不断提升，态度认知。</a:t>
            </a:r>
            <a:endParaRPr lang="zh-CN" altLang="en-US"/>
          </a:p>
          <a:p>
            <a:pPr lvl="1"/>
            <a:r>
              <a:rPr lang="zh-CN" altLang="en-US"/>
              <a:t>没有成就感，总是遭受挫折，天天加班，总是压力山大，成为被批评的对象。</a:t>
            </a:r>
            <a:endParaRPr lang="zh-CN" altLang="en-US"/>
          </a:p>
          <a:p>
            <a:pPr lvl="1"/>
            <a:r>
              <a:rPr lang="zh-CN" altLang="en-US"/>
              <a:t>对程序员的未来感到焦虑，感到迷茫。</a:t>
            </a:r>
            <a:endParaRPr lang="zh-CN" altLang="en-US"/>
          </a:p>
          <a:p>
            <a:pPr lvl="1"/>
            <a:endParaRPr lang="zh-CN" altLang="en-US"/>
          </a:p>
          <a:p>
            <a:r>
              <a:rPr lang="zh-CN" altLang="en-US"/>
              <a:t>自我管理</a:t>
            </a:r>
            <a:endParaRPr lang="zh-CN" altLang="en-US"/>
          </a:p>
          <a:p>
            <a:pPr lvl="1"/>
            <a:r>
              <a:rPr lang="zh-CN" altLang="en-US"/>
              <a:t>生活习惯：打游戏，吸烟，酗酒，锻炼身体（体操，眼保健操），整理总结，计划规划，计划不如变化快。</a:t>
            </a:r>
            <a:endParaRPr lang="zh-CN" altLang="en-US"/>
          </a:p>
          <a:p>
            <a:pPr lvl="1"/>
            <a:r>
              <a:rPr lang="zh-CN" altLang="en-US"/>
              <a:t>整理总结：总结得失，尽快改正处理，写日报</a:t>
            </a:r>
            <a:r>
              <a:rPr lang="en-US" altLang="zh-CN"/>
              <a:t>/</a:t>
            </a:r>
            <a:r>
              <a:rPr lang="zh-CN" altLang="en-US"/>
              <a:t>周报</a:t>
            </a:r>
            <a:r>
              <a:rPr lang="en-US" altLang="zh-CN"/>
              <a:t>/</a:t>
            </a:r>
            <a:r>
              <a:rPr lang="zh-CN" altLang="en-US"/>
              <a:t>月报</a:t>
            </a:r>
            <a:r>
              <a:rPr lang="en-US" altLang="zh-CN"/>
              <a:t>/</a:t>
            </a:r>
            <a:r>
              <a:rPr lang="zh-CN" altLang="en-US"/>
              <a:t>年报，整理资源，写文档（不拘于形式）。</a:t>
            </a:r>
            <a:endParaRPr lang="zh-CN" altLang="en-US"/>
          </a:p>
          <a:p>
            <a:pPr lvl="1"/>
            <a:r>
              <a:rPr lang="zh-CN" altLang="en-US"/>
              <a:t>计划规划：自己给自己制定可行的小目标和大目标，配合整体，及时沟通，利害惰性，自我跟踪。</a:t>
            </a:r>
            <a:endParaRPr lang="zh-CN" altLang="en-US"/>
          </a:p>
          <a:p>
            <a:pPr lvl="1"/>
            <a:endParaRPr lang="zh-CN" altLang="en-US"/>
          </a:p>
          <a:p>
            <a:r>
              <a:rPr lang="zh-CN" altLang="en-US"/>
              <a:t>态度认知</a:t>
            </a:r>
            <a:endParaRPr lang="zh-CN" altLang="en-US"/>
          </a:p>
          <a:p>
            <a:pPr lvl="1"/>
            <a:r>
              <a:rPr lang="zh-CN" altLang="en-US"/>
              <a:t>职责范围：开发与需求，开发与设计，开发与开发，开发与测试，开发与发布，开发与维护的关系。</a:t>
            </a:r>
            <a:endParaRPr lang="zh-CN" altLang="en-US"/>
          </a:p>
          <a:p>
            <a:pPr lvl="1"/>
            <a:r>
              <a:rPr lang="zh-CN" altLang="en-US"/>
              <a:t>人与人：合作</a:t>
            </a:r>
            <a:r>
              <a:rPr lang="en-US" altLang="zh-CN"/>
              <a:t>/</a:t>
            </a:r>
            <a:r>
              <a:rPr lang="zh-CN" altLang="en-US"/>
              <a:t>竞争</a:t>
            </a:r>
            <a:r>
              <a:rPr lang="en-US" altLang="zh-CN"/>
              <a:t>/</a:t>
            </a:r>
            <a:r>
              <a:rPr lang="zh-CN" altLang="en-US"/>
              <a:t>对抗</a:t>
            </a:r>
            <a:r>
              <a:rPr lang="en-US" altLang="zh-CN"/>
              <a:t>/</a:t>
            </a:r>
            <a:r>
              <a:rPr lang="zh-CN" altLang="en-US"/>
              <a:t>作战，如何处理内卷内耗，利益处理；面子和沉没成本，面向发展，注重产出价值。</a:t>
            </a:r>
            <a:endParaRPr lang="zh-CN" altLang="en-US"/>
          </a:p>
          <a:p>
            <a:pPr lvl="1"/>
            <a:r>
              <a:rPr lang="zh-CN" altLang="en-US"/>
              <a:t>人与社会：</a:t>
            </a:r>
            <a:r>
              <a:rPr lang="en-US" altLang="zh-CN"/>
              <a:t>IT</a:t>
            </a:r>
            <a:r>
              <a:rPr lang="zh-CN" altLang="en-US"/>
              <a:t>产业，宏观经济，国家发展，世界格局，</a:t>
            </a:r>
            <a:r>
              <a:rPr lang="zh-CN" altLang="en-US">
                <a:sym typeface="+mn-ea"/>
              </a:rPr>
              <a:t>社会价值，</a:t>
            </a:r>
            <a:r>
              <a:rPr lang="zh-CN" altLang="en-US"/>
              <a:t>发展规划（基于但不局限于程序员）。</a:t>
            </a:r>
            <a:endParaRPr lang="zh-CN"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139950" y="220345"/>
            <a:ext cx="7901940" cy="896620"/>
          </a:xfrm>
        </p:spPr>
        <p:txBody>
          <a:bodyPr>
            <a:noAutofit/>
          </a:bodyPr>
          <a:p>
            <a:r>
              <a:rPr lang="zh-CN" altLang="en-US" sz="4000"/>
              <a:t>程序员的</a:t>
            </a:r>
            <a:r>
              <a:rPr lang="en-US" altLang="zh-CN" sz="4000"/>
              <a:t>XXX</a:t>
            </a:r>
            <a:endParaRPr lang="en-US" altLang="zh-CN" sz="4000"/>
          </a:p>
        </p:txBody>
      </p:sp>
      <p:sp>
        <p:nvSpPr>
          <p:cNvPr id="4" name="Content Placeholder 3"/>
          <p:cNvSpPr>
            <a:spLocks noGrp="1"/>
          </p:cNvSpPr>
          <p:nvPr>
            <p:ph idx="1"/>
          </p:nvPr>
        </p:nvSpPr>
        <p:spPr>
          <a:xfrm>
            <a:off x="1640840" y="1797685"/>
            <a:ext cx="8822055" cy="3364865"/>
          </a:xfrm>
        </p:spPr>
        <p:txBody>
          <a:bodyPr>
            <a:normAutofit/>
          </a:bodyPr>
          <a:p>
            <a:r>
              <a:rPr lang="zh-CN" altLang="en-US" sz="2800"/>
              <a:t>属性：程序员的核心属性</a:t>
            </a:r>
            <a:endParaRPr lang="zh-CN" altLang="en-US" sz="2800"/>
          </a:p>
          <a:p>
            <a:r>
              <a:rPr lang="zh-CN" altLang="en-US" sz="2800"/>
              <a:t>环境：程序员的四维时空</a:t>
            </a:r>
            <a:endParaRPr lang="zh-CN" altLang="en-US" sz="2800"/>
          </a:p>
          <a:p>
            <a:r>
              <a:rPr lang="zh-CN" altLang="en-US" sz="2800"/>
              <a:t>活动：</a:t>
            </a:r>
            <a:endParaRPr lang="zh-CN" altLang="en-US" sz="2800"/>
          </a:p>
          <a:p>
            <a:pPr lvl="1"/>
            <a:r>
              <a:rPr lang="zh-CN" altLang="en-US" sz="2800"/>
              <a:t>设计：程序员的概要设计</a:t>
            </a:r>
            <a:endParaRPr lang="zh-CN" altLang="en-US" sz="2800"/>
          </a:p>
          <a:p>
            <a:pPr lvl="1"/>
            <a:r>
              <a:rPr lang="zh-CN" altLang="en-US" sz="2800"/>
              <a:t>实现：程序员的编码实现</a:t>
            </a:r>
            <a:endParaRPr lang="zh-CN" altLang="en-US" sz="2800"/>
          </a:p>
          <a:p>
            <a:pPr lvl="1"/>
            <a:r>
              <a:rPr lang="zh-CN" altLang="en-US" sz="2800"/>
              <a:t>测试：程序员的调试测试</a:t>
            </a:r>
            <a:endParaRPr lang="zh-CN" altLang="en-US" sz="28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47700" y="194945"/>
            <a:ext cx="10515600" cy="687705"/>
          </a:xfrm>
        </p:spPr>
        <p:txBody>
          <a:bodyPr/>
          <a:p>
            <a:r>
              <a:rPr lang="zh-CN" altLang="en-US"/>
              <a:t>从程序员视角看。。。</a:t>
            </a:r>
            <a:endParaRPr lang="en-US" altLang="zh-CN"/>
          </a:p>
        </p:txBody>
      </p:sp>
      <p:sp>
        <p:nvSpPr>
          <p:cNvPr id="3" name="Content Placeholder 2"/>
          <p:cNvSpPr>
            <a:spLocks noGrp="1"/>
          </p:cNvSpPr>
          <p:nvPr>
            <p:ph idx="1"/>
          </p:nvPr>
        </p:nvSpPr>
        <p:spPr>
          <a:xfrm>
            <a:off x="647700" y="945515"/>
            <a:ext cx="10515600" cy="5697855"/>
          </a:xfrm>
        </p:spPr>
        <p:txBody>
          <a:bodyPr/>
          <a:p>
            <a:r>
              <a:rPr lang="zh-CN" altLang="en-US"/>
              <a:t>程序员看</a:t>
            </a:r>
            <a:r>
              <a:rPr lang="en-US" altLang="zh-CN"/>
              <a:t>35</a:t>
            </a:r>
            <a:r>
              <a:rPr lang="zh-CN" altLang="en-US"/>
              <a:t>岁</a:t>
            </a:r>
            <a:endParaRPr lang="zh-CN" altLang="en-US"/>
          </a:p>
          <a:p>
            <a:r>
              <a:rPr lang="zh-CN" altLang="en-US"/>
              <a:t>程序员看</a:t>
            </a:r>
            <a:r>
              <a:rPr lang="en-US" altLang="zh-CN"/>
              <a:t>AI</a:t>
            </a:r>
            <a:endParaRPr lang="en-US" altLang="zh-CN"/>
          </a:p>
          <a:p>
            <a:r>
              <a:rPr lang="zh-CN" altLang="en-US">
                <a:sym typeface="+mn-ea"/>
              </a:rPr>
              <a:t>程序员看加班</a:t>
            </a:r>
            <a:endParaRPr lang="zh-CN" altLang="en-US"/>
          </a:p>
          <a:p>
            <a:r>
              <a:rPr lang="zh-CN" altLang="en-US"/>
              <a:t>程序员看学历</a:t>
            </a:r>
            <a:endParaRPr lang="zh-CN" altLang="en-US"/>
          </a:p>
          <a:p>
            <a:endParaRPr lang="zh-CN" altLang="en-US"/>
          </a:p>
          <a:p>
            <a:r>
              <a:rPr lang="zh-CN" altLang="en-US"/>
              <a:t>程序员看学习教育</a:t>
            </a:r>
            <a:endParaRPr lang="zh-CN" altLang="en-US"/>
          </a:p>
          <a:p>
            <a:r>
              <a:rPr lang="zh-CN" altLang="en-US">
                <a:sym typeface="+mn-ea"/>
              </a:rPr>
              <a:t>程序员看招聘创业</a:t>
            </a:r>
            <a:endParaRPr lang="zh-CN" altLang="en-US"/>
          </a:p>
          <a:p>
            <a:r>
              <a:rPr lang="zh-CN" altLang="en-US">
                <a:sym typeface="+mn-ea"/>
              </a:rPr>
              <a:t>程序员看行业产业</a:t>
            </a:r>
            <a:endParaRPr lang="zh-CN" altLang="en-US"/>
          </a:p>
          <a:p>
            <a:r>
              <a:rPr lang="zh-CN" altLang="en-US">
                <a:sym typeface="+mn-ea"/>
              </a:rPr>
              <a:t>程序员看社会治理</a:t>
            </a:r>
            <a:endParaRPr lang="zh-CN" altLang="en-US">
              <a:sym typeface="+mn-ea"/>
            </a:endParaRPr>
          </a:p>
          <a:p>
            <a:endParaRPr lang="en-US" altLang="zh-CN"/>
          </a:p>
          <a:p>
            <a:r>
              <a:rPr lang="zh-CN" altLang="en-US"/>
              <a:t>程序员看代码编写</a:t>
            </a:r>
            <a:endParaRPr lang="zh-CN" altLang="en-US"/>
          </a:p>
          <a:p>
            <a:r>
              <a:rPr lang="zh-CN" altLang="en-US"/>
              <a:t>程序员看文档编写</a:t>
            </a:r>
            <a:endParaRPr lang="zh-CN" altLang="en-US"/>
          </a:p>
          <a:p>
            <a:r>
              <a:rPr lang="zh-CN" altLang="en-US">
                <a:sym typeface="+mn-ea"/>
              </a:rPr>
              <a:t>程序员看软件工程</a:t>
            </a:r>
            <a:endParaRPr lang="zh-CN" altLang="en-US"/>
          </a:p>
          <a:p>
            <a:r>
              <a:rPr lang="zh-CN" altLang="en-US">
                <a:sym typeface="+mn-ea"/>
              </a:rPr>
              <a:t>程序员看相互协作</a:t>
            </a:r>
            <a:endParaRPr lang="zh-CN"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100705" y="90805"/>
            <a:ext cx="7956550" cy="518160"/>
          </a:xfrm>
        </p:spPr>
        <p:txBody>
          <a:bodyPr>
            <a:noAutofit/>
          </a:bodyPr>
          <a:p>
            <a:r>
              <a:rPr lang="zh-CN" altLang="en-US" sz="2800"/>
              <a:t>程序员与</a:t>
            </a:r>
            <a:r>
              <a:rPr lang="en-US" altLang="zh-CN" sz="2800"/>
              <a:t>XXX</a:t>
            </a:r>
            <a:endParaRPr lang="en-US" altLang="zh-CN" sz="2800"/>
          </a:p>
        </p:txBody>
      </p:sp>
      <p:sp>
        <p:nvSpPr>
          <p:cNvPr id="4" name="Content Placeholder 3"/>
          <p:cNvSpPr>
            <a:spLocks noGrp="1"/>
          </p:cNvSpPr>
          <p:nvPr>
            <p:ph idx="1"/>
          </p:nvPr>
        </p:nvSpPr>
        <p:spPr>
          <a:xfrm>
            <a:off x="2234565" y="749300"/>
            <a:ext cx="6662420" cy="6022340"/>
          </a:xfrm>
        </p:spPr>
        <p:txBody>
          <a:bodyPr>
            <a:normAutofit lnSpcReduction="10000"/>
          </a:bodyPr>
          <a:p>
            <a:r>
              <a:rPr lang="zh-CN" altLang="en-US" sz="2000"/>
              <a:t>外层：</a:t>
            </a:r>
            <a:endParaRPr lang="zh-CN" altLang="en-US" sz="2000"/>
          </a:p>
          <a:p>
            <a:pPr lvl="1"/>
            <a:r>
              <a:rPr lang="zh-CN" altLang="en-US" sz="1800"/>
              <a:t>程序员与普通大众</a:t>
            </a:r>
            <a:endParaRPr lang="zh-CN" altLang="en-US" sz="1800"/>
          </a:p>
          <a:p>
            <a:pPr lvl="1"/>
            <a:r>
              <a:rPr lang="zh-CN" altLang="en-US">
                <a:sym typeface="+mn-ea"/>
              </a:rPr>
              <a:t>程序员与教育培养</a:t>
            </a:r>
            <a:endParaRPr lang="zh-CN" altLang="en-US" sz="1800"/>
          </a:p>
          <a:p>
            <a:pPr lvl="1"/>
            <a:r>
              <a:rPr lang="zh-CN" altLang="en-US" sz="1800"/>
              <a:t>程序员与公司企业</a:t>
            </a:r>
            <a:endParaRPr lang="zh-CN" altLang="en-US" sz="1800"/>
          </a:p>
          <a:p>
            <a:pPr lvl="1"/>
            <a:r>
              <a:rPr lang="zh-CN" altLang="en-US" sz="1800"/>
              <a:t>程序员与行业产业</a:t>
            </a:r>
            <a:endParaRPr lang="zh-CN" altLang="en-US" sz="1800"/>
          </a:p>
          <a:p>
            <a:pPr lvl="1"/>
            <a:r>
              <a:rPr lang="zh-CN" altLang="en-US" sz="1800"/>
              <a:t>程序员与社会团体</a:t>
            </a:r>
            <a:endParaRPr lang="zh-CN" altLang="en-US" sz="1800"/>
          </a:p>
          <a:p>
            <a:pPr marL="0" indent="0">
              <a:buNone/>
            </a:pPr>
            <a:r>
              <a:rPr lang="en-US" altLang="zh-CN" sz="800"/>
              <a:t> </a:t>
            </a:r>
            <a:endParaRPr lang="zh-CN" altLang="en-US" sz="800"/>
          </a:p>
          <a:p>
            <a:r>
              <a:rPr lang="zh-CN" altLang="en-US">
                <a:sym typeface="+mn-ea"/>
              </a:rPr>
              <a:t>中层：</a:t>
            </a:r>
            <a:endParaRPr lang="zh-CN" altLang="en-US">
              <a:sym typeface="+mn-ea"/>
            </a:endParaRPr>
          </a:p>
          <a:p>
            <a:pPr lvl="1"/>
            <a:r>
              <a:rPr lang="zh-CN" altLang="en-US">
                <a:sym typeface="+mn-ea"/>
              </a:rPr>
              <a:t>程序员与管理人员</a:t>
            </a:r>
            <a:endParaRPr lang="zh-CN" altLang="en-US">
              <a:sym typeface="+mn-ea"/>
            </a:endParaRPr>
          </a:p>
          <a:p>
            <a:pPr lvl="1"/>
            <a:r>
              <a:rPr lang="zh-CN" altLang="en-US">
                <a:sym typeface="+mn-ea"/>
              </a:rPr>
              <a:t>程序员与质保人员</a:t>
            </a:r>
            <a:endParaRPr lang="zh-CN" altLang="en-US">
              <a:sym typeface="+mn-ea"/>
            </a:endParaRPr>
          </a:p>
          <a:p>
            <a:pPr lvl="1"/>
            <a:r>
              <a:rPr lang="zh-CN" altLang="en-US" sz="1800"/>
              <a:t>程序员与测试人员</a:t>
            </a:r>
            <a:endParaRPr lang="zh-CN" altLang="en-US" sz="1800"/>
          </a:p>
          <a:p>
            <a:pPr lvl="1"/>
            <a:r>
              <a:rPr lang="zh-CN" altLang="en-US" sz="1800"/>
              <a:t>程序员与</a:t>
            </a:r>
            <a:r>
              <a:rPr lang="en-US" altLang="zh-CN" sz="1800"/>
              <a:t>UE</a:t>
            </a:r>
            <a:r>
              <a:rPr lang="zh-CN" altLang="en-US" sz="1800"/>
              <a:t>人员</a:t>
            </a:r>
            <a:endParaRPr lang="zh-CN" altLang="en-US" sz="1800"/>
          </a:p>
          <a:p>
            <a:pPr lvl="1"/>
            <a:r>
              <a:rPr lang="zh-CN" altLang="en-US">
                <a:sym typeface="+mn-ea"/>
              </a:rPr>
              <a:t>程序员与售前售后</a:t>
            </a:r>
            <a:endParaRPr lang="zh-CN" altLang="en-US">
              <a:sym typeface="+mn-ea"/>
            </a:endParaRPr>
          </a:p>
          <a:p>
            <a:pPr lvl="1"/>
            <a:r>
              <a:rPr lang="zh-CN" altLang="en-US">
                <a:sym typeface="+mn-ea"/>
              </a:rPr>
              <a:t>程序员与技术支持</a:t>
            </a:r>
            <a:endParaRPr lang="zh-CN" altLang="en-US"/>
          </a:p>
          <a:p>
            <a:pPr marL="0" indent="0">
              <a:buNone/>
            </a:pPr>
            <a:r>
              <a:rPr lang="en-US" altLang="zh-CN" sz="800"/>
              <a:t> </a:t>
            </a:r>
            <a:endParaRPr lang="zh-CN" altLang="en-US" sz="800"/>
          </a:p>
          <a:p>
            <a:r>
              <a:rPr lang="zh-CN" altLang="en-US">
                <a:sym typeface="+mn-ea"/>
              </a:rPr>
              <a:t>内部</a:t>
            </a:r>
            <a:endParaRPr lang="zh-CN" altLang="en-US">
              <a:sym typeface="+mn-ea"/>
            </a:endParaRPr>
          </a:p>
          <a:p>
            <a:pPr lvl="1"/>
            <a:r>
              <a:rPr lang="zh-CN" altLang="en-US">
                <a:sym typeface="+mn-ea"/>
              </a:rPr>
              <a:t>程序员与程序员</a:t>
            </a:r>
            <a:endParaRPr lang="zh-CN" altLang="en-US">
              <a:sym typeface="+mn-ea"/>
            </a:endParaRPr>
          </a:p>
          <a:p>
            <a:pPr lvl="1"/>
            <a:r>
              <a:rPr lang="zh-CN" altLang="en-US">
                <a:sym typeface="+mn-ea"/>
              </a:rPr>
              <a:t>程序员与专业人员</a:t>
            </a:r>
            <a:endParaRPr lang="zh-CN" altLang="en-US"/>
          </a:p>
          <a:p>
            <a:pPr lvl="1"/>
            <a:r>
              <a:rPr lang="zh-CN" altLang="en-US" sz="1800"/>
              <a:t>程序员与研究开发</a:t>
            </a:r>
            <a:endParaRPr lang="zh-CN" altLang="en-US" sz="1800"/>
          </a:p>
          <a:p>
            <a:pPr lvl="1"/>
            <a:r>
              <a:rPr lang="zh-CN" altLang="en-US" sz="1800"/>
              <a:t>程序员与系统集成</a:t>
            </a:r>
            <a:endParaRPr lang="zh-CN" altLang="en-US" sz="18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22470" y="286385"/>
            <a:ext cx="3940810" cy="681355"/>
          </a:xfrm>
        </p:spPr>
        <p:txBody>
          <a:bodyPr>
            <a:noAutofit/>
          </a:bodyPr>
          <a:p>
            <a:r>
              <a:rPr lang="en-US" altLang="zh-CN" sz="3200"/>
              <a:t>IT</a:t>
            </a:r>
            <a:r>
              <a:rPr lang="zh-CN" altLang="en-US" sz="3200"/>
              <a:t>的价值产出</a:t>
            </a:r>
            <a:endParaRPr lang="en-US" altLang="zh-CN" sz="3200"/>
          </a:p>
        </p:txBody>
      </p:sp>
      <p:sp>
        <p:nvSpPr>
          <p:cNvPr id="4" name="Content Placeholder 3"/>
          <p:cNvSpPr>
            <a:spLocks noGrp="1"/>
          </p:cNvSpPr>
          <p:nvPr>
            <p:ph idx="1"/>
          </p:nvPr>
        </p:nvSpPr>
        <p:spPr>
          <a:xfrm>
            <a:off x="21590" y="1151255"/>
            <a:ext cx="12138025" cy="5370830"/>
          </a:xfrm>
        </p:spPr>
        <p:txBody>
          <a:bodyPr>
            <a:normAutofit/>
          </a:bodyPr>
          <a:p>
            <a:r>
              <a:rPr lang="zh-CN" altLang="en-US"/>
              <a:t>个人视角：</a:t>
            </a:r>
            <a:endParaRPr lang="zh-CN" altLang="en-US"/>
          </a:p>
          <a:p>
            <a:pPr lvl="1"/>
            <a:r>
              <a:rPr lang="zh-CN" altLang="en-US"/>
              <a:t>生存：衣食住行；不断失业的问题；社会为主，素质+认知为辅</a:t>
            </a:r>
            <a:endParaRPr lang="zh-CN" altLang="en-US"/>
          </a:p>
          <a:p>
            <a:pPr lvl="1"/>
            <a:r>
              <a:rPr lang="zh-CN" altLang="en-US"/>
              <a:t>职责：个人，家庭，社会；个人管理的问题；素质为主，社会+认知为辅</a:t>
            </a:r>
            <a:endParaRPr lang="zh-CN" altLang="en-US"/>
          </a:p>
          <a:p>
            <a:pPr lvl="1"/>
            <a:r>
              <a:rPr lang="zh-CN" altLang="en-US"/>
              <a:t>理想：个人偏好，优势，协助他人履行职责；把握方向的问题；认知为主，社会+素质为辅</a:t>
            </a:r>
            <a:endParaRPr lang="zh-CN" altLang="en-US"/>
          </a:p>
          <a:p>
            <a:r>
              <a:rPr lang="zh-CN" altLang="en-US"/>
              <a:t>经济视角：</a:t>
            </a:r>
            <a:endParaRPr lang="zh-CN" altLang="en-US"/>
          </a:p>
          <a:p>
            <a:pPr lvl="1"/>
            <a:r>
              <a:rPr lang="zh-CN" altLang="en-US" sz="1800"/>
              <a:t>消费：成本</a:t>
            </a:r>
            <a:r>
              <a:rPr lang="en-US" altLang="zh-CN" sz="1800"/>
              <a:t>/</a:t>
            </a:r>
            <a:r>
              <a:rPr lang="zh-CN" altLang="en-US" sz="1800"/>
              <a:t>创新</a:t>
            </a:r>
            <a:r>
              <a:rPr lang="en-US" altLang="zh-CN" sz="1800"/>
              <a:t>/</a:t>
            </a:r>
            <a:r>
              <a:rPr lang="zh-CN" altLang="en-US" sz="1800"/>
              <a:t>趋势，及其副作用，都按照价值分类进行说明，社会基础设施建设推动</a:t>
            </a:r>
            <a:r>
              <a:rPr lang="zh-CN" altLang="en-US">
                <a:sym typeface="+mn-ea"/>
              </a:rPr>
              <a:t>创新和</a:t>
            </a:r>
            <a:r>
              <a:rPr lang="zh-CN" altLang="en-US" sz="1800"/>
              <a:t>成本降低</a:t>
            </a:r>
            <a:endParaRPr lang="zh-CN" altLang="en-US" sz="1800"/>
          </a:p>
          <a:p>
            <a:pPr lvl="1"/>
            <a:r>
              <a:rPr lang="zh-CN" altLang="en-US" sz="1800"/>
              <a:t>生产：效率</a:t>
            </a:r>
            <a:r>
              <a:rPr lang="en-US" altLang="zh-CN" sz="1800"/>
              <a:t>(消费拉动/投资拉动)</a:t>
            </a:r>
            <a:r>
              <a:rPr lang="zh-CN" altLang="en-US" sz="1800"/>
              <a:t>，创新</a:t>
            </a:r>
            <a:r>
              <a:rPr lang="en-US" altLang="zh-CN" sz="1800"/>
              <a:t>(推动消费/推动投资)</a:t>
            </a:r>
            <a:r>
              <a:rPr lang="zh-CN" altLang="en-US" sz="1800"/>
              <a:t>，副作用；社会基础设施建设推动创新和效率提升</a:t>
            </a:r>
            <a:endParaRPr lang="zh-CN" altLang="en-US" sz="1800"/>
          </a:p>
          <a:p>
            <a:pPr lvl="1"/>
            <a:r>
              <a:rPr lang="zh-CN" altLang="en-US" sz="1800"/>
              <a:t>投资：</a:t>
            </a:r>
            <a:endParaRPr lang="zh-CN" altLang="en-US" sz="1800"/>
          </a:p>
          <a:p>
            <a:pPr lvl="2"/>
            <a:r>
              <a:rPr lang="zh-CN" altLang="en-US"/>
              <a:t>壁垒：平滑多样化，只要努力，都有机会；只要持续不断学习发展，适应形势，就不会被替代</a:t>
            </a:r>
            <a:endParaRPr lang="zh-CN" altLang="en-US" sz="1600"/>
          </a:p>
          <a:p>
            <a:pPr lvl="2"/>
            <a:r>
              <a:rPr lang="zh-CN" altLang="en-US"/>
              <a:t>创新：生产与消费的互动，社会整体战略，带动投资创新；天使投资，互联网创业，整体战略投资</a:t>
            </a:r>
            <a:endParaRPr lang="zh-CN" altLang="en-US"/>
          </a:p>
          <a:p>
            <a:pPr lvl="2"/>
            <a:r>
              <a:rPr lang="zh-CN" altLang="en-US"/>
              <a:t>趋势：强调学习和教育的价值，社会基础设施建设推动创新和壁垒平滑多样化</a:t>
            </a:r>
            <a:endParaRPr lang="zh-CN" altLang="en-US"/>
          </a:p>
          <a:p>
            <a:r>
              <a:rPr lang="zh-CN" altLang="en-US"/>
              <a:t>社会视角：</a:t>
            </a:r>
            <a:endParaRPr lang="zh-CN" altLang="en-US"/>
          </a:p>
          <a:p>
            <a:pPr lvl="1"/>
            <a:r>
              <a:rPr lang="zh-CN" altLang="en-US"/>
              <a:t>目标：确保生存为重点，履行职责和实现理想为辅助，提升全民素质和认知；促进经济发展；做好安全保障</a:t>
            </a:r>
            <a:endParaRPr lang="zh-CN" altLang="en-US"/>
          </a:p>
          <a:p>
            <a:pPr lvl="1"/>
            <a:r>
              <a:rPr lang="zh-CN" altLang="en-US"/>
              <a:t>治理：尊重个人和经济，IT与社会价值管理(个人)，IT与产业结构调整(经济)，IT与整体资源分配(个人与经济)</a:t>
            </a:r>
            <a:endParaRPr lang="zh-CN" altLang="en-US"/>
          </a:p>
          <a:p>
            <a:pPr lvl="1"/>
            <a:r>
              <a:rPr lang="zh-CN" altLang="en-US"/>
              <a:t>趋势：</a:t>
            </a:r>
            <a:r>
              <a:rPr lang="en-US" altLang="zh-CN"/>
              <a:t>IT</a:t>
            </a:r>
            <a:r>
              <a:rPr lang="zh-CN" altLang="en-US"/>
              <a:t>国际生态趋于有利，I</a:t>
            </a:r>
            <a:r>
              <a:rPr lang="en-US" altLang="zh-CN"/>
              <a:t>T</a:t>
            </a:r>
            <a:r>
              <a:rPr lang="zh-CN" altLang="en-US"/>
              <a:t>国产化生态趋于完整；由此IT壁垒趋于平滑多样化，高分散与高聚集相辅相成</a:t>
            </a:r>
            <a:endParaRPr lang="zh-CN"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22470" y="243205"/>
            <a:ext cx="3940810" cy="466090"/>
          </a:xfrm>
        </p:spPr>
        <p:txBody>
          <a:bodyPr>
            <a:noAutofit/>
          </a:bodyPr>
          <a:p>
            <a:r>
              <a:rPr lang="en-US" altLang="zh-CN" sz="2800"/>
              <a:t>IT</a:t>
            </a:r>
            <a:r>
              <a:rPr lang="zh-CN" altLang="en-US" sz="2800"/>
              <a:t>的应用模型</a:t>
            </a:r>
            <a:endParaRPr lang="en-US" altLang="zh-CN" sz="2800"/>
          </a:p>
        </p:txBody>
      </p:sp>
      <p:sp>
        <p:nvSpPr>
          <p:cNvPr id="4" name="Content Placeholder 3"/>
          <p:cNvSpPr>
            <a:spLocks noGrp="1"/>
          </p:cNvSpPr>
          <p:nvPr>
            <p:ph idx="1"/>
          </p:nvPr>
        </p:nvSpPr>
        <p:spPr>
          <a:xfrm>
            <a:off x="21590" y="828675"/>
            <a:ext cx="12138025" cy="5932170"/>
          </a:xfrm>
        </p:spPr>
        <p:txBody>
          <a:bodyPr>
            <a:normAutofit/>
          </a:bodyPr>
          <a:p>
            <a:r>
              <a:rPr lang="zh-CN" altLang="en-US"/>
              <a:t>价值建模：</a:t>
            </a:r>
            <a:r>
              <a:rPr lang="zh-CN" altLang="en-US" sz="1800"/>
              <a:t>（确定60-80%的业务模型内容）</a:t>
            </a:r>
            <a:endParaRPr lang="zh-CN" altLang="en-US"/>
          </a:p>
          <a:p>
            <a:pPr lvl="1"/>
            <a:r>
              <a:rPr lang="zh-CN" altLang="en-US"/>
              <a:t>价值定位/功能边界/推广使用</a:t>
            </a:r>
            <a:endParaRPr lang="zh-CN" altLang="en-US"/>
          </a:p>
          <a:p>
            <a:pPr lvl="1"/>
            <a:r>
              <a:rPr lang="zh-CN" altLang="en-US"/>
              <a:t>处理类别：通用技术型，专用技术型，资源密集型</a:t>
            </a:r>
            <a:endParaRPr lang="zh-CN" altLang="en-US"/>
          </a:p>
          <a:p>
            <a:pPr lvl="1"/>
            <a:r>
              <a:rPr lang="zh-CN" altLang="en-US"/>
              <a:t>至少需要了解业务模型</a:t>
            </a:r>
            <a:endParaRPr lang="zh-CN" altLang="en-US"/>
          </a:p>
          <a:p>
            <a:r>
              <a:rPr lang="zh-CN" altLang="en-US"/>
              <a:t>使用建模：</a:t>
            </a:r>
            <a:r>
              <a:rPr lang="zh-CN" altLang="en-US" sz="1800"/>
              <a:t>（确定15-30%的业务模型内容）</a:t>
            </a:r>
            <a:endParaRPr lang="zh-CN" altLang="en-US"/>
          </a:p>
          <a:p>
            <a:pPr lvl="1"/>
            <a:r>
              <a:rPr lang="en-US" altLang="zh-CN"/>
              <a:t>展现形式：安装包 (图形程序/命令程序)，图形插件，业务插件，传感器类(含AI)，无展现形式</a:t>
            </a:r>
            <a:endParaRPr lang="en-US" altLang="zh-CN"/>
          </a:p>
          <a:p>
            <a:pPr lvl="1"/>
            <a:r>
              <a:rPr lang="en-US" altLang="zh-CN"/>
              <a:t>人员角色：普通用户，系统管理，开发调试，自动处理，并发量，相互间关系和协调</a:t>
            </a:r>
            <a:endParaRPr lang="en-US" altLang="zh-CN"/>
          </a:p>
          <a:p>
            <a:pPr lvl="1"/>
            <a:r>
              <a:rPr lang="en-US" altLang="zh-CN"/>
              <a:t>交互方式：复杂交互(图形/命令/语音/记录)，简单交互(指纹/刷卡/二维码/面部/手势/指纹)，传感器</a:t>
            </a:r>
            <a:endParaRPr lang="en-US" altLang="zh-CN"/>
          </a:p>
          <a:p>
            <a:r>
              <a:rPr lang="zh-CN" altLang="en-US"/>
              <a:t>业务模型：</a:t>
            </a:r>
            <a:r>
              <a:rPr lang="zh-CN" altLang="en-US" sz="1800"/>
              <a:t>（参见前期视频集合，这里简单介绍关联，价值建模和使用建模是业务模型的需求建模的输入内容）</a:t>
            </a:r>
            <a:endParaRPr lang="zh-CN" altLang="en-US"/>
          </a:p>
          <a:p>
            <a:r>
              <a:rPr lang="zh-CN" altLang="en-US"/>
              <a:t>规划集成：</a:t>
            </a:r>
            <a:r>
              <a:rPr lang="zh-CN" altLang="en-US" sz="1800"/>
              <a:t>（不仅适合应用开发，更具有通用性；中庸之道，水到渠成）</a:t>
            </a:r>
            <a:endParaRPr lang="zh-CN" altLang="en-US"/>
          </a:p>
          <a:p>
            <a:pPr lvl="1"/>
            <a:r>
              <a:rPr lang="zh-CN" altLang="en-US"/>
              <a:t>产品管理：市场，研发(实现业务模型)，项目，人员，财务</a:t>
            </a:r>
            <a:endParaRPr lang="zh-CN" altLang="en-US" sz="1800"/>
          </a:p>
          <a:p>
            <a:pPr lvl="1"/>
            <a:r>
              <a:rPr lang="zh-CN" altLang="en-US"/>
              <a:t>客观条件：资源积累（相关技术/行业渠道/现有资金/投资渠道/背景条件），个人信用，环境形势</a:t>
            </a:r>
            <a:endParaRPr lang="zh-CN" altLang="en-US" sz="1800"/>
          </a:p>
          <a:p>
            <a:pPr lvl="1"/>
            <a:r>
              <a:rPr lang="zh-CN" altLang="en-US"/>
              <a:t>主观定位：各类职责(家庭/社会/个人)，理解认知(商业模式)，理想追求。充分结合客观条件和人生目标</a:t>
            </a:r>
            <a:endParaRPr lang="zh-CN" altLang="en-US"/>
          </a:p>
          <a:p>
            <a:r>
              <a:rPr lang="en-US" altLang="zh-CN"/>
              <a:t>发展趋势：</a:t>
            </a:r>
            <a:r>
              <a:rPr lang="zh-CN" altLang="en-US" sz="1800"/>
              <a:t>（</a:t>
            </a:r>
            <a:r>
              <a:rPr lang="en-US" altLang="zh-CN" sz="1800"/>
              <a:t>偏社会价值方面进行阐述，配合整体社会治理</a:t>
            </a:r>
            <a:r>
              <a:rPr lang="zh-CN" altLang="en-US" sz="1800"/>
              <a:t>）</a:t>
            </a:r>
            <a:endParaRPr lang="en-US" altLang="zh-CN"/>
          </a:p>
          <a:p>
            <a:pPr lvl="1"/>
            <a:r>
              <a:rPr lang="en-US" altLang="zh-CN">
                <a:sym typeface="+mn-ea"/>
              </a:rPr>
              <a:t>规划：壁垒层次越来越丰富，效率越来越高，收益整体趋势从行业偏高逐步回归普通行业均值</a:t>
            </a:r>
            <a:endParaRPr lang="en-US" altLang="zh-CN">
              <a:sym typeface="+mn-ea"/>
            </a:endParaRPr>
          </a:p>
          <a:p>
            <a:pPr lvl="1"/>
            <a:r>
              <a:rPr lang="en-US" altLang="zh-CN"/>
              <a:t>价值：解决副作用(以听为主/走路看手机/国产化/仅资本)，教育/就业/投资/招标，行业业细分领域和专用工具</a:t>
            </a:r>
            <a:endParaRPr lang="en-US" altLang="zh-CN"/>
          </a:p>
          <a:p>
            <a:pPr lvl="1"/>
            <a:r>
              <a:rPr lang="en-US" altLang="zh-CN"/>
              <a:t>使用：展现形式(分布式/集成化/无感化)，人员角色(更适合老人/儿童/成人/残疾)，交互方式(AI化/立体场景)</a:t>
            </a:r>
            <a:endParaRPr lang="en-US" altLang="zh-CN"/>
          </a:p>
          <a:p>
            <a:pPr marL="457200" lvl="1" indent="0">
              <a:buNone/>
            </a:pPr>
            <a:endParaRPr lang="en-US" altLang="zh-CN"/>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989830" y="3175"/>
            <a:ext cx="3940810" cy="466090"/>
          </a:xfrm>
        </p:spPr>
        <p:txBody>
          <a:bodyPr>
            <a:noAutofit/>
          </a:bodyPr>
          <a:p>
            <a:r>
              <a:rPr lang="en-US" altLang="zh-CN"/>
              <a:t>IT</a:t>
            </a:r>
            <a:r>
              <a:rPr lang="zh-CN" altLang="en-US"/>
              <a:t>的业务模型</a:t>
            </a:r>
            <a:endParaRPr lang="en-US" altLang="zh-CN"/>
          </a:p>
        </p:txBody>
      </p:sp>
      <p:sp>
        <p:nvSpPr>
          <p:cNvPr id="4" name="Content Placeholder 3"/>
          <p:cNvSpPr>
            <a:spLocks noGrp="1"/>
          </p:cNvSpPr>
          <p:nvPr>
            <p:ph idx="1"/>
          </p:nvPr>
        </p:nvSpPr>
        <p:spPr>
          <a:xfrm>
            <a:off x="21590" y="245110"/>
            <a:ext cx="12138025" cy="6721475"/>
          </a:xfrm>
        </p:spPr>
        <p:txBody>
          <a:bodyPr>
            <a:normAutofit/>
          </a:bodyPr>
          <a:p>
            <a:r>
              <a:rPr lang="zh-CN" altLang="en-US"/>
              <a:t>专业建模：</a:t>
            </a:r>
            <a:r>
              <a:rPr lang="zh-CN" altLang="en-US" sz="1800">
                <a:sym typeface="+mn-ea"/>
              </a:rPr>
              <a:t>具体行业相关的抽象建模</a:t>
            </a:r>
            <a:r>
              <a:rPr lang="en-US" altLang="zh-CN" sz="1800">
                <a:sym typeface="+mn-ea"/>
              </a:rPr>
              <a:t>(50-70%)</a:t>
            </a:r>
            <a:endParaRPr lang="zh-CN" altLang="en-US" sz="1800">
              <a:sym typeface="+mn-ea"/>
            </a:endParaRPr>
          </a:p>
          <a:p>
            <a:pPr lvl="1"/>
            <a:r>
              <a:rPr lang="zh-CN" altLang="en-US"/>
              <a:t>输入：</a:t>
            </a:r>
            <a:r>
              <a:rPr lang="zh-CN" altLang="en-US">
                <a:sym typeface="+mn-ea"/>
              </a:rPr>
              <a:t>同各个具体行业相关的专业知识信息</a:t>
            </a:r>
            <a:endParaRPr lang="zh-CN" altLang="en-US">
              <a:sym typeface="+mn-ea"/>
            </a:endParaRPr>
          </a:p>
          <a:p>
            <a:pPr lvl="1"/>
            <a:r>
              <a:rPr lang="zh-CN" altLang="en-US"/>
              <a:t>处理：抽象实体对象，量化所有内容，确保不重不漏，能够深入浅出</a:t>
            </a:r>
            <a:endParaRPr lang="zh-CN" altLang="en-US"/>
          </a:p>
          <a:p>
            <a:pPr lvl="1"/>
            <a:r>
              <a:rPr lang="zh-CN" altLang="en-US"/>
              <a:t>输出：结构图，流程图，外加文字文档说明，尽可能简洁清晰</a:t>
            </a:r>
            <a:endParaRPr lang="zh-CN" altLang="en-US"/>
          </a:p>
          <a:p>
            <a:r>
              <a:rPr lang="zh-CN" altLang="en-US"/>
              <a:t>需求建模：</a:t>
            </a:r>
            <a:r>
              <a:rPr lang="en-US" altLang="zh-CN"/>
              <a:t>(25-50%)</a:t>
            </a:r>
            <a:endParaRPr lang="zh-CN" altLang="en-US"/>
          </a:p>
          <a:p>
            <a:pPr lvl="1"/>
            <a:r>
              <a:rPr lang="zh-CN" altLang="en-US"/>
              <a:t>业务需求：实现具体专业领域功能，体现相关价值</a:t>
            </a:r>
            <a:endParaRPr lang="zh-CN" altLang="en-US" sz="1800"/>
          </a:p>
          <a:p>
            <a:pPr lvl="1"/>
            <a:r>
              <a:rPr lang="zh-CN" altLang="en-US"/>
              <a:t>使用需求：展现形式，人员角色，交互方式</a:t>
            </a:r>
            <a:endParaRPr lang="zh-CN" altLang="en-US"/>
          </a:p>
          <a:p>
            <a:pPr lvl="1"/>
            <a:r>
              <a:rPr lang="zh-CN" altLang="en-US"/>
              <a:t>集成需求：稳定性/性能/兼容性/可扩展性/成本(产品和开发)</a:t>
            </a:r>
            <a:endParaRPr lang="zh-CN" altLang="en-US"/>
          </a:p>
          <a:p>
            <a:r>
              <a:rPr lang="zh-CN" altLang="en-US"/>
              <a:t>平台环境：</a:t>
            </a:r>
            <a:r>
              <a:rPr lang="zh-CN" altLang="en-US" sz="1800"/>
              <a:t>被业务模型涉及和参考（</a:t>
            </a:r>
            <a:r>
              <a:rPr lang="en-US" altLang="zh-CN" sz="1800"/>
              <a:t>5-10%</a:t>
            </a:r>
            <a:r>
              <a:rPr lang="zh-CN" altLang="en-US" sz="1800"/>
              <a:t>）</a:t>
            </a:r>
            <a:endParaRPr lang="zh-CN" altLang="en-US"/>
          </a:p>
          <a:p>
            <a:pPr lvl="1"/>
            <a:r>
              <a:rPr lang="zh-CN" altLang="en-US"/>
              <a:t>系统平台：硬件/基础平台/扩展平台/各类组件，含所需的开发语言</a:t>
            </a:r>
            <a:endParaRPr lang="zh-CN" altLang="en-US" sz="1800"/>
          </a:p>
          <a:p>
            <a:pPr lvl="1"/>
            <a:r>
              <a:rPr lang="zh-CN" altLang="en-US"/>
              <a:t>业务平台：基于系统平台，向相关专业领域拓展，可能有具体的开发语言(或半成品语言)</a:t>
            </a:r>
            <a:endParaRPr lang="zh-CN" altLang="en-US" sz="1800"/>
          </a:p>
          <a:p>
            <a:pPr lvl="1"/>
            <a:r>
              <a:rPr lang="zh-CN" altLang="en-US"/>
              <a:t>应用平台：基于某款常用应用，作为平台</a:t>
            </a:r>
            <a:endParaRPr lang="zh-CN" altLang="en-US"/>
          </a:p>
          <a:p>
            <a:r>
              <a:rPr lang="zh-CN" altLang="en-US"/>
              <a:t>集成开发：</a:t>
            </a:r>
            <a:endParaRPr lang="zh-CN" altLang="en-US"/>
          </a:p>
          <a:p>
            <a:pPr lvl="1"/>
            <a:r>
              <a:rPr lang="zh-CN" altLang="en-US"/>
              <a:t>参考平台环境，来协调整合专业模型和需求模型，形成业务模型</a:t>
            </a:r>
            <a:endParaRPr lang="zh-CN" altLang="en-US"/>
          </a:p>
          <a:p>
            <a:pPr lvl="1"/>
            <a:r>
              <a:rPr lang="zh-CN" altLang="en-US"/>
              <a:t>把业务模型转换成平台环境下的可执行模型(程序)</a:t>
            </a:r>
            <a:endParaRPr lang="zh-CN" altLang="en-US" sz="1800"/>
          </a:p>
          <a:p>
            <a:pPr lvl="1"/>
            <a:r>
              <a:rPr lang="zh-CN" altLang="en-US"/>
              <a:t>确保可执行模型正常运行，调试解决相关问题</a:t>
            </a:r>
            <a:endParaRPr lang="zh-CN" altLang="en-US"/>
          </a:p>
          <a:p>
            <a:r>
              <a:rPr lang="zh-CN" altLang="en-US"/>
              <a:t>发展趋势：</a:t>
            </a:r>
            <a:r>
              <a:rPr lang="zh-CN" altLang="en-US" sz="1800"/>
              <a:t>AI领域，分布式领域，鸿蒙系统，立体全接触，带动上游发展</a:t>
            </a:r>
            <a:endParaRPr lang="zh-CN" altLang="en-US"/>
          </a:p>
          <a:p>
            <a:pPr lvl="1"/>
            <a:r>
              <a:rPr lang="zh-CN" altLang="en-US"/>
              <a:t>平台整合完善，新平台的产生</a:t>
            </a:r>
            <a:endParaRPr lang="zh-CN" altLang="en-US"/>
          </a:p>
          <a:p>
            <a:pPr lvl="1"/>
            <a:r>
              <a:rPr lang="zh-CN" altLang="en-US"/>
              <a:t>行业专业知识信息的不断抽象建模</a:t>
            </a:r>
            <a:endParaRPr lang="zh-CN" altLang="en-US"/>
          </a:p>
          <a:p>
            <a:pPr lvl="1"/>
            <a:r>
              <a:rPr lang="zh-CN" altLang="en-US"/>
              <a:t>需求内容随着各行业基础设施和人们的物质生活的不断发展而不断更新</a:t>
            </a:r>
            <a:endParaRPr lang="zh-CN"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244975" y="294640"/>
            <a:ext cx="3940810" cy="466090"/>
          </a:xfrm>
        </p:spPr>
        <p:txBody>
          <a:bodyPr>
            <a:noAutofit/>
          </a:bodyPr>
          <a:p>
            <a:r>
              <a:rPr lang="zh-CN" altLang="en-US" sz="2800"/>
              <a:t>系统的各种组件</a:t>
            </a:r>
            <a:endParaRPr lang="en-US" altLang="zh-CN" sz="2800"/>
          </a:p>
        </p:txBody>
      </p:sp>
      <p:sp>
        <p:nvSpPr>
          <p:cNvPr id="4" name="Content Placeholder 3"/>
          <p:cNvSpPr>
            <a:spLocks noGrp="1"/>
          </p:cNvSpPr>
          <p:nvPr>
            <p:ph idx="1"/>
          </p:nvPr>
        </p:nvSpPr>
        <p:spPr>
          <a:xfrm>
            <a:off x="21590" y="1009015"/>
            <a:ext cx="12138025" cy="5697855"/>
          </a:xfrm>
        </p:spPr>
        <p:txBody>
          <a:bodyPr>
            <a:normAutofit/>
          </a:bodyPr>
          <a:p>
            <a:r>
              <a:rPr lang="zh-CN" altLang="en-US"/>
              <a:t>功能视角：</a:t>
            </a:r>
            <a:r>
              <a:rPr lang="zh-CN" altLang="en-US" sz="1800"/>
              <a:t>组件是从整体使用视角展开的(系统管理)，平台是从整体功能视角展开的，整体的实现视角无需涉及</a:t>
            </a:r>
            <a:endParaRPr lang="zh-CN" altLang="en-US" sz="1800"/>
          </a:p>
          <a:p>
            <a:pPr lvl="1"/>
            <a:r>
              <a:rPr lang="zh-CN" altLang="en-US"/>
              <a:t>业务范围：全绑定(框架)，</a:t>
            </a:r>
            <a:r>
              <a:rPr lang="zh-CN" altLang="en-US">
                <a:sym typeface="+mn-ea"/>
              </a:rPr>
              <a:t>半通用</a:t>
            </a:r>
            <a:r>
              <a:rPr lang="en-US" altLang="zh-CN">
                <a:sym typeface="+mn-ea"/>
              </a:rPr>
              <a:t>(</a:t>
            </a:r>
            <a:r>
              <a:rPr lang="zh-CN" altLang="en-US"/>
              <a:t>专用插件</a:t>
            </a:r>
            <a:r>
              <a:rPr lang="en-US" altLang="zh-CN"/>
              <a:t>/</a:t>
            </a:r>
            <a:r>
              <a:rPr lang="zh-CN" altLang="en-US"/>
              <a:t>运行时</a:t>
            </a:r>
            <a:r>
              <a:rPr lang="en-US" altLang="zh-CN"/>
              <a:t>/</a:t>
            </a:r>
            <a:r>
              <a:rPr lang="zh-CN" altLang="en-US"/>
              <a:t>容器</a:t>
            </a:r>
            <a:r>
              <a:rPr lang="en-US" altLang="zh-CN"/>
              <a:t>/</a:t>
            </a:r>
            <a:r>
              <a:rPr lang="zh-CN" altLang="en-US"/>
              <a:t>整机封装)，</a:t>
            </a:r>
            <a:r>
              <a:rPr lang="zh-CN" altLang="en-US">
                <a:sym typeface="+mn-ea"/>
              </a:rPr>
              <a:t>全通用</a:t>
            </a:r>
            <a:r>
              <a:rPr lang="en-US" altLang="zh-CN">
                <a:sym typeface="+mn-ea"/>
              </a:rPr>
              <a:t>(</a:t>
            </a:r>
            <a:r>
              <a:rPr lang="zh-CN" altLang="en-US">
                <a:sym typeface="+mn-ea"/>
              </a:rPr>
              <a:t>通用插件</a:t>
            </a:r>
            <a:r>
              <a:rPr lang="en-US" altLang="zh-CN">
                <a:sym typeface="+mn-ea"/>
              </a:rPr>
              <a:t>/</a:t>
            </a:r>
            <a:r>
              <a:rPr lang="zh-CN" altLang="en-US">
                <a:sym typeface="+mn-ea"/>
              </a:rPr>
              <a:t>运行时</a:t>
            </a:r>
            <a:r>
              <a:rPr lang="en-US" altLang="zh-CN">
                <a:sym typeface="+mn-ea"/>
              </a:rPr>
              <a:t>/</a:t>
            </a:r>
            <a:r>
              <a:rPr lang="zh-CN" altLang="en-US">
                <a:sym typeface="+mn-ea"/>
              </a:rPr>
              <a:t>容器</a:t>
            </a:r>
            <a:r>
              <a:rPr lang="en-US" altLang="zh-CN">
                <a:sym typeface="+mn-ea"/>
              </a:rPr>
              <a:t>/</a:t>
            </a:r>
            <a:r>
              <a:rPr lang="zh-CN" altLang="en-US">
                <a:sym typeface="+mn-ea"/>
              </a:rPr>
              <a:t>整机封装</a:t>
            </a:r>
            <a:r>
              <a:rPr lang="zh-CN" altLang="en-US"/>
              <a:t>)</a:t>
            </a:r>
            <a:endParaRPr lang="zh-CN" altLang="en-US"/>
          </a:p>
          <a:p>
            <a:pPr lvl="1"/>
            <a:r>
              <a:rPr lang="zh-CN" altLang="en-US"/>
              <a:t>使用类型：源码/开发/运行/数据（帮助/语言/符号等）</a:t>
            </a:r>
            <a:endParaRPr lang="zh-CN" altLang="en-US"/>
          </a:p>
          <a:p>
            <a:pPr lvl="1"/>
            <a:r>
              <a:rPr lang="zh-CN" altLang="en-US"/>
              <a:t>兼容关系：</a:t>
            </a:r>
            <a:r>
              <a:t>ABI/API/辅助内容，基础库/运行时/普通库/专用库和框架/可执行程序/整机封装，帮助/数据/符号</a:t>
            </a:r>
          </a:p>
          <a:p>
            <a:r>
              <a:rPr lang="zh-CN" altLang="en-US"/>
              <a:t>使用视角：</a:t>
            </a:r>
            <a:r>
              <a:rPr lang="zh-CN" altLang="en-US" sz="1800"/>
              <a:t>EFI是一种插件，也需要提及；插件只是封装形式，具有递归性质；也包括应用安装</a:t>
            </a:r>
            <a:r>
              <a:rPr lang="en-US" altLang="zh-CN" sz="1800"/>
              <a:t>/</a:t>
            </a:r>
            <a:r>
              <a:rPr lang="zh-CN" altLang="en-US" sz="1800"/>
              <a:t>卸载；及版本</a:t>
            </a:r>
            <a:r>
              <a:rPr lang="en-US" altLang="zh-CN" sz="1800"/>
              <a:t>/</a:t>
            </a:r>
            <a:r>
              <a:rPr lang="zh-CN" altLang="en-US" sz="1800"/>
              <a:t>依赖</a:t>
            </a:r>
            <a:endParaRPr lang="zh-CN" altLang="en-US" sz="1800"/>
          </a:p>
          <a:p>
            <a:pPr lvl="1"/>
            <a:r>
              <a:rPr lang="zh-CN" altLang="en-US"/>
              <a:t>存储形式：</a:t>
            </a:r>
            <a:r>
              <a:t>插件(库/可执行程序)/安装包/容器/镜像/ISO/下载源/PXE，安装后的布局和配置</a:t>
            </a:r>
            <a:r>
              <a:rPr lang="zh-CN"/>
              <a:t>。</a:t>
            </a:r>
            <a:endParaRPr lang="zh-CN"/>
          </a:p>
          <a:p>
            <a:pPr lvl="1"/>
            <a:r>
              <a:rPr lang="zh-CN" altLang="en-US"/>
              <a:t>运行方式：框架运行(基础/扩展/应用)/库和可执行程序使用(基础/扩展/应用)/跨语言调用，运行时/容器/整机封装</a:t>
            </a:r>
            <a:endParaRPr lang="zh-CN" altLang="en-US"/>
          </a:p>
          <a:p>
            <a:pPr lvl="1"/>
            <a:r>
              <a:rPr lang="zh-CN"/>
              <a:t>部署方法：</a:t>
            </a:r>
            <a:r>
              <a:t>安装卸载</a:t>
            </a:r>
            <a:r>
              <a:rPr lang="en-US"/>
              <a:t>(</a:t>
            </a:r>
            <a:r>
              <a:rPr lang="zh-CN" altLang="en-US"/>
              <a:t>引导</a:t>
            </a:r>
            <a:r>
              <a:rPr lang="en-US" altLang="zh-CN"/>
              <a:t>/</a:t>
            </a:r>
            <a:r>
              <a:rPr lang="zh-CN" altLang="en-US"/>
              <a:t>系统</a:t>
            </a:r>
            <a:r>
              <a:rPr lang="en-US" altLang="zh-CN"/>
              <a:t>/</a:t>
            </a:r>
            <a:r>
              <a:rPr lang="zh-CN" altLang="en-US"/>
              <a:t>平台</a:t>
            </a:r>
            <a:r>
              <a:rPr lang="en-US" altLang="zh-CN"/>
              <a:t>/</a:t>
            </a:r>
            <a:r>
              <a:rPr lang="zh-CN" altLang="en-US"/>
              <a:t>应用级</a:t>
            </a:r>
            <a:r>
              <a:rPr lang="en-US"/>
              <a:t>)</a:t>
            </a:r>
            <a:r>
              <a:rPr lang="zh-CN" altLang="en-US"/>
              <a:t>，</a:t>
            </a:r>
            <a:r>
              <a:t>升级(离线</a:t>
            </a:r>
            <a:r>
              <a:rPr lang="zh-CN"/>
              <a:t>升级</a:t>
            </a:r>
            <a:r>
              <a:t>/在线</a:t>
            </a:r>
            <a:r>
              <a:rPr lang="zh-CN"/>
              <a:t>升级，引导</a:t>
            </a:r>
            <a:r>
              <a:rPr lang="en-US" altLang="zh-CN"/>
              <a:t>/</a:t>
            </a:r>
            <a:r>
              <a:rPr lang="zh-CN" altLang="en-US"/>
              <a:t>系统</a:t>
            </a:r>
            <a:r>
              <a:rPr lang="en-US" altLang="zh-CN"/>
              <a:t>/</a:t>
            </a:r>
            <a:r>
              <a:rPr lang="zh-CN" altLang="en-US"/>
              <a:t>平台</a:t>
            </a:r>
            <a:r>
              <a:rPr lang="en-US" altLang="zh-CN"/>
              <a:t>/</a:t>
            </a:r>
            <a:r>
              <a:rPr lang="zh-CN" altLang="en-US"/>
              <a:t>应用级</a:t>
            </a:r>
            <a:r>
              <a:t>)</a:t>
            </a:r>
            <a:endParaRPr>
              <a:sym typeface="+mn-ea"/>
            </a:endParaRPr>
          </a:p>
          <a:p>
            <a:r>
              <a:rPr lang="zh-CN" altLang="en-US"/>
              <a:t>实现视角：</a:t>
            </a:r>
            <a:r>
              <a:rPr lang="zh-CN" altLang="en-US" sz="1800"/>
              <a:t>包含应用的安装包制作</a:t>
            </a:r>
            <a:r>
              <a:rPr lang="en-US" altLang="zh-CN" sz="1800"/>
              <a:t>(</a:t>
            </a:r>
            <a:r>
              <a:rPr lang="zh-CN" altLang="en-US" sz="1800"/>
              <a:t>它们也属于平台提供的功能，有相关的组件支撑</a:t>
            </a:r>
            <a:r>
              <a:rPr lang="en-US" altLang="zh-CN" sz="1800"/>
              <a:t>)</a:t>
            </a:r>
            <a:endParaRPr lang="zh-CN" altLang="en-US"/>
          </a:p>
          <a:p>
            <a:pPr lvl="1"/>
            <a:r>
              <a:rPr lang="zh-CN">
                <a:sym typeface="+mn-ea"/>
              </a:rPr>
              <a:t>制作：</a:t>
            </a:r>
            <a:r>
              <a:rPr>
                <a:sym typeface="+mn-ea"/>
              </a:rPr>
              <a:t>插件(库/可执行程序)/安装包/容器/镜像/ISO/下载源/PXE的制作</a:t>
            </a:r>
            <a:endParaRPr>
              <a:sym typeface="+mn-ea"/>
            </a:endParaRPr>
          </a:p>
          <a:p>
            <a:pPr lvl="1"/>
            <a:r>
              <a:rPr lang="zh-CN">
                <a:sym typeface="+mn-ea"/>
              </a:rPr>
              <a:t>工具：工具链（含各类包管理工具和上传下载工具），调试监控工具，</a:t>
            </a:r>
            <a:r>
              <a:rPr>
                <a:sym typeface="+mn-ea"/>
              </a:rPr>
              <a:t>版本</a:t>
            </a:r>
            <a:r>
              <a:rPr lang="zh-CN">
                <a:sym typeface="+mn-ea"/>
              </a:rPr>
              <a:t>管理</a:t>
            </a:r>
            <a:endParaRPr lang="zh-CN">
              <a:sym typeface="+mn-ea"/>
            </a:endParaRPr>
          </a:p>
          <a:p>
            <a:pPr lvl="1"/>
            <a:r>
              <a:rPr lang="zh-CN">
                <a:sym typeface="+mn-ea"/>
              </a:rPr>
              <a:t>环境：</a:t>
            </a:r>
            <a:r>
              <a:rPr>
                <a:sym typeface="+mn-ea"/>
              </a:rPr>
              <a:t>运行/制作/调试环境</a:t>
            </a:r>
            <a:endParaRPr lang="zh-CN" altLang="en-US"/>
          </a:p>
          <a:p>
            <a:r>
              <a:rPr lang="zh-CN" altLang="en-US"/>
              <a:t>发展趋势：</a:t>
            </a:r>
            <a:r>
              <a:rPr lang="zh-CN" altLang="en-US" sz="1800"/>
              <a:t>(但版本管理和兼容性问题会始终是程序员和系统管理人员要面对的问题之一)</a:t>
            </a:r>
            <a:endParaRPr lang="zh-CN" altLang="en-US"/>
          </a:p>
          <a:p>
            <a:pPr lvl="1"/>
            <a:r>
              <a:rPr lang="zh-CN" altLang="en-US"/>
              <a:t>跨语言：Java/JS/Python/Rust/Go包统一管理，源码包统一管理（基于git之上的repo会更为普遍）</a:t>
            </a:r>
            <a:endParaRPr lang="zh-CN" altLang="en-US"/>
          </a:p>
          <a:p>
            <a:pPr lvl="1"/>
            <a:r>
              <a:rPr lang="zh-CN" altLang="en-US"/>
              <a:t>分布式：跨多机器运行管理，促进分布式操作系统的逐步成型</a:t>
            </a:r>
            <a:endParaRPr lang="zh-CN" altLang="en-US"/>
          </a:p>
          <a:p>
            <a:pPr lvl="1"/>
            <a:r>
              <a:rPr lang="zh-CN" altLang="en-US"/>
              <a:t>消壁垒：国际壁垒（github/dockerhub），生态壁垒（龙芯/申威/RISCV），版权壁垒</a:t>
            </a:r>
            <a:endParaRPr lang="zh-CN"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255770" y="262255"/>
            <a:ext cx="3940810" cy="466090"/>
          </a:xfrm>
        </p:spPr>
        <p:txBody>
          <a:bodyPr>
            <a:noAutofit/>
          </a:bodyPr>
          <a:p>
            <a:r>
              <a:rPr lang="zh-CN" altLang="en-US" sz="2800"/>
              <a:t>系统的扩展平台</a:t>
            </a:r>
            <a:endParaRPr lang="en-US" altLang="zh-CN" sz="2800"/>
          </a:p>
        </p:txBody>
      </p:sp>
      <p:sp>
        <p:nvSpPr>
          <p:cNvPr id="4" name="Content Placeholder 3"/>
          <p:cNvSpPr>
            <a:spLocks noGrp="1"/>
          </p:cNvSpPr>
          <p:nvPr>
            <p:ph idx="1"/>
          </p:nvPr>
        </p:nvSpPr>
        <p:spPr>
          <a:xfrm>
            <a:off x="152400" y="826135"/>
            <a:ext cx="11964035" cy="5859145"/>
          </a:xfrm>
        </p:spPr>
        <p:txBody>
          <a:bodyPr>
            <a:normAutofit/>
          </a:bodyPr>
          <a:p>
            <a:r>
              <a:rPr lang="zh-CN" altLang="en-US"/>
              <a:t>基础类：</a:t>
            </a:r>
            <a:r>
              <a:rPr lang="zh-CN" altLang="en-US" sz="1800"/>
              <a:t>需要说明系统扩展平台的包含范围（例如</a:t>
            </a:r>
            <a:r>
              <a:rPr lang="en-US" altLang="zh-CN" sz="1800"/>
              <a:t>DNS</a:t>
            </a:r>
            <a:r>
              <a:rPr lang="zh-CN" altLang="en-US" sz="1800"/>
              <a:t>等服务）</a:t>
            </a:r>
            <a:endParaRPr lang="zh-CN" altLang="en-US"/>
          </a:p>
          <a:p>
            <a:pPr lvl="1"/>
            <a:r>
              <a:rPr lang="zh-CN" altLang="en-US"/>
              <a:t>处理：</a:t>
            </a:r>
            <a:endParaRPr lang="zh-CN" altLang="en-US"/>
          </a:p>
          <a:p>
            <a:pPr lvl="2"/>
            <a:r>
              <a:rPr lang="zh-CN" altLang="en-US"/>
              <a:t>主引擎：Java/JS/Python/C++/Go/Rust/Perl，shell不算，包管理（maven, npm</a:t>
            </a:r>
            <a:r>
              <a:rPr lang="en-US" altLang="zh-CN"/>
              <a:t>/yarn</a:t>
            </a:r>
            <a:r>
              <a:rPr lang="zh-CN" altLang="en-US"/>
              <a:t>, pip）</a:t>
            </a:r>
            <a:endParaRPr lang="zh-CN" altLang="en-US"/>
          </a:p>
          <a:p>
            <a:pPr lvl="2"/>
            <a:r>
              <a:rPr lang="zh-CN" altLang="en-US"/>
              <a:t>协引擎：Mesa, C</a:t>
            </a:r>
            <a:r>
              <a:rPr lang="en-US" altLang="zh-CN"/>
              <a:t>UDA</a:t>
            </a:r>
            <a:r>
              <a:rPr lang="zh-CN" altLang="en-US"/>
              <a:t>,  CANN（神经网络计算架构，被MindSpore使用）</a:t>
            </a:r>
            <a:endParaRPr lang="zh-CN" altLang="en-US"/>
          </a:p>
          <a:p>
            <a:pPr lvl="2"/>
            <a:r>
              <a:rPr lang="zh-CN" altLang="en-US"/>
              <a:t>接口类：Web服务，Tomcat, war包</a:t>
            </a:r>
            <a:endParaRPr lang="zh-CN" altLang="en-US"/>
          </a:p>
          <a:p>
            <a:pPr lvl="1"/>
            <a:r>
              <a:rPr lang="zh-CN" altLang="en-US"/>
              <a:t>存储：文件系统</a:t>
            </a:r>
            <a:r>
              <a:rPr lang="en-US" altLang="zh-CN"/>
              <a:t>/</a:t>
            </a:r>
            <a:r>
              <a:rPr lang="zh-CN" altLang="en-US"/>
              <a:t>关系数据库</a:t>
            </a:r>
            <a:r>
              <a:rPr lang="en-US" altLang="zh-CN"/>
              <a:t>/</a:t>
            </a:r>
            <a:r>
              <a:rPr lang="zh-CN" altLang="en-US"/>
              <a:t>对象数据库</a:t>
            </a:r>
            <a:r>
              <a:rPr lang="en-US" altLang="zh-CN"/>
              <a:t>/</a:t>
            </a:r>
            <a:r>
              <a:rPr lang="zh-CN" altLang="en-US"/>
              <a:t>索引数据库，分布式说明，协引擎协助处理</a:t>
            </a:r>
            <a:endParaRPr lang="zh-CN" altLang="en-US"/>
          </a:p>
          <a:p>
            <a:pPr lvl="1"/>
            <a:r>
              <a:rPr lang="zh-CN" altLang="en-US"/>
              <a:t>传输：链接类(DNS/路由/vpn服务)，内容类(搜索引擎/推荐引擎，同存储和自然语言处理交互紧密)</a:t>
            </a:r>
            <a:endParaRPr lang="zh-CN" altLang="en-US"/>
          </a:p>
          <a:p>
            <a:r>
              <a:rPr lang="zh-CN" altLang="en-US"/>
              <a:t>集成类：</a:t>
            </a:r>
            <a:endParaRPr lang="zh-CN" altLang="en-US"/>
          </a:p>
          <a:p>
            <a:pPr lvl="1"/>
            <a:r>
              <a:rPr lang="zh-CN" altLang="en-US"/>
              <a:t>整体说明：同具体业务领域相关（使用各种不同的语言），例如科学计算/公文流转/铁路调度/地理信息系统</a:t>
            </a:r>
            <a:endParaRPr lang="zh-CN" altLang="en-US" sz="1800"/>
          </a:p>
          <a:p>
            <a:pPr lvl="1"/>
            <a:r>
              <a:rPr lang="zh-CN" altLang="en-US"/>
              <a:t>基本示例：基础结构为例说明：前端/Web服务/数据库，小程序平台（</a:t>
            </a:r>
            <a:r>
              <a:rPr lang="zh-CN" altLang="en-US">
                <a:sym typeface="+mn-ea"/>
              </a:rPr>
              <a:t>微信</a:t>
            </a:r>
            <a:r>
              <a:rPr lang="en-US" altLang="zh-CN">
                <a:sym typeface="+mn-ea"/>
              </a:rPr>
              <a:t>/</a:t>
            </a:r>
            <a:r>
              <a:rPr lang="zh-CN" altLang="en-US">
                <a:sym typeface="+mn-ea"/>
              </a:rPr>
              <a:t>支付宝</a:t>
            </a:r>
            <a:r>
              <a:rPr lang="zh-CN" altLang="en-US"/>
              <a:t>）</a:t>
            </a:r>
            <a:endParaRPr lang="zh-CN" altLang="en-US" sz="1800"/>
          </a:p>
          <a:p>
            <a:pPr lvl="1"/>
            <a:r>
              <a:rPr lang="zh-CN" altLang="en-US"/>
              <a:t>复杂示例：AI为例说明（发展最快最明显）</a:t>
            </a:r>
            <a:endParaRPr lang="zh-CN" altLang="en-US"/>
          </a:p>
          <a:p>
            <a:pPr lvl="2"/>
            <a:r>
              <a:rPr lang="zh-CN" altLang="en-US"/>
              <a:t>相关业务领域的公共内容与协处理集成(CANN/CUDA)，并融合传统的存储能力和传输能力（例如搜索推荐）</a:t>
            </a:r>
            <a:endParaRPr lang="zh-CN" altLang="en-US"/>
          </a:p>
          <a:p>
            <a:pPr lvl="2"/>
            <a:r>
              <a:rPr lang="zh-CN" altLang="en-US"/>
              <a:t>训练/模型/数据，配置参数，接口调用与整体集成，开发专用扩展算子和插件。</a:t>
            </a:r>
            <a:endParaRPr lang="zh-CN" altLang="en-US"/>
          </a:p>
          <a:p>
            <a:pPr lvl="2"/>
            <a:r>
              <a:rPr lang="zh-CN" altLang="en-US"/>
              <a:t>涉及各类语言(含自然语言处理)，各种框架(PyTorch/TensorFlow/MindSpor</a:t>
            </a:r>
            <a:r>
              <a:rPr lang="en-US" altLang="zh-CN"/>
              <a:t>e</a:t>
            </a:r>
            <a:r>
              <a:rPr lang="zh-CN" altLang="en-US"/>
              <a:t>等)和库，结合各种形式的存储和搜索推荐</a:t>
            </a:r>
            <a:endParaRPr lang="zh-CN" altLang="en-US"/>
          </a:p>
          <a:p>
            <a:r>
              <a:rPr lang="zh-CN" altLang="en-US"/>
              <a:t>发展趋势：</a:t>
            </a:r>
            <a:r>
              <a:rPr lang="zh-CN" altLang="en-US" sz="1800"/>
              <a:t>需要强调基础平台推动的大部分内容都算作扩展平台的发展趋势</a:t>
            </a:r>
            <a:endParaRPr lang="zh-CN" altLang="en-US"/>
          </a:p>
          <a:p>
            <a:pPr lvl="1"/>
            <a:r>
              <a:rPr lang="zh-CN" altLang="en-US"/>
              <a:t>推动拉动：基础平台（基础语言和组件扩展</a:t>
            </a:r>
            <a:r>
              <a:rPr lang="en-US" altLang="zh-CN"/>
              <a:t>/</a:t>
            </a:r>
            <a:r>
              <a:rPr lang="zh-CN" altLang="en-US"/>
              <a:t>相互带动）/应用业务（新领域</a:t>
            </a:r>
            <a:r>
              <a:rPr lang="en-US" altLang="zh-CN"/>
              <a:t>/</a:t>
            </a:r>
            <a:r>
              <a:rPr lang="zh-CN" altLang="en-US"/>
              <a:t>新模型</a:t>
            </a:r>
            <a:r>
              <a:rPr lang="en-US" altLang="zh-CN"/>
              <a:t>/</a:t>
            </a:r>
            <a:r>
              <a:rPr lang="zh-CN" altLang="en-US"/>
              <a:t>市场量变到质变）</a:t>
            </a:r>
            <a:endParaRPr lang="zh-CN" altLang="en-US"/>
          </a:p>
          <a:p>
            <a:pPr lvl="1"/>
            <a:r>
              <a:rPr lang="zh-CN" altLang="en-US"/>
              <a:t>整合提升：主协处理融合存储和网络，算法结合更紧密，更多协处理算子</a:t>
            </a:r>
            <a:endParaRPr lang="zh-CN" altLang="en-US"/>
          </a:p>
          <a:p>
            <a:pPr lvl="1"/>
            <a:r>
              <a:rPr lang="en-US" altLang="zh-CN"/>
              <a:t>              </a:t>
            </a:r>
            <a:r>
              <a:rPr lang="zh-CN" altLang="en-US"/>
              <a:t>：扩展平台自身内部组件和语言的完善（例如音视频类内部语言的不断完善）</a:t>
            </a:r>
            <a:r>
              <a:rPr lang="en-US" altLang="zh-CN"/>
              <a:t> </a:t>
            </a:r>
            <a:endParaRPr lang="en-US" altLang="zh-CN"/>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255770" y="240665"/>
            <a:ext cx="3940810" cy="466090"/>
          </a:xfrm>
        </p:spPr>
        <p:txBody>
          <a:bodyPr>
            <a:noAutofit/>
          </a:bodyPr>
          <a:p>
            <a:r>
              <a:rPr lang="zh-CN" altLang="en-US" sz="2800"/>
              <a:t>系统的基础平台</a:t>
            </a:r>
            <a:endParaRPr lang="en-US" altLang="zh-CN" sz="2800"/>
          </a:p>
        </p:txBody>
      </p:sp>
      <p:sp>
        <p:nvSpPr>
          <p:cNvPr id="4" name="Content Placeholder 3"/>
          <p:cNvSpPr>
            <a:spLocks noGrp="1"/>
          </p:cNvSpPr>
          <p:nvPr>
            <p:ph idx="1"/>
          </p:nvPr>
        </p:nvSpPr>
        <p:spPr>
          <a:xfrm>
            <a:off x="152400" y="1019810"/>
            <a:ext cx="11964035" cy="5631180"/>
          </a:xfrm>
        </p:spPr>
        <p:txBody>
          <a:bodyPr>
            <a:normAutofit/>
          </a:bodyPr>
          <a:p>
            <a:r>
              <a:rPr lang="zh-CN" altLang="en-US"/>
              <a:t>操作系统：</a:t>
            </a:r>
            <a:endParaRPr lang="zh-CN" altLang="en-US"/>
          </a:p>
          <a:p>
            <a:pPr lvl="1"/>
            <a:r>
              <a:rPr lang="zh-CN" altLang="en-US" sz="1800"/>
              <a:t>功能视角：回顾硬件建模，软件建模和平台建模</a:t>
            </a:r>
            <a:endParaRPr lang="zh-CN" altLang="en-US" sz="1800"/>
          </a:p>
          <a:p>
            <a:pPr lvl="1"/>
            <a:r>
              <a:rPr lang="zh-CN" altLang="en-US" sz="1800"/>
              <a:t>使用视角：程序(图形/后台/驱动)，管理(安装卸载/配置监控/安全权限)，用户(图形/命令/虚拟化)</a:t>
            </a:r>
            <a:endParaRPr lang="zh-CN" altLang="en-US" sz="1800"/>
          </a:p>
          <a:p>
            <a:pPr lvl="1"/>
            <a:r>
              <a:rPr lang="zh-CN" altLang="en-US"/>
              <a:t>实现视角：结合PPT图进行说明如何实现功能视角的各层建模，并支持使用视角</a:t>
            </a:r>
            <a:endParaRPr lang="zh-CN" altLang="en-US"/>
          </a:p>
          <a:p>
            <a:r>
              <a:rPr lang="zh-CN" altLang="en-US"/>
              <a:t>虚拟机：</a:t>
            </a:r>
            <a:r>
              <a:rPr lang="zh-CN" altLang="en-US" sz="1800"/>
              <a:t>（主处理，设备，环境）</a:t>
            </a:r>
            <a:endParaRPr lang="zh-CN" altLang="en-US" sz="1800"/>
          </a:p>
          <a:p>
            <a:pPr lvl="1"/>
            <a:r>
              <a:rPr lang="zh-CN" altLang="en-US"/>
              <a:t>重量级：内核到用户态全虚拟化，QEMU，cgroup，namespace，virio，硬件支持(CPU/网卡/显卡)</a:t>
            </a:r>
            <a:endParaRPr lang="zh-CN" altLang="en-US"/>
          </a:p>
          <a:p>
            <a:pPr lvl="1"/>
            <a:r>
              <a:rPr lang="zh-CN" altLang="en-US"/>
              <a:t>轻量级：内核到用户态全虚拟化，QEMU，cgroup，namespace，virio，硬件支持(CPU/网卡/显卡)</a:t>
            </a:r>
            <a:endParaRPr lang="zh-CN" altLang="en-US"/>
          </a:p>
          <a:p>
            <a:pPr lvl="1"/>
            <a:r>
              <a:rPr lang="zh-CN" altLang="en-US"/>
              <a:t>桌面级：客户端/服务端，VNC/FreeRDP协议；配合重量级/轻量级</a:t>
            </a:r>
            <a:endParaRPr lang="zh-CN" altLang="en-US"/>
          </a:p>
          <a:p>
            <a:r>
              <a:rPr lang="zh-CN" altLang="en-US"/>
              <a:t>分布式：</a:t>
            </a:r>
            <a:endParaRPr lang="zh-CN" altLang="en-US"/>
          </a:p>
          <a:p>
            <a:pPr lvl="1"/>
            <a:r>
              <a:rPr lang="zh-CN" altLang="en-US" sz="1800"/>
              <a:t>重量级：完整使用单机，重量/轻量级虚拟机，管理平台，桌面级虚拟机；OpenStack，阿里飞天操作系统</a:t>
            </a:r>
            <a:endParaRPr lang="zh-CN" altLang="en-US" sz="1800"/>
          </a:p>
          <a:p>
            <a:pPr lvl="1"/>
            <a:r>
              <a:rPr lang="zh-CN" altLang="en-US" sz="1800"/>
              <a:t>轻量级：部分使用单机，基于容器，管理平台，桌面级虚拟机；Kubernetes，华为鸿蒙系统</a:t>
            </a:r>
            <a:endParaRPr lang="zh-CN" altLang="en-US" sz="1800"/>
          </a:p>
          <a:p>
            <a:pPr lvl="1"/>
            <a:r>
              <a:rPr lang="zh-CN" altLang="en-US" sz="1800"/>
              <a:t>服务级：简单使用单机，基于业务模型多机协同，同类集群+异类协同；客户端/Web服务+计算集群/存储集群</a:t>
            </a:r>
            <a:endParaRPr lang="zh-CN" altLang="en-US" sz="1800"/>
          </a:p>
          <a:p>
            <a:r>
              <a:rPr lang="zh-CN" altLang="en-US"/>
              <a:t>发展趋势：</a:t>
            </a:r>
            <a:endParaRPr lang="zh-CN" altLang="en-US"/>
          </a:p>
          <a:p>
            <a:pPr lvl="1"/>
            <a:r>
              <a:rPr lang="zh-CN" altLang="en-US"/>
              <a:t>规范化：基于分布式(多机器/机器生物)整体建立新的模型（语言，任务，环境）</a:t>
            </a:r>
            <a:endParaRPr lang="zh-CN" altLang="en-US"/>
          </a:p>
          <a:p>
            <a:pPr lvl="1"/>
            <a:r>
              <a:rPr lang="zh-CN" altLang="en-US"/>
              <a:t>物联化：边缘嵌入式设备的接入智能化（网络传输，家电摄像头接入普遍化，各类设备开关机使用）</a:t>
            </a:r>
            <a:endParaRPr lang="zh-CN" altLang="en-US"/>
          </a:p>
          <a:p>
            <a:pPr lvl="1"/>
            <a:r>
              <a:rPr lang="zh-CN" altLang="en-US"/>
              <a:t>智能化：自然语言集成，各类传感器的发展集成（三维/人脸语音/便携/汽车），三维地图集成/展示</a:t>
            </a:r>
            <a:endParaRPr lang="zh-CN"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 name="Rectangles 34"/>
          <p:cNvSpPr/>
          <p:nvPr/>
        </p:nvSpPr>
        <p:spPr>
          <a:xfrm>
            <a:off x="3423285" y="6259195"/>
            <a:ext cx="1428750" cy="393065"/>
          </a:xfrm>
          <a:prstGeom prst="rect">
            <a:avLst/>
          </a:prstGeom>
          <a:solidFill>
            <a:schemeClr val="bg1">
              <a:lumMod val="85000"/>
            </a:schemeClr>
          </a:solidFill>
          <a:ln>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sz="1600" b="1">
                <a:solidFill>
                  <a:schemeClr val="tx1"/>
                </a:solidFill>
              </a:rPr>
              <a:t>网络套接字</a:t>
            </a:r>
            <a:endParaRPr lang="zh-CN" altLang="en-US" sz="1600" b="1">
              <a:solidFill>
                <a:schemeClr val="tx1"/>
              </a:solidFill>
            </a:endParaRPr>
          </a:p>
        </p:txBody>
      </p:sp>
      <p:sp>
        <p:nvSpPr>
          <p:cNvPr id="58" name="Rectangles 57"/>
          <p:cNvSpPr/>
          <p:nvPr/>
        </p:nvSpPr>
        <p:spPr>
          <a:xfrm>
            <a:off x="3812540" y="3733165"/>
            <a:ext cx="1584325" cy="363220"/>
          </a:xfrm>
          <a:prstGeom prst="rect">
            <a:avLst/>
          </a:prstGeom>
          <a:solidFill>
            <a:schemeClr val="accent4">
              <a:lumMod val="60000"/>
              <a:lumOff val="40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en-US" altLang="zh-CN" b="1">
                <a:solidFill>
                  <a:schemeClr val="tx1"/>
                </a:solidFill>
              </a:rPr>
              <a:t>1</a:t>
            </a:r>
            <a:r>
              <a:rPr lang="zh-CN" altLang="en-US" b="1">
                <a:solidFill>
                  <a:schemeClr val="tx1"/>
                </a:solidFill>
              </a:rPr>
              <a:t>号进程</a:t>
            </a:r>
            <a:endParaRPr lang="zh-CN" altLang="en-US" b="1">
              <a:solidFill>
                <a:schemeClr val="tx1"/>
              </a:solidFill>
            </a:endParaRPr>
          </a:p>
        </p:txBody>
      </p:sp>
      <p:cxnSp>
        <p:nvCxnSpPr>
          <p:cNvPr id="2" name="Straight Connector 1"/>
          <p:cNvCxnSpPr/>
          <p:nvPr/>
        </p:nvCxnSpPr>
        <p:spPr>
          <a:xfrm>
            <a:off x="731520" y="3034030"/>
            <a:ext cx="11449685" cy="64770"/>
          </a:xfrm>
          <a:prstGeom prst="line">
            <a:avLst/>
          </a:prstGeom>
          <a:ln w="28575" cmpd="sng">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3" name="Text Box 2"/>
          <p:cNvSpPr txBox="1"/>
          <p:nvPr/>
        </p:nvSpPr>
        <p:spPr>
          <a:xfrm>
            <a:off x="83185" y="5345430"/>
            <a:ext cx="457835" cy="1198880"/>
          </a:xfrm>
          <a:prstGeom prst="rect">
            <a:avLst/>
          </a:prstGeom>
          <a:noFill/>
        </p:spPr>
        <p:txBody>
          <a:bodyPr wrap="square" rtlCol="0">
            <a:spAutoFit/>
          </a:bodyPr>
          <a:p>
            <a:r>
              <a:rPr lang="zh-CN" altLang="en-US" sz="2400" b="1"/>
              <a:t>内核态</a:t>
            </a:r>
            <a:endParaRPr lang="zh-CN" altLang="en-US" sz="2400" b="1"/>
          </a:p>
        </p:txBody>
      </p:sp>
      <p:sp>
        <p:nvSpPr>
          <p:cNvPr id="4" name="Text Box 3"/>
          <p:cNvSpPr txBox="1"/>
          <p:nvPr/>
        </p:nvSpPr>
        <p:spPr>
          <a:xfrm>
            <a:off x="857250" y="3221355"/>
            <a:ext cx="521970" cy="1568450"/>
          </a:xfrm>
          <a:prstGeom prst="rect">
            <a:avLst/>
          </a:prstGeom>
          <a:noFill/>
        </p:spPr>
        <p:txBody>
          <a:bodyPr wrap="square" rtlCol="0">
            <a:spAutoFit/>
          </a:bodyPr>
          <a:p>
            <a:r>
              <a:rPr lang="zh-CN" altLang="en-US" sz="2400" b="1"/>
              <a:t>基础系统</a:t>
            </a:r>
            <a:endParaRPr lang="zh-CN" altLang="en-US" sz="2400" b="1"/>
          </a:p>
        </p:txBody>
      </p:sp>
      <p:cxnSp>
        <p:nvCxnSpPr>
          <p:cNvPr id="5" name="Straight Connector 4"/>
          <p:cNvCxnSpPr/>
          <p:nvPr/>
        </p:nvCxnSpPr>
        <p:spPr>
          <a:xfrm>
            <a:off x="-10795" y="4897120"/>
            <a:ext cx="12203430" cy="0"/>
          </a:xfrm>
          <a:prstGeom prst="line">
            <a:avLst/>
          </a:prstGeom>
          <a:ln w="28575" cmpd="sng">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8" name="Text Box 7"/>
          <p:cNvSpPr txBox="1"/>
          <p:nvPr/>
        </p:nvSpPr>
        <p:spPr>
          <a:xfrm>
            <a:off x="93980" y="1433830"/>
            <a:ext cx="457835" cy="1198880"/>
          </a:xfrm>
          <a:prstGeom prst="rect">
            <a:avLst/>
          </a:prstGeom>
          <a:noFill/>
        </p:spPr>
        <p:txBody>
          <a:bodyPr wrap="square" rtlCol="0">
            <a:spAutoFit/>
          </a:bodyPr>
          <a:p>
            <a:r>
              <a:rPr lang="zh-CN" altLang="en-US" sz="2400" b="1"/>
              <a:t>用户态</a:t>
            </a:r>
            <a:endParaRPr lang="zh-CN" altLang="en-US" sz="2400" b="1"/>
          </a:p>
        </p:txBody>
      </p:sp>
      <p:cxnSp>
        <p:nvCxnSpPr>
          <p:cNvPr id="9" name="Straight Connector 8"/>
          <p:cNvCxnSpPr/>
          <p:nvPr/>
        </p:nvCxnSpPr>
        <p:spPr>
          <a:xfrm flipV="1">
            <a:off x="673735" y="10160"/>
            <a:ext cx="21590" cy="4892040"/>
          </a:xfrm>
          <a:prstGeom prst="line">
            <a:avLst/>
          </a:prstGeom>
          <a:ln w="28575" cmpd="sng">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10" name="Text Box 9"/>
          <p:cNvSpPr txBox="1"/>
          <p:nvPr/>
        </p:nvSpPr>
        <p:spPr>
          <a:xfrm>
            <a:off x="868045" y="1630680"/>
            <a:ext cx="521970" cy="1198880"/>
          </a:xfrm>
          <a:prstGeom prst="rect">
            <a:avLst/>
          </a:prstGeom>
          <a:noFill/>
        </p:spPr>
        <p:txBody>
          <a:bodyPr wrap="square" rtlCol="0">
            <a:spAutoFit/>
          </a:bodyPr>
          <a:p>
            <a:r>
              <a:rPr lang="zh-CN" altLang="en-US" sz="2400" b="1"/>
              <a:t>服务器</a:t>
            </a:r>
            <a:endParaRPr lang="zh-CN" altLang="en-US" sz="2400" b="1"/>
          </a:p>
        </p:txBody>
      </p:sp>
      <p:cxnSp>
        <p:nvCxnSpPr>
          <p:cNvPr id="11" name="Straight Connector 10"/>
          <p:cNvCxnSpPr/>
          <p:nvPr/>
        </p:nvCxnSpPr>
        <p:spPr>
          <a:xfrm>
            <a:off x="728980" y="1347470"/>
            <a:ext cx="11449685" cy="64770"/>
          </a:xfrm>
          <a:prstGeom prst="line">
            <a:avLst/>
          </a:prstGeom>
          <a:ln w="28575" cmpd="sng">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2" name="Text Box 11"/>
          <p:cNvSpPr txBox="1"/>
          <p:nvPr/>
        </p:nvSpPr>
        <p:spPr>
          <a:xfrm>
            <a:off x="868045" y="213360"/>
            <a:ext cx="521970" cy="829945"/>
          </a:xfrm>
          <a:prstGeom prst="rect">
            <a:avLst/>
          </a:prstGeom>
          <a:noFill/>
        </p:spPr>
        <p:txBody>
          <a:bodyPr wrap="square" rtlCol="0">
            <a:spAutoFit/>
          </a:bodyPr>
          <a:p>
            <a:r>
              <a:rPr lang="zh-CN" altLang="en-US" sz="2400" b="1"/>
              <a:t>桌面</a:t>
            </a:r>
            <a:endParaRPr lang="zh-CN" altLang="en-US" sz="2400" b="1"/>
          </a:p>
        </p:txBody>
      </p:sp>
      <p:sp>
        <p:nvSpPr>
          <p:cNvPr id="13" name="Text Box 12"/>
          <p:cNvSpPr txBox="1"/>
          <p:nvPr/>
        </p:nvSpPr>
        <p:spPr>
          <a:xfrm>
            <a:off x="868045" y="6108065"/>
            <a:ext cx="1611630" cy="368300"/>
          </a:xfrm>
          <a:prstGeom prst="rect">
            <a:avLst/>
          </a:prstGeom>
          <a:noFill/>
        </p:spPr>
        <p:txBody>
          <a:bodyPr wrap="square" rtlCol="0">
            <a:spAutoFit/>
          </a:bodyPr>
          <a:p>
            <a:r>
              <a:rPr lang="zh-CN" altLang="en-US" b="1">
                <a:solidFill>
                  <a:schemeClr val="tx1">
                    <a:lumMod val="65000"/>
                    <a:lumOff val="35000"/>
                  </a:schemeClr>
                </a:solidFill>
              </a:rPr>
              <a:t>硬件模型主体</a:t>
            </a:r>
            <a:endParaRPr lang="zh-CN" altLang="en-US" b="1">
              <a:solidFill>
                <a:schemeClr val="tx1">
                  <a:lumMod val="65000"/>
                  <a:lumOff val="35000"/>
                </a:schemeClr>
              </a:solidFill>
            </a:endParaRPr>
          </a:p>
        </p:txBody>
      </p:sp>
      <p:sp>
        <p:nvSpPr>
          <p:cNvPr id="14" name="Text Box 13"/>
          <p:cNvSpPr txBox="1"/>
          <p:nvPr/>
        </p:nvSpPr>
        <p:spPr>
          <a:xfrm>
            <a:off x="868045" y="5285105"/>
            <a:ext cx="1611630" cy="368300"/>
          </a:xfrm>
          <a:prstGeom prst="rect">
            <a:avLst/>
          </a:prstGeom>
          <a:noFill/>
        </p:spPr>
        <p:txBody>
          <a:bodyPr wrap="square" rtlCol="0">
            <a:spAutoFit/>
          </a:bodyPr>
          <a:p>
            <a:r>
              <a:rPr lang="zh-CN" altLang="en-US" b="1">
                <a:solidFill>
                  <a:schemeClr val="accent5"/>
                </a:solidFill>
              </a:rPr>
              <a:t>软件模型主体</a:t>
            </a:r>
            <a:endParaRPr lang="zh-CN" altLang="en-US" b="1">
              <a:solidFill>
                <a:schemeClr val="accent5"/>
              </a:solidFill>
            </a:endParaRPr>
          </a:p>
        </p:txBody>
      </p:sp>
      <p:sp>
        <p:nvSpPr>
          <p:cNvPr id="15" name="Text Box 14"/>
          <p:cNvSpPr txBox="1"/>
          <p:nvPr/>
        </p:nvSpPr>
        <p:spPr>
          <a:xfrm>
            <a:off x="2058670" y="3115310"/>
            <a:ext cx="507365" cy="1753235"/>
          </a:xfrm>
          <a:prstGeom prst="rect">
            <a:avLst/>
          </a:prstGeom>
          <a:noFill/>
        </p:spPr>
        <p:txBody>
          <a:bodyPr wrap="square" rtlCol="0">
            <a:spAutoFit/>
          </a:bodyPr>
          <a:p>
            <a:r>
              <a:rPr lang="zh-CN" altLang="en-US" b="1">
                <a:solidFill>
                  <a:schemeClr val="tx1">
                    <a:lumMod val="65000"/>
                    <a:lumOff val="35000"/>
                  </a:schemeClr>
                </a:solidFill>
              </a:rPr>
              <a:t>硬件模型扩展</a:t>
            </a:r>
            <a:endParaRPr lang="zh-CN" altLang="en-US" b="1">
              <a:solidFill>
                <a:schemeClr val="tx1">
                  <a:lumMod val="65000"/>
                  <a:lumOff val="35000"/>
                </a:schemeClr>
              </a:solidFill>
            </a:endParaRPr>
          </a:p>
        </p:txBody>
      </p:sp>
      <p:sp>
        <p:nvSpPr>
          <p:cNvPr id="16" name="Text Box 15"/>
          <p:cNvSpPr txBox="1"/>
          <p:nvPr/>
        </p:nvSpPr>
        <p:spPr>
          <a:xfrm>
            <a:off x="1613535" y="3101975"/>
            <a:ext cx="434340" cy="1753235"/>
          </a:xfrm>
          <a:prstGeom prst="rect">
            <a:avLst/>
          </a:prstGeom>
          <a:noFill/>
        </p:spPr>
        <p:txBody>
          <a:bodyPr wrap="square" rtlCol="0">
            <a:spAutoFit/>
          </a:bodyPr>
          <a:p>
            <a:r>
              <a:rPr lang="zh-CN" altLang="en-US" b="1">
                <a:solidFill>
                  <a:schemeClr val="accent4">
                    <a:lumMod val="75000"/>
                  </a:schemeClr>
                </a:solidFill>
              </a:rPr>
              <a:t>平台模型基础</a:t>
            </a:r>
            <a:endParaRPr lang="zh-CN" altLang="en-US" b="1">
              <a:solidFill>
                <a:schemeClr val="accent4">
                  <a:lumMod val="75000"/>
                </a:schemeClr>
              </a:solidFill>
            </a:endParaRPr>
          </a:p>
        </p:txBody>
      </p:sp>
      <p:sp>
        <p:nvSpPr>
          <p:cNvPr id="17" name="Text Box 16"/>
          <p:cNvSpPr txBox="1"/>
          <p:nvPr/>
        </p:nvSpPr>
        <p:spPr>
          <a:xfrm>
            <a:off x="1537970" y="2004060"/>
            <a:ext cx="1611630" cy="368300"/>
          </a:xfrm>
          <a:prstGeom prst="rect">
            <a:avLst/>
          </a:prstGeom>
          <a:noFill/>
        </p:spPr>
        <p:txBody>
          <a:bodyPr wrap="square" rtlCol="0">
            <a:spAutoFit/>
          </a:bodyPr>
          <a:p>
            <a:r>
              <a:rPr lang="zh-CN" altLang="en-US" b="1">
                <a:solidFill>
                  <a:schemeClr val="accent4">
                    <a:lumMod val="75000"/>
                  </a:schemeClr>
                </a:solidFill>
              </a:rPr>
              <a:t>平台模型主体</a:t>
            </a:r>
            <a:endParaRPr lang="zh-CN" altLang="en-US" b="1">
              <a:solidFill>
                <a:schemeClr val="accent4">
                  <a:lumMod val="75000"/>
                </a:schemeClr>
              </a:solidFill>
            </a:endParaRPr>
          </a:p>
        </p:txBody>
      </p:sp>
      <p:sp>
        <p:nvSpPr>
          <p:cNvPr id="18" name="Text Box 17"/>
          <p:cNvSpPr txBox="1"/>
          <p:nvPr/>
        </p:nvSpPr>
        <p:spPr>
          <a:xfrm>
            <a:off x="1562735" y="498475"/>
            <a:ext cx="1611630" cy="368300"/>
          </a:xfrm>
          <a:prstGeom prst="rect">
            <a:avLst/>
          </a:prstGeom>
          <a:noFill/>
        </p:spPr>
        <p:txBody>
          <a:bodyPr wrap="square" rtlCol="0">
            <a:spAutoFit/>
          </a:bodyPr>
          <a:p>
            <a:r>
              <a:rPr lang="zh-CN" altLang="en-US" b="1">
                <a:solidFill>
                  <a:schemeClr val="accent4">
                    <a:lumMod val="75000"/>
                  </a:schemeClr>
                </a:solidFill>
              </a:rPr>
              <a:t>平台模型扩展</a:t>
            </a:r>
            <a:endParaRPr lang="zh-CN" altLang="en-US" b="1">
              <a:solidFill>
                <a:schemeClr val="accent4">
                  <a:lumMod val="75000"/>
                </a:schemeClr>
              </a:solidFill>
            </a:endParaRPr>
          </a:p>
        </p:txBody>
      </p:sp>
      <p:sp>
        <p:nvSpPr>
          <p:cNvPr id="19" name="Rectangles 18"/>
          <p:cNvSpPr/>
          <p:nvPr/>
        </p:nvSpPr>
        <p:spPr>
          <a:xfrm>
            <a:off x="5066030" y="6260465"/>
            <a:ext cx="3642360" cy="393065"/>
          </a:xfrm>
          <a:prstGeom prst="rect">
            <a:avLst/>
          </a:prstGeom>
          <a:solidFill>
            <a:schemeClr val="bg1">
              <a:lumMod val="85000"/>
            </a:schemeClr>
          </a:solidFill>
          <a:ln>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sz="1600" b="1">
                <a:solidFill>
                  <a:schemeClr val="tx1"/>
                </a:solidFill>
              </a:rPr>
              <a:t>字符设备</a:t>
            </a:r>
            <a:endParaRPr lang="zh-CN" altLang="en-US" sz="1600" b="1">
              <a:solidFill>
                <a:schemeClr val="tx1"/>
              </a:solidFill>
            </a:endParaRPr>
          </a:p>
        </p:txBody>
      </p:sp>
      <p:sp>
        <p:nvSpPr>
          <p:cNvPr id="20" name="Rectangles 19"/>
          <p:cNvSpPr/>
          <p:nvPr/>
        </p:nvSpPr>
        <p:spPr>
          <a:xfrm>
            <a:off x="9029700" y="6249670"/>
            <a:ext cx="921385" cy="393065"/>
          </a:xfrm>
          <a:prstGeom prst="rect">
            <a:avLst/>
          </a:prstGeom>
          <a:solidFill>
            <a:schemeClr val="bg1">
              <a:lumMod val="85000"/>
            </a:schemeClr>
          </a:solidFill>
          <a:ln>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sz="1600" b="1">
                <a:solidFill>
                  <a:schemeClr val="tx1"/>
                </a:solidFill>
              </a:rPr>
              <a:t>块设备</a:t>
            </a:r>
            <a:endParaRPr lang="zh-CN" altLang="en-US" sz="1600" b="1">
              <a:solidFill>
                <a:schemeClr val="tx1"/>
              </a:solidFill>
            </a:endParaRPr>
          </a:p>
        </p:txBody>
      </p:sp>
      <p:sp>
        <p:nvSpPr>
          <p:cNvPr id="21" name="Rectangles 20"/>
          <p:cNvSpPr/>
          <p:nvPr/>
        </p:nvSpPr>
        <p:spPr>
          <a:xfrm>
            <a:off x="10100310" y="6238875"/>
            <a:ext cx="1612265" cy="393065"/>
          </a:xfrm>
          <a:prstGeom prst="rect">
            <a:avLst/>
          </a:prstGeom>
          <a:solidFill>
            <a:schemeClr val="bg1">
              <a:lumMod val="85000"/>
            </a:schemeClr>
          </a:solidFill>
          <a:ln>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sz="1600" b="1">
                <a:solidFill>
                  <a:schemeClr val="tx1"/>
                </a:solidFill>
              </a:rPr>
              <a:t>存储文件系统</a:t>
            </a:r>
            <a:endParaRPr lang="zh-CN" altLang="en-US" sz="1600" b="1">
              <a:solidFill>
                <a:schemeClr val="tx1"/>
              </a:solidFill>
            </a:endParaRPr>
          </a:p>
        </p:txBody>
      </p:sp>
      <p:sp>
        <p:nvSpPr>
          <p:cNvPr id="22" name="Rectangles 21"/>
          <p:cNvSpPr/>
          <p:nvPr/>
        </p:nvSpPr>
        <p:spPr>
          <a:xfrm>
            <a:off x="9531985" y="5544820"/>
            <a:ext cx="2180590" cy="590550"/>
          </a:xfrm>
          <a:prstGeom prst="rect">
            <a:avLst/>
          </a:prstGeom>
          <a:solidFill>
            <a:schemeClr val="bg1">
              <a:lumMod val="85000"/>
            </a:schemeClr>
          </a:solidFill>
          <a:ln>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sz="1600" b="1">
                <a:solidFill>
                  <a:schemeClr val="tx1"/>
                </a:solidFill>
              </a:rPr>
              <a:t>虚拟文件系统</a:t>
            </a:r>
            <a:endParaRPr lang="zh-CN" altLang="en-US" sz="1600" b="1">
              <a:solidFill>
                <a:schemeClr val="tx1"/>
              </a:solidFill>
            </a:endParaRPr>
          </a:p>
        </p:txBody>
      </p:sp>
      <p:sp>
        <p:nvSpPr>
          <p:cNvPr id="23" name="Rectangles 22"/>
          <p:cNvSpPr/>
          <p:nvPr/>
        </p:nvSpPr>
        <p:spPr>
          <a:xfrm>
            <a:off x="10207625" y="5089525"/>
            <a:ext cx="1515745" cy="343535"/>
          </a:xfrm>
          <a:prstGeom prst="rect">
            <a:avLst/>
          </a:prstGeom>
          <a:solidFill>
            <a:schemeClr val="bg1">
              <a:lumMod val="85000"/>
            </a:schemeClr>
          </a:solidFill>
          <a:ln>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sz="1600" b="1">
                <a:solidFill>
                  <a:schemeClr val="tx1"/>
                </a:solidFill>
              </a:rPr>
              <a:t>内核文件系统</a:t>
            </a:r>
            <a:endParaRPr lang="zh-CN" altLang="en-US" sz="1600" b="1">
              <a:solidFill>
                <a:schemeClr val="tx1"/>
              </a:solidFill>
            </a:endParaRPr>
          </a:p>
        </p:txBody>
      </p:sp>
      <p:sp>
        <p:nvSpPr>
          <p:cNvPr id="24" name="Rectangles 23"/>
          <p:cNvSpPr/>
          <p:nvPr/>
        </p:nvSpPr>
        <p:spPr>
          <a:xfrm>
            <a:off x="3412490" y="5553710"/>
            <a:ext cx="1075055" cy="403860"/>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zh-CN" altLang="en-US" sz="1600" b="1">
                <a:solidFill>
                  <a:schemeClr val="tx1"/>
                </a:solidFill>
              </a:rPr>
              <a:t>线程调度</a:t>
            </a:r>
            <a:endParaRPr lang="zh-CN" altLang="en-US" sz="1600" b="1">
              <a:solidFill>
                <a:schemeClr val="tx1"/>
              </a:solidFill>
            </a:endParaRPr>
          </a:p>
        </p:txBody>
      </p:sp>
      <p:sp>
        <p:nvSpPr>
          <p:cNvPr id="25" name="Rectangles 24"/>
          <p:cNvSpPr/>
          <p:nvPr/>
        </p:nvSpPr>
        <p:spPr>
          <a:xfrm>
            <a:off x="4605655" y="5553710"/>
            <a:ext cx="1127760" cy="403860"/>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zh-CN" altLang="en-US" sz="1600" b="1">
                <a:solidFill>
                  <a:schemeClr val="tx1"/>
                </a:solidFill>
              </a:rPr>
              <a:t>内存管理</a:t>
            </a:r>
            <a:endParaRPr lang="zh-CN" altLang="en-US" sz="1600" b="1">
              <a:solidFill>
                <a:schemeClr val="tx1"/>
              </a:solidFill>
            </a:endParaRPr>
          </a:p>
        </p:txBody>
      </p:sp>
      <p:sp>
        <p:nvSpPr>
          <p:cNvPr id="26" name="Rectangles 25"/>
          <p:cNvSpPr/>
          <p:nvPr/>
        </p:nvSpPr>
        <p:spPr>
          <a:xfrm>
            <a:off x="5851525" y="5553710"/>
            <a:ext cx="1096010" cy="403860"/>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zh-CN" altLang="en-US" sz="1600" b="1">
                <a:solidFill>
                  <a:schemeClr val="tx1"/>
                </a:solidFill>
              </a:rPr>
              <a:t>进程管理</a:t>
            </a:r>
            <a:endParaRPr lang="zh-CN" altLang="en-US" sz="1600" b="1">
              <a:solidFill>
                <a:schemeClr val="tx1"/>
              </a:solidFill>
            </a:endParaRPr>
          </a:p>
        </p:txBody>
      </p:sp>
      <p:sp>
        <p:nvSpPr>
          <p:cNvPr id="27" name="Rectangles 26"/>
          <p:cNvSpPr/>
          <p:nvPr/>
        </p:nvSpPr>
        <p:spPr>
          <a:xfrm>
            <a:off x="7090410" y="5553710"/>
            <a:ext cx="1084580" cy="403860"/>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zh-CN" altLang="en-US" sz="1600" b="1">
                <a:solidFill>
                  <a:schemeClr val="tx1"/>
                </a:solidFill>
              </a:rPr>
              <a:t>同步通讯</a:t>
            </a:r>
            <a:endParaRPr lang="zh-CN" altLang="en-US" sz="1600" b="1">
              <a:solidFill>
                <a:schemeClr val="tx1"/>
              </a:solidFill>
            </a:endParaRPr>
          </a:p>
        </p:txBody>
      </p:sp>
      <p:sp>
        <p:nvSpPr>
          <p:cNvPr id="28" name="Rectangles 27"/>
          <p:cNvSpPr/>
          <p:nvPr/>
        </p:nvSpPr>
        <p:spPr>
          <a:xfrm>
            <a:off x="10045065" y="3732530"/>
            <a:ext cx="1332230" cy="368300"/>
          </a:xfrm>
          <a:prstGeom prst="rect">
            <a:avLst/>
          </a:prstGeom>
          <a:solidFill>
            <a:schemeClr val="bg1">
              <a:lumMod val="85000"/>
            </a:schemeClr>
          </a:solidFill>
          <a:ln>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sz="1600" b="1">
                <a:solidFill>
                  <a:schemeClr val="tx1"/>
                </a:solidFill>
              </a:rPr>
              <a:t>用户态驱动</a:t>
            </a:r>
            <a:endParaRPr lang="zh-CN" altLang="en-US" sz="1600" b="1">
              <a:solidFill>
                <a:schemeClr val="tx1"/>
              </a:solidFill>
            </a:endParaRPr>
          </a:p>
        </p:txBody>
      </p:sp>
      <p:sp>
        <p:nvSpPr>
          <p:cNvPr id="29" name="Rectangles 28"/>
          <p:cNvSpPr/>
          <p:nvPr/>
        </p:nvSpPr>
        <p:spPr>
          <a:xfrm>
            <a:off x="8368030" y="3732530"/>
            <a:ext cx="1516380" cy="357505"/>
          </a:xfrm>
          <a:prstGeom prst="rect">
            <a:avLst/>
          </a:prstGeom>
          <a:solidFill>
            <a:schemeClr val="bg1">
              <a:lumMod val="85000"/>
            </a:schemeClr>
          </a:solidFill>
          <a:ln>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sz="1600" b="1">
                <a:solidFill>
                  <a:schemeClr val="tx1"/>
                </a:solidFill>
              </a:rPr>
              <a:t>驱动</a:t>
            </a:r>
            <a:r>
              <a:rPr lang="en-US" altLang="zh-CN" sz="1600" b="1">
                <a:solidFill>
                  <a:schemeClr val="tx1"/>
                </a:solidFill>
              </a:rPr>
              <a:t>C</a:t>
            </a:r>
            <a:r>
              <a:rPr lang="zh-CN" altLang="en-US" sz="1600" b="1">
                <a:solidFill>
                  <a:schemeClr val="tx1"/>
                </a:solidFill>
              </a:rPr>
              <a:t>接口</a:t>
            </a:r>
            <a:endParaRPr lang="zh-CN" altLang="en-US" sz="1600" b="1">
              <a:solidFill>
                <a:schemeClr val="tx1"/>
              </a:solidFill>
            </a:endParaRPr>
          </a:p>
        </p:txBody>
      </p:sp>
      <p:sp>
        <p:nvSpPr>
          <p:cNvPr id="30" name="Text Box 29"/>
          <p:cNvSpPr txBox="1"/>
          <p:nvPr/>
        </p:nvSpPr>
        <p:spPr>
          <a:xfrm>
            <a:off x="2512695" y="3123565"/>
            <a:ext cx="427990" cy="1753235"/>
          </a:xfrm>
          <a:prstGeom prst="rect">
            <a:avLst/>
          </a:prstGeom>
          <a:noFill/>
        </p:spPr>
        <p:txBody>
          <a:bodyPr wrap="square" rtlCol="0">
            <a:spAutoFit/>
          </a:bodyPr>
          <a:p>
            <a:r>
              <a:rPr lang="zh-CN" altLang="en-US" b="1">
                <a:solidFill>
                  <a:schemeClr val="accent5"/>
                </a:solidFill>
              </a:rPr>
              <a:t>软件模型扩展</a:t>
            </a:r>
            <a:endParaRPr lang="zh-CN" altLang="en-US" b="1">
              <a:solidFill>
                <a:schemeClr val="accent5"/>
              </a:solidFill>
            </a:endParaRPr>
          </a:p>
        </p:txBody>
      </p:sp>
      <p:sp>
        <p:nvSpPr>
          <p:cNvPr id="31" name="Rectangles 30"/>
          <p:cNvSpPr/>
          <p:nvPr/>
        </p:nvSpPr>
        <p:spPr>
          <a:xfrm>
            <a:off x="3423285" y="5102860"/>
            <a:ext cx="6605905" cy="332105"/>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zh-CN" altLang="en-US" sz="1600" b="1">
                <a:solidFill>
                  <a:schemeClr val="tx1"/>
                </a:solidFill>
              </a:rPr>
              <a:t>系统调用</a:t>
            </a:r>
            <a:endParaRPr lang="zh-CN" altLang="en-US" sz="1600" b="1">
              <a:solidFill>
                <a:schemeClr val="tx1"/>
              </a:solidFill>
            </a:endParaRPr>
          </a:p>
        </p:txBody>
      </p:sp>
      <p:sp>
        <p:nvSpPr>
          <p:cNvPr id="32" name="Rectangles 31"/>
          <p:cNvSpPr/>
          <p:nvPr/>
        </p:nvSpPr>
        <p:spPr>
          <a:xfrm>
            <a:off x="8304530" y="5541645"/>
            <a:ext cx="1084580" cy="403860"/>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zh-CN" altLang="en-US" sz="1600" b="1">
                <a:solidFill>
                  <a:schemeClr val="tx1"/>
                </a:solidFill>
              </a:rPr>
              <a:t>安全审计</a:t>
            </a:r>
            <a:endParaRPr lang="zh-CN" altLang="en-US" sz="1600" b="1">
              <a:solidFill>
                <a:schemeClr val="tx1"/>
              </a:solidFill>
            </a:endParaRPr>
          </a:p>
        </p:txBody>
      </p:sp>
      <p:sp>
        <p:nvSpPr>
          <p:cNvPr id="33" name="Rectangles 32"/>
          <p:cNvSpPr/>
          <p:nvPr/>
        </p:nvSpPr>
        <p:spPr>
          <a:xfrm>
            <a:off x="3423285" y="6121400"/>
            <a:ext cx="8289925" cy="167005"/>
          </a:xfrm>
          <a:prstGeom prst="rect">
            <a:avLst/>
          </a:prstGeom>
          <a:solidFill>
            <a:schemeClr val="bg1">
              <a:lumMod val="85000"/>
            </a:schemeClr>
          </a:solidFill>
          <a:ln>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p>
            <a:pPr algn="ctr"/>
            <a:endParaRPr lang="zh-CN" altLang="en-US" sz="1600" b="1">
              <a:solidFill>
                <a:schemeClr val="tx1"/>
              </a:solidFill>
            </a:endParaRPr>
          </a:p>
        </p:txBody>
      </p:sp>
      <p:sp>
        <p:nvSpPr>
          <p:cNvPr id="34" name="Rectangles 33"/>
          <p:cNvSpPr/>
          <p:nvPr/>
        </p:nvSpPr>
        <p:spPr>
          <a:xfrm>
            <a:off x="3412490" y="4324350"/>
            <a:ext cx="4076065" cy="363855"/>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zh-CN" altLang="en-US" sz="1600" b="1">
                <a:solidFill>
                  <a:schemeClr val="tx1"/>
                </a:solidFill>
              </a:rPr>
              <a:t>标准</a:t>
            </a:r>
            <a:r>
              <a:rPr lang="en-US" altLang="zh-CN" sz="1600" b="1">
                <a:solidFill>
                  <a:schemeClr val="tx1"/>
                </a:solidFill>
              </a:rPr>
              <a:t>C</a:t>
            </a:r>
            <a:r>
              <a:rPr lang="zh-CN" altLang="en-US" sz="1600" b="1">
                <a:solidFill>
                  <a:schemeClr val="tx1"/>
                </a:solidFill>
              </a:rPr>
              <a:t>库</a:t>
            </a:r>
            <a:endParaRPr lang="zh-CN" altLang="en-US" sz="1600" b="1">
              <a:solidFill>
                <a:schemeClr val="tx1"/>
              </a:solidFill>
            </a:endParaRPr>
          </a:p>
        </p:txBody>
      </p:sp>
      <p:sp>
        <p:nvSpPr>
          <p:cNvPr id="36" name="Rectangles 35"/>
          <p:cNvSpPr/>
          <p:nvPr/>
        </p:nvSpPr>
        <p:spPr>
          <a:xfrm>
            <a:off x="5753735" y="3733165"/>
            <a:ext cx="2346325" cy="363220"/>
          </a:xfrm>
          <a:prstGeom prst="rect">
            <a:avLst/>
          </a:prstGeom>
          <a:solidFill>
            <a:schemeClr val="accent4">
              <a:lumMod val="60000"/>
              <a:lumOff val="40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b="1">
                <a:solidFill>
                  <a:schemeClr val="tx1"/>
                </a:solidFill>
              </a:rPr>
              <a:t>基础管理程序</a:t>
            </a:r>
            <a:r>
              <a:rPr lang="en-US" altLang="zh-CN" b="1">
                <a:solidFill>
                  <a:schemeClr val="tx1"/>
                </a:solidFill>
              </a:rPr>
              <a:t>/</a:t>
            </a:r>
            <a:r>
              <a:rPr lang="zh-CN" altLang="en-US" b="1">
                <a:solidFill>
                  <a:schemeClr val="tx1"/>
                </a:solidFill>
              </a:rPr>
              <a:t>服务</a:t>
            </a:r>
            <a:endParaRPr lang="zh-CN" altLang="en-US" b="1">
              <a:solidFill>
                <a:schemeClr val="tx1"/>
              </a:solidFill>
            </a:endParaRPr>
          </a:p>
        </p:txBody>
      </p:sp>
      <p:sp>
        <p:nvSpPr>
          <p:cNvPr id="38" name="Rectangles 37"/>
          <p:cNvSpPr/>
          <p:nvPr/>
        </p:nvSpPr>
        <p:spPr>
          <a:xfrm>
            <a:off x="7637780" y="4324350"/>
            <a:ext cx="4085590" cy="363220"/>
          </a:xfrm>
          <a:prstGeom prst="rect">
            <a:avLst/>
          </a:prstGeom>
          <a:solidFill>
            <a:schemeClr val="accent4">
              <a:lumMod val="60000"/>
              <a:lumOff val="40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b="1">
                <a:solidFill>
                  <a:schemeClr val="tx1"/>
                </a:solidFill>
              </a:rPr>
              <a:t>根文件系统</a:t>
            </a:r>
            <a:endParaRPr lang="zh-CN" altLang="en-US" b="1">
              <a:solidFill>
                <a:schemeClr val="tx1"/>
              </a:solidFill>
            </a:endParaRPr>
          </a:p>
        </p:txBody>
      </p:sp>
      <p:sp>
        <p:nvSpPr>
          <p:cNvPr id="39" name="Rectangles 38"/>
          <p:cNvSpPr/>
          <p:nvPr/>
        </p:nvSpPr>
        <p:spPr>
          <a:xfrm>
            <a:off x="9029700" y="3291840"/>
            <a:ext cx="1881505" cy="356235"/>
          </a:xfrm>
          <a:prstGeom prst="rect">
            <a:avLst/>
          </a:prstGeom>
          <a:solidFill>
            <a:schemeClr val="bg1">
              <a:lumMod val="85000"/>
            </a:schemeClr>
          </a:solidFill>
          <a:ln>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en-US" altLang="zh-CN" sz="1600" b="1">
                <a:solidFill>
                  <a:schemeClr val="tx1"/>
                </a:solidFill>
              </a:rPr>
              <a:t>HAL</a:t>
            </a:r>
            <a:endParaRPr lang="en-US" altLang="zh-CN" sz="1600" b="1">
              <a:solidFill>
                <a:schemeClr val="tx1"/>
              </a:solidFill>
            </a:endParaRPr>
          </a:p>
        </p:txBody>
      </p:sp>
      <p:sp>
        <p:nvSpPr>
          <p:cNvPr id="40" name="Rectangles 39"/>
          <p:cNvSpPr/>
          <p:nvPr/>
        </p:nvSpPr>
        <p:spPr>
          <a:xfrm>
            <a:off x="3602355" y="2501900"/>
            <a:ext cx="3630930" cy="363220"/>
          </a:xfrm>
          <a:prstGeom prst="rect">
            <a:avLst/>
          </a:prstGeom>
          <a:solidFill>
            <a:schemeClr val="accent4">
              <a:lumMod val="60000"/>
              <a:lumOff val="40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en-US" altLang="zh-CN" b="1">
                <a:solidFill>
                  <a:schemeClr val="tx1"/>
                </a:solidFill>
              </a:rPr>
              <a:t>(JAVA/JS/Python/C++)</a:t>
            </a:r>
            <a:r>
              <a:rPr lang="zh-CN" altLang="en-US" b="1">
                <a:solidFill>
                  <a:schemeClr val="tx1"/>
                </a:solidFill>
              </a:rPr>
              <a:t>引擎</a:t>
            </a:r>
            <a:endParaRPr lang="zh-CN" altLang="en-US" b="1">
              <a:solidFill>
                <a:schemeClr val="tx1"/>
              </a:solidFill>
            </a:endParaRPr>
          </a:p>
        </p:txBody>
      </p:sp>
      <p:sp>
        <p:nvSpPr>
          <p:cNvPr id="41" name="Rectangles 40"/>
          <p:cNvSpPr/>
          <p:nvPr/>
        </p:nvSpPr>
        <p:spPr>
          <a:xfrm>
            <a:off x="4605655" y="3281680"/>
            <a:ext cx="2301240" cy="333375"/>
          </a:xfrm>
          <a:prstGeom prst="rect">
            <a:avLst/>
          </a:prstGeom>
          <a:solidFill>
            <a:schemeClr val="accent4">
              <a:lumMod val="60000"/>
              <a:lumOff val="40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en-US" altLang="zh-CN" b="1">
                <a:solidFill>
                  <a:schemeClr val="tx1"/>
                </a:solidFill>
              </a:rPr>
              <a:t>shell</a:t>
            </a:r>
            <a:endParaRPr lang="en-US" altLang="zh-CN" b="1">
              <a:solidFill>
                <a:schemeClr val="tx1"/>
              </a:solidFill>
            </a:endParaRPr>
          </a:p>
        </p:txBody>
      </p:sp>
      <p:sp>
        <p:nvSpPr>
          <p:cNvPr id="42" name="Rectangles 41"/>
          <p:cNvSpPr/>
          <p:nvPr/>
        </p:nvSpPr>
        <p:spPr>
          <a:xfrm>
            <a:off x="7362825" y="2501900"/>
            <a:ext cx="4077335" cy="363220"/>
          </a:xfrm>
          <a:prstGeom prst="rect">
            <a:avLst/>
          </a:prstGeom>
          <a:solidFill>
            <a:schemeClr val="accent4">
              <a:lumMod val="60000"/>
              <a:lumOff val="40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en-US" altLang="zh-CN" b="1">
                <a:solidFill>
                  <a:schemeClr val="tx1"/>
                </a:solidFill>
              </a:rPr>
              <a:t>(GL/CL/CUDA/</a:t>
            </a:r>
            <a:r>
              <a:rPr lang="zh-CN" altLang="en-US" b="1">
                <a:solidFill>
                  <a:schemeClr val="tx1"/>
                </a:solidFill>
              </a:rPr>
              <a:t>智能卡</a:t>
            </a:r>
            <a:r>
              <a:rPr lang="en-US" altLang="zh-CN" b="1">
                <a:solidFill>
                  <a:schemeClr val="tx1"/>
                </a:solidFill>
              </a:rPr>
              <a:t>)</a:t>
            </a:r>
            <a:r>
              <a:rPr lang="zh-CN" altLang="en-US" b="1">
                <a:solidFill>
                  <a:schemeClr val="tx1"/>
                </a:solidFill>
              </a:rPr>
              <a:t>协处理引擎</a:t>
            </a:r>
            <a:endParaRPr lang="zh-CN" altLang="en-US" b="1">
              <a:solidFill>
                <a:schemeClr val="tx1"/>
              </a:solidFill>
            </a:endParaRPr>
          </a:p>
        </p:txBody>
      </p:sp>
      <p:sp>
        <p:nvSpPr>
          <p:cNvPr id="44" name="Rectangles 43"/>
          <p:cNvSpPr/>
          <p:nvPr/>
        </p:nvSpPr>
        <p:spPr>
          <a:xfrm>
            <a:off x="3742690" y="1576705"/>
            <a:ext cx="1218565" cy="362585"/>
          </a:xfrm>
          <a:prstGeom prst="rect">
            <a:avLst/>
          </a:prstGeom>
          <a:solidFill>
            <a:schemeClr val="accent4">
              <a:lumMod val="60000"/>
              <a:lumOff val="40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en-US" altLang="zh-CN" b="1">
                <a:solidFill>
                  <a:schemeClr val="tx1"/>
                </a:solidFill>
              </a:rPr>
              <a:t>Web</a:t>
            </a:r>
            <a:r>
              <a:rPr lang="zh-CN" altLang="en-US" b="1">
                <a:solidFill>
                  <a:schemeClr val="tx1"/>
                </a:solidFill>
              </a:rPr>
              <a:t>服务</a:t>
            </a:r>
            <a:endParaRPr lang="zh-CN" altLang="en-US" b="1">
              <a:solidFill>
                <a:schemeClr val="tx1"/>
              </a:solidFill>
            </a:endParaRPr>
          </a:p>
        </p:txBody>
      </p:sp>
      <p:sp>
        <p:nvSpPr>
          <p:cNvPr id="45" name="Rectangles 44"/>
          <p:cNvSpPr/>
          <p:nvPr/>
        </p:nvSpPr>
        <p:spPr>
          <a:xfrm>
            <a:off x="5111750" y="805180"/>
            <a:ext cx="4988560" cy="363220"/>
          </a:xfrm>
          <a:prstGeom prst="rect">
            <a:avLst/>
          </a:prstGeom>
          <a:solidFill>
            <a:schemeClr val="accent4">
              <a:lumMod val="60000"/>
              <a:lumOff val="40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b="1">
                <a:solidFill>
                  <a:schemeClr val="tx1"/>
                </a:solidFill>
              </a:rPr>
              <a:t>图形子平台</a:t>
            </a:r>
            <a:endParaRPr lang="zh-CN" altLang="en-US" b="1">
              <a:solidFill>
                <a:schemeClr val="tx1"/>
              </a:solidFill>
            </a:endParaRPr>
          </a:p>
        </p:txBody>
      </p:sp>
      <p:sp>
        <p:nvSpPr>
          <p:cNvPr id="46" name="Rectangles 45"/>
          <p:cNvSpPr/>
          <p:nvPr/>
        </p:nvSpPr>
        <p:spPr>
          <a:xfrm>
            <a:off x="3488690" y="245745"/>
            <a:ext cx="3004185" cy="363220"/>
          </a:xfrm>
          <a:prstGeom prst="rect">
            <a:avLst/>
          </a:prstGeom>
          <a:solidFill>
            <a:schemeClr val="accent4">
              <a:lumMod val="60000"/>
              <a:lumOff val="40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b="1">
                <a:solidFill>
                  <a:schemeClr val="tx1"/>
                </a:solidFill>
              </a:rPr>
              <a:t>桌面默认应用平台</a:t>
            </a:r>
            <a:endParaRPr lang="zh-CN" altLang="en-US" b="1">
              <a:solidFill>
                <a:schemeClr val="tx1"/>
              </a:solidFill>
            </a:endParaRPr>
          </a:p>
        </p:txBody>
      </p:sp>
      <p:sp>
        <p:nvSpPr>
          <p:cNvPr id="47" name="Rectangles 46"/>
          <p:cNvSpPr/>
          <p:nvPr/>
        </p:nvSpPr>
        <p:spPr>
          <a:xfrm>
            <a:off x="6737350" y="245745"/>
            <a:ext cx="4918710" cy="363220"/>
          </a:xfrm>
          <a:prstGeom prst="rect">
            <a:avLst/>
          </a:prstGeom>
          <a:solidFill>
            <a:schemeClr val="accent4">
              <a:lumMod val="60000"/>
              <a:lumOff val="40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b="1">
                <a:solidFill>
                  <a:schemeClr val="tx1"/>
                </a:solidFill>
              </a:rPr>
              <a:t>桌面三方应用平台</a:t>
            </a:r>
            <a:endParaRPr lang="zh-CN" altLang="en-US" b="1">
              <a:solidFill>
                <a:schemeClr val="tx1"/>
              </a:solidFill>
            </a:endParaRPr>
          </a:p>
        </p:txBody>
      </p:sp>
      <p:sp>
        <p:nvSpPr>
          <p:cNvPr id="6" name="Rectangles 5"/>
          <p:cNvSpPr/>
          <p:nvPr/>
        </p:nvSpPr>
        <p:spPr>
          <a:xfrm>
            <a:off x="4695825" y="2044700"/>
            <a:ext cx="2211070" cy="363220"/>
          </a:xfrm>
          <a:prstGeom prst="rect">
            <a:avLst/>
          </a:prstGeom>
          <a:solidFill>
            <a:schemeClr val="accent4">
              <a:lumMod val="60000"/>
              <a:lumOff val="40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b="1">
                <a:solidFill>
                  <a:schemeClr val="tx1"/>
                </a:solidFill>
              </a:rPr>
              <a:t>存储类服务</a:t>
            </a:r>
            <a:endParaRPr lang="zh-CN" altLang="en-US" b="1">
              <a:solidFill>
                <a:schemeClr val="tx1"/>
              </a:solidFill>
            </a:endParaRPr>
          </a:p>
        </p:txBody>
      </p:sp>
      <p:sp>
        <p:nvSpPr>
          <p:cNvPr id="7" name="Rectangles 6"/>
          <p:cNvSpPr/>
          <p:nvPr/>
        </p:nvSpPr>
        <p:spPr>
          <a:xfrm>
            <a:off x="7972425" y="2044700"/>
            <a:ext cx="1717040" cy="363220"/>
          </a:xfrm>
          <a:prstGeom prst="rect">
            <a:avLst/>
          </a:prstGeom>
          <a:solidFill>
            <a:schemeClr val="accent4">
              <a:lumMod val="60000"/>
              <a:lumOff val="40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b="1">
                <a:solidFill>
                  <a:schemeClr val="tx1"/>
                </a:solidFill>
              </a:rPr>
              <a:t>传输类服务</a:t>
            </a:r>
            <a:endParaRPr lang="zh-CN" altLang="en-US" b="1">
              <a:solidFill>
                <a:schemeClr val="tx1"/>
              </a:solidFill>
            </a:endParaRPr>
          </a:p>
        </p:txBody>
      </p:sp>
      <p:sp>
        <p:nvSpPr>
          <p:cNvPr id="37" name="Rectangles 36"/>
          <p:cNvSpPr/>
          <p:nvPr/>
        </p:nvSpPr>
        <p:spPr>
          <a:xfrm>
            <a:off x="5198745" y="1576705"/>
            <a:ext cx="5981065" cy="363220"/>
          </a:xfrm>
          <a:prstGeom prst="rect">
            <a:avLst/>
          </a:prstGeom>
          <a:solidFill>
            <a:schemeClr val="accent4">
              <a:lumMod val="60000"/>
              <a:lumOff val="40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b="1">
                <a:solidFill>
                  <a:schemeClr val="tx1"/>
                </a:solidFill>
              </a:rPr>
              <a:t>集成类子平台（各类业务领域平台</a:t>
            </a:r>
            <a:r>
              <a:rPr lang="en-US" altLang="zh-CN" b="1">
                <a:solidFill>
                  <a:schemeClr val="tx1"/>
                </a:solidFill>
              </a:rPr>
              <a:t>/AI</a:t>
            </a:r>
            <a:r>
              <a:rPr lang="zh-CN" altLang="en-US" b="1">
                <a:solidFill>
                  <a:schemeClr val="tx1"/>
                </a:solidFill>
              </a:rPr>
              <a:t>引擎</a:t>
            </a:r>
            <a:r>
              <a:rPr lang="en-US" altLang="zh-CN" b="1">
                <a:solidFill>
                  <a:schemeClr val="tx1"/>
                </a:solidFill>
              </a:rPr>
              <a:t>/...</a:t>
            </a:r>
            <a:r>
              <a:rPr lang="zh-CN" altLang="en-US" b="1">
                <a:solidFill>
                  <a:schemeClr val="tx1"/>
                </a:solidFill>
              </a:rPr>
              <a:t>）</a:t>
            </a:r>
            <a:endParaRPr lang="zh-CN" altLang="en-US" b="1">
              <a:solidFill>
                <a:schemeClr val="tx1"/>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255770" y="575310"/>
            <a:ext cx="3940810" cy="466090"/>
          </a:xfrm>
        </p:spPr>
        <p:txBody>
          <a:bodyPr>
            <a:noAutofit/>
          </a:bodyPr>
          <a:p>
            <a:r>
              <a:rPr lang="zh-CN" altLang="en-US" sz="2800"/>
              <a:t>电脑的软件模型</a:t>
            </a:r>
            <a:endParaRPr lang="en-US" altLang="zh-CN" sz="2800"/>
          </a:p>
        </p:txBody>
      </p:sp>
      <p:sp>
        <p:nvSpPr>
          <p:cNvPr id="4" name="Content Placeholder 3"/>
          <p:cNvSpPr>
            <a:spLocks noGrp="1"/>
          </p:cNvSpPr>
          <p:nvPr>
            <p:ph idx="1"/>
          </p:nvPr>
        </p:nvSpPr>
        <p:spPr>
          <a:xfrm>
            <a:off x="248920" y="1646555"/>
            <a:ext cx="11749405" cy="4258945"/>
          </a:xfrm>
        </p:spPr>
        <p:txBody>
          <a:bodyPr>
            <a:normAutofit/>
          </a:bodyPr>
          <a:p>
            <a:r>
              <a:rPr lang="zh-CN" altLang="en-US"/>
              <a:t>模型类型：阐述</a:t>
            </a:r>
            <a:r>
              <a:rPr lang="en-US" altLang="zh-CN"/>
              <a:t>2</a:t>
            </a:r>
            <a:r>
              <a:rPr lang="zh-CN" altLang="en-US"/>
              <a:t>个</a:t>
            </a:r>
            <a:r>
              <a:rPr lang="en-US" altLang="zh-CN"/>
              <a:t>PPT</a:t>
            </a:r>
            <a:r>
              <a:rPr lang="zh-CN" altLang="en-US"/>
              <a:t>图</a:t>
            </a:r>
            <a:endParaRPr lang="zh-CN" altLang="en-US"/>
          </a:p>
          <a:p>
            <a:r>
              <a:rPr lang="zh-CN" altLang="en-US"/>
              <a:t>操作系统：</a:t>
            </a:r>
            <a:endParaRPr lang="zh-CN" altLang="en-US"/>
          </a:p>
          <a:p>
            <a:pPr lvl="1"/>
            <a:r>
              <a:rPr lang="zh-CN" altLang="en-US" sz="1800"/>
              <a:t>硬件建模：设备</a:t>
            </a:r>
            <a:r>
              <a:rPr lang="en-US" altLang="zh-CN" sz="1800"/>
              <a:t>(</a:t>
            </a:r>
            <a:r>
              <a:rPr lang="zh-CN" altLang="en-US" sz="1800"/>
              <a:t>驱动</a:t>
            </a:r>
            <a:r>
              <a:rPr lang="en-US" altLang="zh-CN" sz="1800"/>
              <a:t>/</a:t>
            </a:r>
            <a:r>
              <a:rPr lang="zh-CN" altLang="en-US" sz="1800"/>
              <a:t>固件</a:t>
            </a:r>
            <a:r>
              <a:rPr lang="en-US" altLang="zh-CN" sz="1800"/>
              <a:t>)</a:t>
            </a:r>
            <a:r>
              <a:rPr lang="zh-CN" altLang="en-US" sz="1800"/>
              <a:t>，传输</a:t>
            </a:r>
            <a:r>
              <a:rPr lang="en-US" altLang="zh-CN" sz="1800"/>
              <a:t>(</a:t>
            </a:r>
            <a:r>
              <a:rPr lang="zh-CN" altLang="en-US" sz="1800"/>
              <a:t>设备间</a:t>
            </a:r>
            <a:r>
              <a:rPr lang="en-US" altLang="zh-CN" sz="1800"/>
              <a:t>/</a:t>
            </a:r>
            <a:r>
              <a:rPr lang="zh-CN" altLang="en-US" sz="1800"/>
              <a:t>软设间</a:t>
            </a:r>
            <a:r>
              <a:rPr lang="en-US" altLang="zh-CN" sz="1800"/>
              <a:t>/</a:t>
            </a:r>
            <a:r>
              <a:rPr lang="zh-CN" altLang="en-US" sz="1800"/>
              <a:t>软软间</a:t>
            </a:r>
            <a:r>
              <a:rPr lang="en-US" altLang="zh-CN" sz="1800"/>
              <a:t>)</a:t>
            </a:r>
            <a:r>
              <a:rPr lang="zh-CN" altLang="en-US" sz="1800"/>
              <a:t>，存储</a:t>
            </a:r>
            <a:r>
              <a:rPr lang="en-US" altLang="zh-CN" sz="1800"/>
              <a:t>(</a:t>
            </a:r>
            <a:r>
              <a:rPr lang="zh-CN" altLang="en-US" sz="1800"/>
              <a:t>块形式</a:t>
            </a:r>
            <a:r>
              <a:rPr lang="en-US" altLang="zh-CN" sz="1800"/>
              <a:t>/</a:t>
            </a:r>
            <a:r>
              <a:rPr lang="zh-CN" altLang="en-US" sz="1800"/>
              <a:t>树状结构</a:t>
            </a:r>
            <a:r>
              <a:rPr lang="en-US" altLang="zh-CN" sz="1800"/>
              <a:t>)</a:t>
            </a:r>
            <a:endParaRPr lang="zh-CN" altLang="en-US" sz="1800"/>
          </a:p>
          <a:p>
            <a:pPr lvl="1"/>
            <a:r>
              <a:rPr lang="zh-CN" altLang="en-US" sz="1800"/>
              <a:t>软件建模：调度</a:t>
            </a:r>
            <a:r>
              <a:rPr lang="en-US" altLang="zh-CN" sz="1800"/>
              <a:t>(</a:t>
            </a:r>
            <a:r>
              <a:rPr lang="zh-CN" altLang="en-US" sz="1800"/>
              <a:t>线程</a:t>
            </a:r>
            <a:r>
              <a:rPr lang="en-US" altLang="zh-CN" sz="1800"/>
              <a:t>/</a:t>
            </a:r>
            <a:r>
              <a:rPr lang="zh-CN" altLang="en-US" sz="1800"/>
              <a:t>中断</a:t>
            </a:r>
            <a:r>
              <a:rPr lang="en-US" altLang="zh-CN" sz="1800"/>
              <a:t>/</a:t>
            </a:r>
            <a:r>
              <a:rPr lang="zh-CN" altLang="en-US" sz="1800"/>
              <a:t>异常</a:t>
            </a:r>
            <a:r>
              <a:rPr lang="en-US" altLang="zh-CN" sz="1800"/>
              <a:t>/</a:t>
            </a:r>
            <a:r>
              <a:rPr lang="zh-CN" altLang="en-US" sz="1800"/>
              <a:t>同步异步</a:t>
            </a:r>
            <a:r>
              <a:rPr lang="en-US" altLang="zh-CN" sz="1800"/>
              <a:t>)</a:t>
            </a:r>
            <a:r>
              <a:rPr lang="zh-CN" altLang="en-US" sz="1800"/>
              <a:t>，环境</a:t>
            </a:r>
            <a:r>
              <a:rPr lang="en-US" altLang="zh-CN" sz="1800"/>
              <a:t>(</a:t>
            </a:r>
            <a:r>
              <a:rPr lang="zh-CN" altLang="en-US" sz="1800"/>
              <a:t>进程</a:t>
            </a:r>
            <a:r>
              <a:rPr lang="en-US" altLang="zh-CN" sz="1800"/>
              <a:t>/IPC/</a:t>
            </a:r>
            <a:r>
              <a:rPr lang="zh-CN" altLang="en-US" sz="1800"/>
              <a:t>安全</a:t>
            </a:r>
            <a:r>
              <a:rPr lang="en-US" altLang="zh-CN" sz="1800"/>
              <a:t>)</a:t>
            </a:r>
            <a:r>
              <a:rPr lang="zh-CN" altLang="en-US" sz="1800"/>
              <a:t>，语言</a:t>
            </a:r>
            <a:r>
              <a:rPr lang="en-US" altLang="zh-CN" sz="1800"/>
              <a:t>(C/</a:t>
            </a:r>
            <a:r>
              <a:rPr lang="zh-CN" altLang="en-US" sz="1800"/>
              <a:t>不再面向机器的语言</a:t>
            </a:r>
            <a:r>
              <a:rPr lang="en-US" altLang="zh-CN" sz="1800"/>
              <a:t>)</a:t>
            </a:r>
            <a:endParaRPr lang="zh-CN" altLang="en-US" sz="1800"/>
          </a:p>
          <a:p>
            <a:pPr lvl="1"/>
            <a:r>
              <a:rPr lang="zh-CN" altLang="en-US" sz="1800"/>
              <a:t>平台建模：基底</a:t>
            </a:r>
            <a:r>
              <a:rPr lang="en-US" altLang="zh-CN">
                <a:sym typeface="+mn-ea"/>
              </a:rPr>
              <a:t>(根文件系统/</a:t>
            </a:r>
            <a:r>
              <a:rPr lang="zh-CN" altLang="en-US">
                <a:sym typeface="+mn-ea"/>
              </a:rPr>
              <a:t>包扩展</a:t>
            </a:r>
            <a:r>
              <a:rPr lang="en-US" altLang="zh-CN">
                <a:sym typeface="+mn-ea"/>
              </a:rPr>
              <a:t>/</a:t>
            </a:r>
            <a:r>
              <a:rPr lang="zh-CN" altLang="en-US">
                <a:sym typeface="+mn-ea"/>
              </a:rPr>
              <a:t>扩展</a:t>
            </a:r>
            <a:r>
              <a:rPr lang="en-US" altLang="zh-CN">
                <a:sym typeface="+mn-ea"/>
              </a:rPr>
              <a:t>模型)</a:t>
            </a:r>
            <a:r>
              <a:rPr lang="zh-CN" altLang="en-US">
                <a:sym typeface="+mn-ea"/>
              </a:rPr>
              <a:t>，</a:t>
            </a:r>
            <a:r>
              <a:rPr lang="zh-CN" altLang="en-US" sz="1800"/>
              <a:t>人员</a:t>
            </a:r>
            <a:r>
              <a:rPr lang="en-US" altLang="zh-CN" sz="1800"/>
              <a:t>(</a:t>
            </a:r>
            <a:r>
              <a:rPr lang="zh-CN" altLang="en-US" sz="1800"/>
              <a:t>管理</a:t>
            </a:r>
            <a:r>
              <a:rPr lang="en-US" altLang="zh-CN" sz="1800"/>
              <a:t>/</a:t>
            </a:r>
            <a:r>
              <a:rPr lang="zh-CN" altLang="en-US" sz="1800"/>
              <a:t>开发</a:t>
            </a:r>
            <a:r>
              <a:rPr lang="en-US" altLang="zh-CN" sz="1800"/>
              <a:t>/</a:t>
            </a:r>
            <a:r>
              <a:rPr lang="zh-CN" altLang="en-US" sz="1800"/>
              <a:t>使用</a:t>
            </a:r>
            <a:r>
              <a:rPr lang="en-US" altLang="zh-CN" sz="1800"/>
              <a:t>)</a:t>
            </a:r>
            <a:r>
              <a:rPr lang="zh-CN" altLang="en-US" sz="1800"/>
              <a:t>，程序</a:t>
            </a:r>
            <a:r>
              <a:rPr lang="en-US" altLang="zh-CN" sz="1800"/>
              <a:t>(</a:t>
            </a:r>
            <a:r>
              <a:rPr lang="zh-CN" altLang="en-US" sz="1800"/>
              <a:t>桌面</a:t>
            </a:r>
            <a:r>
              <a:rPr lang="en-US" altLang="zh-CN" sz="1800"/>
              <a:t>/</a:t>
            </a:r>
            <a:r>
              <a:rPr lang="zh-CN" altLang="en-US" sz="1800"/>
              <a:t>命令</a:t>
            </a:r>
            <a:r>
              <a:rPr lang="en-US" altLang="zh-CN" sz="1800"/>
              <a:t>/</a:t>
            </a:r>
            <a:r>
              <a:rPr lang="zh-CN" altLang="en-US" sz="1800"/>
              <a:t>后台</a:t>
            </a:r>
            <a:r>
              <a:rPr lang="en-US" altLang="zh-CN" sz="1800"/>
              <a:t>/</a:t>
            </a:r>
            <a:r>
              <a:rPr lang="zh-CN" altLang="en-US" sz="1800"/>
              <a:t>插件</a:t>
            </a:r>
            <a:r>
              <a:rPr lang="en-US" altLang="zh-CN" sz="1800"/>
              <a:t>)</a:t>
            </a:r>
            <a:endParaRPr lang="zh-CN" altLang="en-US"/>
          </a:p>
          <a:p>
            <a:r>
              <a:rPr lang="zh-CN" altLang="en-US"/>
              <a:t>实用产品：</a:t>
            </a:r>
            <a:endParaRPr lang="zh-CN" altLang="en-US"/>
          </a:p>
          <a:p>
            <a:pPr lvl="1"/>
            <a:r>
              <a:rPr lang="zh-CN" altLang="en-US"/>
              <a:t>基础平台：各类传统操作系统，各类虚拟化(重量/轻量/外壳)，基础分布式系统(前两者的结合)</a:t>
            </a:r>
            <a:endParaRPr lang="zh-CN" altLang="en-US"/>
          </a:p>
          <a:p>
            <a:pPr lvl="1"/>
            <a:r>
              <a:rPr lang="zh-CN" altLang="en-US"/>
              <a:t>扩展平台：各类高级语言平台引擎，</a:t>
            </a:r>
            <a:r>
              <a:rPr lang="zh-CN" altLang="en-US">
                <a:sym typeface="+mn-ea"/>
              </a:rPr>
              <a:t>Web服务，</a:t>
            </a:r>
            <a:r>
              <a:rPr lang="zh-CN" altLang="en-US"/>
              <a:t>各类数据库，搜索引擎，其他各类支撑应用的后端平台服务</a:t>
            </a:r>
            <a:endParaRPr lang="zh-CN" altLang="en-US"/>
          </a:p>
          <a:p>
            <a:pPr lvl="1"/>
            <a:r>
              <a:rPr lang="zh-CN" altLang="en-US"/>
              <a:t>各类应用：人员(浏览器/办公软件/消费娱乐)，</a:t>
            </a:r>
            <a:r>
              <a:rPr lang="en-US" altLang="zh-CN"/>
              <a:t>AI</a:t>
            </a:r>
            <a:r>
              <a:rPr lang="zh-CN" altLang="en-US"/>
              <a:t>类</a:t>
            </a:r>
            <a:r>
              <a:rPr lang="en-US" altLang="zh-CN"/>
              <a:t>(</a:t>
            </a:r>
            <a:r>
              <a:rPr lang="zh-CN" altLang="en-US"/>
              <a:t>传感器识别</a:t>
            </a:r>
            <a:r>
              <a:rPr lang="zh-CN" altLang="en-US">
                <a:sym typeface="+mn-ea"/>
              </a:rPr>
              <a:t>/自然语言处理</a:t>
            </a:r>
            <a:r>
              <a:rPr lang="en-US" altLang="zh-CN"/>
              <a:t>)</a:t>
            </a:r>
            <a:r>
              <a:rPr lang="zh-CN" altLang="en-US"/>
              <a:t>，生产(生产工具/工业自动化)</a:t>
            </a:r>
            <a:endParaRPr lang="zh-CN"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Rectangles 5"/>
          <p:cNvSpPr/>
          <p:nvPr/>
        </p:nvSpPr>
        <p:spPr>
          <a:xfrm>
            <a:off x="450215" y="2117725"/>
            <a:ext cx="11741785" cy="399669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endParaRPr lang="zh-CN" altLang="en-US" b="1">
              <a:solidFill>
                <a:schemeClr val="tx1"/>
              </a:solidFill>
            </a:endParaRPr>
          </a:p>
          <a:p>
            <a:pPr algn="ctr"/>
            <a:r>
              <a:rPr lang="zh-CN" altLang="en-US" sz="2000" b="1">
                <a:solidFill>
                  <a:schemeClr val="tx1"/>
                </a:solidFill>
              </a:rPr>
              <a:t>操</a:t>
            </a:r>
            <a:r>
              <a:rPr lang="en-US" altLang="zh-CN" sz="2000" b="1">
                <a:solidFill>
                  <a:schemeClr val="tx1"/>
                </a:solidFill>
              </a:rPr>
              <a:t>  </a:t>
            </a:r>
            <a:r>
              <a:rPr lang="zh-CN" altLang="en-US" sz="2000" b="1">
                <a:solidFill>
                  <a:schemeClr val="tx1"/>
                </a:solidFill>
              </a:rPr>
              <a:t>作</a:t>
            </a:r>
            <a:r>
              <a:rPr lang="en-US" altLang="zh-CN" sz="2000" b="1">
                <a:solidFill>
                  <a:schemeClr val="tx1"/>
                </a:solidFill>
              </a:rPr>
              <a:t>  </a:t>
            </a:r>
            <a:r>
              <a:rPr lang="zh-CN" altLang="en-US" sz="2000" b="1">
                <a:solidFill>
                  <a:schemeClr val="tx1"/>
                </a:solidFill>
              </a:rPr>
              <a:t>系</a:t>
            </a:r>
            <a:r>
              <a:rPr lang="en-US" altLang="zh-CN" sz="2000" b="1">
                <a:solidFill>
                  <a:schemeClr val="tx1"/>
                </a:solidFill>
              </a:rPr>
              <a:t>  </a:t>
            </a:r>
            <a:r>
              <a:rPr lang="zh-CN" altLang="en-US" sz="2000" b="1">
                <a:solidFill>
                  <a:schemeClr val="tx1"/>
                </a:solidFill>
              </a:rPr>
              <a:t>统</a:t>
            </a:r>
            <a:r>
              <a:rPr lang="en-US" altLang="zh-CN" sz="2000" b="1">
                <a:solidFill>
                  <a:schemeClr val="tx1"/>
                </a:solidFill>
              </a:rPr>
              <a:t>  1</a:t>
            </a:r>
            <a:endParaRPr lang="en-US" altLang="zh-CN" sz="2000" b="1">
              <a:solidFill>
                <a:schemeClr val="tx1"/>
              </a:solidFill>
            </a:endParaRPr>
          </a:p>
        </p:txBody>
      </p:sp>
      <p:sp>
        <p:nvSpPr>
          <p:cNvPr id="7" name="Rectangles 6"/>
          <p:cNvSpPr/>
          <p:nvPr/>
        </p:nvSpPr>
        <p:spPr>
          <a:xfrm>
            <a:off x="1270" y="6098540"/>
            <a:ext cx="12191365" cy="734695"/>
          </a:xfrm>
          <a:prstGeom prst="rect">
            <a:avLst/>
          </a:prstGeom>
          <a:solidFill>
            <a:schemeClr val="tx1">
              <a:lumMod val="50000"/>
              <a:lumOff val="50000"/>
            </a:schemeClr>
          </a:solidFill>
        </p:spPr>
        <p:style>
          <a:lnRef idx="2">
            <a:schemeClr val="accent5"/>
          </a:lnRef>
          <a:fillRef idx="1">
            <a:schemeClr val="lt1"/>
          </a:fillRef>
          <a:effectRef idx="0">
            <a:schemeClr val="accent5"/>
          </a:effectRef>
          <a:fontRef idx="minor">
            <a:schemeClr val="dk1"/>
          </a:fontRef>
        </p:style>
        <p:txBody>
          <a:bodyPr rtlCol="0" anchor="ctr"/>
          <a:p>
            <a:pPr algn="ctr"/>
            <a:r>
              <a:rPr lang="zh-CN" altLang="en-US" b="1">
                <a:solidFill>
                  <a:schemeClr val="tx1"/>
                </a:solidFill>
              </a:rPr>
              <a:t>电</a:t>
            </a:r>
            <a:r>
              <a:rPr lang="en-US" altLang="zh-CN" b="1">
                <a:solidFill>
                  <a:schemeClr val="tx1"/>
                </a:solidFill>
              </a:rPr>
              <a:t> </a:t>
            </a:r>
            <a:r>
              <a:rPr lang="zh-CN" altLang="en-US" b="1">
                <a:solidFill>
                  <a:schemeClr val="tx1"/>
                </a:solidFill>
              </a:rPr>
              <a:t>脑</a:t>
            </a:r>
            <a:r>
              <a:rPr lang="en-US" altLang="zh-CN" b="1">
                <a:solidFill>
                  <a:schemeClr val="tx1"/>
                </a:solidFill>
              </a:rPr>
              <a:t> </a:t>
            </a:r>
            <a:r>
              <a:rPr lang="zh-CN" altLang="en-US" b="1">
                <a:solidFill>
                  <a:schemeClr val="tx1"/>
                </a:solidFill>
              </a:rPr>
              <a:t>的</a:t>
            </a:r>
            <a:r>
              <a:rPr lang="en-US" altLang="zh-CN" b="1">
                <a:solidFill>
                  <a:schemeClr val="tx1"/>
                </a:solidFill>
              </a:rPr>
              <a:t> </a:t>
            </a:r>
            <a:r>
              <a:rPr lang="zh-CN" altLang="en-US" b="1">
                <a:solidFill>
                  <a:schemeClr val="tx1"/>
                </a:solidFill>
              </a:rPr>
              <a:t>软</a:t>
            </a:r>
            <a:r>
              <a:rPr lang="en-US" altLang="zh-CN" b="1">
                <a:solidFill>
                  <a:schemeClr val="tx1"/>
                </a:solidFill>
              </a:rPr>
              <a:t> </a:t>
            </a:r>
            <a:r>
              <a:rPr lang="zh-CN" altLang="en-US" b="1">
                <a:solidFill>
                  <a:schemeClr val="tx1"/>
                </a:solidFill>
              </a:rPr>
              <a:t>硬</a:t>
            </a:r>
            <a:r>
              <a:rPr lang="en-US" altLang="zh-CN" b="1">
                <a:solidFill>
                  <a:schemeClr val="tx1"/>
                </a:solidFill>
              </a:rPr>
              <a:t> </a:t>
            </a:r>
            <a:r>
              <a:rPr lang="zh-CN" altLang="en-US" b="1">
                <a:solidFill>
                  <a:schemeClr val="tx1"/>
                </a:solidFill>
              </a:rPr>
              <a:t>接</a:t>
            </a:r>
            <a:r>
              <a:rPr lang="en-US" altLang="zh-CN" b="1">
                <a:solidFill>
                  <a:schemeClr val="tx1"/>
                </a:solidFill>
              </a:rPr>
              <a:t> </a:t>
            </a:r>
            <a:r>
              <a:rPr lang="zh-CN" altLang="en-US" b="1">
                <a:solidFill>
                  <a:schemeClr val="tx1"/>
                </a:solidFill>
              </a:rPr>
              <a:t>口</a:t>
            </a:r>
            <a:r>
              <a:rPr lang="en-US" altLang="zh-CN" b="1">
                <a:solidFill>
                  <a:schemeClr val="tx1"/>
                </a:solidFill>
              </a:rPr>
              <a:t> 1</a:t>
            </a:r>
            <a:endParaRPr lang="en-US" altLang="zh-CN" b="1">
              <a:solidFill>
                <a:schemeClr val="tx1"/>
              </a:solidFill>
            </a:endParaRPr>
          </a:p>
        </p:txBody>
      </p:sp>
      <p:sp>
        <p:nvSpPr>
          <p:cNvPr id="35" name="Rectangles 34"/>
          <p:cNvSpPr/>
          <p:nvPr/>
        </p:nvSpPr>
        <p:spPr>
          <a:xfrm>
            <a:off x="9568815" y="2442845"/>
            <a:ext cx="2563495" cy="2922905"/>
          </a:xfrm>
          <a:prstGeom prst="rect">
            <a:avLst/>
          </a:prstGeom>
          <a:solidFill>
            <a:schemeClr val="bg1">
              <a:lumMod val="85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endParaRPr lang="zh-CN" altLang="en-US" sz="1600" b="1">
              <a:solidFill>
                <a:schemeClr val="tx1"/>
              </a:solidFill>
            </a:endParaRPr>
          </a:p>
          <a:p>
            <a:pPr algn="ctr"/>
            <a:endParaRPr lang="zh-CN" altLang="en-US" sz="1600" b="1">
              <a:solidFill>
                <a:schemeClr val="tx1"/>
              </a:solidFill>
            </a:endParaRPr>
          </a:p>
          <a:p>
            <a:pPr algn="ctr"/>
            <a:endParaRPr lang="zh-CN" altLang="en-US" sz="1600" b="1">
              <a:solidFill>
                <a:schemeClr val="tx1"/>
              </a:solidFill>
            </a:endParaRPr>
          </a:p>
          <a:p>
            <a:pPr algn="ctr"/>
            <a:endParaRPr lang="zh-CN" altLang="en-US" sz="1600" b="1">
              <a:solidFill>
                <a:schemeClr val="tx1"/>
              </a:solidFill>
            </a:endParaRPr>
          </a:p>
          <a:p>
            <a:pPr algn="ctr"/>
            <a:endParaRPr lang="zh-CN" altLang="en-US" sz="1600" b="1">
              <a:solidFill>
                <a:schemeClr val="tx1"/>
              </a:solidFill>
            </a:endParaRPr>
          </a:p>
          <a:p>
            <a:pPr algn="ctr"/>
            <a:endParaRPr lang="zh-CN" altLang="en-US" sz="1600" b="1">
              <a:solidFill>
                <a:schemeClr val="tx1"/>
              </a:solidFill>
            </a:endParaRPr>
          </a:p>
          <a:p>
            <a:pPr algn="ctr"/>
            <a:endParaRPr lang="zh-CN" altLang="en-US" sz="1600" b="1">
              <a:solidFill>
                <a:schemeClr val="tx1"/>
              </a:solidFill>
            </a:endParaRPr>
          </a:p>
          <a:p>
            <a:pPr algn="ctr"/>
            <a:endParaRPr lang="zh-CN" altLang="en-US" sz="1600" b="1">
              <a:solidFill>
                <a:schemeClr val="tx1"/>
              </a:solidFill>
            </a:endParaRPr>
          </a:p>
          <a:p>
            <a:pPr algn="ctr"/>
            <a:endParaRPr lang="zh-CN" altLang="en-US" sz="1600" b="1">
              <a:solidFill>
                <a:schemeClr val="tx1"/>
              </a:solidFill>
            </a:endParaRPr>
          </a:p>
          <a:p>
            <a:pPr algn="ctr"/>
            <a:r>
              <a:rPr lang="zh-CN" altLang="en-US" sz="1600" b="1">
                <a:solidFill>
                  <a:schemeClr val="tx1"/>
                </a:solidFill>
              </a:rPr>
              <a:t>扩展平台</a:t>
            </a:r>
            <a:endParaRPr lang="en-US" altLang="zh-CN" sz="1600" b="1">
              <a:solidFill>
                <a:schemeClr val="tx1"/>
              </a:solidFill>
            </a:endParaRPr>
          </a:p>
        </p:txBody>
      </p:sp>
      <p:sp>
        <p:nvSpPr>
          <p:cNvPr id="37" name="Rectangles 36"/>
          <p:cNvSpPr/>
          <p:nvPr/>
        </p:nvSpPr>
        <p:spPr>
          <a:xfrm>
            <a:off x="10352405" y="2724785"/>
            <a:ext cx="729615" cy="1784985"/>
          </a:xfrm>
          <a:prstGeom prst="rect">
            <a:avLst/>
          </a:prstGeom>
          <a:solidFill>
            <a:schemeClr val="bg1">
              <a:lumMod val="85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endParaRPr lang="zh-CN" altLang="en-US" sz="1400" b="1">
              <a:solidFill>
                <a:schemeClr val="tx1"/>
              </a:solidFill>
            </a:endParaRPr>
          </a:p>
          <a:p>
            <a:pPr algn="ctr"/>
            <a:endParaRPr lang="zh-CN" altLang="en-US" sz="1400" b="1">
              <a:solidFill>
                <a:schemeClr val="tx1"/>
              </a:solidFill>
            </a:endParaRPr>
          </a:p>
          <a:p>
            <a:pPr algn="ctr"/>
            <a:endParaRPr lang="zh-CN" altLang="en-US" sz="1400" b="1">
              <a:solidFill>
                <a:schemeClr val="tx1"/>
              </a:solidFill>
            </a:endParaRPr>
          </a:p>
          <a:p>
            <a:pPr algn="ctr"/>
            <a:endParaRPr lang="zh-CN" altLang="en-US" sz="1400" b="1">
              <a:solidFill>
                <a:schemeClr val="tx1"/>
              </a:solidFill>
            </a:endParaRPr>
          </a:p>
          <a:p>
            <a:pPr algn="ctr"/>
            <a:endParaRPr lang="zh-CN" altLang="en-US" sz="1400" b="1">
              <a:solidFill>
                <a:schemeClr val="tx1"/>
              </a:solidFill>
            </a:endParaRPr>
          </a:p>
          <a:p>
            <a:pPr algn="ctr"/>
            <a:r>
              <a:rPr lang="zh-CN" altLang="en-US" sz="1400" b="1">
                <a:solidFill>
                  <a:schemeClr val="tx1"/>
                </a:solidFill>
              </a:rPr>
              <a:t>扩展</a:t>
            </a:r>
            <a:endParaRPr lang="zh-CN" altLang="en-US" sz="1400" b="1">
              <a:solidFill>
                <a:schemeClr val="tx1"/>
              </a:solidFill>
            </a:endParaRPr>
          </a:p>
          <a:p>
            <a:pPr algn="ctr"/>
            <a:r>
              <a:rPr lang="zh-CN" altLang="en-US" sz="1400" b="1">
                <a:solidFill>
                  <a:schemeClr val="tx1"/>
                </a:solidFill>
              </a:rPr>
              <a:t>平台</a:t>
            </a:r>
            <a:endParaRPr lang="zh-CN" altLang="en-US" sz="1400" b="1">
              <a:solidFill>
                <a:schemeClr val="tx1"/>
              </a:solidFill>
            </a:endParaRPr>
          </a:p>
          <a:p>
            <a:pPr algn="ctr"/>
            <a:r>
              <a:rPr lang="en-US" altLang="zh-CN" sz="1400" b="1">
                <a:solidFill>
                  <a:schemeClr val="tx1"/>
                </a:solidFill>
              </a:rPr>
              <a:t>0</a:t>
            </a:r>
            <a:endParaRPr lang="en-US" altLang="zh-CN" sz="1400" b="1">
              <a:solidFill>
                <a:schemeClr val="tx1"/>
              </a:solidFill>
            </a:endParaRPr>
          </a:p>
        </p:txBody>
      </p:sp>
      <p:sp>
        <p:nvSpPr>
          <p:cNvPr id="43" name="Rectangles 42"/>
          <p:cNvSpPr/>
          <p:nvPr/>
        </p:nvSpPr>
        <p:spPr>
          <a:xfrm>
            <a:off x="-3175" y="2101850"/>
            <a:ext cx="454025" cy="3996690"/>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zh-CN" altLang="en-US" b="1">
                <a:solidFill>
                  <a:schemeClr val="tx1"/>
                </a:solidFill>
              </a:rPr>
              <a:t>工</a:t>
            </a:r>
            <a:endParaRPr lang="zh-CN" altLang="en-US" b="1">
              <a:solidFill>
                <a:schemeClr val="tx1"/>
              </a:solidFill>
            </a:endParaRPr>
          </a:p>
          <a:p>
            <a:pPr algn="ctr"/>
            <a:endParaRPr lang="zh-CN" altLang="en-US" b="1">
              <a:solidFill>
                <a:schemeClr val="tx1"/>
              </a:solidFill>
            </a:endParaRPr>
          </a:p>
          <a:p>
            <a:pPr algn="ctr"/>
            <a:r>
              <a:rPr lang="zh-CN" altLang="en-US" b="1">
                <a:solidFill>
                  <a:schemeClr val="tx1"/>
                </a:solidFill>
              </a:rPr>
              <a:t>具</a:t>
            </a:r>
            <a:endParaRPr lang="zh-CN" altLang="en-US" b="1">
              <a:solidFill>
                <a:schemeClr val="tx1"/>
              </a:solidFill>
            </a:endParaRPr>
          </a:p>
          <a:p>
            <a:pPr algn="ctr"/>
            <a:endParaRPr lang="zh-CN" altLang="en-US" b="1">
              <a:solidFill>
                <a:schemeClr val="tx1"/>
              </a:solidFill>
            </a:endParaRPr>
          </a:p>
          <a:p>
            <a:pPr algn="ctr"/>
            <a:r>
              <a:rPr lang="zh-CN" altLang="en-US" b="1">
                <a:solidFill>
                  <a:schemeClr val="tx1"/>
                </a:solidFill>
              </a:rPr>
              <a:t>链</a:t>
            </a:r>
            <a:endParaRPr lang="zh-CN" altLang="en-US" b="1">
              <a:solidFill>
                <a:schemeClr val="tx1"/>
              </a:solidFill>
            </a:endParaRPr>
          </a:p>
        </p:txBody>
      </p:sp>
      <p:sp>
        <p:nvSpPr>
          <p:cNvPr id="49" name="Rectangles 48"/>
          <p:cNvSpPr/>
          <p:nvPr/>
        </p:nvSpPr>
        <p:spPr>
          <a:xfrm>
            <a:off x="9744710" y="4509770"/>
            <a:ext cx="454025" cy="800100"/>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zh-CN" altLang="en-US" sz="1400" b="1">
                <a:solidFill>
                  <a:schemeClr val="tx1"/>
                </a:solidFill>
              </a:rPr>
              <a:t>工</a:t>
            </a:r>
            <a:endParaRPr lang="zh-CN" altLang="en-US" sz="1400" b="1">
              <a:solidFill>
                <a:schemeClr val="tx1"/>
              </a:solidFill>
            </a:endParaRPr>
          </a:p>
          <a:p>
            <a:pPr algn="ctr"/>
            <a:r>
              <a:rPr lang="zh-CN" altLang="en-US" sz="1400" b="1">
                <a:solidFill>
                  <a:schemeClr val="tx1"/>
                </a:solidFill>
              </a:rPr>
              <a:t>具</a:t>
            </a:r>
            <a:endParaRPr lang="zh-CN" altLang="en-US" sz="1400" b="1">
              <a:solidFill>
                <a:schemeClr val="tx1"/>
              </a:solidFill>
            </a:endParaRPr>
          </a:p>
          <a:p>
            <a:pPr algn="ctr"/>
            <a:r>
              <a:rPr lang="zh-CN" altLang="en-US" sz="1400" b="1">
                <a:solidFill>
                  <a:schemeClr val="tx1"/>
                </a:solidFill>
              </a:rPr>
              <a:t>链</a:t>
            </a:r>
            <a:endParaRPr lang="zh-CN" altLang="en-US" sz="1400" b="1">
              <a:solidFill>
                <a:schemeClr val="tx1"/>
              </a:solidFill>
            </a:endParaRPr>
          </a:p>
        </p:txBody>
      </p:sp>
      <p:sp>
        <p:nvSpPr>
          <p:cNvPr id="51" name="Rectangles 50"/>
          <p:cNvSpPr/>
          <p:nvPr/>
        </p:nvSpPr>
        <p:spPr>
          <a:xfrm>
            <a:off x="563880" y="2448560"/>
            <a:ext cx="1162050" cy="2922270"/>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endParaRPr lang="zh-CN" altLang="en-US" sz="1600" b="1">
              <a:solidFill>
                <a:schemeClr val="tx1"/>
              </a:solidFill>
            </a:endParaRPr>
          </a:p>
          <a:p>
            <a:pPr algn="ctr"/>
            <a:endParaRPr lang="zh-CN" altLang="en-US" sz="1600" b="1">
              <a:solidFill>
                <a:schemeClr val="tx1"/>
              </a:solidFill>
            </a:endParaRPr>
          </a:p>
          <a:p>
            <a:pPr algn="ctr"/>
            <a:endParaRPr lang="zh-CN" altLang="en-US" sz="1600" b="1">
              <a:solidFill>
                <a:schemeClr val="tx1"/>
              </a:solidFill>
            </a:endParaRPr>
          </a:p>
          <a:p>
            <a:pPr algn="ctr"/>
            <a:endParaRPr lang="zh-CN" altLang="en-US" sz="1600" b="1">
              <a:solidFill>
                <a:schemeClr val="tx1"/>
              </a:solidFill>
            </a:endParaRPr>
          </a:p>
          <a:p>
            <a:pPr algn="ctr"/>
            <a:endParaRPr lang="zh-CN" altLang="en-US" sz="1600" b="1">
              <a:solidFill>
                <a:schemeClr val="tx1"/>
              </a:solidFill>
            </a:endParaRPr>
          </a:p>
          <a:p>
            <a:pPr algn="ctr"/>
            <a:endParaRPr lang="zh-CN" altLang="en-US" sz="1600" b="1">
              <a:solidFill>
                <a:schemeClr val="tx1"/>
              </a:solidFill>
            </a:endParaRPr>
          </a:p>
          <a:p>
            <a:pPr algn="ctr"/>
            <a:endParaRPr lang="zh-CN" altLang="en-US" sz="1600" b="1">
              <a:solidFill>
                <a:schemeClr val="tx1"/>
              </a:solidFill>
            </a:endParaRPr>
          </a:p>
          <a:p>
            <a:pPr algn="ctr"/>
            <a:endParaRPr lang="zh-CN" altLang="en-US" sz="1600" b="1">
              <a:solidFill>
                <a:schemeClr val="tx1"/>
              </a:solidFill>
            </a:endParaRPr>
          </a:p>
          <a:p>
            <a:pPr algn="ctr"/>
            <a:r>
              <a:rPr lang="zh-CN" altLang="en-US" sz="1600" b="1">
                <a:solidFill>
                  <a:schemeClr val="tx1"/>
                </a:solidFill>
              </a:rPr>
              <a:t>虚拟化</a:t>
            </a:r>
            <a:endParaRPr lang="zh-CN" altLang="en-US" sz="1600" b="1">
              <a:solidFill>
                <a:schemeClr val="tx1"/>
              </a:solidFill>
            </a:endParaRPr>
          </a:p>
          <a:p>
            <a:pPr algn="ctr"/>
            <a:r>
              <a:rPr lang="zh-CN" altLang="en-US" sz="1600" b="1">
                <a:solidFill>
                  <a:schemeClr val="tx1"/>
                </a:solidFill>
              </a:rPr>
              <a:t>扩展平台</a:t>
            </a:r>
            <a:endParaRPr lang="zh-CN" altLang="en-US" sz="1600" b="1">
              <a:solidFill>
                <a:schemeClr val="tx1"/>
              </a:solidFill>
            </a:endParaRPr>
          </a:p>
        </p:txBody>
      </p:sp>
      <p:sp>
        <p:nvSpPr>
          <p:cNvPr id="52" name="Rectangles 51"/>
          <p:cNvSpPr/>
          <p:nvPr/>
        </p:nvSpPr>
        <p:spPr>
          <a:xfrm>
            <a:off x="11149965" y="2725420"/>
            <a:ext cx="902970" cy="1792605"/>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endParaRPr lang="zh-CN" altLang="en-US" sz="1400" b="1">
              <a:solidFill>
                <a:schemeClr val="tx1"/>
              </a:solidFill>
            </a:endParaRPr>
          </a:p>
          <a:p>
            <a:pPr algn="ctr"/>
            <a:endParaRPr lang="zh-CN" altLang="en-US" sz="1400" b="1">
              <a:solidFill>
                <a:schemeClr val="tx1"/>
              </a:solidFill>
            </a:endParaRPr>
          </a:p>
          <a:p>
            <a:pPr algn="ctr"/>
            <a:endParaRPr lang="zh-CN" altLang="en-US" sz="1400" b="1">
              <a:solidFill>
                <a:schemeClr val="tx1"/>
              </a:solidFill>
            </a:endParaRPr>
          </a:p>
          <a:p>
            <a:pPr algn="ctr"/>
            <a:endParaRPr lang="zh-CN" altLang="en-US" sz="1400" b="1">
              <a:solidFill>
                <a:schemeClr val="tx1"/>
              </a:solidFill>
            </a:endParaRPr>
          </a:p>
          <a:p>
            <a:pPr algn="ctr"/>
            <a:r>
              <a:rPr lang="zh-CN" altLang="en-US" sz="1400" b="1">
                <a:solidFill>
                  <a:schemeClr val="tx1"/>
                </a:solidFill>
              </a:rPr>
              <a:t>虚拟化</a:t>
            </a:r>
            <a:endParaRPr lang="zh-CN" altLang="en-US" sz="1400" b="1">
              <a:solidFill>
                <a:schemeClr val="tx1"/>
              </a:solidFill>
            </a:endParaRPr>
          </a:p>
          <a:p>
            <a:pPr algn="ctr"/>
            <a:r>
              <a:rPr lang="zh-CN" altLang="en-US" sz="1400" b="1">
                <a:solidFill>
                  <a:schemeClr val="tx1"/>
                </a:solidFill>
              </a:rPr>
              <a:t>扩展平台</a:t>
            </a:r>
            <a:endParaRPr lang="zh-CN" altLang="en-US" sz="1400" b="1">
              <a:solidFill>
                <a:schemeClr val="tx1"/>
              </a:solidFill>
            </a:endParaRPr>
          </a:p>
        </p:txBody>
      </p:sp>
      <p:sp>
        <p:nvSpPr>
          <p:cNvPr id="54" name="Rectangles 53"/>
          <p:cNvSpPr/>
          <p:nvPr/>
        </p:nvSpPr>
        <p:spPr>
          <a:xfrm>
            <a:off x="-2540" y="90805"/>
            <a:ext cx="12195175" cy="498475"/>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zh-CN" altLang="en-US" b="1">
                <a:solidFill>
                  <a:schemeClr val="tx1"/>
                </a:solidFill>
              </a:rPr>
              <a:t>基</a:t>
            </a:r>
            <a:r>
              <a:rPr lang="en-US" altLang="zh-CN" b="1">
                <a:solidFill>
                  <a:schemeClr val="tx1"/>
                </a:solidFill>
              </a:rPr>
              <a:t> </a:t>
            </a:r>
            <a:r>
              <a:rPr lang="zh-CN" altLang="en-US" b="1">
                <a:solidFill>
                  <a:schemeClr val="tx1"/>
                </a:solidFill>
              </a:rPr>
              <a:t>础</a:t>
            </a:r>
            <a:r>
              <a:rPr lang="en-US" altLang="zh-CN" b="1">
                <a:solidFill>
                  <a:schemeClr val="tx1"/>
                </a:solidFill>
              </a:rPr>
              <a:t> </a:t>
            </a:r>
            <a:r>
              <a:rPr lang="zh-CN" altLang="en-US" b="1">
                <a:solidFill>
                  <a:schemeClr val="tx1"/>
                </a:solidFill>
              </a:rPr>
              <a:t>分</a:t>
            </a:r>
            <a:r>
              <a:rPr lang="en-US" altLang="zh-CN" b="1">
                <a:solidFill>
                  <a:schemeClr val="tx1"/>
                </a:solidFill>
              </a:rPr>
              <a:t> </a:t>
            </a:r>
            <a:r>
              <a:rPr lang="zh-CN" altLang="en-US" b="1">
                <a:solidFill>
                  <a:schemeClr val="tx1"/>
                </a:solidFill>
              </a:rPr>
              <a:t>布</a:t>
            </a:r>
            <a:r>
              <a:rPr lang="en-US" altLang="zh-CN" b="1">
                <a:solidFill>
                  <a:schemeClr val="tx1"/>
                </a:solidFill>
              </a:rPr>
              <a:t> </a:t>
            </a:r>
            <a:r>
              <a:rPr lang="zh-CN" altLang="en-US" b="1">
                <a:solidFill>
                  <a:schemeClr val="tx1"/>
                </a:solidFill>
              </a:rPr>
              <a:t>式</a:t>
            </a:r>
            <a:r>
              <a:rPr lang="en-US" altLang="zh-CN" b="1">
                <a:solidFill>
                  <a:schemeClr val="tx1"/>
                </a:solidFill>
              </a:rPr>
              <a:t> </a:t>
            </a:r>
            <a:r>
              <a:rPr lang="zh-CN" altLang="en-US" b="1">
                <a:solidFill>
                  <a:schemeClr val="tx1"/>
                </a:solidFill>
              </a:rPr>
              <a:t>系</a:t>
            </a:r>
            <a:r>
              <a:rPr lang="en-US" altLang="zh-CN" b="1">
                <a:solidFill>
                  <a:schemeClr val="tx1"/>
                </a:solidFill>
              </a:rPr>
              <a:t> </a:t>
            </a:r>
            <a:r>
              <a:rPr lang="zh-CN" altLang="en-US" b="1">
                <a:solidFill>
                  <a:schemeClr val="tx1"/>
                </a:solidFill>
              </a:rPr>
              <a:t>统</a:t>
            </a:r>
            <a:endParaRPr lang="zh-CN" altLang="en-US" b="1">
              <a:solidFill>
                <a:schemeClr val="tx1"/>
              </a:solidFill>
            </a:endParaRPr>
          </a:p>
        </p:txBody>
      </p:sp>
      <p:sp>
        <p:nvSpPr>
          <p:cNvPr id="56" name="Rectangles 55"/>
          <p:cNvSpPr/>
          <p:nvPr/>
        </p:nvSpPr>
        <p:spPr>
          <a:xfrm>
            <a:off x="4606290" y="990600"/>
            <a:ext cx="2243455" cy="60007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b="1">
                <a:solidFill>
                  <a:schemeClr val="tx1"/>
                </a:solidFill>
              </a:rPr>
              <a:t>操</a:t>
            </a:r>
            <a:r>
              <a:rPr lang="en-US" altLang="zh-CN" b="1">
                <a:solidFill>
                  <a:schemeClr val="tx1"/>
                </a:solidFill>
              </a:rPr>
              <a:t> </a:t>
            </a:r>
            <a:r>
              <a:rPr lang="zh-CN" altLang="en-US" b="1">
                <a:solidFill>
                  <a:schemeClr val="tx1"/>
                </a:solidFill>
              </a:rPr>
              <a:t>作</a:t>
            </a:r>
            <a:r>
              <a:rPr lang="en-US" altLang="zh-CN" b="1">
                <a:solidFill>
                  <a:schemeClr val="tx1"/>
                </a:solidFill>
              </a:rPr>
              <a:t> </a:t>
            </a:r>
            <a:r>
              <a:rPr lang="zh-CN" altLang="en-US" b="1">
                <a:solidFill>
                  <a:schemeClr val="tx1"/>
                </a:solidFill>
              </a:rPr>
              <a:t>系</a:t>
            </a:r>
            <a:r>
              <a:rPr lang="en-US" altLang="zh-CN" b="1">
                <a:solidFill>
                  <a:schemeClr val="tx1"/>
                </a:solidFill>
              </a:rPr>
              <a:t> </a:t>
            </a:r>
            <a:r>
              <a:rPr lang="zh-CN" altLang="en-US" b="1">
                <a:solidFill>
                  <a:schemeClr val="tx1"/>
                </a:solidFill>
              </a:rPr>
              <a:t>统</a:t>
            </a:r>
            <a:r>
              <a:rPr lang="en-US" altLang="zh-CN" b="1">
                <a:solidFill>
                  <a:schemeClr val="tx1"/>
                </a:solidFill>
              </a:rPr>
              <a:t> 2</a:t>
            </a:r>
            <a:endParaRPr lang="en-US" altLang="zh-CN" b="1">
              <a:solidFill>
                <a:schemeClr val="tx1"/>
              </a:solidFill>
            </a:endParaRPr>
          </a:p>
        </p:txBody>
      </p:sp>
      <p:sp>
        <p:nvSpPr>
          <p:cNvPr id="57" name="Rectangles 56"/>
          <p:cNvSpPr/>
          <p:nvPr/>
        </p:nvSpPr>
        <p:spPr>
          <a:xfrm>
            <a:off x="4431030" y="1590675"/>
            <a:ext cx="2418715" cy="236220"/>
          </a:xfrm>
          <a:prstGeom prst="rect">
            <a:avLst/>
          </a:prstGeom>
          <a:solidFill>
            <a:schemeClr val="tx1">
              <a:lumMod val="50000"/>
              <a:lumOff val="50000"/>
            </a:schemeClr>
          </a:solidFill>
        </p:spPr>
        <p:style>
          <a:lnRef idx="2">
            <a:schemeClr val="accent5"/>
          </a:lnRef>
          <a:fillRef idx="1">
            <a:schemeClr val="lt1"/>
          </a:fillRef>
          <a:effectRef idx="0">
            <a:schemeClr val="accent5"/>
          </a:effectRef>
          <a:fontRef idx="minor">
            <a:schemeClr val="dk1"/>
          </a:fontRef>
        </p:style>
        <p:txBody>
          <a:bodyPr rtlCol="0" anchor="ctr"/>
          <a:p>
            <a:pPr algn="ctr"/>
            <a:endParaRPr lang="en-US" altLang="zh-CN" b="1">
              <a:solidFill>
                <a:schemeClr val="tx1"/>
              </a:solidFill>
            </a:endParaRPr>
          </a:p>
        </p:txBody>
      </p:sp>
      <p:sp>
        <p:nvSpPr>
          <p:cNvPr id="58" name="Rectangles 57"/>
          <p:cNvSpPr/>
          <p:nvPr/>
        </p:nvSpPr>
        <p:spPr>
          <a:xfrm>
            <a:off x="7780020" y="990600"/>
            <a:ext cx="2232025" cy="60007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b="1">
                <a:solidFill>
                  <a:schemeClr val="tx1"/>
                </a:solidFill>
              </a:rPr>
              <a:t>操</a:t>
            </a:r>
            <a:r>
              <a:rPr lang="en-US" altLang="zh-CN" b="1">
                <a:solidFill>
                  <a:schemeClr val="tx1"/>
                </a:solidFill>
              </a:rPr>
              <a:t> </a:t>
            </a:r>
            <a:r>
              <a:rPr lang="zh-CN" altLang="en-US" b="1">
                <a:solidFill>
                  <a:schemeClr val="tx1"/>
                </a:solidFill>
              </a:rPr>
              <a:t>作</a:t>
            </a:r>
            <a:r>
              <a:rPr lang="en-US" altLang="zh-CN" b="1">
                <a:solidFill>
                  <a:schemeClr val="tx1"/>
                </a:solidFill>
              </a:rPr>
              <a:t> </a:t>
            </a:r>
            <a:r>
              <a:rPr lang="zh-CN" altLang="en-US" b="1">
                <a:solidFill>
                  <a:schemeClr val="tx1"/>
                </a:solidFill>
              </a:rPr>
              <a:t>系</a:t>
            </a:r>
            <a:r>
              <a:rPr lang="en-US" altLang="zh-CN" b="1">
                <a:solidFill>
                  <a:schemeClr val="tx1"/>
                </a:solidFill>
              </a:rPr>
              <a:t> </a:t>
            </a:r>
            <a:r>
              <a:rPr lang="zh-CN" altLang="en-US" b="1">
                <a:solidFill>
                  <a:schemeClr val="tx1"/>
                </a:solidFill>
              </a:rPr>
              <a:t>统</a:t>
            </a:r>
            <a:r>
              <a:rPr lang="en-US" altLang="zh-CN" b="1">
                <a:solidFill>
                  <a:schemeClr val="tx1"/>
                </a:solidFill>
              </a:rPr>
              <a:t> n</a:t>
            </a:r>
            <a:endParaRPr lang="en-US" altLang="zh-CN" b="1">
              <a:solidFill>
                <a:schemeClr val="tx1"/>
              </a:solidFill>
            </a:endParaRPr>
          </a:p>
        </p:txBody>
      </p:sp>
      <p:sp>
        <p:nvSpPr>
          <p:cNvPr id="59" name="Rectangles 58"/>
          <p:cNvSpPr/>
          <p:nvPr/>
        </p:nvSpPr>
        <p:spPr>
          <a:xfrm>
            <a:off x="7593330" y="1590675"/>
            <a:ext cx="2418715" cy="236220"/>
          </a:xfrm>
          <a:prstGeom prst="rect">
            <a:avLst/>
          </a:prstGeom>
          <a:solidFill>
            <a:schemeClr val="tx1">
              <a:lumMod val="50000"/>
              <a:lumOff val="50000"/>
            </a:schemeClr>
          </a:solidFill>
        </p:spPr>
        <p:style>
          <a:lnRef idx="2">
            <a:schemeClr val="accent5"/>
          </a:lnRef>
          <a:fillRef idx="1">
            <a:schemeClr val="lt1"/>
          </a:fillRef>
          <a:effectRef idx="0">
            <a:schemeClr val="accent5"/>
          </a:effectRef>
          <a:fontRef idx="minor">
            <a:schemeClr val="dk1"/>
          </a:fontRef>
        </p:style>
        <p:txBody>
          <a:bodyPr rtlCol="0" anchor="ctr"/>
          <a:p>
            <a:pPr algn="ctr"/>
            <a:endParaRPr lang="en-US" altLang="zh-CN" b="1">
              <a:solidFill>
                <a:schemeClr val="tx1"/>
              </a:solidFill>
            </a:endParaRPr>
          </a:p>
        </p:txBody>
      </p:sp>
      <p:sp>
        <p:nvSpPr>
          <p:cNvPr id="60" name="Rectangles 59"/>
          <p:cNvSpPr/>
          <p:nvPr/>
        </p:nvSpPr>
        <p:spPr>
          <a:xfrm>
            <a:off x="7052945" y="1283335"/>
            <a:ext cx="76200" cy="13081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p>
            <a:pPr algn="ctr"/>
            <a:endParaRPr lang="zh-CN" altLang="en-US" b="1">
              <a:solidFill>
                <a:schemeClr val="tx1"/>
              </a:solidFill>
            </a:endParaRPr>
          </a:p>
        </p:txBody>
      </p:sp>
      <p:sp>
        <p:nvSpPr>
          <p:cNvPr id="61" name="Rectangles 60"/>
          <p:cNvSpPr/>
          <p:nvPr/>
        </p:nvSpPr>
        <p:spPr>
          <a:xfrm>
            <a:off x="7179945" y="1280795"/>
            <a:ext cx="76200" cy="13081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p>
            <a:pPr algn="ctr"/>
            <a:endParaRPr lang="zh-CN" altLang="en-US" b="1">
              <a:solidFill>
                <a:schemeClr val="tx1"/>
              </a:solidFill>
            </a:endParaRPr>
          </a:p>
        </p:txBody>
      </p:sp>
      <p:sp>
        <p:nvSpPr>
          <p:cNvPr id="62" name="Rectangles 61"/>
          <p:cNvSpPr/>
          <p:nvPr/>
        </p:nvSpPr>
        <p:spPr>
          <a:xfrm>
            <a:off x="7306945" y="1278255"/>
            <a:ext cx="76200" cy="13081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p>
            <a:pPr algn="ctr"/>
            <a:endParaRPr lang="zh-CN" altLang="en-US" b="1">
              <a:solidFill>
                <a:schemeClr val="tx1"/>
              </a:solidFill>
            </a:endParaRPr>
          </a:p>
        </p:txBody>
      </p:sp>
      <p:sp>
        <p:nvSpPr>
          <p:cNvPr id="63" name="Rectangles 62"/>
          <p:cNvSpPr/>
          <p:nvPr/>
        </p:nvSpPr>
        <p:spPr>
          <a:xfrm>
            <a:off x="4431030" y="990600"/>
            <a:ext cx="174625" cy="600075"/>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endParaRPr lang="zh-CN" altLang="en-US" b="1">
              <a:solidFill>
                <a:schemeClr val="tx1"/>
              </a:solidFill>
            </a:endParaRPr>
          </a:p>
        </p:txBody>
      </p:sp>
      <p:sp>
        <p:nvSpPr>
          <p:cNvPr id="64" name="Rectangles 63"/>
          <p:cNvSpPr/>
          <p:nvPr/>
        </p:nvSpPr>
        <p:spPr>
          <a:xfrm>
            <a:off x="7593330" y="990600"/>
            <a:ext cx="186690" cy="600075"/>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endParaRPr lang="zh-CN" altLang="en-US" b="1">
              <a:solidFill>
                <a:schemeClr val="tx1"/>
              </a:solidFill>
            </a:endParaRPr>
          </a:p>
        </p:txBody>
      </p:sp>
      <p:cxnSp>
        <p:nvCxnSpPr>
          <p:cNvPr id="65" name="Straight Arrow Connector 64"/>
          <p:cNvCxnSpPr/>
          <p:nvPr/>
        </p:nvCxnSpPr>
        <p:spPr>
          <a:xfrm>
            <a:off x="2955925" y="603885"/>
            <a:ext cx="0" cy="1490345"/>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p:nvPr/>
        </p:nvCxnSpPr>
        <p:spPr>
          <a:xfrm flipH="1">
            <a:off x="5095875" y="600710"/>
            <a:ext cx="6985" cy="402590"/>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p:nvPr/>
        </p:nvCxnSpPr>
        <p:spPr>
          <a:xfrm flipH="1">
            <a:off x="8345170" y="603885"/>
            <a:ext cx="6985" cy="402590"/>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68" name="Rectangles 67"/>
          <p:cNvSpPr/>
          <p:nvPr/>
        </p:nvSpPr>
        <p:spPr>
          <a:xfrm>
            <a:off x="4718050" y="1071245"/>
            <a:ext cx="229235" cy="417830"/>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endParaRPr lang="zh-CN" altLang="en-US" b="1">
              <a:solidFill>
                <a:schemeClr val="tx1"/>
              </a:solidFill>
            </a:endParaRPr>
          </a:p>
        </p:txBody>
      </p:sp>
      <p:sp>
        <p:nvSpPr>
          <p:cNvPr id="69" name="Rectangles 68"/>
          <p:cNvSpPr/>
          <p:nvPr/>
        </p:nvSpPr>
        <p:spPr>
          <a:xfrm>
            <a:off x="7889240" y="1068705"/>
            <a:ext cx="229235" cy="417830"/>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endParaRPr lang="zh-CN" altLang="en-US" b="1">
              <a:solidFill>
                <a:schemeClr val="tx1"/>
              </a:solidFill>
            </a:endParaRPr>
          </a:p>
        </p:txBody>
      </p:sp>
      <p:sp>
        <p:nvSpPr>
          <p:cNvPr id="70" name="Rectangles 69"/>
          <p:cNvSpPr/>
          <p:nvPr/>
        </p:nvSpPr>
        <p:spPr>
          <a:xfrm>
            <a:off x="9744075" y="1079500"/>
            <a:ext cx="151130" cy="351790"/>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endParaRPr lang="zh-CN" altLang="en-US" b="1">
              <a:solidFill>
                <a:schemeClr val="tx1"/>
              </a:solidFill>
            </a:endParaRPr>
          </a:p>
        </p:txBody>
      </p:sp>
      <p:sp>
        <p:nvSpPr>
          <p:cNvPr id="71" name="Rectangles 70"/>
          <p:cNvSpPr/>
          <p:nvPr/>
        </p:nvSpPr>
        <p:spPr>
          <a:xfrm>
            <a:off x="6581140" y="1089660"/>
            <a:ext cx="151130" cy="351790"/>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endParaRPr lang="zh-CN" altLang="en-US" b="1">
              <a:solidFill>
                <a:schemeClr val="tx1"/>
              </a:solidFill>
            </a:endParaRPr>
          </a:p>
        </p:txBody>
      </p:sp>
      <p:cxnSp>
        <p:nvCxnSpPr>
          <p:cNvPr id="72" name="Straight Arrow Connector 71"/>
          <p:cNvCxnSpPr/>
          <p:nvPr/>
        </p:nvCxnSpPr>
        <p:spPr>
          <a:xfrm>
            <a:off x="234950" y="601345"/>
            <a:ext cx="0" cy="1490345"/>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73" name="Straight Arrow Connector 72"/>
          <p:cNvCxnSpPr/>
          <p:nvPr/>
        </p:nvCxnSpPr>
        <p:spPr>
          <a:xfrm>
            <a:off x="1131570" y="614680"/>
            <a:ext cx="10795" cy="1824990"/>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a:endCxn id="52" idx="0"/>
          </p:cNvCxnSpPr>
          <p:nvPr/>
        </p:nvCxnSpPr>
        <p:spPr>
          <a:xfrm>
            <a:off x="11596370" y="623570"/>
            <a:ext cx="5080" cy="2101850"/>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75" name="Straight Arrow Connector 74"/>
          <p:cNvCxnSpPr/>
          <p:nvPr/>
        </p:nvCxnSpPr>
        <p:spPr>
          <a:xfrm flipH="1">
            <a:off x="4514850" y="598805"/>
            <a:ext cx="6985" cy="402590"/>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76" name="Straight Arrow Connector 75"/>
          <p:cNvCxnSpPr/>
          <p:nvPr/>
        </p:nvCxnSpPr>
        <p:spPr>
          <a:xfrm flipH="1">
            <a:off x="7682865" y="598805"/>
            <a:ext cx="6985" cy="402590"/>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a:endCxn id="68" idx="0"/>
          </p:cNvCxnSpPr>
          <p:nvPr/>
        </p:nvCxnSpPr>
        <p:spPr>
          <a:xfrm>
            <a:off x="4824730" y="603885"/>
            <a:ext cx="8255" cy="467360"/>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p:nvPr/>
        </p:nvCxnSpPr>
        <p:spPr>
          <a:xfrm>
            <a:off x="7999730" y="601345"/>
            <a:ext cx="8255" cy="467360"/>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p:nvPr/>
        </p:nvCxnSpPr>
        <p:spPr>
          <a:xfrm>
            <a:off x="6670040" y="612775"/>
            <a:ext cx="8255" cy="467360"/>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80" name="Straight Arrow Connector 79"/>
          <p:cNvCxnSpPr/>
          <p:nvPr/>
        </p:nvCxnSpPr>
        <p:spPr>
          <a:xfrm>
            <a:off x="9815830" y="600075"/>
            <a:ext cx="8255" cy="467360"/>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Rectangles 5"/>
          <p:cNvSpPr/>
          <p:nvPr/>
        </p:nvSpPr>
        <p:spPr>
          <a:xfrm>
            <a:off x="450215" y="2101850"/>
            <a:ext cx="11741785" cy="399669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endParaRPr lang="zh-CN" altLang="en-US" b="1">
              <a:solidFill>
                <a:schemeClr val="tx1"/>
              </a:solidFill>
            </a:endParaRPr>
          </a:p>
          <a:p>
            <a:pPr algn="ctr"/>
            <a:endParaRPr lang="zh-CN" altLang="en-US" b="1">
              <a:solidFill>
                <a:schemeClr val="tx1"/>
              </a:solidFill>
            </a:endParaRPr>
          </a:p>
          <a:p>
            <a:pPr algn="ctr"/>
            <a:endParaRPr lang="zh-CN" altLang="en-US" b="1">
              <a:solidFill>
                <a:schemeClr val="tx1"/>
              </a:solidFill>
            </a:endParaRPr>
          </a:p>
          <a:p>
            <a:pPr algn="ctr"/>
            <a:endParaRPr lang="zh-CN" altLang="en-US" b="1">
              <a:solidFill>
                <a:schemeClr val="tx1"/>
              </a:solidFill>
            </a:endParaRPr>
          </a:p>
          <a:p>
            <a:pPr algn="ctr"/>
            <a:endParaRPr lang="zh-CN" altLang="en-US" b="1">
              <a:solidFill>
                <a:schemeClr val="tx1"/>
              </a:solidFill>
            </a:endParaRPr>
          </a:p>
          <a:p>
            <a:pPr algn="ctr"/>
            <a:endParaRPr lang="zh-CN" altLang="en-US" b="1">
              <a:solidFill>
                <a:schemeClr val="tx1"/>
              </a:solidFill>
            </a:endParaRPr>
          </a:p>
          <a:p>
            <a:pPr algn="ctr"/>
            <a:endParaRPr lang="zh-CN" altLang="en-US" b="1">
              <a:solidFill>
                <a:schemeClr val="tx1"/>
              </a:solidFill>
            </a:endParaRPr>
          </a:p>
          <a:p>
            <a:pPr algn="ctr"/>
            <a:endParaRPr lang="zh-CN" altLang="en-US" b="1">
              <a:solidFill>
                <a:schemeClr val="tx1"/>
              </a:solidFill>
            </a:endParaRPr>
          </a:p>
          <a:p>
            <a:pPr algn="ctr"/>
            <a:endParaRPr lang="zh-CN" altLang="en-US" b="1">
              <a:solidFill>
                <a:schemeClr val="tx1"/>
              </a:solidFill>
            </a:endParaRPr>
          </a:p>
          <a:p>
            <a:pPr algn="ctr"/>
            <a:endParaRPr lang="zh-CN" altLang="en-US" b="1">
              <a:solidFill>
                <a:schemeClr val="tx1"/>
              </a:solidFill>
            </a:endParaRPr>
          </a:p>
          <a:p>
            <a:pPr algn="ctr"/>
            <a:endParaRPr lang="zh-CN" altLang="en-US" b="1">
              <a:solidFill>
                <a:schemeClr val="tx1"/>
              </a:solidFill>
            </a:endParaRPr>
          </a:p>
          <a:p>
            <a:pPr algn="ctr"/>
            <a:endParaRPr lang="zh-CN" altLang="en-US" b="1">
              <a:solidFill>
                <a:schemeClr val="tx1"/>
              </a:solidFill>
            </a:endParaRPr>
          </a:p>
          <a:p>
            <a:pPr algn="ctr"/>
            <a:r>
              <a:rPr lang="zh-CN" altLang="en-US" b="1">
                <a:solidFill>
                  <a:schemeClr val="tx1"/>
                </a:solidFill>
              </a:rPr>
              <a:t>操</a:t>
            </a:r>
            <a:r>
              <a:rPr lang="en-US" altLang="zh-CN" b="1">
                <a:solidFill>
                  <a:schemeClr val="tx1"/>
                </a:solidFill>
              </a:rPr>
              <a:t> </a:t>
            </a:r>
            <a:r>
              <a:rPr lang="zh-CN" altLang="en-US" b="1">
                <a:solidFill>
                  <a:schemeClr val="tx1"/>
                </a:solidFill>
              </a:rPr>
              <a:t>作</a:t>
            </a:r>
            <a:r>
              <a:rPr lang="en-US" altLang="zh-CN" b="1">
                <a:solidFill>
                  <a:schemeClr val="tx1"/>
                </a:solidFill>
              </a:rPr>
              <a:t> </a:t>
            </a:r>
            <a:r>
              <a:rPr lang="zh-CN" altLang="en-US" b="1">
                <a:solidFill>
                  <a:schemeClr val="tx1"/>
                </a:solidFill>
              </a:rPr>
              <a:t>系</a:t>
            </a:r>
            <a:r>
              <a:rPr lang="en-US" altLang="zh-CN" b="1">
                <a:solidFill>
                  <a:schemeClr val="tx1"/>
                </a:solidFill>
              </a:rPr>
              <a:t> </a:t>
            </a:r>
            <a:r>
              <a:rPr lang="zh-CN" altLang="en-US" b="1">
                <a:solidFill>
                  <a:schemeClr val="tx1"/>
                </a:solidFill>
              </a:rPr>
              <a:t>统</a:t>
            </a:r>
            <a:r>
              <a:rPr lang="en-US" altLang="zh-CN" b="1">
                <a:solidFill>
                  <a:schemeClr val="tx1"/>
                </a:solidFill>
              </a:rPr>
              <a:t> 1</a:t>
            </a:r>
            <a:endParaRPr lang="en-US" altLang="zh-CN" b="1">
              <a:solidFill>
                <a:schemeClr val="tx1"/>
              </a:solidFill>
            </a:endParaRPr>
          </a:p>
        </p:txBody>
      </p:sp>
      <p:sp>
        <p:nvSpPr>
          <p:cNvPr id="7" name="Rectangles 6"/>
          <p:cNvSpPr/>
          <p:nvPr/>
        </p:nvSpPr>
        <p:spPr>
          <a:xfrm>
            <a:off x="1270" y="6098540"/>
            <a:ext cx="12191365" cy="734695"/>
          </a:xfrm>
          <a:prstGeom prst="rect">
            <a:avLst/>
          </a:prstGeom>
          <a:solidFill>
            <a:schemeClr val="tx1">
              <a:lumMod val="50000"/>
              <a:lumOff val="50000"/>
            </a:schemeClr>
          </a:solidFill>
        </p:spPr>
        <p:style>
          <a:lnRef idx="2">
            <a:schemeClr val="accent5"/>
          </a:lnRef>
          <a:fillRef idx="1">
            <a:schemeClr val="lt1"/>
          </a:fillRef>
          <a:effectRef idx="0">
            <a:schemeClr val="accent5"/>
          </a:effectRef>
          <a:fontRef idx="minor">
            <a:schemeClr val="dk1"/>
          </a:fontRef>
        </p:style>
        <p:txBody>
          <a:bodyPr rtlCol="0" anchor="ctr"/>
          <a:p>
            <a:pPr algn="ctr"/>
            <a:r>
              <a:rPr lang="zh-CN" altLang="en-US" b="1">
                <a:solidFill>
                  <a:schemeClr val="tx1"/>
                </a:solidFill>
              </a:rPr>
              <a:t>电</a:t>
            </a:r>
            <a:r>
              <a:rPr lang="en-US" altLang="zh-CN" b="1">
                <a:solidFill>
                  <a:schemeClr val="tx1"/>
                </a:solidFill>
              </a:rPr>
              <a:t> </a:t>
            </a:r>
            <a:r>
              <a:rPr lang="zh-CN" altLang="en-US" b="1">
                <a:solidFill>
                  <a:schemeClr val="tx1"/>
                </a:solidFill>
              </a:rPr>
              <a:t>脑</a:t>
            </a:r>
            <a:r>
              <a:rPr lang="en-US" altLang="zh-CN" b="1">
                <a:solidFill>
                  <a:schemeClr val="tx1"/>
                </a:solidFill>
              </a:rPr>
              <a:t> </a:t>
            </a:r>
            <a:r>
              <a:rPr lang="zh-CN" altLang="en-US" b="1">
                <a:solidFill>
                  <a:schemeClr val="tx1"/>
                </a:solidFill>
              </a:rPr>
              <a:t>的</a:t>
            </a:r>
            <a:r>
              <a:rPr lang="en-US" altLang="zh-CN" b="1">
                <a:solidFill>
                  <a:schemeClr val="tx1"/>
                </a:solidFill>
              </a:rPr>
              <a:t> </a:t>
            </a:r>
            <a:r>
              <a:rPr lang="zh-CN" altLang="en-US" b="1">
                <a:solidFill>
                  <a:schemeClr val="tx1"/>
                </a:solidFill>
              </a:rPr>
              <a:t>软</a:t>
            </a:r>
            <a:r>
              <a:rPr lang="en-US" altLang="zh-CN" b="1">
                <a:solidFill>
                  <a:schemeClr val="tx1"/>
                </a:solidFill>
              </a:rPr>
              <a:t> </a:t>
            </a:r>
            <a:r>
              <a:rPr lang="zh-CN" altLang="en-US" b="1">
                <a:solidFill>
                  <a:schemeClr val="tx1"/>
                </a:solidFill>
              </a:rPr>
              <a:t>硬</a:t>
            </a:r>
            <a:r>
              <a:rPr lang="en-US" altLang="zh-CN" b="1">
                <a:solidFill>
                  <a:schemeClr val="tx1"/>
                </a:solidFill>
              </a:rPr>
              <a:t> </a:t>
            </a:r>
            <a:r>
              <a:rPr lang="zh-CN" altLang="en-US" b="1">
                <a:solidFill>
                  <a:schemeClr val="tx1"/>
                </a:solidFill>
              </a:rPr>
              <a:t>接</a:t>
            </a:r>
            <a:r>
              <a:rPr lang="en-US" altLang="zh-CN" b="1">
                <a:solidFill>
                  <a:schemeClr val="tx1"/>
                </a:solidFill>
              </a:rPr>
              <a:t> </a:t>
            </a:r>
            <a:r>
              <a:rPr lang="zh-CN" altLang="en-US" b="1">
                <a:solidFill>
                  <a:schemeClr val="tx1"/>
                </a:solidFill>
              </a:rPr>
              <a:t>口</a:t>
            </a:r>
            <a:r>
              <a:rPr lang="en-US" altLang="zh-CN" b="1">
                <a:solidFill>
                  <a:schemeClr val="tx1"/>
                </a:solidFill>
              </a:rPr>
              <a:t> 1</a:t>
            </a:r>
            <a:endParaRPr lang="en-US" altLang="zh-CN" b="1">
              <a:solidFill>
                <a:schemeClr val="tx1"/>
              </a:solidFill>
            </a:endParaRPr>
          </a:p>
        </p:txBody>
      </p:sp>
      <p:sp>
        <p:nvSpPr>
          <p:cNvPr id="8" name="Rectangles 7"/>
          <p:cNvSpPr/>
          <p:nvPr/>
        </p:nvSpPr>
        <p:spPr>
          <a:xfrm>
            <a:off x="2811780" y="2448560"/>
            <a:ext cx="3607435" cy="2922905"/>
          </a:xfrm>
          <a:prstGeom prst="rect">
            <a:avLst/>
          </a:prstGeom>
          <a:solidFill>
            <a:schemeClr val="bg1">
              <a:lumMod val="85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endParaRPr lang="zh-CN" altLang="en-US" sz="1600" b="1">
              <a:solidFill>
                <a:schemeClr val="tx1"/>
              </a:solidFill>
            </a:endParaRPr>
          </a:p>
          <a:p>
            <a:pPr algn="ctr"/>
            <a:endParaRPr lang="zh-CN" altLang="en-US" sz="1600" b="1">
              <a:solidFill>
                <a:schemeClr val="tx1"/>
              </a:solidFill>
            </a:endParaRPr>
          </a:p>
          <a:p>
            <a:pPr algn="ctr"/>
            <a:endParaRPr lang="zh-CN" altLang="en-US" sz="1600" b="1">
              <a:solidFill>
                <a:schemeClr val="tx1"/>
              </a:solidFill>
            </a:endParaRPr>
          </a:p>
          <a:p>
            <a:pPr algn="ctr"/>
            <a:endParaRPr lang="zh-CN" altLang="en-US" sz="1600" b="1">
              <a:solidFill>
                <a:schemeClr val="tx1"/>
              </a:solidFill>
            </a:endParaRPr>
          </a:p>
          <a:p>
            <a:pPr algn="ctr"/>
            <a:endParaRPr lang="zh-CN" altLang="en-US" sz="1600" b="1">
              <a:solidFill>
                <a:schemeClr val="tx1"/>
              </a:solidFill>
            </a:endParaRPr>
          </a:p>
          <a:p>
            <a:pPr algn="ctr"/>
            <a:endParaRPr lang="zh-CN" altLang="en-US" sz="1600" b="1">
              <a:solidFill>
                <a:schemeClr val="tx1"/>
              </a:solidFill>
            </a:endParaRPr>
          </a:p>
          <a:p>
            <a:pPr algn="ctr"/>
            <a:endParaRPr lang="zh-CN" altLang="en-US" sz="1600" b="1">
              <a:solidFill>
                <a:schemeClr val="tx1"/>
              </a:solidFill>
            </a:endParaRPr>
          </a:p>
          <a:p>
            <a:pPr algn="ctr"/>
            <a:endParaRPr lang="zh-CN" altLang="en-US" sz="1600" b="1">
              <a:solidFill>
                <a:schemeClr val="tx1"/>
              </a:solidFill>
            </a:endParaRPr>
          </a:p>
          <a:p>
            <a:pPr algn="ctr"/>
            <a:endParaRPr lang="zh-CN" altLang="en-US" sz="1600" b="1">
              <a:solidFill>
                <a:schemeClr val="tx1"/>
              </a:solidFill>
            </a:endParaRPr>
          </a:p>
          <a:p>
            <a:pPr algn="ctr"/>
            <a:r>
              <a:rPr lang="zh-CN" altLang="en-US" sz="1600" b="1">
                <a:solidFill>
                  <a:schemeClr val="tx1"/>
                </a:solidFill>
              </a:rPr>
              <a:t>扩展平台</a:t>
            </a:r>
            <a:r>
              <a:rPr lang="en-US" altLang="zh-CN" sz="1600" b="1">
                <a:solidFill>
                  <a:schemeClr val="tx1"/>
                </a:solidFill>
              </a:rPr>
              <a:t>1</a:t>
            </a:r>
            <a:endParaRPr lang="en-US" altLang="zh-CN" sz="1600" b="1">
              <a:solidFill>
                <a:schemeClr val="tx1"/>
              </a:solidFill>
            </a:endParaRPr>
          </a:p>
        </p:txBody>
      </p:sp>
      <p:sp>
        <p:nvSpPr>
          <p:cNvPr id="9" name="Rectangles 8"/>
          <p:cNvSpPr/>
          <p:nvPr/>
        </p:nvSpPr>
        <p:spPr>
          <a:xfrm>
            <a:off x="1835150" y="2979420"/>
            <a:ext cx="852170" cy="961390"/>
          </a:xfrm>
          <a:prstGeom prst="rect">
            <a:avLst/>
          </a:prstGeom>
          <a:solidFill>
            <a:schemeClr val="bg1">
              <a:lumMod val="95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zh-CN" altLang="en-US" b="1">
                <a:solidFill>
                  <a:schemeClr val="tx1"/>
                </a:solidFill>
              </a:rPr>
              <a:t>应用</a:t>
            </a:r>
            <a:endParaRPr lang="en-US" altLang="zh-CN" b="1">
              <a:solidFill>
                <a:schemeClr val="tx1"/>
              </a:solidFill>
            </a:endParaRPr>
          </a:p>
        </p:txBody>
      </p:sp>
      <p:sp>
        <p:nvSpPr>
          <p:cNvPr id="13" name="Rectangles 12"/>
          <p:cNvSpPr/>
          <p:nvPr/>
        </p:nvSpPr>
        <p:spPr>
          <a:xfrm>
            <a:off x="3587115" y="2724785"/>
            <a:ext cx="729615" cy="1792605"/>
          </a:xfrm>
          <a:prstGeom prst="rect">
            <a:avLst/>
          </a:prstGeom>
          <a:solidFill>
            <a:schemeClr val="bg1">
              <a:lumMod val="85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endParaRPr lang="zh-CN" altLang="en-US" sz="1400" b="1">
              <a:solidFill>
                <a:schemeClr val="tx1"/>
              </a:solidFill>
            </a:endParaRPr>
          </a:p>
          <a:p>
            <a:pPr algn="ctr"/>
            <a:endParaRPr lang="zh-CN" altLang="en-US" sz="1400" b="1">
              <a:solidFill>
                <a:schemeClr val="tx1"/>
              </a:solidFill>
            </a:endParaRPr>
          </a:p>
          <a:p>
            <a:pPr algn="ctr"/>
            <a:endParaRPr lang="zh-CN" altLang="en-US" sz="1400" b="1">
              <a:solidFill>
                <a:schemeClr val="tx1"/>
              </a:solidFill>
            </a:endParaRPr>
          </a:p>
          <a:p>
            <a:pPr algn="ctr"/>
            <a:endParaRPr lang="zh-CN" altLang="en-US" sz="1400" b="1">
              <a:solidFill>
                <a:schemeClr val="tx1"/>
              </a:solidFill>
            </a:endParaRPr>
          </a:p>
          <a:p>
            <a:pPr algn="ctr"/>
            <a:endParaRPr lang="zh-CN" altLang="en-US" sz="1400" b="1">
              <a:solidFill>
                <a:schemeClr val="tx1"/>
              </a:solidFill>
            </a:endParaRPr>
          </a:p>
          <a:p>
            <a:pPr algn="ctr"/>
            <a:r>
              <a:rPr lang="zh-CN" altLang="en-US" sz="1400" b="1">
                <a:solidFill>
                  <a:schemeClr val="tx1"/>
                </a:solidFill>
              </a:rPr>
              <a:t>扩展</a:t>
            </a:r>
            <a:endParaRPr lang="zh-CN" altLang="en-US" sz="1400" b="1">
              <a:solidFill>
                <a:schemeClr val="tx1"/>
              </a:solidFill>
            </a:endParaRPr>
          </a:p>
          <a:p>
            <a:pPr algn="ctr"/>
            <a:r>
              <a:rPr lang="zh-CN" altLang="en-US" sz="1400" b="1">
                <a:solidFill>
                  <a:schemeClr val="tx1"/>
                </a:solidFill>
              </a:rPr>
              <a:t>平台</a:t>
            </a:r>
            <a:endParaRPr lang="zh-CN" altLang="en-US" sz="1400" b="1">
              <a:solidFill>
                <a:schemeClr val="tx1"/>
              </a:solidFill>
            </a:endParaRPr>
          </a:p>
          <a:p>
            <a:pPr algn="ctr"/>
            <a:r>
              <a:rPr lang="en-US" altLang="zh-CN" sz="1400" b="1">
                <a:solidFill>
                  <a:schemeClr val="tx1"/>
                </a:solidFill>
              </a:rPr>
              <a:t>10</a:t>
            </a:r>
            <a:endParaRPr lang="en-US" altLang="zh-CN" sz="1400" b="1">
              <a:solidFill>
                <a:schemeClr val="tx1"/>
              </a:solidFill>
            </a:endParaRPr>
          </a:p>
        </p:txBody>
      </p:sp>
      <p:sp>
        <p:nvSpPr>
          <p:cNvPr id="14" name="Rectangles 13"/>
          <p:cNvSpPr/>
          <p:nvPr/>
        </p:nvSpPr>
        <p:spPr>
          <a:xfrm>
            <a:off x="2889885" y="2983230"/>
            <a:ext cx="605790" cy="721360"/>
          </a:xfrm>
          <a:prstGeom prst="rect">
            <a:avLst/>
          </a:prstGeom>
          <a:solidFill>
            <a:schemeClr val="bg1">
              <a:lumMod val="95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zh-CN" altLang="en-US" sz="1600" b="1">
                <a:solidFill>
                  <a:schemeClr val="tx1"/>
                </a:solidFill>
              </a:rPr>
              <a:t>应用</a:t>
            </a:r>
            <a:endParaRPr lang="en-US" altLang="zh-CN" sz="1600" b="1">
              <a:solidFill>
                <a:schemeClr val="tx1"/>
              </a:solidFill>
            </a:endParaRPr>
          </a:p>
        </p:txBody>
      </p:sp>
      <p:sp>
        <p:nvSpPr>
          <p:cNvPr id="15" name="Rectangles 14"/>
          <p:cNvSpPr/>
          <p:nvPr/>
        </p:nvSpPr>
        <p:spPr>
          <a:xfrm>
            <a:off x="3652520" y="2981960"/>
            <a:ext cx="601345" cy="558165"/>
          </a:xfrm>
          <a:prstGeom prst="rect">
            <a:avLst/>
          </a:prstGeom>
          <a:solidFill>
            <a:schemeClr val="bg1">
              <a:lumMod val="95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zh-CN" altLang="en-US" sz="1400" b="1">
                <a:solidFill>
                  <a:schemeClr val="tx1"/>
                </a:solidFill>
              </a:rPr>
              <a:t>应用</a:t>
            </a:r>
            <a:endParaRPr lang="en-US" altLang="zh-CN" sz="1400" b="1">
              <a:solidFill>
                <a:schemeClr val="tx1"/>
              </a:solidFill>
            </a:endParaRPr>
          </a:p>
        </p:txBody>
      </p:sp>
      <p:sp>
        <p:nvSpPr>
          <p:cNvPr id="18" name="Rectangles 17"/>
          <p:cNvSpPr/>
          <p:nvPr/>
        </p:nvSpPr>
        <p:spPr>
          <a:xfrm>
            <a:off x="5201285" y="3544570"/>
            <a:ext cx="76200" cy="13081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p>
            <a:pPr algn="ctr"/>
            <a:endParaRPr lang="zh-CN" altLang="en-US" b="1">
              <a:solidFill>
                <a:schemeClr val="tx1"/>
              </a:solidFill>
            </a:endParaRPr>
          </a:p>
        </p:txBody>
      </p:sp>
      <p:sp>
        <p:nvSpPr>
          <p:cNvPr id="19" name="Rectangles 18"/>
          <p:cNvSpPr/>
          <p:nvPr/>
        </p:nvSpPr>
        <p:spPr>
          <a:xfrm>
            <a:off x="5328285" y="3542030"/>
            <a:ext cx="76200" cy="13081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p>
            <a:pPr algn="ctr"/>
            <a:endParaRPr lang="zh-CN" altLang="en-US" b="1">
              <a:solidFill>
                <a:schemeClr val="tx1"/>
              </a:solidFill>
            </a:endParaRPr>
          </a:p>
        </p:txBody>
      </p:sp>
      <p:sp>
        <p:nvSpPr>
          <p:cNvPr id="20" name="Rectangles 19"/>
          <p:cNvSpPr/>
          <p:nvPr/>
        </p:nvSpPr>
        <p:spPr>
          <a:xfrm>
            <a:off x="5455285" y="3539490"/>
            <a:ext cx="76200" cy="13081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p>
            <a:pPr algn="ctr"/>
            <a:endParaRPr lang="zh-CN" altLang="en-US" b="1">
              <a:solidFill>
                <a:schemeClr val="tx1"/>
              </a:solidFill>
            </a:endParaRPr>
          </a:p>
        </p:txBody>
      </p:sp>
      <p:sp>
        <p:nvSpPr>
          <p:cNvPr id="23" name="Rectangles 22"/>
          <p:cNvSpPr/>
          <p:nvPr/>
        </p:nvSpPr>
        <p:spPr>
          <a:xfrm>
            <a:off x="4404995" y="2724785"/>
            <a:ext cx="729615" cy="1790065"/>
          </a:xfrm>
          <a:prstGeom prst="rect">
            <a:avLst/>
          </a:prstGeom>
          <a:solidFill>
            <a:schemeClr val="bg1">
              <a:lumMod val="85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endParaRPr lang="zh-CN" altLang="en-US" sz="1400" b="1">
              <a:solidFill>
                <a:schemeClr val="tx1"/>
              </a:solidFill>
            </a:endParaRPr>
          </a:p>
          <a:p>
            <a:pPr algn="ctr"/>
            <a:endParaRPr lang="zh-CN" altLang="en-US" sz="1400" b="1">
              <a:solidFill>
                <a:schemeClr val="tx1"/>
              </a:solidFill>
            </a:endParaRPr>
          </a:p>
          <a:p>
            <a:pPr algn="ctr"/>
            <a:endParaRPr lang="zh-CN" altLang="en-US" sz="1400" b="1">
              <a:solidFill>
                <a:schemeClr val="tx1"/>
              </a:solidFill>
            </a:endParaRPr>
          </a:p>
          <a:p>
            <a:pPr algn="ctr"/>
            <a:endParaRPr lang="zh-CN" altLang="en-US" sz="1400" b="1">
              <a:solidFill>
                <a:schemeClr val="tx1"/>
              </a:solidFill>
            </a:endParaRPr>
          </a:p>
          <a:p>
            <a:pPr algn="ctr"/>
            <a:endParaRPr lang="zh-CN" altLang="en-US" sz="1400" b="1">
              <a:solidFill>
                <a:schemeClr val="tx1"/>
              </a:solidFill>
            </a:endParaRPr>
          </a:p>
          <a:p>
            <a:pPr algn="ctr"/>
            <a:r>
              <a:rPr lang="zh-CN" altLang="en-US" sz="1400" b="1">
                <a:solidFill>
                  <a:schemeClr val="tx1"/>
                </a:solidFill>
              </a:rPr>
              <a:t>扩展</a:t>
            </a:r>
            <a:endParaRPr lang="zh-CN" altLang="en-US" sz="1400" b="1">
              <a:solidFill>
                <a:schemeClr val="tx1"/>
              </a:solidFill>
            </a:endParaRPr>
          </a:p>
          <a:p>
            <a:pPr algn="ctr"/>
            <a:r>
              <a:rPr lang="zh-CN" altLang="en-US" sz="1400" b="1">
                <a:solidFill>
                  <a:schemeClr val="tx1"/>
                </a:solidFill>
              </a:rPr>
              <a:t>平台</a:t>
            </a:r>
            <a:endParaRPr lang="zh-CN" altLang="en-US" sz="1400" b="1">
              <a:solidFill>
                <a:schemeClr val="tx1"/>
              </a:solidFill>
            </a:endParaRPr>
          </a:p>
          <a:p>
            <a:pPr algn="ctr"/>
            <a:r>
              <a:rPr lang="en-US" altLang="zh-CN" sz="1400" b="1">
                <a:solidFill>
                  <a:schemeClr val="tx1"/>
                </a:solidFill>
              </a:rPr>
              <a:t>11</a:t>
            </a:r>
            <a:endParaRPr lang="en-US" altLang="zh-CN" sz="1400" b="1">
              <a:solidFill>
                <a:schemeClr val="tx1"/>
              </a:solidFill>
            </a:endParaRPr>
          </a:p>
        </p:txBody>
      </p:sp>
      <p:sp>
        <p:nvSpPr>
          <p:cNvPr id="24" name="Rectangles 23"/>
          <p:cNvSpPr/>
          <p:nvPr/>
        </p:nvSpPr>
        <p:spPr>
          <a:xfrm>
            <a:off x="4470400" y="2979420"/>
            <a:ext cx="601345" cy="560070"/>
          </a:xfrm>
          <a:prstGeom prst="rect">
            <a:avLst/>
          </a:prstGeom>
          <a:solidFill>
            <a:schemeClr val="bg1">
              <a:lumMod val="95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zh-CN" altLang="en-US" sz="1400" b="1">
                <a:solidFill>
                  <a:schemeClr val="tx1"/>
                </a:solidFill>
              </a:rPr>
              <a:t>应用</a:t>
            </a:r>
            <a:endParaRPr lang="en-US" altLang="zh-CN" sz="1400" b="1">
              <a:solidFill>
                <a:schemeClr val="tx1"/>
              </a:solidFill>
            </a:endParaRPr>
          </a:p>
        </p:txBody>
      </p:sp>
      <p:sp>
        <p:nvSpPr>
          <p:cNvPr id="26" name="Rectangles 25"/>
          <p:cNvSpPr/>
          <p:nvPr/>
        </p:nvSpPr>
        <p:spPr>
          <a:xfrm>
            <a:off x="5600700" y="2724785"/>
            <a:ext cx="729615" cy="1787525"/>
          </a:xfrm>
          <a:prstGeom prst="rect">
            <a:avLst/>
          </a:prstGeom>
          <a:solidFill>
            <a:schemeClr val="bg1">
              <a:lumMod val="85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endParaRPr lang="zh-CN" altLang="en-US" sz="1400" b="1">
              <a:solidFill>
                <a:schemeClr val="tx1"/>
              </a:solidFill>
            </a:endParaRPr>
          </a:p>
          <a:p>
            <a:pPr algn="ctr"/>
            <a:endParaRPr lang="zh-CN" altLang="en-US" sz="1400" b="1">
              <a:solidFill>
                <a:schemeClr val="tx1"/>
              </a:solidFill>
            </a:endParaRPr>
          </a:p>
          <a:p>
            <a:pPr algn="ctr"/>
            <a:endParaRPr lang="zh-CN" altLang="en-US" sz="1400" b="1">
              <a:solidFill>
                <a:schemeClr val="tx1"/>
              </a:solidFill>
            </a:endParaRPr>
          </a:p>
          <a:p>
            <a:pPr algn="ctr"/>
            <a:endParaRPr lang="zh-CN" altLang="en-US" sz="1400" b="1">
              <a:solidFill>
                <a:schemeClr val="tx1"/>
              </a:solidFill>
            </a:endParaRPr>
          </a:p>
          <a:p>
            <a:pPr algn="ctr"/>
            <a:endParaRPr lang="zh-CN" altLang="en-US" sz="1400" b="1">
              <a:solidFill>
                <a:schemeClr val="tx1"/>
              </a:solidFill>
            </a:endParaRPr>
          </a:p>
          <a:p>
            <a:pPr algn="ctr"/>
            <a:r>
              <a:rPr lang="zh-CN" altLang="en-US" sz="1400" b="1">
                <a:solidFill>
                  <a:schemeClr val="tx1"/>
                </a:solidFill>
              </a:rPr>
              <a:t>扩展</a:t>
            </a:r>
            <a:endParaRPr lang="zh-CN" altLang="en-US" sz="1400" b="1">
              <a:solidFill>
                <a:schemeClr val="tx1"/>
              </a:solidFill>
            </a:endParaRPr>
          </a:p>
          <a:p>
            <a:pPr algn="ctr"/>
            <a:r>
              <a:rPr lang="zh-CN" altLang="en-US" sz="1400" b="1">
                <a:solidFill>
                  <a:schemeClr val="tx1"/>
                </a:solidFill>
              </a:rPr>
              <a:t>平台</a:t>
            </a:r>
            <a:endParaRPr lang="zh-CN" altLang="en-US" sz="1400" b="1">
              <a:solidFill>
                <a:schemeClr val="tx1"/>
              </a:solidFill>
            </a:endParaRPr>
          </a:p>
          <a:p>
            <a:pPr algn="ctr"/>
            <a:r>
              <a:rPr lang="en-US" altLang="zh-CN" sz="1400" b="1">
                <a:solidFill>
                  <a:schemeClr val="tx1"/>
                </a:solidFill>
              </a:rPr>
              <a:t>1n</a:t>
            </a:r>
            <a:endParaRPr lang="en-US" altLang="zh-CN" sz="1400" b="1">
              <a:solidFill>
                <a:schemeClr val="tx1"/>
              </a:solidFill>
            </a:endParaRPr>
          </a:p>
        </p:txBody>
      </p:sp>
      <p:sp>
        <p:nvSpPr>
          <p:cNvPr id="27" name="Rectangles 26"/>
          <p:cNvSpPr/>
          <p:nvPr/>
        </p:nvSpPr>
        <p:spPr>
          <a:xfrm>
            <a:off x="5666105" y="2976880"/>
            <a:ext cx="601345" cy="563245"/>
          </a:xfrm>
          <a:prstGeom prst="rect">
            <a:avLst/>
          </a:prstGeom>
          <a:solidFill>
            <a:schemeClr val="bg1">
              <a:lumMod val="95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zh-CN" altLang="en-US" sz="1400" b="1">
                <a:solidFill>
                  <a:schemeClr val="tx1"/>
                </a:solidFill>
              </a:rPr>
              <a:t>应用</a:t>
            </a:r>
            <a:endParaRPr lang="en-US" altLang="zh-CN" sz="1400" b="1">
              <a:solidFill>
                <a:schemeClr val="tx1"/>
              </a:solidFill>
            </a:endParaRPr>
          </a:p>
        </p:txBody>
      </p:sp>
      <p:sp>
        <p:nvSpPr>
          <p:cNvPr id="28" name="Rectangles 27"/>
          <p:cNvSpPr/>
          <p:nvPr/>
        </p:nvSpPr>
        <p:spPr>
          <a:xfrm>
            <a:off x="6576060" y="2445385"/>
            <a:ext cx="2454910" cy="2922905"/>
          </a:xfrm>
          <a:prstGeom prst="rect">
            <a:avLst/>
          </a:prstGeom>
          <a:solidFill>
            <a:schemeClr val="bg1">
              <a:lumMod val="85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endParaRPr lang="zh-CN" altLang="en-US" sz="1600" b="1">
              <a:solidFill>
                <a:schemeClr val="tx1"/>
              </a:solidFill>
            </a:endParaRPr>
          </a:p>
          <a:p>
            <a:pPr algn="ctr"/>
            <a:endParaRPr lang="zh-CN" altLang="en-US" sz="1600" b="1">
              <a:solidFill>
                <a:schemeClr val="tx1"/>
              </a:solidFill>
            </a:endParaRPr>
          </a:p>
          <a:p>
            <a:pPr algn="ctr"/>
            <a:endParaRPr lang="zh-CN" altLang="en-US" sz="1600" b="1">
              <a:solidFill>
                <a:schemeClr val="tx1"/>
              </a:solidFill>
            </a:endParaRPr>
          </a:p>
          <a:p>
            <a:pPr algn="ctr"/>
            <a:endParaRPr lang="zh-CN" altLang="en-US" sz="1600" b="1">
              <a:solidFill>
                <a:schemeClr val="tx1"/>
              </a:solidFill>
            </a:endParaRPr>
          </a:p>
          <a:p>
            <a:pPr algn="ctr"/>
            <a:endParaRPr lang="zh-CN" altLang="en-US" sz="1600" b="1">
              <a:solidFill>
                <a:schemeClr val="tx1"/>
              </a:solidFill>
            </a:endParaRPr>
          </a:p>
          <a:p>
            <a:pPr algn="ctr"/>
            <a:endParaRPr lang="zh-CN" altLang="en-US" sz="1600" b="1">
              <a:solidFill>
                <a:schemeClr val="tx1"/>
              </a:solidFill>
            </a:endParaRPr>
          </a:p>
          <a:p>
            <a:pPr algn="ctr"/>
            <a:endParaRPr lang="zh-CN" altLang="en-US" sz="1600" b="1">
              <a:solidFill>
                <a:schemeClr val="tx1"/>
              </a:solidFill>
            </a:endParaRPr>
          </a:p>
          <a:p>
            <a:pPr algn="ctr"/>
            <a:endParaRPr lang="zh-CN" altLang="en-US" sz="1600" b="1">
              <a:solidFill>
                <a:schemeClr val="tx1"/>
              </a:solidFill>
            </a:endParaRPr>
          </a:p>
          <a:p>
            <a:pPr algn="ctr"/>
            <a:endParaRPr lang="zh-CN" altLang="en-US" sz="1600" b="1">
              <a:solidFill>
                <a:schemeClr val="tx1"/>
              </a:solidFill>
            </a:endParaRPr>
          </a:p>
          <a:p>
            <a:pPr algn="ctr"/>
            <a:r>
              <a:rPr lang="zh-CN" altLang="en-US" sz="1600" b="1">
                <a:solidFill>
                  <a:schemeClr val="tx1"/>
                </a:solidFill>
              </a:rPr>
              <a:t>扩展平台</a:t>
            </a:r>
            <a:r>
              <a:rPr lang="en-US" altLang="zh-CN" sz="1600" b="1">
                <a:solidFill>
                  <a:schemeClr val="tx1"/>
                </a:solidFill>
              </a:rPr>
              <a:t>2</a:t>
            </a:r>
            <a:endParaRPr lang="en-US" altLang="zh-CN" sz="1600" b="1">
              <a:solidFill>
                <a:schemeClr val="tx1"/>
              </a:solidFill>
            </a:endParaRPr>
          </a:p>
        </p:txBody>
      </p:sp>
      <p:sp>
        <p:nvSpPr>
          <p:cNvPr id="29" name="Rectangles 28"/>
          <p:cNvSpPr/>
          <p:nvPr/>
        </p:nvSpPr>
        <p:spPr>
          <a:xfrm>
            <a:off x="6678295" y="2979420"/>
            <a:ext cx="605790" cy="710565"/>
          </a:xfrm>
          <a:prstGeom prst="rect">
            <a:avLst/>
          </a:prstGeom>
          <a:solidFill>
            <a:schemeClr val="bg1">
              <a:lumMod val="95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zh-CN" altLang="en-US" sz="1600" b="1">
                <a:solidFill>
                  <a:schemeClr val="tx1"/>
                </a:solidFill>
              </a:rPr>
              <a:t>应用</a:t>
            </a:r>
            <a:endParaRPr lang="en-US" altLang="zh-CN" sz="1600" b="1">
              <a:solidFill>
                <a:schemeClr val="tx1"/>
              </a:solidFill>
            </a:endParaRPr>
          </a:p>
        </p:txBody>
      </p:sp>
      <p:sp>
        <p:nvSpPr>
          <p:cNvPr id="30" name="Rectangles 29"/>
          <p:cNvSpPr/>
          <p:nvPr/>
        </p:nvSpPr>
        <p:spPr>
          <a:xfrm>
            <a:off x="7390130" y="2725420"/>
            <a:ext cx="1536700" cy="1786890"/>
          </a:xfrm>
          <a:prstGeom prst="rect">
            <a:avLst/>
          </a:prstGeom>
          <a:solidFill>
            <a:schemeClr val="bg1">
              <a:lumMod val="85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endParaRPr lang="zh-CN" altLang="en-US" sz="1400" b="1">
              <a:solidFill>
                <a:schemeClr val="tx1"/>
              </a:solidFill>
            </a:endParaRPr>
          </a:p>
          <a:p>
            <a:pPr algn="ctr"/>
            <a:endParaRPr lang="zh-CN" altLang="en-US" sz="1400" b="1">
              <a:solidFill>
                <a:schemeClr val="tx1"/>
              </a:solidFill>
            </a:endParaRPr>
          </a:p>
          <a:p>
            <a:pPr algn="ctr"/>
            <a:endParaRPr lang="zh-CN" altLang="en-US" sz="1400" b="1">
              <a:solidFill>
                <a:schemeClr val="tx1"/>
              </a:solidFill>
            </a:endParaRPr>
          </a:p>
          <a:p>
            <a:pPr algn="ctr"/>
            <a:endParaRPr lang="zh-CN" altLang="en-US" sz="1400" b="1">
              <a:solidFill>
                <a:schemeClr val="tx1"/>
              </a:solidFill>
            </a:endParaRPr>
          </a:p>
          <a:p>
            <a:pPr algn="ctr"/>
            <a:endParaRPr lang="zh-CN" altLang="en-US" sz="1400" b="1">
              <a:solidFill>
                <a:schemeClr val="tx1"/>
              </a:solidFill>
            </a:endParaRPr>
          </a:p>
          <a:p>
            <a:pPr algn="ctr"/>
            <a:r>
              <a:rPr lang="zh-CN" altLang="en-US" sz="1400" b="1">
                <a:solidFill>
                  <a:schemeClr val="tx1"/>
                </a:solidFill>
              </a:rPr>
              <a:t>扩展</a:t>
            </a:r>
            <a:endParaRPr lang="zh-CN" altLang="en-US" sz="1400" b="1">
              <a:solidFill>
                <a:schemeClr val="tx1"/>
              </a:solidFill>
            </a:endParaRPr>
          </a:p>
          <a:p>
            <a:pPr algn="ctr"/>
            <a:r>
              <a:rPr lang="zh-CN" altLang="en-US" sz="1400" b="1">
                <a:solidFill>
                  <a:schemeClr val="tx1"/>
                </a:solidFill>
              </a:rPr>
              <a:t>平台</a:t>
            </a:r>
            <a:endParaRPr lang="zh-CN" altLang="en-US" sz="1400" b="1">
              <a:solidFill>
                <a:schemeClr val="tx1"/>
              </a:solidFill>
            </a:endParaRPr>
          </a:p>
          <a:p>
            <a:pPr algn="ctr"/>
            <a:r>
              <a:rPr lang="en-US" altLang="zh-CN" sz="1400" b="1">
                <a:solidFill>
                  <a:schemeClr val="tx1"/>
                </a:solidFill>
              </a:rPr>
              <a:t>20</a:t>
            </a:r>
            <a:endParaRPr lang="en-US" altLang="zh-CN" sz="1400" b="1">
              <a:solidFill>
                <a:schemeClr val="tx1"/>
              </a:solidFill>
            </a:endParaRPr>
          </a:p>
        </p:txBody>
      </p:sp>
      <p:sp>
        <p:nvSpPr>
          <p:cNvPr id="31" name="Rectangles 30"/>
          <p:cNvSpPr/>
          <p:nvPr/>
        </p:nvSpPr>
        <p:spPr>
          <a:xfrm>
            <a:off x="7462520" y="2976880"/>
            <a:ext cx="601345" cy="473710"/>
          </a:xfrm>
          <a:prstGeom prst="rect">
            <a:avLst/>
          </a:prstGeom>
          <a:solidFill>
            <a:schemeClr val="bg1">
              <a:lumMod val="95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zh-CN" altLang="en-US" sz="1400" b="1">
                <a:solidFill>
                  <a:schemeClr val="tx1"/>
                </a:solidFill>
              </a:rPr>
              <a:t>应用</a:t>
            </a:r>
            <a:endParaRPr lang="en-US" altLang="zh-CN" sz="1400" b="1">
              <a:solidFill>
                <a:schemeClr val="tx1"/>
              </a:solidFill>
            </a:endParaRPr>
          </a:p>
        </p:txBody>
      </p:sp>
      <p:sp>
        <p:nvSpPr>
          <p:cNvPr id="32" name="Rectangles 31"/>
          <p:cNvSpPr/>
          <p:nvPr/>
        </p:nvSpPr>
        <p:spPr>
          <a:xfrm>
            <a:off x="9128125" y="3552825"/>
            <a:ext cx="76200" cy="13081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p>
            <a:pPr algn="ctr"/>
            <a:endParaRPr lang="zh-CN" altLang="en-US" b="1">
              <a:solidFill>
                <a:schemeClr val="tx1"/>
              </a:solidFill>
            </a:endParaRPr>
          </a:p>
        </p:txBody>
      </p:sp>
      <p:sp>
        <p:nvSpPr>
          <p:cNvPr id="33" name="Rectangles 32"/>
          <p:cNvSpPr/>
          <p:nvPr/>
        </p:nvSpPr>
        <p:spPr>
          <a:xfrm>
            <a:off x="9255125" y="3550285"/>
            <a:ext cx="76200" cy="13081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p>
            <a:pPr algn="ctr"/>
            <a:endParaRPr lang="zh-CN" altLang="en-US" b="1">
              <a:solidFill>
                <a:schemeClr val="tx1"/>
              </a:solidFill>
            </a:endParaRPr>
          </a:p>
        </p:txBody>
      </p:sp>
      <p:sp>
        <p:nvSpPr>
          <p:cNvPr id="34" name="Rectangles 33"/>
          <p:cNvSpPr/>
          <p:nvPr/>
        </p:nvSpPr>
        <p:spPr>
          <a:xfrm>
            <a:off x="9382125" y="3547745"/>
            <a:ext cx="76200" cy="13081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p>
            <a:pPr algn="ctr"/>
            <a:endParaRPr lang="zh-CN" altLang="en-US" b="1">
              <a:solidFill>
                <a:schemeClr val="tx1"/>
              </a:solidFill>
            </a:endParaRPr>
          </a:p>
        </p:txBody>
      </p:sp>
      <p:sp>
        <p:nvSpPr>
          <p:cNvPr id="35" name="Rectangles 34"/>
          <p:cNvSpPr/>
          <p:nvPr/>
        </p:nvSpPr>
        <p:spPr>
          <a:xfrm>
            <a:off x="9568815" y="2442845"/>
            <a:ext cx="2563495" cy="2922905"/>
          </a:xfrm>
          <a:prstGeom prst="rect">
            <a:avLst/>
          </a:prstGeom>
          <a:solidFill>
            <a:schemeClr val="bg1">
              <a:lumMod val="85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endParaRPr lang="zh-CN" altLang="en-US" sz="1600" b="1">
              <a:solidFill>
                <a:schemeClr val="tx1"/>
              </a:solidFill>
            </a:endParaRPr>
          </a:p>
          <a:p>
            <a:pPr algn="ctr"/>
            <a:endParaRPr lang="zh-CN" altLang="en-US" sz="1600" b="1">
              <a:solidFill>
                <a:schemeClr val="tx1"/>
              </a:solidFill>
            </a:endParaRPr>
          </a:p>
          <a:p>
            <a:pPr algn="ctr"/>
            <a:endParaRPr lang="zh-CN" altLang="en-US" sz="1600" b="1">
              <a:solidFill>
                <a:schemeClr val="tx1"/>
              </a:solidFill>
            </a:endParaRPr>
          </a:p>
          <a:p>
            <a:pPr algn="ctr"/>
            <a:endParaRPr lang="zh-CN" altLang="en-US" sz="1600" b="1">
              <a:solidFill>
                <a:schemeClr val="tx1"/>
              </a:solidFill>
            </a:endParaRPr>
          </a:p>
          <a:p>
            <a:pPr algn="ctr"/>
            <a:endParaRPr lang="zh-CN" altLang="en-US" sz="1600" b="1">
              <a:solidFill>
                <a:schemeClr val="tx1"/>
              </a:solidFill>
            </a:endParaRPr>
          </a:p>
          <a:p>
            <a:pPr algn="ctr"/>
            <a:endParaRPr lang="zh-CN" altLang="en-US" sz="1600" b="1">
              <a:solidFill>
                <a:schemeClr val="tx1"/>
              </a:solidFill>
            </a:endParaRPr>
          </a:p>
          <a:p>
            <a:pPr algn="ctr"/>
            <a:endParaRPr lang="zh-CN" altLang="en-US" sz="1600" b="1">
              <a:solidFill>
                <a:schemeClr val="tx1"/>
              </a:solidFill>
            </a:endParaRPr>
          </a:p>
          <a:p>
            <a:pPr algn="ctr"/>
            <a:endParaRPr lang="zh-CN" altLang="en-US" sz="1600" b="1">
              <a:solidFill>
                <a:schemeClr val="tx1"/>
              </a:solidFill>
            </a:endParaRPr>
          </a:p>
          <a:p>
            <a:pPr algn="ctr"/>
            <a:endParaRPr lang="zh-CN" altLang="en-US" sz="1600" b="1">
              <a:solidFill>
                <a:schemeClr val="tx1"/>
              </a:solidFill>
            </a:endParaRPr>
          </a:p>
          <a:p>
            <a:pPr algn="ctr"/>
            <a:r>
              <a:rPr lang="zh-CN" altLang="en-US" sz="1600" b="1">
                <a:solidFill>
                  <a:schemeClr val="tx1"/>
                </a:solidFill>
              </a:rPr>
              <a:t>扩展平台</a:t>
            </a:r>
            <a:r>
              <a:rPr lang="en-US" altLang="zh-CN" sz="1600" b="1">
                <a:solidFill>
                  <a:schemeClr val="tx1"/>
                </a:solidFill>
              </a:rPr>
              <a:t>n</a:t>
            </a:r>
            <a:endParaRPr lang="en-US" altLang="zh-CN" sz="1600" b="1">
              <a:solidFill>
                <a:schemeClr val="tx1"/>
              </a:solidFill>
            </a:endParaRPr>
          </a:p>
        </p:txBody>
      </p:sp>
      <p:sp>
        <p:nvSpPr>
          <p:cNvPr id="36" name="Rectangles 35"/>
          <p:cNvSpPr/>
          <p:nvPr/>
        </p:nvSpPr>
        <p:spPr>
          <a:xfrm>
            <a:off x="9665970" y="2987675"/>
            <a:ext cx="605790" cy="733425"/>
          </a:xfrm>
          <a:prstGeom prst="rect">
            <a:avLst/>
          </a:prstGeom>
          <a:solidFill>
            <a:schemeClr val="bg1">
              <a:lumMod val="95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zh-CN" altLang="en-US" sz="1600" b="1">
                <a:solidFill>
                  <a:schemeClr val="tx1"/>
                </a:solidFill>
              </a:rPr>
              <a:t>应用</a:t>
            </a:r>
            <a:endParaRPr lang="en-US" altLang="zh-CN" sz="1600" b="1">
              <a:solidFill>
                <a:schemeClr val="tx1"/>
              </a:solidFill>
            </a:endParaRPr>
          </a:p>
        </p:txBody>
      </p:sp>
      <p:sp>
        <p:nvSpPr>
          <p:cNvPr id="37" name="Rectangles 36"/>
          <p:cNvSpPr/>
          <p:nvPr/>
        </p:nvSpPr>
        <p:spPr>
          <a:xfrm>
            <a:off x="10352405" y="2724785"/>
            <a:ext cx="729615" cy="1784985"/>
          </a:xfrm>
          <a:prstGeom prst="rect">
            <a:avLst/>
          </a:prstGeom>
          <a:solidFill>
            <a:schemeClr val="bg1">
              <a:lumMod val="85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endParaRPr lang="zh-CN" altLang="en-US" sz="1400" b="1">
              <a:solidFill>
                <a:schemeClr val="tx1"/>
              </a:solidFill>
            </a:endParaRPr>
          </a:p>
          <a:p>
            <a:pPr algn="ctr"/>
            <a:endParaRPr lang="zh-CN" altLang="en-US" sz="1400" b="1">
              <a:solidFill>
                <a:schemeClr val="tx1"/>
              </a:solidFill>
            </a:endParaRPr>
          </a:p>
          <a:p>
            <a:pPr algn="ctr"/>
            <a:endParaRPr lang="zh-CN" altLang="en-US" sz="1400" b="1">
              <a:solidFill>
                <a:schemeClr val="tx1"/>
              </a:solidFill>
            </a:endParaRPr>
          </a:p>
          <a:p>
            <a:pPr algn="ctr"/>
            <a:endParaRPr lang="zh-CN" altLang="en-US" sz="1400" b="1">
              <a:solidFill>
                <a:schemeClr val="tx1"/>
              </a:solidFill>
            </a:endParaRPr>
          </a:p>
          <a:p>
            <a:pPr algn="ctr"/>
            <a:endParaRPr lang="zh-CN" altLang="en-US" sz="1400" b="1">
              <a:solidFill>
                <a:schemeClr val="tx1"/>
              </a:solidFill>
            </a:endParaRPr>
          </a:p>
          <a:p>
            <a:pPr algn="ctr"/>
            <a:r>
              <a:rPr lang="zh-CN" altLang="en-US" sz="1400" b="1">
                <a:solidFill>
                  <a:schemeClr val="tx1"/>
                </a:solidFill>
              </a:rPr>
              <a:t>扩展</a:t>
            </a:r>
            <a:endParaRPr lang="zh-CN" altLang="en-US" sz="1400" b="1">
              <a:solidFill>
                <a:schemeClr val="tx1"/>
              </a:solidFill>
            </a:endParaRPr>
          </a:p>
          <a:p>
            <a:pPr algn="ctr"/>
            <a:r>
              <a:rPr lang="zh-CN" altLang="en-US" sz="1400" b="1">
                <a:solidFill>
                  <a:schemeClr val="tx1"/>
                </a:solidFill>
              </a:rPr>
              <a:t>平台</a:t>
            </a:r>
            <a:endParaRPr lang="zh-CN" altLang="en-US" sz="1400" b="1">
              <a:solidFill>
                <a:schemeClr val="tx1"/>
              </a:solidFill>
            </a:endParaRPr>
          </a:p>
          <a:p>
            <a:pPr algn="ctr"/>
            <a:r>
              <a:rPr lang="en-US" altLang="zh-CN" sz="1400" b="1">
                <a:solidFill>
                  <a:schemeClr val="tx1"/>
                </a:solidFill>
              </a:rPr>
              <a:t>n0</a:t>
            </a:r>
            <a:endParaRPr lang="en-US" altLang="zh-CN" sz="1400" b="1">
              <a:solidFill>
                <a:schemeClr val="tx1"/>
              </a:solidFill>
            </a:endParaRPr>
          </a:p>
        </p:txBody>
      </p:sp>
      <p:sp>
        <p:nvSpPr>
          <p:cNvPr id="38" name="Rectangles 37"/>
          <p:cNvSpPr/>
          <p:nvPr/>
        </p:nvSpPr>
        <p:spPr>
          <a:xfrm>
            <a:off x="10417810" y="2974340"/>
            <a:ext cx="601345" cy="578485"/>
          </a:xfrm>
          <a:prstGeom prst="rect">
            <a:avLst/>
          </a:prstGeom>
          <a:solidFill>
            <a:schemeClr val="bg1">
              <a:lumMod val="95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zh-CN" altLang="en-US" sz="1400" b="1">
                <a:solidFill>
                  <a:schemeClr val="tx1"/>
                </a:solidFill>
              </a:rPr>
              <a:t>应用</a:t>
            </a:r>
            <a:endParaRPr lang="en-US" altLang="zh-CN" sz="1400" b="1">
              <a:solidFill>
                <a:schemeClr val="tx1"/>
              </a:solidFill>
            </a:endParaRPr>
          </a:p>
        </p:txBody>
      </p:sp>
      <p:sp>
        <p:nvSpPr>
          <p:cNvPr id="42" name="Rectangles 41"/>
          <p:cNvSpPr/>
          <p:nvPr/>
        </p:nvSpPr>
        <p:spPr>
          <a:xfrm>
            <a:off x="8293100" y="2957830"/>
            <a:ext cx="579120" cy="680085"/>
          </a:xfrm>
          <a:prstGeom prst="rect">
            <a:avLst/>
          </a:prstGeom>
          <a:solidFill>
            <a:schemeClr val="bg1">
              <a:lumMod val="85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sz="1200" b="1">
                <a:solidFill>
                  <a:schemeClr val="tx1"/>
                </a:solidFill>
              </a:rPr>
              <a:t>扩展</a:t>
            </a:r>
            <a:endParaRPr lang="zh-CN" altLang="en-US" sz="1200" b="1">
              <a:solidFill>
                <a:schemeClr val="tx1"/>
              </a:solidFill>
            </a:endParaRPr>
          </a:p>
          <a:p>
            <a:pPr algn="ctr"/>
            <a:r>
              <a:rPr lang="zh-CN" altLang="en-US" sz="1200" b="1">
                <a:solidFill>
                  <a:schemeClr val="tx1"/>
                </a:solidFill>
              </a:rPr>
              <a:t>平台</a:t>
            </a:r>
            <a:endParaRPr lang="zh-CN" altLang="en-US" sz="1200" b="1">
              <a:solidFill>
                <a:schemeClr val="tx1"/>
              </a:solidFill>
            </a:endParaRPr>
          </a:p>
          <a:p>
            <a:pPr algn="ctr"/>
            <a:r>
              <a:rPr lang="en-US" altLang="zh-CN" sz="1200" b="1">
                <a:solidFill>
                  <a:schemeClr val="tx1"/>
                </a:solidFill>
              </a:rPr>
              <a:t>200</a:t>
            </a:r>
            <a:endParaRPr lang="en-US" altLang="zh-CN" sz="1200" b="1">
              <a:solidFill>
                <a:schemeClr val="tx1"/>
              </a:solidFill>
            </a:endParaRPr>
          </a:p>
        </p:txBody>
      </p:sp>
      <p:sp>
        <p:nvSpPr>
          <p:cNvPr id="43" name="Rectangles 42"/>
          <p:cNvSpPr/>
          <p:nvPr/>
        </p:nvSpPr>
        <p:spPr>
          <a:xfrm>
            <a:off x="-3175" y="2101850"/>
            <a:ext cx="454025" cy="3996690"/>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zh-CN" altLang="en-US" b="1">
                <a:solidFill>
                  <a:schemeClr val="tx1"/>
                </a:solidFill>
              </a:rPr>
              <a:t>工</a:t>
            </a:r>
            <a:endParaRPr lang="zh-CN" altLang="en-US" b="1">
              <a:solidFill>
                <a:schemeClr val="tx1"/>
              </a:solidFill>
            </a:endParaRPr>
          </a:p>
          <a:p>
            <a:pPr algn="ctr"/>
            <a:endParaRPr lang="zh-CN" altLang="en-US" b="1">
              <a:solidFill>
                <a:schemeClr val="tx1"/>
              </a:solidFill>
            </a:endParaRPr>
          </a:p>
          <a:p>
            <a:pPr algn="ctr"/>
            <a:r>
              <a:rPr lang="zh-CN" altLang="en-US" b="1">
                <a:solidFill>
                  <a:schemeClr val="tx1"/>
                </a:solidFill>
              </a:rPr>
              <a:t>具</a:t>
            </a:r>
            <a:endParaRPr lang="zh-CN" altLang="en-US" b="1">
              <a:solidFill>
                <a:schemeClr val="tx1"/>
              </a:solidFill>
            </a:endParaRPr>
          </a:p>
          <a:p>
            <a:pPr algn="ctr"/>
            <a:endParaRPr lang="zh-CN" altLang="en-US" b="1">
              <a:solidFill>
                <a:schemeClr val="tx1"/>
              </a:solidFill>
            </a:endParaRPr>
          </a:p>
          <a:p>
            <a:pPr algn="ctr"/>
            <a:r>
              <a:rPr lang="zh-CN" altLang="en-US" b="1">
                <a:solidFill>
                  <a:schemeClr val="tx1"/>
                </a:solidFill>
              </a:rPr>
              <a:t>链</a:t>
            </a:r>
            <a:endParaRPr lang="zh-CN" altLang="en-US" b="1">
              <a:solidFill>
                <a:schemeClr val="tx1"/>
              </a:solidFill>
            </a:endParaRPr>
          </a:p>
        </p:txBody>
      </p:sp>
      <p:sp>
        <p:nvSpPr>
          <p:cNvPr id="44" name="Rectangles 43"/>
          <p:cNvSpPr/>
          <p:nvPr/>
        </p:nvSpPr>
        <p:spPr>
          <a:xfrm>
            <a:off x="2957830" y="4518025"/>
            <a:ext cx="454025" cy="800100"/>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zh-CN" altLang="en-US" sz="1400" b="1">
                <a:solidFill>
                  <a:schemeClr val="tx1"/>
                </a:solidFill>
              </a:rPr>
              <a:t>工</a:t>
            </a:r>
            <a:endParaRPr lang="zh-CN" altLang="en-US" sz="1400" b="1">
              <a:solidFill>
                <a:schemeClr val="tx1"/>
              </a:solidFill>
            </a:endParaRPr>
          </a:p>
          <a:p>
            <a:pPr algn="ctr"/>
            <a:r>
              <a:rPr lang="zh-CN" altLang="en-US" sz="1400" b="1">
                <a:solidFill>
                  <a:schemeClr val="tx1"/>
                </a:solidFill>
              </a:rPr>
              <a:t>具</a:t>
            </a:r>
            <a:endParaRPr lang="zh-CN" altLang="en-US" sz="1400" b="1">
              <a:solidFill>
                <a:schemeClr val="tx1"/>
              </a:solidFill>
            </a:endParaRPr>
          </a:p>
          <a:p>
            <a:pPr algn="ctr"/>
            <a:r>
              <a:rPr lang="zh-CN" altLang="en-US" sz="1400" b="1">
                <a:solidFill>
                  <a:schemeClr val="tx1"/>
                </a:solidFill>
              </a:rPr>
              <a:t>链</a:t>
            </a:r>
            <a:endParaRPr lang="zh-CN" altLang="en-US" sz="1400" b="1">
              <a:solidFill>
                <a:schemeClr val="tx1"/>
              </a:solidFill>
            </a:endParaRPr>
          </a:p>
        </p:txBody>
      </p:sp>
      <p:sp>
        <p:nvSpPr>
          <p:cNvPr id="47" name="Rectangles 46"/>
          <p:cNvSpPr/>
          <p:nvPr/>
        </p:nvSpPr>
        <p:spPr>
          <a:xfrm>
            <a:off x="7493635" y="3746500"/>
            <a:ext cx="392430" cy="708025"/>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zh-CN" altLang="en-US" sz="1200" b="1">
                <a:solidFill>
                  <a:schemeClr val="tx1"/>
                </a:solidFill>
              </a:rPr>
              <a:t>工</a:t>
            </a:r>
            <a:endParaRPr lang="zh-CN" altLang="en-US" sz="1200" b="1">
              <a:solidFill>
                <a:schemeClr val="tx1"/>
              </a:solidFill>
            </a:endParaRPr>
          </a:p>
          <a:p>
            <a:pPr algn="ctr"/>
            <a:r>
              <a:rPr lang="zh-CN" altLang="en-US" sz="1200" b="1">
                <a:solidFill>
                  <a:schemeClr val="tx1"/>
                </a:solidFill>
              </a:rPr>
              <a:t>具</a:t>
            </a:r>
            <a:endParaRPr lang="zh-CN" altLang="en-US" sz="1200" b="1">
              <a:solidFill>
                <a:schemeClr val="tx1"/>
              </a:solidFill>
            </a:endParaRPr>
          </a:p>
          <a:p>
            <a:pPr algn="ctr"/>
            <a:r>
              <a:rPr lang="zh-CN" altLang="en-US" sz="1200" b="1">
                <a:solidFill>
                  <a:schemeClr val="tx1"/>
                </a:solidFill>
              </a:rPr>
              <a:t>链</a:t>
            </a:r>
            <a:endParaRPr lang="zh-CN" altLang="en-US" sz="1200" b="1">
              <a:solidFill>
                <a:schemeClr val="tx1"/>
              </a:solidFill>
            </a:endParaRPr>
          </a:p>
        </p:txBody>
      </p:sp>
      <p:sp>
        <p:nvSpPr>
          <p:cNvPr id="48" name="Rectangles 47"/>
          <p:cNvSpPr/>
          <p:nvPr/>
        </p:nvSpPr>
        <p:spPr>
          <a:xfrm>
            <a:off x="6721475" y="4509770"/>
            <a:ext cx="454025" cy="800100"/>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zh-CN" altLang="en-US" sz="1400" b="1">
                <a:solidFill>
                  <a:schemeClr val="tx1"/>
                </a:solidFill>
              </a:rPr>
              <a:t>工</a:t>
            </a:r>
            <a:endParaRPr lang="zh-CN" altLang="en-US" sz="1400" b="1">
              <a:solidFill>
                <a:schemeClr val="tx1"/>
              </a:solidFill>
            </a:endParaRPr>
          </a:p>
          <a:p>
            <a:pPr algn="ctr"/>
            <a:r>
              <a:rPr lang="zh-CN" altLang="en-US" sz="1400" b="1">
                <a:solidFill>
                  <a:schemeClr val="tx1"/>
                </a:solidFill>
              </a:rPr>
              <a:t>具</a:t>
            </a:r>
            <a:endParaRPr lang="zh-CN" altLang="en-US" sz="1400" b="1">
              <a:solidFill>
                <a:schemeClr val="tx1"/>
              </a:solidFill>
            </a:endParaRPr>
          </a:p>
          <a:p>
            <a:pPr algn="ctr"/>
            <a:r>
              <a:rPr lang="zh-CN" altLang="en-US" sz="1400" b="1">
                <a:solidFill>
                  <a:schemeClr val="tx1"/>
                </a:solidFill>
              </a:rPr>
              <a:t>链</a:t>
            </a:r>
            <a:endParaRPr lang="zh-CN" altLang="en-US" sz="1400" b="1">
              <a:solidFill>
                <a:schemeClr val="tx1"/>
              </a:solidFill>
            </a:endParaRPr>
          </a:p>
        </p:txBody>
      </p:sp>
      <p:sp>
        <p:nvSpPr>
          <p:cNvPr id="49" name="Rectangles 48"/>
          <p:cNvSpPr/>
          <p:nvPr/>
        </p:nvSpPr>
        <p:spPr>
          <a:xfrm>
            <a:off x="9744710" y="4509770"/>
            <a:ext cx="454025" cy="800100"/>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zh-CN" altLang="en-US" sz="1400" b="1">
                <a:solidFill>
                  <a:schemeClr val="tx1"/>
                </a:solidFill>
              </a:rPr>
              <a:t>工</a:t>
            </a:r>
            <a:endParaRPr lang="zh-CN" altLang="en-US" sz="1400" b="1">
              <a:solidFill>
                <a:schemeClr val="tx1"/>
              </a:solidFill>
            </a:endParaRPr>
          </a:p>
          <a:p>
            <a:pPr algn="ctr"/>
            <a:r>
              <a:rPr lang="zh-CN" altLang="en-US" sz="1400" b="1">
                <a:solidFill>
                  <a:schemeClr val="tx1"/>
                </a:solidFill>
              </a:rPr>
              <a:t>具</a:t>
            </a:r>
            <a:endParaRPr lang="zh-CN" altLang="en-US" sz="1400" b="1">
              <a:solidFill>
                <a:schemeClr val="tx1"/>
              </a:solidFill>
            </a:endParaRPr>
          </a:p>
          <a:p>
            <a:pPr algn="ctr"/>
            <a:r>
              <a:rPr lang="zh-CN" altLang="en-US" sz="1400" b="1">
                <a:solidFill>
                  <a:schemeClr val="tx1"/>
                </a:solidFill>
              </a:rPr>
              <a:t>链</a:t>
            </a:r>
            <a:endParaRPr lang="zh-CN" altLang="en-US" sz="1400" b="1">
              <a:solidFill>
                <a:schemeClr val="tx1"/>
              </a:solidFill>
            </a:endParaRPr>
          </a:p>
        </p:txBody>
      </p:sp>
      <p:sp>
        <p:nvSpPr>
          <p:cNvPr id="51" name="Rectangles 50"/>
          <p:cNvSpPr/>
          <p:nvPr/>
        </p:nvSpPr>
        <p:spPr>
          <a:xfrm>
            <a:off x="563880" y="2448560"/>
            <a:ext cx="1162050" cy="2922270"/>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endParaRPr lang="zh-CN" altLang="en-US" sz="1600" b="1">
              <a:solidFill>
                <a:schemeClr val="tx1"/>
              </a:solidFill>
            </a:endParaRPr>
          </a:p>
          <a:p>
            <a:pPr algn="ctr"/>
            <a:endParaRPr lang="zh-CN" altLang="en-US" sz="1600" b="1">
              <a:solidFill>
                <a:schemeClr val="tx1"/>
              </a:solidFill>
            </a:endParaRPr>
          </a:p>
          <a:p>
            <a:pPr algn="ctr"/>
            <a:endParaRPr lang="zh-CN" altLang="en-US" sz="1600" b="1">
              <a:solidFill>
                <a:schemeClr val="tx1"/>
              </a:solidFill>
            </a:endParaRPr>
          </a:p>
          <a:p>
            <a:pPr algn="ctr"/>
            <a:endParaRPr lang="zh-CN" altLang="en-US" sz="1600" b="1">
              <a:solidFill>
                <a:schemeClr val="tx1"/>
              </a:solidFill>
            </a:endParaRPr>
          </a:p>
          <a:p>
            <a:pPr algn="ctr"/>
            <a:endParaRPr lang="zh-CN" altLang="en-US" sz="1600" b="1">
              <a:solidFill>
                <a:schemeClr val="tx1"/>
              </a:solidFill>
            </a:endParaRPr>
          </a:p>
          <a:p>
            <a:pPr algn="ctr"/>
            <a:endParaRPr lang="zh-CN" altLang="en-US" sz="1600" b="1">
              <a:solidFill>
                <a:schemeClr val="tx1"/>
              </a:solidFill>
            </a:endParaRPr>
          </a:p>
          <a:p>
            <a:pPr algn="ctr"/>
            <a:endParaRPr lang="zh-CN" altLang="en-US" sz="1600" b="1">
              <a:solidFill>
                <a:schemeClr val="tx1"/>
              </a:solidFill>
            </a:endParaRPr>
          </a:p>
          <a:p>
            <a:pPr algn="ctr"/>
            <a:endParaRPr lang="zh-CN" altLang="en-US" sz="1600" b="1">
              <a:solidFill>
                <a:schemeClr val="tx1"/>
              </a:solidFill>
            </a:endParaRPr>
          </a:p>
          <a:p>
            <a:pPr algn="ctr"/>
            <a:r>
              <a:rPr lang="zh-CN" altLang="en-US" sz="1600" b="1">
                <a:solidFill>
                  <a:schemeClr val="tx1"/>
                </a:solidFill>
              </a:rPr>
              <a:t>虚拟化</a:t>
            </a:r>
            <a:endParaRPr lang="zh-CN" altLang="en-US" sz="1600" b="1">
              <a:solidFill>
                <a:schemeClr val="tx1"/>
              </a:solidFill>
            </a:endParaRPr>
          </a:p>
          <a:p>
            <a:pPr algn="ctr"/>
            <a:r>
              <a:rPr lang="zh-CN" altLang="en-US" sz="1600" b="1">
                <a:solidFill>
                  <a:schemeClr val="tx1"/>
                </a:solidFill>
              </a:rPr>
              <a:t>扩展平台</a:t>
            </a:r>
            <a:endParaRPr lang="zh-CN" altLang="en-US" sz="1600" b="1">
              <a:solidFill>
                <a:schemeClr val="tx1"/>
              </a:solidFill>
            </a:endParaRPr>
          </a:p>
        </p:txBody>
      </p:sp>
      <p:sp>
        <p:nvSpPr>
          <p:cNvPr id="52" name="Rectangles 51"/>
          <p:cNvSpPr/>
          <p:nvPr/>
        </p:nvSpPr>
        <p:spPr>
          <a:xfrm>
            <a:off x="11149965" y="2725420"/>
            <a:ext cx="902970" cy="1792605"/>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endParaRPr lang="zh-CN" altLang="en-US" sz="1400" b="1">
              <a:solidFill>
                <a:schemeClr val="tx1"/>
              </a:solidFill>
            </a:endParaRPr>
          </a:p>
          <a:p>
            <a:pPr algn="ctr"/>
            <a:endParaRPr lang="zh-CN" altLang="en-US" sz="1400" b="1">
              <a:solidFill>
                <a:schemeClr val="tx1"/>
              </a:solidFill>
            </a:endParaRPr>
          </a:p>
          <a:p>
            <a:pPr algn="ctr"/>
            <a:endParaRPr lang="zh-CN" altLang="en-US" sz="1400" b="1">
              <a:solidFill>
                <a:schemeClr val="tx1"/>
              </a:solidFill>
            </a:endParaRPr>
          </a:p>
          <a:p>
            <a:pPr algn="ctr"/>
            <a:endParaRPr lang="zh-CN" altLang="en-US" sz="1400" b="1">
              <a:solidFill>
                <a:schemeClr val="tx1"/>
              </a:solidFill>
            </a:endParaRPr>
          </a:p>
          <a:p>
            <a:pPr algn="ctr"/>
            <a:r>
              <a:rPr lang="zh-CN" altLang="en-US" sz="1400" b="1">
                <a:solidFill>
                  <a:schemeClr val="tx1"/>
                </a:solidFill>
              </a:rPr>
              <a:t>虚拟化</a:t>
            </a:r>
            <a:endParaRPr lang="zh-CN" altLang="en-US" sz="1400" b="1">
              <a:solidFill>
                <a:schemeClr val="tx1"/>
              </a:solidFill>
            </a:endParaRPr>
          </a:p>
          <a:p>
            <a:pPr algn="ctr"/>
            <a:r>
              <a:rPr lang="zh-CN" altLang="en-US" sz="1400" b="1">
                <a:solidFill>
                  <a:schemeClr val="tx1"/>
                </a:solidFill>
              </a:rPr>
              <a:t>扩展平台</a:t>
            </a:r>
            <a:endParaRPr lang="zh-CN" altLang="en-US" sz="1400" b="1">
              <a:solidFill>
                <a:schemeClr val="tx1"/>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Rectangles 5"/>
          <p:cNvSpPr/>
          <p:nvPr/>
        </p:nvSpPr>
        <p:spPr>
          <a:xfrm>
            <a:off x="450215" y="2101850"/>
            <a:ext cx="11741785" cy="399669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endParaRPr lang="zh-CN" altLang="en-US" b="1">
              <a:solidFill>
                <a:schemeClr val="tx1"/>
              </a:solidFill>
            </a:endParaRPr>
          </a:p>
          <a:p>
            <a:pPr algn="ctr"/>
            <a:endParaRPr lang="zh-CN" altLang="en-US" b="1">
              <a:solidFill>
                <a:schemeClr val="tx1"/>
              </a:solidFill>
            </a:endParaRPr>
          </a:p>
          <a:p>
            <a:pPr algn="ctr"/>
            <a:endParaRPr lang="zh-CN" altLang="en-US" b="1">
              <a:solidFill>
                <a:schemeClr val="tx1"/>
              </a:solidFill>
            </a:endParaRPr>
          </a:p>
          <a:p>
            <a:pPr algn="ctr"/>
            <a:endParaRPr lang="zh-CN" altLang="en-US" b="1">
              <a:solidFill>
                <a:schemeClr val="tx1"/>
              </a:solidFill>
            </a:endParaRPr>
          </a:p>
          <a:p>
            <a:pPr algn="ctr"/>
            <a:endParaRPr lang="zh-CN" altLang="en-US" b="1">
              <a:solidFill>
                <a:schemeClr val="tx1"/>
              </a:solidFill>
            </a:endParaRPr>
          </a:p>
          <a:p>
            <a:pPr algn="ctr"/>
            <a:endParaRPr lang="zh-CN" altLang="en-US" b="1">
              <a:solidFill>
                <a:schemeClr val="tx1"/>
              </a:solidFill>
            </a:endParaRPr>
          </a:p>
          <a:p>
            <a:pPr algn="ctr"/>
            <a:endParaRPr lang="zh-CN" altLang="en-US" b="1">
              <a:solidFill>
                <a:schemeClr val="tx1"/>
              </a:solidFill>
            </a:endParaRPr>
          </a:p>
          <a:p>
            <a:pPr algn="ctr"/>
            <a:endParaRPr lang="zh-CN" altLang="en-US" b="1">
              <a:solidFill>
                <a:schemeClr val="tx1"/>
              </a:solidFill>
            </a:endParaRPr>
          </a:p>
          <a:p>
            <a:pPr algn="ctr"/>
            <a:endParaRPr lang="zh-CN" altLang="en-US" b="1">
              <a:solidFill>
                <a:schemeClr val="tx1"/>
              </a:solidFill>
            </a:endParaRPr>
          </a:p>
          <a:p>
            <a:pPr algn="ctr"/>
            <a:endParaRPr lang="zh-CN" altLang="en-US" b="1">
              <a:solidFill>
                <a:schemeClr val="tx1"/>
              </a:solidFill>
            </a:endParaRPr>
          </a:p>
          <a:p>
            <a:pPr algn="ctr"/>
            <a:endParaRPr lang="zh-CN" altLang="en-US" b="1">
              <a:solidFill>
                <a:schemeClr val="tx1"/>
              </a:solidFill>
            </a:endParaRPr>
          </a:p>
          <a:p>
            <a:pPr algn="ctr"/>
            <a:endParaRPr lang="zh-CN" altLang="en-US" b="1">
              <a:solidFill>
                <a:schemeClr val="tx1"/>
              </a:solidFill>
            </a:endParaRPr>
          </a:p>
          <a:p>
            <a:pPr algn="ctr"/>
            <a:r>
              <a:rPr lang="zh-CN" altLang="en-US" b="1">
                <a:solidFill>
                  <a:schemeClr val="tx1"/>
                </a:solidFill>
              </a:rPr>
              <a:t>操</a:t>
            </a:r>
            <a:r>
              <a:rPr lang="en-US" altLang="zh-CN" b="1">
                <a:solidFill>
                  <a:schemeClr val="tx1"/>
                </a:solidFill>
              </a:rPr>
              <a:t> </a:t>
            </a:r>
            <a:r>
              <a:rPr lang="zh-CN" altLang="en-US" b="1">
                <a:solidFill>
                  <a:schemeClr val="tx1"/>
                </a:solidFill>
              </a:rPr>
              <a:t>作</a:t>
            </a:r>
            <a:r>
              <a:rPr lang="en-US" altLang="zh-CN" b="1">
                <a:solidFill>
                  <a:schemeClr val="tx1"/>
                </a:solidFill>
              </a:rPr>
              <a:t> </a:t>
            </a:r>
            <a:r>
              <a:rPr lang="zh-CN" altLang="en-US" b="1">
                <a:solidFill>
                  <a:schemeClr val="tx1"/>
                </a:solidFill>
              </a:rPr>
              <a:t>系</a:t>
            </a:r>
            <a:r>
              <a:rPr lang="en-US" altLang="zh-CN" b="1">
                <a:solidFill>
                  <a:schemeClr val="tx1"/>
                </a:solidFill>
              </a:rPr>
              <a:t> </a:t>
            </a:r>
            <a:r>
              <a:rPr lang="zh-CN" altLang="en-US" b="1">
                <a:solidFill>
                  <a:schemeClr val="tx1"/>
                </a:solidFill>
              </a:rPr>
              <a:t>统</a:t>
            </a:r>
            <a:r>
              <a:rPr lang="en-US" altLang="zh-CN" b="1">
                <a:solidFill>
                  <a:schemeClr val="tx1"/>
                </a:solidFill>
              </a:rPr>
              <a:t> 1</a:t>
            </a:r>
            <a:endParaRPr lang="en-US" altLang="zh-CN" b="1">
              <a:solidFill>
                <a:schemeClr val="tx1"/>
              </a:solidFill>
            </a:endParaRPr>
          </a:p>
        </p:txBody>
      </p:sp>
      <p:sp>
        <p:nvSpPr>
          <p:cNvPr id="7" name="Rectangles 6"/>
          <p:cNvSpPr/>
          <p:nvPr/>
        </p:nvSpPr>
        <p:spPr>
          <a:xfrm>
            <a:off x="1270" y="6098540"/>
            <a:ext cx="12191365" cy="734695"/>
          </a:xfrm>
          <a:prstGeom prst="rect">
            <a:avLst/>
          </a:prstGeom>
          <a:solidFill>
            <a:schemeClr val="tx1">
              <a:lumMod val="50000"/>
              <a:lumOff val="50000"/>
            </a:schemeClr>
          </a:solidFill>
        </p:spPr>
        <p:style>
          <a:lnRef idx="2">
            <a:schemeClr val="accent5"/>
          </a:lnRef>
          <a:fillRef idx="1">
            <a:schemeClr val="lt1"/>
          </a:fillRef>
          <a:effectRef idx="0">
            <a:schemeClr val="accent5"/>
          </a:effectRef>
          <a:fontRef idx="minor">
            <a:schemeClr val="dk1"/>
          </a:fontRef>
        </p:style>
        <p:txBody>
          <a:bodyPr rtlCol="0" anchor="ctr"/>
          <a:p>
            <a:pPr algn="ctr"/>
            <a:r>
              <a:rPr lang="zh-CN" altLang="en-US" b="1">
                <a:solidFill>
                  <a:schemeClr val="tx1"/>
                </a:solidFill>
              </a:rPr>
              <a:t>电</a:t>
            </a:r>
            <a:r>
              <a:rPr lang="en-US" altLang="zh-CN" b="1">
                <a:solidFill>
                  <a:schemeClr val="tx1"/>
                </a:solidFill>
              </a:rPr>
              <a:t> </a:t>
            </a:r>
            <a:r>
              <a:rPr lang="zh-CN" altLang="en-US" b="1">
                <a:solidFill>
                  <a:schemeClr val="tx1"/>
                </a:solidFill>
              </a:rPr>
              <a:t>脑</a:t>
            </a:r>
            <a:r>
              <a:rPr lang="en-US" altLang="zh-CN" b="1">
                <a:solidFill>
                  <a:schemeClr val="tx1"/>
                </a:solidFill>
              </a:rPr>
              <a:t> </a:t>
            </a:r>
            <a:r>
              <a:rPr lang="zh-CN" altLang="en-US" b="1">
                <a:solidFill>
                  <a:schemeClr val="tx1"/>
                </a:solidFill>
              </a:rPr>
              <a:t>的</a:t>
            </a:r>
            <a:r>
              <a:rPr lang="en-US" altLang="zh-CN" b="1">
                <a:solidFill>
                  <a:schemeClr val="tx1"/>
                </a:solidFill>
              </a:rPr>
              <a:t> </a:t>
            </a:r>
            <a:r>
              <a:rPr lang="zh-CN" altLang="en-US" b="1">
                <a:solidFill>
                  <a:schemeClr val="tx1"/>
                </a:solidFill>
              </a:rPr>
              <a:t>软</a:t>
            </a:r>
            <a:r>
              <a:rPr lang="en-US" altLang="zh-CN" b="1">
                <a:solidFill>
                  <a:schemeClr val="tx1"/>
                </a:solidFill>
              </a:rPr>
              <a:t> </a:t>
            </a:r>
            <a:r>
              <a:rPr lang="zh-CN" altLang="en-US" b="1">
                <a:solidFill>
                  <a:schemeClr val="tx1"/>
                </a:solidFill>
              </a:rPr>
              <a:t>硬</a:t>
            </a:r>
            <a:r>
              <a:rPr lang="en-US" altLang="zh-CN" b="1">
                <a:solidFill>
                  <a:schemeClr val="tx1"/>
                </a:solidFill>
              </a:rPr>
              <a:t> </a:t>
            </a:r>
            <a:r>
              <a:rPr lang="zh-CN" altLang="en-US" b="1">
                <a:solidFill>
                  <a:schemeClr val="tx1"/>
                </a:solidFill>
              </a:rPr>
              <a:t>接</a:t>
            </a:r>
            <a:r>
              <a:rPr lang="en-US" altLang="zh-CN" b="1">
                <a:solidFill>
                  <a:schemeClr val="tx1"/>
                </a:solidFill>
              </a:rPr>
              <a:t> </a:t>
            </a:r>
            <a:r>
              <a:rPr lang="zh-CN" altLang="en-US" b="1">
                <a:solidFill>
                  <a:schemeClr val="tx1"/>
                </a:solidFill>
              </a:rPr>
              <a:t>口</a:t>
            </a:r>
            <a:r>
              <a:rPr lang="en-US" altLang="zh-CN" b="1">
                <a:solidFill>
                  <a:schemeClr val="tx1"/>
                </a:solidFill>
              </a:rPr>
              <a:t> 1</a:t>
            </a:r>
            <a:endParaRPr lang="en-US" altLang="zh-CN" b="1">
              <a:solidFill>
                <a:schemeClr val="tx1"/>
              </a:solidFill>
            </a:endParaRPr>
          </a:p>
        </p:txBody>
      </p:sp>
      <p:sp>
        <p:nvSpPr>
          <p:cNvPr id="8" name="Rectangles 7"/>
          <p:cNvSpPr/>
          <p:nvPr/>
        </p:nvSpPr>
        <p:spPr>
          <a:xfrm>
            <a:off x="2811780" y="2448560"/>
            <a:ext cx="3607435" cy="2922905"/>
          </a:xfrm>
          <a:prstGeom prst="rect">
            <a:avLst/>
          </a:prstGeom>
          <a:solidFill>
            <a:schemeClr val="bg1">
              <a:lumMod val="85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endParaRPr lang="zh-CN" altLang="en-US" sz="1600" b="1">
              <a:solidFill>
                <a:schemeClr val="tx1"/>
              </a:solidFill>
            </a:endParaRPr>
          </a:p>
          <a:p>
            <a:pPr algn="ctr"/>
            <a:endParaRPr lang="zh-CN" altLang="en-US" sz="1600" b="1">
              <a:solidFill>
                <a:schemeClr val="tx1"/>
              </a:solidFill>
            </a:endParaRPr>
          </a:p>
          <a:p>
            <a:pPr algn="ctr"/>
            <a:endParaRPr lang="zh-CN" altLang="en-US" sz="1600" b="1">
              <a:solidFill>
                <a:schemeClr val="tx1"/>
              </a:solidFill>
            </a:endParaRPr>
          </a:p>
          <a:p>
            <a:pPr algn="ctr"/>
            <a:endParaRPr lang="zh-CN" altLang="en-US" sz="1600" b="1">
              <a:solidFill>
                <a:schemeClr val="tx1"/>
              </a:solidFill>
            </a:endParaRPr>
          </a:p>
          <a:p>
            <a:pPr algn="ctr"/>
            <a:endParaRPr lang="zh-CN" altLang="en-US" sz="1600" b="1">
              <a:solidFill>
                <a:schemeClr val="tx1"/>
              </a:solidFill>
            </a:endParaRPr>
          </a:p>
          <a:p>
            <a:pPr algn="ctr"/>
            <a:endParaRPr lang="zh-CN" altLang="en-US" sz="1600" b="1">
              <a:solidFill>
                <a:schemeClr val="tx1"/>
              </a:solidFill>
            </a:endParaRPr>
          </a:p>
          <a:p>
            <a:pPr algn="ctr"/>
            <a:endParaRPr lang="zh-CN" altLang="en-US" sz="1600" b="1">
              <a:solidFill>
                <a:schemeClr val="tx1"/>
              </a:solidFill>
            </a:endParaRPr>
          </a:p>
          <a:p>
            <a:pPr algn="ctr"/>
            <a:endParaRPr lang="zh-CN" altLang="en-US" sz="1600" b="1">
              <a:solidFill>
                <a:schemeClr val="tx1"/>
              </a:solidFill>
            </a:endParaRPr>
          </a:p>
          <a:p>
            <a:pPr algn="ctr"/>
            <a:endParaRPr lang="zh-CN" altLang="en-US" sz="1600" b="1">
              <a:solidFill>
                <a:schemeClr val="tx1"/>
              </a:solidFill>
            </a:endParaRPr>
          </a:p>
          <a:p>
            <a:pPr algn="ctr"/>
            <a:r>
              <a:rPr lang="zh-CN" altLang="en-US" sz="1600" b="1">
                <a:solidFill>
                  <a:schemeClr val="tx1"/>
                </a:solidFill>
              </a:rPr>
              <a:t>扩展平台</a:t>
            </a:r>
            <a:r>
              <a:rPr lang="en-US" altLang="zh-CN" sz="1600" b="1">
                <a:solidFill>
                  <a:schemeClr val="tx1"/>
                </a:solidFill>
              </a:rPr>
              <a:t>1</a:t>
            </a:r>
            <a:endParaRPr lang="en-US" altLang="zh-CN" sz="1600" b="1">
              <a:solidFill>
                <a:schemeClr val="tx1"/>
              </a:solidFill>
            </a:endParaRPr>
          </a:p>
        </p:txBody>
      </p:sp>
      <p:sp>
        <p:nvSpPr>
          <p:cNvPr id="9" name="Rectangles 8"/>
          <p:cNvSpPr/>
          <p:nvPr/>
        </p:nvSpPr>
        <p:spPr>
          <a:xfrm>
            <a:off x="1835150" y="2979420"/>
            <a:ext cx="852170" cy="961390"/>
          </a:xfrm>
          <a:prstGeom prst="rect">
            <a:avLst/>
          </a:prstGeom>
          <a:solidFill>
            <a:schemeClr val="bg1">
              <a:lumMod val="95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zh-CN" altLang="en-US" b="1">
                <a:solidFill>
                  <a:schemeClr val="tx1"/>
                </a:solidFill>
              </a:rPr>
              <a:t>应用</a:t>
            </a:r>
            <a:endParaRPr lang="en-US" altLang="zh-CN" b="1">
              <a:solidFill>
                <a:schemeClr val="tx1"/>
              </a:solidFill>
            </a:endParaRPr>
          </a:p>
        </p:txBody>
      </p:sp>
      <p:sp>
        <p:nvSpPr>
          <p:cNvPr id="13" name="Rectangles 12"/>
          <p:cNvSpPr/>
          <p:nvPr/>
        </p:nvSpPr>
        <p:spPr>
          <a:xfrm>
            <a:off x="3587115" y="2724785"/>
            <a:ext cx="729615" cy="1792605"/>
          </a:xfrm>
          <a:prstGeom prst="rect">
            <a:avLst/>
          </a:prstGeom>
          <a:solidFill>
            <a:schemeClr val="bg1">
              <a:lumMod val="85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endParaRPr lang="zh-CN" altLang="en-US" sz="1400" b="1">
              <a:solidFill>
                <a:schemeClr val="tx1"/>
              </a:solidFill>
            </a:endParaRPr>
          </a:p>
          <a:p>
            <a:pPr algn="ctr"/>
            <a:endParaRPr lang="zh-CN" altLang="en-US" sz="1400" b="1">
              <a:solidFill>
                <a:schemeClr val="tx1"/>
              </a:solidFill>
            </a:endParaRPr>
          </a:p>
          <a:p>
            <a:pPr algn="ctr"/>
            <a:endParaRPr lang="zh-CN" altLang="en-US" sz="1400" b="1">
              <a:solidFill>
                <a:schemeClr val="tx1"/>
              </a:solidFill>
            </a:endParaRPr>
          </a:p>
          <a:p>
            <a:pPr algn="ctr"/>
            <a:endParaRPr lang="zh-CN" altLang="en-US" sz="1400" b="1">
              <a:solidFill>
                <a:schemeClr val="tx1"/>
              </a:solidFill>
            </a:endParaRPr>
          </a:p>
          <a:p>
            <a:pPr algn="ctr"/>
            <a:endParaRPr lang="zh-CN" altLang="en-US" sz="1400" b="1">
              <a:solidFill>
                <a:schemeClr val="tx1"/>
              </a:solidFill>
            </a:endParaRPr>
          </a:p>
          <a:p>
            <a:pPr algn="ctr"/>
            <a:r>
              <a:rPr lang="zh-CN" altLang="en-US" sz="1400" b="1">
                <a:solidFill>
                  <a:schemeClr val="tx1"/>
                </a:solidFill>
              </a:rPr>
              <a:t>扩展</a:t>
            </a:r>
            <a:endParaRPr lang="zh-CN" altLang="en-US" sz="1400" b="1">
              <a:solidFill>
                <a:schemeClr val="tx1"/>
              </a:solidFill>
            </a:endParaRPr>
          </a:p>
          <a:p>
            <a:pPr algn="ctr"/>
            <a:r>
              <a:rPr lang="zh-CN" altLang="en-US" sz="1400" b="1">
                <a:solidFill>
                  <a:schemeClr val="tx1"/>
                </a:solidFill>
              </a:rPr>
              <a:t>平台</a:t>
            </a:r>
            <a:endParaRPr lang="zh-CN" altLang="en-US" sz="1400" b="1">
              <a:solidFill>
                <a:schemeClr val="tx1"/>
              </a:solidFill>
            </a:endParaRPr>
          </a:p>
          <a:p>
            <a:pPr algn="ctr"/>
            <a:r>
              <a:rPr lang="en-US" altLang="zh-CN" sz="1400" b="1">
                <a:solidFill>
                  <a:schemeClr val="tx1"/>
                </a:solidFill>
              </a:rPr>
              <a:t>10</a:t>
            </a:r>
            <a:endParaRPr lang="en-US" altLang="zh-CN" sz="1400" b="1">
              <a:solidFill>
                <a:schemeClr val="tx1"/>
              </a:solidFill>
            </a:endParaRPr>
          </a:p>
        </p:txBody>
      </p:sp>
      <p:sp>
        <p:nvSpPr>
          <p:cNvPr id="14" name="Rectangles 13"/>
          <p:cNvSpPr/>
          <p:nvPr/>
        </p:nvSpPr>
        <p:spPr>
          <a:xfrm>
            <a:off x="2889885" y="2983230"/>
            <a:ext cx="605790" cy="721360"/>
          </a:xfrm>
          <a:prstGeom prst="rect">
            <a:avLst/>
          </a:prstGeom>
          <a:solidFill>
            <a:schemeClr val="bg1">
              <a:lumMod val="95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zh-CN" altLang="en-US" sz="1600" b="1">
                <a:solidFill>
                  <a:schemeClr val="tx1"/>
                </a:solidFill>
              </a:rPr>
              <a:t>应用</a:t>
            </a:r>
            <a:endParaRPr lang="en-US" altLang="zh-CN" sz="1600" b="1">
              <a:solidFill>
                <a:schemeClr val="tx1"/>
              </a:solidFill>
            </a:endParaRPr>
          </a:p>
        </p:txBody>
      </p:sp>
      <p:sp>
        <p:nvSpPr>
          <p:cNvPr id="15" name="Rectangles 14"/>
          <p:cNvSpPr/>
          <p:nvPr/>
        </p:nvSpPr>
        <p:spPr>
          <a:xfrm>
            <a:off x="3652520" y="2981960"/>
            <a:ext cx="601345" cy="558165"/>
          </a:xfrm>
          <a:prstGeom prst="rect">
            <a:avLst/>
          </a:prstGeom>
          <a:solidFill>
            <a:schemeClr val="bg1">
              <a:lumMod val="95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zh-CN" altLang="en-US" sz="1400" b="1">
                <a:solidFill>
                  <a:schemeClr val="tx1"/>
                </a:solidFill>
              </a:rPr>
              <a:t>应用</a:t>
            </a:r>
            <a:endParaRPr lang="en-US" altLang="zh-CN" sz="1400" b="1">
              <a:solidFill>
                <a:schemeClr val="tx1"/>
              </a:solidFill>
            </a:endParaRPr>
          </a:p>
        </p:txBody>
      </p:sp>
      <p:sp>
        <p:nvSpPr>
          <p:cNvPr id="18" name="Rectangles 17"/>
          <p:cNvSpPr/>
          <p:nvPr/>
        </p:nvSpPr>
        <p:spPr>
          <a:xfrm>
            <a:off x="5201285" y="3544570"/>
            <a:ext cx="76200" cy="13081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p>
            <a:pPr algn="ctr"/>
            <a:endParaRPr lang="zh-CN" altLang="en-US" b="1">
              <a:solidFill>
                <a:schemeClr val="tx1"/>
              </a:solidFill>
            </a:endParaRPr>
          </a:p>
        </p:txBody>
      </p:sp>
      <p:sp>
        <p:nvSpPr>
          <p:cNvPr id="19" name="Rectangles 18"/>
          <p:cNvSpPr/>
          <p:nvPr/>
        </p:nvSpPr>
        <p:spPr>
          <a:xfrm>
            <a:off x="5328285" y="3542030"/>
            <a:ext cx="76200" cy="13081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p>
            <a:pPr algn="ctr"/>
            <a:endParaRPr lang="zh-CN" altLang="en-US" b="1">
              <a:solidFill>
                <a:schemeClr val="tx1"/>
              </a:solidFill>
            </a:endParaRPr>
          </a:p>
        </p:txBody>
      </p:sp>
      <p:sp>
        <p:nvSpPr>
          <p:cNvPr id="20" name="Rectangles 19"/>
          <p:cNvSpPr/>
          <p:nvPr/>
        </p:nvSpPr>
        <p:spPr>
          <a:xfrm>
            <a:off x="5455285" y="3539490"/>
            <a:ext cx="76200" cy="13081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p>
            <a:pPr algn="ctr"/>
            <a:endParaRPr lang="zh-CN" altLang="en-US" b="1">
              <a:solidFill>
                <a:schemeClr val="tx1"/>
              </a:solidFill>
            </a:endParaRPr>
          </a:p>
        </p:txBody>
      </p:sp>
      <p:sp>
        <p:nvSpPr>
          <p:cNvPr id="23" name="Rectangles 22"/>
          <p:cNvSpPr/>
          <p:nvPr/>
        </p:nvSpPr>
        <p:spPr>
          <a:xfrm>
            <a:off x="4404995" y="2724785"/>
            <a:ext cx="729615" cy="1790065"/>
          </a:xfrm>
          <a:prstGeom prst="rect">
            <a:avLst/>
          </a:prstGeom>
          <a:solidFill>
            <a:schemeClr val="bg1">
              <a:lumMod val="85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endParaRPr lang="zh-CN" altLang="en-US" sz="1400" b="1">
              <a:solidFill>
                <a:schemeClr val="tx1"/>
              </a:solidFill>
            </a:endParaRPr>
          </a:p>
          <a:p>
            <a:pPr algn="ctr"/>
            <a:endParaRPr lang="zh-CN" altLang="en-US" sz="1400" b="1">
              <a:solidFill>
                <a:schemeClr val="tx1"/>
              </a:solidFill>
            </a:endParaRPr>
          </a:p>
          <a:p>
            <a:pPr algn="ctr"/>
            <a:endParaRPr lang="zh-CN" altLang="en-US" sz="1400" b="1">
              <a:solidFill>
                <a:schemeClr val="tx1"/>
              </a:solidFill>
            </a:endParaRPr>
          </a:p>
          <a:p>
            <a:pPr algn="ctr"/>
            <a:endParaRPr lang="zh-CN" altLang="en-US" sz="1400" b="1">
              <a:solidFill>
                <a:schemeClr val="tx1"/>
              </a:solidFill>
            </a:endParaRPr>
          </a:p>
          <a:p>
            <a:pPr algn="ctr"/>
            <a:endParaRPr lang="zh-CN" altLang="en-US" sz="1400" b="1">
              <a:solidFill>
                <a:schemeClr val="tx1"/>
              </a:solidFill>
            </a:endParaRPr>
          </a:p>
          <a:p>
            <a:pPr algn="ctr"/>
            <a:r>
              <a:rPr lang="zh-CN" altLang="en-US" sz="1400" b="1">
                <a:solidFill>
                  <a:schemeClr val="tx1"/>
                </a:solidFill>
              </a:rPr>
              <a:t>扩展</a:t>
            </a:r>
            <a:endParaRPr lang="zh-CN" altLang="en-US" sz="1400" b="1">
              <a:solidFill>
                <a:schemeClr val="tx1"/>
              </a:solidFill>
            </a:endParaRPr>
          </a:p>
          <a:p>
            <a:pPr algn="ctr"/>
            <a:r>
              <a:rPr lang="zh-CN" altLang="en-US" sz="1400" b="1">
                <a:solidFill>
                  <a:schemeClr val="tx1"/>
                </a:solidFill>
              </a:rPr>
              <a:t>平台</a:t>
            </a:r>
            <a:endParaRPr lang="zh-CN" altLang="en-US" sz="1400" b="1">
              <a:solidFill>
                <a:schemeClr val="tx1"/>
              </a:solidFill>
            </a:endParaRPr>
          </a:p>
          <a:p>
            <a:pPr algn="ctr"/>
            <a:r>
              <a:rPr lang="en-US" altLang="zh-CN" sz="1400" b="1">
                <a:solidFill>
                  <a:schemeClr val="tx1"/>
                </a:solidFill>
              </a:rPr>
              <a:t>11</a:t>
            </a:r>
            <a:endParaRPr lang="en-US" altLang="zh-CN" sz="1400" b="1">
              <a:solidFill>
                <a:schemeClr val="tx1"/>
              </a:solidFill>
            </a:endParaRPr>
          </a:p>
        </p:txBody>
      </p:sp>
      <p:sp>
        <p:nvSpPr>
          <p:cNvPr id="24" name="Rectangles 23"/>
          <p:cNvSpPr/>
          <p:nvPr/>
        </p:nvSpPr>
        <p:spPr>
          <a:xfrm>
            <a:off x="4470400" y="2979420"/>
            <a:ext cx="601345" cy="560070"/>
          </a:xfrm>
          <a:prstGeom prst="rect">
            <a:avLst/>
          </a:prstGeom>
          <a:solidFill>
            <a:schemeClr val="bg1">
              <a:lumMod val="95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zh-CN" altLang="en-US" sz="1400" b="1">
                <a:solidFill>
                  <a:schemeClr val="tx1"/>
                </a:solidFill>
              </a:rPr>
              <a:t>应用</a:t>
            </a:r>
            <a:endParaRPr lang="en-US" altLang="zh-CN" sz="1400" b="1">
              <a:solidFill>
                <a:schemeClr val="tx1"/>
              </a:solidFill>
            </a:endParaRPr>
          </a:p>
        </p:txBody>
      </p:sp>
      <p:sp>
        <p:nvSpPr>
          <p:cNvPr id="26" name="Rectangles 25"/>
          <p:cNvSpPr/>
          <p:nvPr/>
        </p:nvSpPr>
        <p:spPr>
          <a:xfrm>
            <a:off x="5600700" y="2724785"/>
            <a:ext cx="729615" cy="1787525"/>
          </a:xfrm>
          <a:prstGeom prst="rect">
            <a:avLst/>
          </a:prstGeom>
          <a:solidFill>
            <a:schemeClr val="bg1">
              <a:lumMod val="85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endParaRPr lang="zh-CN" altLang="en-US" sz="1400" b="1">
              <a:solidFill>
                <a:schemeClr val="tx1"/>
              </a:solidFill>
            </a:endParaRPr>
          </a:p>
          <a:p>
            <a:pPr algn="ctr"/>
            <a:endParaRPr lang="zh-CN" altLang="en-US" sz="1400" b="1">
              <a:solidFill>
                <a:schemeClr val="tx1"/>
              </a:solidFill>
            </a:endParaRPr>
          </a:p>
          <a:p>
            <a:pPr algn="ctr"/>
            <a:endParaRPr lang="zh-CN" altLang="en-US" sz="1400" b="1">
              <a:solidFill>
                <a:schemeClr val="tx1"/>
              </a:solidFill>
            </a:endParaRPr>
          </a:p>
          <a:p>
            <a:pPr algn="ctr"/>
            <a:endParaRPr lang="zh-CN" altLang="en-US" sz="1400" b="1">
              <a:solidFill>
                <a:schemeClr val="tx1"/>
              </a:solidFill>
            </a:endParaRPr>
          </a:p>
          <a:p>
            <a:pPr algn="ctr"/>
            <a:endParaRPr lang="zh-CN" altLang="en-US" sz="1400" b="1">
              <a:solidFill>
                <a:schemeClr val="tx1"/>
              </a:solidFill>
            </a:endParaRPr>
          </a:p>
          <a:p>
            <a:pPr algn="ctr"/>
            <a:r>
              <a:rPr lang="zh-CN" altLang="en-US" sz="1400" b="1">
                <a:solidFill>
                  <a:schemeClr val="tx1"/>
                </a:solidFill>
              </a:rPr>
              <a:t>扩展</a:t>
            </a:r>
            <a:endParaRPr lang="zh-CN" altLang="en-US" sz="1400" b="1">
              <a:solidFill>
                <a:schemeClr val="tx1"/>
              </a:solidFill>
            </a:endParaRPr>
          </a:p>
          <a:p>
            <a:pPr algn="ctr"/>
            <a:r>
              <a:rPr lang="zh-CN" altLang="en-US" sz="1400" b="1">
                <a:solidFill>
                  <a:schemeClr val="tx1"/>
                </a:solidFill>
              </a:rPr>
              <a:t>平台</a:t>
            </a:r>
            <a:endParaRPr lang="zh-CN" altLang="en-US" sz="1400" b="1">
              <a:solidFill>
                <a:schemeClr val="tx1"/>
              </a:solidFill>
            </a:endParaRPr>
          </a:p>
          <a:p>
            <a:pPr algn="ctr"/>
            <a:r>
              <a:rPr lang="en-US" altLang="zh-CN" sz="1400" b="1">
                <a:solidFill>
                  <a:schemeClr val="tx1"/>
                </a:solidFill>
              </a:rPr>
              <a:t>1n</a:t>
            </a:r>
            <a:endParaRPr lang="en-US" altLang="zh-CN" sz="1400" b="1">
              <a:solidFill>
                <a:schemeClr val="tx1"/>
              </a:solidFill>
            </a:endParaRPr>
          </a:p>
        </p:txBody>
      </p:sp>
      <p:sp>
        <p:nvSpPr>
          <p:cNvPr id="27" name="Rectangles 26"/>
          <p:cNvSpPr/>
          <p:nvPr/>
        </p:nvSpPr>
        <p:spPr>
          <a:xfrm>
            <a:off x="5666105" y="2976880"/>
            <a:ext cx="601345" cy="563245"/>
          </a:xfrm>
          <a:prstGeom prst="rect">
            <a:avLst/>
          </a:prstGeom>
          <a:solidFill>
            <a:schemeClr val="bg1">
              <a:lumMod val="95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zh-CN" altLang="en-US" sz="1400" b="1">
                <a:solidFill>
                  <a:schemeClr val="tx1"/>
                </a:solidFill>
              </a:rPr>
              <a:t>应用</a:t>
            </a:r>
            <a:endParaRPr lang="en-US" altLang="zh-CN" sz="1400" b="1">
              <a:solidFill>
                <a:schemeClr val="tx1"/>
              </a:solidFill>
            </a:endParaRPr>
          </a:p>
        </p:txBody>
      </p:sp>
      <p:sp>
        <p:nvSpPr>
          <p:cNvPr id="28" name="Rectangles 27"/>
          <p:cNvSpPr/>
          <p:nvPr/>
        </p:nvSpPr>
        <p:spPr>
          <a:xfrm>
            <a:off x="6576060" y="2445385"/>
            <a:ext cx="2454910" cy="2922905"/>
          </a:xfrm>
          <a:prstGeom prst="rect">
            <a:avLst/>
          </a:prstGeom>
          <a:solidFill>
            <a:schemeClr val="bg1">
              <a:lumMod val="85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endParaRPr lang="zh-CN" altLang="en-US" sz="1600" b="1">
              <a:solidFill>
                <a:schemeClr val="tx1"/>
              </a:solidFill>
            </a:endParaRPr>
          </a:p>
          <a:p>
            <a:pPr algn="ctr"/>
            <a:endParaRPr lang="zh-CN" altLang="en-US" sz="1600" b="1">
              <a:solidFill>
                <a:schemeClr val="tx1"/>
              </a:solidFill>
            </a:endParaRPr>
          </a:p>
          <a:p>
            <a:pPr algn="ctr"/>
            <a:endParaRPr lang="zh-CN" altLang="en-US" sz="1600" b="1">
              <a:solidFill>
                <a:schemeClr val="tx1"/>
              </a:solidFill>
            </a:endParaRPr>
          </a:p>
          <a:p>
            <a:pPr algn="ctr"/>
            <a:endParaRPr lang="zh-CN" altLang="en-US" sz="1600" b="1">
              <a:solidFill>
                <a:schemeClr val="tx1"/>
              </a:solidFill>
            </a:endParaRPr>
          </a:p>
          <a:p>
            <a:pPr algn="ctr"/>
            <a:endParaRPr lang="zh-CN" altLang="en-US" sz="1600" b="1">
              <a:solidFill>
                <a:schemeClr val="tx1"/>
              </a:solidFill>
            </a:endParaRPr>
          </a:p>
          <a:p>
            <a:pPr algn="ctr"/>
            <a:endParaRPr lang="zh-CN" altLang="en-US" sz="1600" b="1">
              <a:solidFill>
                <a:schemeClr val="tx1"/>
              </a:solidFill>
            </a:endParaRPr>
          </a:p>
          <a:p>
            <a:pPr algn="ctr"/>
            <a:endParaRPr lang="zh-CN" altLang="en-US" sz="1600" b="1">
              <a:solidFill>
                <a:schemeClr val="tx1"/>
              </a:solidFill>
            </a:endParaRPr>
          </a:p>
          <a:p>
            <a:pPr algn="ctr"/>
            <a:endParaRPr lang="zh-CN" altLang="en-US" sz="1600" b="1">
              <a:solidFill>
                <a:schemeClr val="tx1"/>
              </a:solidFill>
            </a:endParaRPr>
          </a:p>
          <a:p>
            <a:pPr algn="ctr"/>
            <a:endParaRPr lang="zh-CN" altLang="en-US" sz="1600" b="1">
              <a:solidFill>
                <a:schemeClr val="tx1"/>
              </a:solidFill>
            </a:endParaRPr>
          </a:p>
          <a:p>
            <a:pPr algn="ctr"/>
            <a:r>
              <a:rPr lang="zh-CN" altLang="en-US" sz="1600" b="1">
                <a:solidFill>
                  <a:schemeClr val="tx1"/>
                </a:solidFill>
              </a:rPr>
              <a:t>扩展平台</a:t>
            </a:r>
            <a:r>
              <a:rPr lang="en-US" altLang="zh-CN" sz="1600" b="1">
                <a:solidFill>
                  <a:schemeClr val="tx1"/>
                </a:solidFill>
              </a:rPr>
              <a:t>2</a:t>
            </a:r>
            <a:endParaRPr lang="en-US" altLang="zh-CN" sz="1600" b="1">
              <a:solidFill>
                <a:schemeClr val="tx1"/>
              </a:solidFill>
            </a:endParaRPr>
          </a:p>
        </p:txBody>
      </p:sp>
      <p:sp>
        <p:nvSpPr>
          <p:cNvPr id="29" name="Rectangles 28"/>
          <p:cNvSpPr/>
          <p:nvPr/>
        </p:nvSpPr>
        <p:spPr>
          <a:xfrm>
            <a:off x="6678295" y="2979420"/>
            <a:ext cx="605790" cy="710565"/>
          </a:xfrm>
          <a:prstGeom prst="rect">
            <a:avLst/>
          </a:prstGeom>
          <a:solidFill>
            <a:schemeClr val="bg1">
              <a:lumMod val="95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zh-CN" altLang="en-US" sz="1600" b="1">
                <a:solidFill>
                  <a:schemeClr val="tx1"/>
                </a:solidFill>
              </a:rPr>
              <a:t>应用</a:t>
            </a:r>
            <a:endParaRPr lang="en-US" altLang="zh-CN" sz="1600" b="1">
              <a:solidFill>
                <a:schemeClr val="tx1"/>
              </a:solidFill>
            </a:endParaRPr>
          </a:p>
        </p:txBody>
      </p:sp>
      <p:sp>
        <p:nvSpPr>
          <p:cNvPr id="30" name="Rectangles 29"/>
          <p:cNvSpPr/>
          <p:nvPr/>
        </p:nvSpPr>
        <p:spPr>
          <a:xfrm>
            <a:off x="7390130" y="2725420"/>
            <a:ext cx="1536700" cy="1786890"/>
          </a:xfrm>
          <a:prstGeom prst="rect">
            <a:avLst/>
          </a:prstGeom>
          <a:solidFill>
            <a:schemeClr val="bg1">
              <a:lumMod val="85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endParaRPr lang="zh-CN" altLang="en-US" sz="1400" b="1">
              <a:solidFill>
                <a:schemeClr val="tx1"/>
              </a:solidFill>
            </a:endParaRPr>
          </a:p>
          <a:p>
            <a:pPr algn="ctr"/>
            <a:endParaRPr lang="zh-CN" altLang="en-US" sz="1400" b="1">
              <a:solidFill>
                <a:schemeClr val="tx1"/>
              </a:solidFill>
            </a:endParaRPr>
          </a:p>
          <a:p>
            <a:pPr algn="ctr"/>
            <a:endParaRPr lang="zh-CN" altLang="en-US" sz="1400" b="1">
              <a:solidFill>
                <a:schemeClr val="tx1"/>
              </a:solidFill>
            </a:endParaRPr>
          </a:p>
          <a:p>
            <a:pPr algn="ctr"/>
            <a:endParaRPr lang="zh-CN" altLang="en-US" sz="1400" b="1">
              <a:solidFill>
                <a:schemeClr val="tx1"/>
              </a:solidFill>
            </a:endParaRPr>
          </a:p>
          <a:p>
            <a:pPr algn="ctr"/>
            <a:endParaRPr lang="zh-CN" altLang="en-US" sz="1400" b="1">
              <a:solidFill>
                <a:schemeClr val="tx1"/>
              </a:solidFill>
            </a:endParaRPr>
          </a:p>
          <a:p>
            <a:pPr algn="ctr"/>
            <a:r>
              <a:rPr lang="zh-CN" altLang="en-US" sz="1400" b="1">
                <a:solidFill>
                  <a:schemeClr val="tx1"/>
                </a:solidFill>
              </a:rPr>
              <a:t>扩展</a:t>
            </a:r>
            <a:endParaRPr lang="zh-CN" altLang="en-US" sz="1400" b="1">
              <a:solidFill>
                <a:schemeClr val="tx1"/>
              </a:solidFill>
            </a:endParaRPr>
          </a:p>
          <a:p>
            <a:pPr algn="ctr"/>
            <a:r>
              <a:rPr lang="zh-CN" altLang="en-US" sz="1400" b="1">
                <a:solidFill>
                  <a:schemeClr val="tx1"/>
                </a:solidFill>
              </a:rPr>
              <a:t>平台</a:t>
            </a:r>
            <a:endParaRPr lang="zh-CN" altLang="en-US" sz="1400" b="1">
              <a:solidFill>
                <a:schemeClr val="tx1"/>
              </a:solidFill>
            </a:endParaRPr>
          </a:p>
          <a:p>
            <a:pPr algn="ctr"/>
            <a:r>
              <a:rPr lang="en-US" altLang="zh-CN" sz="1400" b="1">
                <a:solidFill>
                  <a:schemeClr val="tx1"/>
                </a:solidFill>
              </a:rPr>
              <a:t>20</a:t>
            </a:r>
            <a:endParaRPr lang="en-US" altLang="zh-CN" sz="1400" b="1">
              <a:solidFill>
                <a:schemeClr val="tx1"/>
              </a:solidFill>
            </a:endParaRPr>
          </a:p>
        </p:txBody>
      </p:sp>
      <p:sp>
        <p:nvSpPr>
          <p:cNvPr id="31" name="Rectangles 30"/>
          <p:cNvSpPr/>
          <p:nvPr/>
        </p:nvSpPr>
        <p:spPr>
          <a:xfrm>
            <a:off x="7462520" y="2976880"/>
            <a:ext cx="601345" cy="473710"/>
          </a:xfrm>
          <a:prstGeom prst="rect">
            <a:avLst/>
          </a:prstGeom>
          <a:solidFill>
            <a:schemeClr val="bg1">
              <a:lumMod val="95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zh-CN" altLang="en-US" sz="1400" b="1">
                <a:solidFill>
                  <a:schemeClr val="tx1"/>
                </a:solidFill>
              </a:rPr>
              <a:t>应用</a:t>
            </a:r>
            <a:endParaRPr lang="en-US" altLang="zh-CN" sz="1400" b="1">
              <a:solidFill>
                <a:schemeClr val="tx1"/>
              </a:solidFill>
            </a:endParaRPr>
          </a:p>
        </p:txBody>
      </p:sp>
      <p:sp>
        <p:nvSpPr>
          <p:cNvPr id="32" name="Rectangles 31"/>
          <p:cNvSpPr/>
          <p:nvPr/>
        </p:nvSpPr>
        <p:spPr>
          <a:xfrm>
            <a:off x="9128125" y="3552825"/>
            <a:ext cx="76200" cy="13081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p>
            <a:pPr algn="ctr"/>
            <a:endParaRPr lang="zh-CN" altLang="en-US" b="1">
              <a:solidFill>
                <a:schemeClr val="tx1"/>
              </a:solidFill>
            </a:endParaRPr>
          </a:p>
        </p:txBody>
      </p:sp>
      <p:sp>
        <p:nvSpPr>
          <p:cNvPr id="33" name="Rectangles 32"/>
          <p:cNvSpPr/>
          <p:nvPr/>
        </p:nvSpPr>
        <p:spPr>
          <a:xfrm>
            <a:off x="9255125" y="3550285"/>
            <a:ext cx="76200" cy="13081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p>
            <a:pPr algn="ctr"/>
            <a:endParaRPr lang="zh-CN" altLang="en-US" b="1">
              <a:solidFill>
                <a:schemeClr val="tx1"/>
              </a:solidFill>
            </a:endParaRPr>
          </a:p>
        </p:txBody>
      </p:sp>
      <p:sp>
        <p:nvSpPr>
          <p:cNvPr id="34" name="Rectangles 33"/>
          <p:cNvSpPr/>
          <p:nvPr/>
        </p:nvSpPr>
        <p:spPr>
          <a:xfrm>
            <a:off x="9382125" y="3547745"/>
            <a:ext cx="76200" cy="13081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p>
            <a:pPr algn="ctr"/>
            <a:endParaRPr lang="zh-CN" altLang="en-US" b="1">
              <a:solidFill>
                <a:schemeClr val="tx1"/>
              </a:solidFill>
            </a:endParaRPr>
          </a:p>
        </p:txBody>
      </p:sp>
      <p:sp>
        <p:nvSpPr>
          <p:cNvPr id="35" name="Rectangles 34"/>
          <p:cNvSpPr/>
          <p:nvPr/>
        </p:nvSpPr>
        <p:spPr>
          <a:xfrm>
            <a:off x="9568815" y="2442845"/>
            <a:ext cx="2563495" cy="2922905"/>
          </a:xfrm>
          <a:prstGeom prst="rect">
            <a:avLst/>
          </a:prstGeom>
          <a:solidFill>
            <a:schemeClr val="bg1">
              <a:lumMod val="85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endParaRPr lang="zh-CN" altLang="en-US" sz="1600" b="1">
              <a:solidFill>
                <a:schemeClr val="tx1"/>
              </a:solidFill>
            </a:endParaRPr>
          </a:p>
          <a:p>
            <a:pPr algn="ctr"/>
            <a:endParaRPr lang="zh-CN" altLang="en-US" sz="1600" b="1">
              <a:solidFill>
                <a:schemeClr val="tx1"/>
              </a:solidFill>
            </a:endParaRPr>
          </a:p>
          <a:p>
            <a:pPr algn="ctr"/>
            <a:endParaRPr lang="zh-CN" altLang="en-US" sz="1600" b="1">
              <a:solidFill>
                <a:schemeClr val="tx1"/>
              </a:solidFill>
            </a:endParaRPr>
          </a:p>
          <a:p>
            <a:pPr algn="ctr"/>
            <a:endParaRPr lang="zh-CN" altLang="en-US" sz="1600" b="1">
              <a:solidFill>
                <a:schemeClr val="tx1"/>
              </a:solidFill>
            </a:endParaRPr>
          </a:p>
          <a:p>
            <a:pPr algn="ctr"/>
            <a:endParaRPr lang="zh-CN" altLang="en-US" sz="1600" b="1">
              <a:solidFill>
                <a:schemeClr val="tx1"/>
              </a:solidFill>
            </a:endParaRPr>
          </a:p>
          <a:p>
            <a:pPr algn="ctr"/>
            <a:endParaRPr lang="zh-CN" altLang="en-US" sz="1600" b="1">
              <a:solidFill>
                <a:schemeClr val="tx1"/>
              </a:solidFill>
            </a:endParaRPr>
          </a:p>
          <a:p>
            <a:pPr algn="ctr"/>
            <a:endParaRPr lang="zh-CN" altLang="en-US" sz="1600" b="1">
              <a:solidFill>
                <a:schemeClr val="tx1"/>
              </a:solidFill>
            </a:endParaRPr>
          </a:p>
          <a:p>
            <a:pPr algn="ctr"/>
            <a:endParaRPr lang="zh-CN" altLang="en-US" sz="1600" b="1">
              <a:solidFill>
                <a:schemeClr val="tx1"/>
              </a:solidFill>
            </a:endParaRPr>
          </a:p>
          <a:p>
            <a:pPr algn="ctr"/>
            <a:endParaRPr lang="zh-CN" altLang="en-US" sz="1600" b="1">
              <a:solidFill>
                <a:schemeClr val="tx1"/>
              </a:solidFill>
            </a:endParaRPr>
          </a:p>
          <a:p>
            <a:pPr algn="ctr"/>
            <a:r>
              <a:rPr lang="zh-CN" altLang="en-US" sz="1600" b="1">
                <a:solidFill>
                  <a:schemeClr val="tx1"/>
                </a:solidFill>
              </a:rPr>
              <a:t>扩展平台</a:t>
            </a:r>
            <a:r>
              <a:rPr lang="en-US" altLang="zh-CN" sz="1600" b="1">
                <a:solidFill>
                  <a:schemeClr val="tx1"/>
                </a:solidFill>
              </a:rPr>
              <a:t>n</a:t>
            </a:r>
            <a:endParaRPr lang="en-US" altLang="zh-CN" sz="1600" b="1">
              <a:solidFill>
                <a:schemeClr val="tx1"/>
              </a:solidFill>
            </a:endParaRPr>
          </a:p>
        </p:txBody>
      </p:sp>
      <p:sp>
        <p:nvSpPr>
          <p:cNvPr id="36" name="Rectangles 35"/>
          <p:cNvSpPr/>
          <p:nvPr/>
        </p:nvSpPr>
        <p:spPr>
          <a:xfrm>
            <a:off x="9665970" y="2987675"/>
            <a:ext cx="605790" cy="733425"/>
          </a:xfrm>
          <a:prstGeom prst="rect">
            <a:avLst/>
          </a:prstGeom>
          <a:solidFill>
            <a:schemeClr val="bg1">
              <a:lumMod val="95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zh-CN" altLang="en-US" sz="1600" b="1">
                <a:solidFill>
                  <a:schemeClr val="tx1"/>
                </a:solidFill>
              </a:rPr>
              <a:t>应用</a:t>
            </a:r>
            <a:endParaRPr lang="en-US" altLang="zh-CN" sz="1600" b="1">
              <a:solidFill>
                <a:schemeClr val="tx1"/>
              </a:solidFill>
            </a:endParaRPr>
          </a:p>
        </p:txBody>
      </p:sp>
      <p:sp>
        <p:nvSpPr>
          <p:cNvPr id="37" name="Rectangles 36"/>
          <p:cNvSpPr/>
          <p:nvPr/>
        </p:nvSpPr>
        <p:spPr>
          <a:xfrm>
            <a:off x="10352405" y="2724785"/>
            <a:ext cx="729615" cy="1784985"/>
          </a:xfrm>
          <a:prstGeom prst="rect">
            <a:avLst/>
          </a:prstGeom>
          <a:solidFill>
            <a:schemeClr val="bg1">
              <a:lumMod val="85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endParaRPr lang="zh-CN" altLang="en-US" sz="1400" b="1">
              <a:solidFill>
                <a:schemeClr val="tx1"/>
              </a:solidFill>
            </a:endParaRPr>
          </a:p>
          <a:p>
            <a:pPr algn="ctr"/>
            <a:endParaRPr lang="zh-CN" altLang="en-US" sz="1400" b="1">
              <a:solidFill>
                <a:schemeClr val="tx1"/>
              </a:solidFill>
            </a:endParaRPr>
          </a:p>
          <a:p>
            <a:pPr algn="ctr"/>
            <a:endParaRPr lang="zh-CN" altLang="en-US" sz="1400" b="1">
              <a:solidFill>
                <a:schemeClr val="tx1"/>
              </a:solidFill>
            </a:endParaRPr>
          </a:p>
          <a:p>
            <a:pPr algn="ctr"/>
            <a:endParaRPr lang="zh-CN" altLang="en-US" sz="1400" b="1">
              <a:solidFill>
                <a:schemeClr val="tx1"/>
              </a:solidFill>
            </a:endParaRPr>
          </a:p>
          <a:p>
            <a:pPr algn="ctr"/>
            <a:endParaRPr lang="zh-CN" altLang="en-US" sz="1400" b="1">
              <a:solidFill>
                <a:schemeClr val="tx1"/>
              </a:solidFill>
            </a:endParaRPr>
          </a:p>
          <a:p>
            <a:pPr algn="ctr"/>
            <a:r>
              <a:rPr lang="zh-CN" altLang="en-US" sz="1400" b="1">
                <a:solidFill>
                  <a:schemeClr val="tx1"/>
                </a:solidFill>
              </a:rPr>
              <a:t>扩展</a:t>
            </a:r>
            <a:endParaRPr lang="zh-CN" altLang="en-US" sz="1400" b="1">
              <a:solidFill>
                <a:schemeClr val="tx1"/>
              </a:solidFill>
            </a:endParaRPr>
          </a:p>
          <a:p>
            <a:pPr algn="ctr"/>
            <a:r>
              <a:rPr lang="zh-CN" altLang="en-US" sz="1400" b="1">
                <a:solidFill>
                  <a:schemeClr val="tx1"/>
                </a:solidFill>
              </a:rPr>
              <a:t>平台</a:t>
            </a:r>
            <a:endParaRPr lang="zh-CN" altLang="en-US" sz="1400" b="1">
              <a:solidFill>
                <a:schemeClr val="tx1"/>
              </a:solidFill>
            </a:endParaRPr>
          </a:p>
          <a:p>
            <a:pPr algn="ctr"/>
            <a:r>
              <a:rPr lang="en-US" altLang="zh-CN" sz="1400" b="1">
                <a:solidFill>
                  <a:schemeClr val="tx1"/>
                </a:solidFill>
              </a:rPr>
              <a:t>n0</a:t>
            </a:r>
            <a:endParaRPr lang="en-US" altLang="zh-CN" sz="1400" b="1">
              <a:solidFill>
                <a:schemeClr val="tx1"/>
              </a:solidFill>
            </a:endParaRPr>
          </a:p>
        </p:txBody>
      </p:sp>
      <p:sp>
        <p:nvSpPr>
          <p:cNvPr id="38" name="Rectangles 37"/>
          <p:cNvSpPr/>
          <p:nvPr/>
        </p:nvSpPr>
        <p:spPr>
          <a:xfrm>
            <a:off x="10417810" y="2974340"/>
            <a:ext cx="601345" cy="578485"/>
          </a:xfrm>
          <a:prstGeom prst="rect">
            <a:avLst/>
          </a:prstGeom>
          <a:solidFill>
            <a:schemeClr val="bg1">
              <a:lumMod val="95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zh-CN" altLang="en-US" sz="1400" b="1">
                <a:solidFill>
                  <a:schemeClr val="tx1"/>
                </a:solidFill>
              </a:rPr>
              <a:t>应用</a:t>
            </a:r>
            <a:endParaRPr lang="en-US" altLang="zh-CN" sz="1400" b="1">
              <a:solidFill>
                <a:schemeClr val="tx1"/>
              </a:solidFill>
            </a:endParaRPr>
          </a:p>
        </p:txBody>
      </p:sp>
      <p:sp>
        <p:nvSpPr>
          <p:cNvPr id="42" name="Rectangles 41"/>
          <p:cNvSpPr/>
          <p:nvPr/>
        </p:nvSpPr>
        <p:spPr>
          <a:xfrm>
            <a:off x="8293100" y="2957830"/>
            <a:ext cx="579120" cy="680085"/>
          </a:xfrm>
          <a:prstGeom prst="rect">
            <a:avLst/>
          </a:prstGeom>
          <a:solidFill>
            <a:schemeClr val="bg1">
              <a:lumMod val="85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sz="1200" b="1">
                <a:solidFill>
                  <a:schemeClr val="tx1"/>
                </a:solidFill>
              </a:rPr>
              <a:t>扩展</a:t>
            </a:r>
            <a:endParaRPr lang="zh-CN" altLang="en-US" sz="1200" b="1">
              <a:solidFill>
                <a:schemeClr val="tx1"/>
              </a:solidFill>
            </a:endParaRPr>
          </a:p>
          <a:p>
            <a:pPr algn="ctr"/>
            <a:r>
              <a:rPr lang="zh-CN" altLang="en-US" sz="1200" b="1">
                <a:solidFill>
                  <a:schemeClr val="tx1"/>
                </a:solidFill>
              </a:rPr>
              <a:t>平台</a:t>
            </a:r>
            <a:endParaRPr lang="zh-CN" altLang="en-US" sz="1200" b="1">
              <a:solidFill>
                <a:schemeClr val="tx1"/>
              </a:solidFill>
            </a:endParaRPr>
          </a:p>
          <a:p>
            <a:pPr algn="ctr"/>
            <a:r>
              <a:rPr lang="en-US" altLang="zh-CN" sz="1200" b="1">
                <a:solidFill>
                  <a:schemeClr val="tx1"/>
                </a:solidFill>
              </a:rPr>
              <a:t>200</a:t>
            </a:r>
            <a:endParaRPr lang="en-US" altLang="zh-CN" sz="1200" b="1">
              <a:solidFill>
                <a:schemeClr val="tx1"/>
              </a:solidFill>
            </a:endParaRPr>
          </a:p>
        </p:txBody>
      </p:sp>
      <p:sp>
        <p:nvSpPr>
          <p:cNvPr id="43" name="Rectangles 42"/>
          <p:cNvSpPr/>
          <p:nvPr/>
        </p:nvSpPr>
        <p:spPr>
          <a:xfrm>
            <a:off x="-3175" y="2101850"/>
            <a:ext cx="454025" cy="3996690"/>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zh-CN" altLang="en-US" b="1">
                <a:solidFill>
                  <a:schemeClr val="tx1"/>
                </a:solidFill>
              </a:rPr>
              <a:t>工</a:t>
            </a:r>
            <a:endParaRPr lang="zh-CN" altLang="en-US" b="1">
              <a:solidFill>
                <a:schemeClr val="tx1"/>
              </a:solidFill>
            </a:endParaRPr>
          </a:p>
          <a:p>
            <a:pPr algn="ctr"/>
            <a:endParaRPr lang="zh-CN" altLang="en-US" b="1">
              <a:solidFill>
                <a:schemeClr val="tx1"/>
              </a:solidFill>
            </a:endParaRPr>
          </a:p>
          <a:p>
            <a:pPr algn="ctr"/>
            <a:r>
              <a:rPr lang="zh-CN" altLang="en-US" b="1">
                <a:solidFill>
                  <a:schemeClr val="tx1"/>
                </a:solidFill>
              </a:rPr>
              <a:t>具</a:t>
            </a:r>
            <a:endParaRPr lang="zh-CN" altLang="en-US" b="1">
              <a:solidFill>
                <a:schemeClr val="tx1"/>
              </a:solidFill>
            </a:endParaRPr>
          </a:p>
          <a:p>
            <a:pPr algn="ctr"/>
            <a:endParaRPr lang="zh-CN" altLang="en-US" b="1">
              <a:solidFill>
                <a:schemeClr val="tx1"/>
              </a:solidFill>
            </a:endParaRPr>
          </a:p>
          <a:p>
            <a:pPr algn="ctr"/>
            <a:r>
              <a:rPr lang="zh-CN" altLang="en-US" b="1">
                <a:solidFill>
                  <a:schemeClr val="tx1"/>
                </a:solidFill>
              </a:rPr>
              <a:t>链</a:t>
            </a:r>
            <a:endParaRPr lang="zh-CN" altLang="en-US" b="1">
              <a:solidFill>
                <a:schemeClr val="tx1"/>
              </a:solidFill>
            </a:endParaRPr>
          </a:p>
        </p:txBody>
      </p:sp>
      <p:sp>
        <p:nvSpPr>
          <p:cNvPr id="44" name="Rectangles 43"/>
          <p:cNvSpPr/>
          <p:nvPr/>
        </p:nvSpPr>
        <p:spPr>
          <a:xfrm>
            <a:off x="2957830" y="4518025"/>
            <a:ext cx="454025" cy="800100"/>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zh-CN" altLang="en-US" sz="1400" b="1">
                <a:solidFill>
                  <a:schemeClr val="tx1"/>
                </a:solidFill>
              </a:rPr>
              <a:t>工</a:t>
            </a:r>
            <a:endParaRPr lang="zh-CN" altLang="en-US" sz="1400" b="1">
              <a:solidFill>
                <a:schemeClr val="tx1"/>
              </a:solidFill>
            </a:endParaRPr>
          </a:p>
          <a:p>
            <a:pPr algn="ctr"/>
            <a:r>
              <a:rPr lang="zh-CN" altLang="en-US" sz="1400" b="1">
                <a:solidFill>
                  <a:schemeClr val="tx1"/>
                </a:solidFill>
              </a:rPr>
              <a:t>具</a:t>
            </a:r>
            <a:endParaRPr lang="zh-CN" altLang="en-US" sz="1400" b="1">
              <a:solidFill>
                <a:schemeClr val="tx1"/>
              </a:solidFill>
            </a:endParaRPr>
          </a:p>
          <a:p>
            <a:pPr algn="ctr"/>
            <a:r>
              <a:rPr lang="zh-CN" altLang="en-US" sz="1400" b="1">
                <a:solidFill>
                  <a:schemeClr val="tx1"/>
                </a:solidFill>
              </a:rPr>
              <a:t>链</a:t>
            </a:r>
            <a:endParaRPr lang="zh-CN" altLang="en-US" sz="1400" b="1">
              <a:solidFill>
                <a:schemeClr val="tx1"/>
              </a:solidFill>
            </a:endParaRPr>
          </a:p>
        </p:txBody>
      </p:sp>
      <p:sp>
        <p:nvSpPr>
          <p:cNvPr id="47" name="Rectangles 46"/>
          <p:cNvSpPr/>
          <p:nvPr/>
        </p:nvSpPr>
        <p:spPr>
          <a:xfrm>
            <a:off x="7493635" y="3746500"/>
            <a:ext cx="392430" cy="708025"/>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zh-CN" altLang="en-US" sz="1200" b="1">
                <a:solidFill>
                  <a:schemeClr val="tx1"/>
                </a:solidFill>
              </a:rPr>
              <a:t>工</a:t>
            </a:r>
            <a:endParaRPr lang="zh-CN" altLang="en-US" sz="1200" b="1">
              <a:solidFill>
                <a:schemeClr val="tx1"/>
              </a:solidFill>
            </a:endParaRPr>
          </a:p>
          <a:p>
            <a:pPr algn="ctr"/>
            <a:r>
              <a:rPr lang="zh-CN" altLang="en-US" sz="1200" b="1">
                <a:solidFill>
                  <a:schemeClr val="tx1"/>
                </a:solidFill>
              </a:rPr>
              <a:t>具</a:t>
            </a:r>
            <a:endParaRPr lang="zh-CN" altLang="en-US" sz="1200" b="1">
              <a:solidFill>
                <a:schemeClr val="tx1"/>
              </a:solidFill>
            </a:endParaRPr>
          </a:p>
          <a:p>
            <a:pPr algn="ctr"/>
            <a:r>
              <a:rPr lang="zh-CN" altLang="en-US" sz="1200" b="1">
                <a:solidFill>
                  <a:schemeClr val="tx1"/>
                </a:solidFill>
              </a:rPr>
              <a:t>链</a:t>
            </a:r>
            <a:endParaRPr lang="zh-CN" altLang="en-US" sz="1200" b="1">
              <a:solidFill>
                <a:schemeClr val="tx1"/>
              </a:solidFill>
            </a:endParaRPr>
          </a:p>
        </p:txBody>
      </p:sp>
      <p:sp>
        <p:nvSpPr>
          <p:cNvPr id="48" name="Rectangles 47"/>
          <p:cNvSpPr/>
          <p:nvPr/>
        </p:nvSpPr>
        <p:spPr>
          <a:xfrm>
            <a:off x="6721475" y="4509770"/>
            <a:ext cx="454025" cy="800100"/>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zh-CN" altLang="en-US" sz="1400" b="1">
                <a:solidFill>
                  <a:schemeClr val="tx1"/>
                </a:solidFill>
              </a:rPr>
              <a:t>工</a:t>
            </a:r>
            <a:endParaRPr lang="zh-CN" altLang="en-US" sz="1400" b="1">
              <a:solidFill>
                <a:schemeClr val="tx1"/>
              </a:solidFill>
            </a:endParaRPr>
          </a:p>
          <a:p>
            <a:pPr algn="ctr"/>
            <a:r>
              <a:rPr lang="zh-CN" altLang="en-US" sz="1400" b="1">
                <a:solidFill>
                  <a:schemeClr val="tx1"/>
                </a:solidFill>
              </a:rPr>
              <a:t>具</a:t>
            </a:r>
            <a:endParaRPr lang="zh-CN" altLang="en-US" sz="1400" b="1">
              <a:solidFill>
                <a:schemeClr val="tx1"/>
              </a:solidFill>
            </a:endParaRPr>
          </a:p>
          <a:p>
            <a:pPr algn="ctr"/>
            <a:r>
              <a:rPr lang="zh-CN" altLang="en-US" sz="1400" b="1">
                <a:solidFill>
                  <a:schemeClr val="tx1"/>
                </a:solidFill>
              </a:rPr>
              <a:t>链</a:t>
            </a:r>
            <a:endParaRPr lang="zh-CN" altLang="en-US" sz="1400" b="1">
              <a:solidFill>
                <a:schemeClr val="tx1"/>
              </a:solidFill>
            </a:endParaRPr>
          </a:p>
        </p:txBody>
      </p:sp>
      <p:sp>
        <p:nvSpPr>
          <p:cNvPr id="49" name="Rectangles 48"/>
          <p:cNvSpPr/>
          <p:nvPr/>
        </p:nvSpPr>
        <p:spPr>
          <a:xfrm>
            <a:off x="9744710" y="4509770"/>
            <a:ext cx="454025" cy="800100"/>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zh-CN" altLang="en-US" sz="1400" b="1">
                <a:solidFill>
                  <a:schemeClr val="tx1"/>
                </a:solidFill>
              </a:rPr>
              <a:t>工</a:t>
            </a:r>
            <a:endParaRPr lang="zh-CN" altLang="en-US" sz="1400" b="1">
              <a:solidFill>
                <a:schemeClr val="tx1"/>
              </a:solidFill>
            </a:endParaRPr>
          </a:p>
          <a:p>
            <a:pPr algn="ctr"/>
            <a:r>
              <a:rPr lang="zh-CN" altLang="en-US" sz="1400" b="1">
                <a:solidFill>
                  <a:schemeClr val="tx1"/>
                </a:solidFill>
              </a:rPr>
              <a:t>具</a:t>
            </a:r>
            <a:endParaRPr lang="zh-CN" altLang="en-US" sz="1400" b="1">
              <a:solidFill>
                <a:schemeClr val="tx1"/>
              </a:solidFill>
            </a:endParaRPr>
          </a:p>
          <a:p>
            <a:pPr algn="ctr"/>
            <a:r>
              <a:rPr lang="zh-CN" altLang="en-US" sz="1400" b="1">
                <a:solidFill>
                  <a:schemeClr val="tx1"/>
                </a:solidFill>
              </a:rPr>
              <a:t>链</a:t>
            </a:r>
            <a:endParaRPr lang="zh-CN" altLang="en-US" sz="1400" b="1">
              <a:solidFill>
                <a:schemeClr val="tx1"/>
              </a:solidFill>
            </a:endParaRPr>
          </a:p>
        </p:txBody>
      </p:sp>
      <p:sp>
        <p:nvSpPr>
          <p:cNvPr id="51" name="Rectangles 50"/>
          <p:cNvSpPr/>
          <p:nvPr/>
        </p:nvSpPr>
        <p:spPr>
          <a:xfrm>
            <a:off x="563880" y="2448560"/>
            <a:ext cx="1162050" cy="2922270"/>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endParaRPr lang="zh-CN" altLang="en-US" sz="1600" b="1">
              <a:solidFill>
                <a:schemeClr val="tx1"/>
              </a:solidFill>
            </a:endParaRPr>
          </a:p>
          <a:p>
            <a:pPr algn="ctr"/>
            <a:endParaRPr lang="zh-CN" altLang="en-US" sz="1600" b="1">
              <a:solidFill>
                <a:schemeClr val="tx1"/>
              </a:solidFill>
            </a:endParaRPr>
          </a:p>
          <a:p>
            <a:pPr algn="ctr"/>
            <a:endParaRPr lang="zh-CN" altLang="en-US" sz="1600" b="1">
              <a:solidFill>
                <a:schemeClr val="tx1"/>
              </a:solidFill>
            </a:endParaRPr>
          </a:p>
          <a:p>
            <a:pPr algn="ctr"/>
            <a:endParaRPr lang="zh-CN" altLang="en-US" sz="1600" b="1">
              <a:solidFill>
                <a:schemeClr val="tx1"/>
              </a:solidFill>
            </a:endParaRPr>
          </a:p>
          <a:p>
            <a:pPr algn="ctr"/>
            <a:endParaRPr lang="zh-CN" altLang="en-US" sz="1600" b="1">
              <a:solidFill>
                <a:schemeClr val="tx1"/>
              </a:solidFill>
            </a:endParaRPr>
          </a:p>
          <a:p>
            <a:pPr algn="ctr"/>
            <a:endParaRPr lang="zh-CN" altLang="en-US" sz="1600" b="1">
              <a:solidFill>
                <a:schemeClr val="tx1"/>
              </a:solidFill>
            </a:endParaRPr>
          </a:p>
          <a:p>
            <a:pPr algn="ctr"/>
            <a:endParaRPr lang="zh-CN" altLang="en-US" sz="1600" b="1">
              <a:solidFill>
                <a:schemeClr val="tx1"/>
              </a:solidFill>
            </a:endParaRPr>
          </a:p>
          <a:p>
            <a:pPr algn="ctr"/>
            <a:endParaRPr lang="zh-CN" altLang="en-US" sz="1600" b="1">
              <a:solidFill>
                <a:schemeClr val="tx1"/>
              </a:solidFill>
            </a:endParaRPr>
          </a:p>
          <a:p>
            <a:pPr algn="ctr"/>
            <a:r>
              <a:rPr lang="zh-CN" altLang="en-US" sz="1600" b="1">
                <a:solidFill>
                  <a:schemeClr val="tx1"/>
                </a:solidFill>
              </a:rPr>
              <a:t>虚拟化</a:t>
            </a:r>
            <a:endParaRPr lang="zh-CN" altLang="en-US" sz="1600" b="1">
              <a:solidFill>
                <a:schemeClr val="tx1"/>
              </a:solidFill>
            </a:endParaRPr>
          </a:p>
          <a:p>
            <a:pPr algn="ctr"/>
            <a:r>
              <a:rPr lang="zh-CN" altLang="en-US" sz="1600" b="1">
                <a:solidFill>
                  <a:schemeClr val="tx1"/>
                </a:solidFill>
              </a:rPr>
              <a:t>扩展平台</a:t>
            </a:r>
            <a:endParaRPr lang="zh-CN" altLang="en-US" sz="1600" b="1">
              <a:solidFill>
                <a:schemeClr val="tx1"/>
              </a:solidFill>
            </a:endParaRPr>
          </a:p>
        </p:txBody>
      </p:sp>
      <p:sp>
        <p:nvSpPr>
          <p:cNvPr id="52" name="Rectangles 51"/>
          <p:cNvSpPr/>
          <p:nvPr/>
        </p:nvSpPr>
        <p:spPr>
          <a:xfrm>
            <a:off x="11149965" y="2725420"/>
            <a:ext cx="902970" cy="1792605"/>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endParaRPr lang="zh-CN" altLang="en-US" sz="1400" b="1">
              <a:solidFill>
                <a:schemeClr val="tx1"/>
              </a:solidFill>
            </a:endParaRPr>
          </a:p>
          <a:p>
            <a:pPr algn="ctr"/>
            <a:endParaRPr lang="zh-CN" altLang="en-US" sz="1400" b="1">
              <a:solidFill>
                <a:schemeClr val="tx1"/>
              </a:solidFill>
            </a:endParaRPr>
          </a:p>
          <a:p>
            <a:pPr algn="ctr"/>
            <a:endParaRPr lang="zh-CN" altLang="en-US" sz="1400" b="1">
              <a:solidFill>
                <a:schemeClr val="tx1"/>
              </a:solidFill>
            </a:endParaRPr>
          </a:p>
          <a:p>
            <a:pPr algn="ctr"/>
            <a:endParaRPr lang="zh-CN" altLang="en-US" sz="1400" b="1">
              <a:solidFill>
                <a:schemeClr val="tx1"/>
              </a:solidFill>
            </a:endParaRPr>
          </a:p>
          <a:p>
            <a:pPr algn="ctr"/>
            <a:r>
              <a:rPr lang="zh-CN" altLang="en-US" sz="1400" b="1">
                <a:solidFill>
                  <a:schemeClr val="tx1"/>
                </a:solidFill>
              </a:rPr>
              <a:t>虚拟化</a:t>
            </a:r>
            <a:endParaRPr lang="zh-CN" altLang="en-US" sz="1400" b="1">
              <a:solidFill>
                <a:schemeClr val="tx1"/>
              </a:solidFill>
            </a:endParaRPr>
          </a:p>
          <a:p>
            <a:pPr algn="ctr"/>
            <a:r>
              <a:rPr lang="zh-CN" altLang="en-US" sz="1400" b="1">
                <a:solidFill>
                  <a:schemeClr val="tx1"/>
                </a:solidFill>
              </a:rPr>
              <a:t>扩展平台</a:t>
            </a:r>
            <a:endParaRPr lang="zh-CN" altLang="en-US" sz="1400" b="1">
              <a:solidFill>
                <a:schemeClr val="tx1"/>
              </a:solidFill>
            </a:endParaRPr>
          </a:p>
        </p:txBody>
      </p:sp>
      <p:sp>
        <p:nvSpPr>
          <p:cNvPr id="54" name="Rectangles 53"/>
          <p:cNvSpPr/>
          <p:nvPr/>
        </p:nvSpPr>
        <p:spPr>
          <a:xfrm>
            <a:off x="-2540" y="90805"/>
            <a:ext cx="12195175" cy="498475"/>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r>
              <a:rPr lang="zh-CN" altLang="en-US" b="1">
                <a:solidFill>
                  <a:schemeClr val="tx1"/>
                </a:solidFill>
              </a:rPr>
              <a:t>基</a:t>
            </a:r>
            <a:r>
              <a:rPr lang="en-US" altLang="zh-CN" b="1">
                <a:solidFill>
                  <a:schemeClr val="tx1"/>
                </a:solidFill>
              </a:rPr>
              <a:t> </a:t>
            </a:r>
            <a:r>
              <a:rPr lang="zh-CN" altLang="en-US" b="1">
                <a:solidFill>
                  <a:schemeClr val="tx1"/>
                </a:solidFill>
              </a:rPr>
              <a:t>础</a:t>
            </a:r>
            <a:r>
              <a:rPr lang="en-US" altLang="zh-CN" b="1">
                <a:solidFill>
                  <a:schemeClr val="tx1"/>
                </a:solidFill>
              </a:rPr>
              <a:t> </a:t>
            </a:r>
            <a:r>
              <a:rPr lang="zh-CN" altLang="en-US" b="1">
                <a:solidFill>
                  <a:schemeClr val="tx1"/>
                </a:solidFill>
              </a:rPr>
              <a:t>分</a:t>
            </a:r>
            <a:r>
              <a:rPr lang="en-US" altLang="zh-CN" b="1">
                <a:solidFill>
                  <a:schemeClr val="tx1"/>
                </a:solidFill>
              </a:rPr>
              <a:t> </a:t>
            </a:r>
            <a:r>
              <a:rPr lang="zh-CN" altLang="en-US" b="1">
                <a:solidFill>
                  <a:schemeClr val="tx1"/>
                </a:solidFill>
              </a:rPr>
              <a:t>布</a:t>
            </a:r>
            <a:r>
              <a:rPr lang="en-US" altLang="zh-CN" b="1">
                <a:solidFill>
                  <a:schemeClr val="tx1"/>
                </a:solidFill>
              </a:rPr>
              <a:t> </a:t>
            </a:r>
            <a:r>
              <a:rPr lang="zh-CN" altLang="en-US" b="1">
                <a:solidFill>
                  <a:schemeClr val="tx1"/>
                </a:solidFill>
              </a:rPr>
              <a:t>式</a:t>
            </a:r>
            <a:r>
              <a:rPr lang="en-US" altLang="zh-CN" b="1">
                <a:solidFill>
                  <a:schemeClr val="tx1"/>
                </a:solidFill>
              </a:rPr>
              <a:t> </a:t>
            </a:r>
            <a:r>
              <a:rPr lang="zh-CN" altLang="en-US" b="1">
                <a:solidFill>
                  <a:schemeClr val="tx1"/>
                </a:solidFill>
              </a:rPr>
              <a:t>系</a:t>
            </a:r>
            <a:r>
              <a:rPr lang="en-US" altLang="zh-CN" b="1">
                <a:solidFill>
                  <a:schemeClr val="tx1"/>
                </a:solidFill>
              </a:rPr>
              <a:t> </a:t>
            </a:r>
            <a:r>
              <a:rPr lang="zh-CN" altLang="en-US" b="1">
                <a:solidFill>
                  <a:schemeClr val="tx1"/>
                </a:solidFill>
              </a:rPr>
              <a:t>统</a:t>
            </a:r>
            <a:endParaRPr lang="zh-CN" altLang="en-US" b="1">
              <a:solidFill>
                <a:schemeClr val="tx1"/>
              </a:solidFill>
            </a:endParaRPr>
          </a:p>
        </p:txBody>
      </p:sp>
      <p:sp>
        <p:nvSpPr>
          <p:cNvPr id="56" name="Rectangles 55"/>
          <p:cNvSpPr/>
          <p:nvPr/>
        </p:nvSpPr>
        <p:spPr>
          <a:xfrm>
            <a:off x="4606290" y="990600"/>
            <a:ext cx="2243455" cy="60007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b="1">
                <a:solidFill>
                  <a:schemeClr val="tx1"/>
                </a:solidFill>
              </a:rPr>
              <a:t>操</a:t>
            </a:r>
            <a:r>
              <a:rPr lang="en-US" altLang="zh-CN" b="1">
                <a:solidFill>
                  <a:schemeClr val="tx1"/>
                </a:solidFill>
              </a:rPr>
              <a:t> </a:t>
            </a:r>
            <a:r>
              <a:rPr lang="zh-CN" altLang="en-US" b="1">
                <a:solidFill>
                  <a:schemeClr val="tx1"/>
                </a:solidFill>
              </a:rPr>
              <a:t>作</a:t>
            </a:r>
            <a:r>
              <a:rPr lang="en-US" altLang="zh-CN" b="1">
                <a:solidFill>
                  <a:schemeClr val="tx1"/>
                </a:solidFill>
              </a:rPr>
              <a:t> </a:t>
            </a:r>
            <a:r>
              <a:rPr lang="zh-CN" altLang="en-US" b="1">
                <a:solidFill>
                  <a:schemeClr val="tx1"/>
                </a:solidFill>
              </a:rPr>
              <a:t>系</a:t>
            </a:r>
            <a:r>
              <a:rPr lang="en-US" altLang="zh-CN" b="1">
                <a:solidFill>
                  <a:schemeClr val="tx1"/>
                </a:solidFill>
              </a:rPr>
              <a:t> </a:t>
            </a:r>
            <a:r>
              <a:rPr lang="zh-CN" altLang="en-US" b="1">
                <a:solidFill>
                  <a:schemeClr val="tx1"/>
                </a:solidFill>
              </a:rPr>
              <a:t>统</a:t>
            </a:r>
            <a:r>
              <a:rPr lang="en-US" altLang="zh-CN" b="1">
                <a:solidFill>
                  <a:schemeClr val="tx1"/>
                </a:solidFill>
              </a:rPr>
              <a:t> 2</a:t>
            </a:r>
            <a:endParaRPr lang="en-US" altLang="zh-CN" b="1">
              <a:solidFill>
                <a:schemeClr val="tx1"/>
              </a:solidFill>
            </a:endParaRPr>
          </a:p>
        </p:txBody>
      </p:sp>
      <p:sp>
        <p:nvSpPr>
          <p:cNvPr id="57" name="Rectangles 56"/>
          <p:cNvSpPr/>
          <p:nvPr/>
        </p:nvSpPr>
        <p:spPr>
          <a:xfrm>
            <a:off x="4431030" y="1590675"/>
            <a:ext cx="2418715" cy="236220"/>
          </a:xfrm>
          <a:prstGeom prst="rect">
            <a:avLst/>
          </a:prstGeom>
          <a:solidFill>
            <a:schemeClr val="tx1">
              <a:lumMod val="50000"/>
              <a:lumOff val="50000"/>
            </a:schemeClr>
          </a:solidFill>
        </p:spPr>
        <p:style>
          <a:lnRef idx="2">
            <a:schemeClr val="accent5"/>
          </a:lnRef>
          <a:fillRef idx="1">
            <a:schemeClr val="lt1"/>
          </a:fillRef>
          <a:effectRef idx="0">
            <a:schemeClr val="accent5"/>
          </a:effectRef>
          <a:fontRef idx="minor">
            <a:schemeClr val="dk1"/>
          </a:fontRef>
        </p:style>
        <p:txBody>
          <a:bodyPr rtlCol="0" anchor="ctr"/>
          <a:p>
            <a:pPr algn="ctr"/>
            <a:endParaRPr lang="en-US" altLang="zh-CN" b="1">
              <a:solidFill>
                <a:schemeClr val="tx1"/>
              </a:solidFill>
            </a:endParaRPr>
          </a:p>
        </p:txBody>
      </p:sp>
      <p:sp>
        <p:nvSpPr>
          <p:cNvPr id="58" name="Rectangles 57"/>
          <p:cNvSpPr/>
          <p:nvPr/>
        </p:nvSpPr>
        <p:spPr>
          <a:xfrm>
            <a:off x="7780020" y="990600"/>
            <a:ext cx="2232025" cy="60007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b="1">
                <a:solidFill>
                  <a:schemeClr val="tx1"/>
                </a:solidFill>
              </a:rPr>
              <a:t>操</a:t>
            </a:r>
            <a:r>
              <a:rPr lang="en-US" altLang="zh-CN" b="1">
                <a:solidFill>
                  <a:schemeClr val="tx1"/>
                </a:solidFill>
              </a:rPr>
              <a:t> </a:t>
            </a:r>
            <a:r>
              <a:rPr lang="zh-CN" altLang="en-US" b="1">
                <a:solidFill>
                  <a:schemeClr val="tx1"/>
                </a:solidFill>
              </a:rPr>
              <a:t>作</a:t>
            </a:r>
            <a:r>
              <a:rPr lang="en-US" altLang="zh-CN" b="1">
                <a:solidFill>
                  <a:schemeClr val="tx1"/>
                </a:solidFill>
              </a:rPr>
              <a:t> </a:t>
            </a:r>
            <a:r>
              <a:rPr lang="zh-CN" altLang="en-US" b="1">
                <a:solidFill>
                  <a:schemeClr val="tx1"/>
                </a:solidFill>
              </a:rPr>
              <a:t>系</a:t>
            </a:r>
            <a:r>
              <a:rPr lang="en-US" altLang="zh-CN" b="1">
                <a:solidFill>
                  <a:schemeClr val="tx1"/>
                </a:solidFill>
              </a:rPr>
              <a:t> </a:t>
            </a:r>
            <a:r>
              <a:rPr lang="zh-CN" altLang="en-US" b="1">
                <a:solidFill>
                  <a:schemeClr val="tx1"/>
                </a:solidFill>
              </a:rPr>
              <a:t>统</a:t>
            </a:r>
            <a:r>
              <a:rPr lang="en-US" altLang="zh-CN" b="1">
                <a:solidFill>
                  <a:schemeClr val="tx1"/>
                </a:solidFill>
              </a:rPr>
              <a:t> n</a:t>
            </a:r>
            <a:endParaRPr lang="en-US" altLang="zh-CN" b="1">
              <a:solidFill>
                <a:schemeClr val="tx1"/>
              </a:solidFill>
            </a:endParaRPr>
          </a:p>
        </p:txBody>
      </p:sp>
      <p:sp>
        <p:nvSpPr>
          <p:cNvPr id="59" name="Rectangles 58"/>
          <p:cNvSpPr/>
          <p:nvPr/>
        </p:nvSpPr>
        <p:spPr>
          <a:xfrm>
            <a:off x="7593330" y="1590675"/>
            <a:ext cx="2418715" cy="236220"/>
          </a:xfrm>
          <a:prstGeom prst="rect">
            <a:avLst/>
          </a:prstGeom>
          <a:solidFill>
            <a:schemeClr val="tx1">
              <a:lumMod val="50000"/>
              <a:lumOff val="50000"/>
            </a:schemeClr>
          </a:solidFill>
        </p:spPr>
        <p:style>
          <a:lnRef idx="2">
            <a:schemeClr val="accent5"/>
          </a:lnRef>
          <a:fillRef idx="1">
            <a:schemeClr val="lt1"/>
          </a:fillRef>
          <a:effectRef idx="0">
            <a:schemeClr val="accent5"/>
          </a:effectRef>
          <a:fontRef idx="minor">
            <a:schemeClr val="dk1"/>
          </a:fontRef>
        </p:style>
        <p:txBody>
          <a:bodyPr rtlCol="0" anchor="ctr"/>
          <a:p>
            <a:pPr algn="ctr"/>
            <a:endParaRPr lang="en-US" altLang="zh-CN" b="1">
              <a:solidFill>
                <a:schemeClr val="tx1"/>
              </a:solidFill>
            </a:endParaRPr>
          </a:p>
        </p:txBody>
      </p:sp>
      <p:sp>
        <p:nvSpPr>
          <p:cNvPr id="60" name="Rectangles 59"/>
          <p:cNvSpPr/>
          <p:nvPr/>
        </p:nvSpPr>
        <p:spPr>
          <a:xfrm>
            <a:off x="7052945" y="1283335"/>
            <a:ext cx="76200" cy="13081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p>
            <a:pPr algn="ctr"/>
            <a:endParaRPr lang="zh-CN" altLang="en-US" b="1">
              <a:solidFill>
                <a:schemeClr val="tx1"/>
              </a:solidFill>
            </a:endParaRPr>
          </a:p>
        </p:txBody>
      </p:sp>
      <p:sp>
        <p:nvSpPr>
          <p:cNvPr id="61" name="Rectangles 60"/>
          <p:cNvSpPr/>
          <p:nvPr/>
        </p:nvSpPr>
        <p:spPr>
          <a:xfrm>
            <a:off x="7179945" y="1280795"/>
            <a:ext cx="76200" cy="13081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p>
            <a:pPr algn="ctr"/>
            <a:endParaRPr lang="zh-CN" altLang="en-US" b="1">
              <a:solidFill>
                <a:schemeClr val="tx1"/>
              </a:solidFill>
            </a:endParaRPr>
          </a:p>
        </p:txBody>
      </p:sp>
      <p:sp>
        <p:nvSpPr>
          <p:cNvPr id="62" name="Rectangles 61"/>
          <p:cNvSpPr/>
          <p:nvPr/>
        </p:nvSpPr>
        <p:spPr>
          <a:xfrm>
            <a:off x="7306945" y="1278255"/>
            <a:ext cx="76200" cy="13081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p>
            <a:pPr algn="ctr"/>
            <a:endParaRPr lang="zh-CN" altLang="en-US" b="1">
              <a:solidFill>
                <a:schemeClr val="tx1"/>
              </a:solidFill>
            </a:endParaRPr>
          </a:p>
        </p:txBody>
      </p:sp>
      <p:sp>
        <p:nvSpPr>
          <p:cNvPr id="63" name="Rectangles 62"/>
          <p:cNvSpPr/>
          <p:nvPr/>
        </p:nvSpPr>
        <p:spPr>
          <a:xfrm>
            <a:off x="4431030" y="990600"/>
            <a:ext cx="174625" cy="600075"/>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endParaRPr lang="zh-CN" altLang="en-US" b="1">
              <a:solidFill>
                <a:schemeClr val="tx1"/>
              </a:solidFill>
            </a:endParaRPr>
          </a:p>
        </p:txBody>
      </p:sp>
      <p:sp>
        <p:nvSpPr>
          <p:cNvPr id="64" name="Rectangles 63"/>
          <p:cNvSpPr/>
          <p:nvPr/>
        </p:nvSpPr>
        <p:spPr>
          <a:xfrm>
            <a:off x="7593330" y="990600"/>
            <a:ext cx="186690" cy="600075"/>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endParaRPr lang="zh-CN" altLang="en-US" b="1">
              <a:solidFill>
                <a:schemeClr val="tx1"/>
              </a:solidFill>
            </a:endParaRPr>
          </a:p>
        </p:txBody>
      </p:sp>
      <p:cxnSp>
        <p:nvCxnSpPr>
          <p:cNvPr id="65" name="Straight Arrow Connector 64"/>
          <p:cNvCxnSpPr/>
          <p:nvPr/>
        </p:nvCxnSpPr>
        <p:spPr>
          <a:xfrm>
            <a:off x="2955925" y="603885"/>
            <a:ext cx="0" cy="1490345"/>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p:nvPr/>
        </p:nvCxnSpPr>
        <p:spPr>
          <a:xfrm flipH="1">
            <a:off x="5095875" y="600710"/>
            <a:ext cx="6985" cy="402590"/>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p:nvPr/>
        </p:nvCxnSpPr>
        <p:spPr>
          <a:xfrm flipH="1">
            <a:off x="8345170" y="603885"/>
            <a:ext cx="6985" cy="402590"/>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68" name="Rectangles 67"/>
          <p:cNvSpPr/>
          <p:nvPr/>
        </p:nvSpPr>
        <p:spPr>
          <a:xfrm>
            <a:off x="4718050" y="1071245"/>
            <a:ext cx="229235" cy="417830"/>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endParaRPr lang="zh-CN" altLang="en-US" b="1">
              <a:solidFill>
                <a:schemeClr val="tx1"/>
              </a:solidFill>
            </a:endParaRPr>
          </a:p>
        </p:txBody>
      </p:sp>
      <p:sp>
        <p:nvSpPr>
          <p:cNvPr id="69" name="Rectangles 68"/>
          <p:cNvSpPr/>
          <p:nvPr/>
        </p:nvSpPr>
        <p:spPr>
          <a:xfrm>
            <a:off x="7889240" y="1068705"/>
            <a:ext cx="229235" cy="417830"/>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endParaRPr lang="zh-CN" altLang="en-US" b="1">
              <a:solidFill>
                <a:schemeClr val="tx1"/>
              </a:solidFill>
            </a:endParaRPr>
          </a:p>
        </p:txBody>
      </p:sp>
      <p:sp>
        <p:nvSpPr>
          <p:cNvPr id="70" name="Rectangles 69"/>
          <p:cNvSpPr/>
          <p:nvPr/>
        </p:nvSpPr>
        <p:spPr>
          <a:xfrm>
            <a:off x="9744075" y="1079500"/>
            <a:ext cx="151130" cy="351790"/>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endParaRPr lang="zh-CN" altLang="en-US" b="1">
              <a:solidFill>
                <a:schemeClr val="tx1"/>
              </a:solidFill>
            </a:endParaRPr>
          </a:p>
        </p:txBody>
      </p:sp>
      <p:sp>
        <p:nvSpPr>
          <p:cNvPr id="71" name="Rectangles 70"/>
          <p:cNvSpPr/>
          <p:nvPr/>
        </p:nvSpPr>
        <p:spPr>
          <a:xfrm>
            <a:off x="6581140" y="1089660"/>
            <a:ext cx="151130" cy="351790"/>
          </a:xfrm>
          <a:prstGeom prst="rect">
            <a:avLst/>
          </a:prstGeom>
          <a:solidFill>
            <a:schemeClr val="accent1"/>
          </a:solidFill>
        </p:spPr>
        <p:style>
          <a:lnRef idx="2">
            <a:schemeClr val="accent3">
              <a:shade val="50000"/>
            </a:schemeClr>
          </a:lnRef>
          <a:fillRef idx="1">
            <a:schemeClr val="accent3"/>
          </a:fillRef>
          <a:effectRef idx="0">
            <a:schemeClr val="accent3"/>
          </a:effectRef>
          <a:fontRef idx="minor">
            <a:schemeClr val="lt1"/>
          </a:fontRef>
        </p:style>
        <p:txBody>
          <a:bodyPr rtlCol="0" anchor="ctr"/>
          <a:p>
            <a:pPr algn="ctr"/>
            <a:endParaRPr lang="zh-CN" altLang="en-US" b="1">
              <a:solidFill>
                <a:schemeClr val="tx1"/>
              </a:solidFill>
            </a:endParaRPr>
          </a:p>
        </p:txBody>
      </p:sp>
      <p:cxnSp>
        <p:nvCxnSpPr>
          <p:cNvPr id="72" name="Straight Arrow Connector 71"/>
          <p:cNvCxnSpPr/>
          <p:nvPr/>
        </p:nvCxnSpPr>
        <p:spPr>
          <a:xfrm>
            <a:off x="234950" y="601345"/>
            <a:ext cx="0" cy="1490345"/>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73" name="Straight Arrow Connector 72"/>
          <p:cNvCxnSpPr/>
          <p:nvPr/>
        </p:nvCxnSpPr>
        <p:spPr>
          <a:xfrm>
            <a:off x="1131570" y="614680"/>
            <a:ext cx="10795" cy="1824990"/>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a:endCxn id="52" idx="0"/>
          </p:cNvCxnSpPr>
          <p:nvPr/>
        </p:nvCxnSpPr>
        <p:spPr>
          <a:xfrm>
            <a:off x="11596370" y="623570"/>
            <a:ext cx="5080" cy="2101850"/>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75" name="Straight Arrow Connector 74"/>
          <p:cNvCxnSpPr/>
          <p:nvPr/>
        </p:nvCxnSpPr>
        <p:spPr>
          <a:xfrm flipH="1">
            <a:off x="4514850" y="598805"/>
            <a:ext cx="6985" cy="402590"/>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76" name="Straight Arrow Connector 75"/>
          <p:cNvCxnSpPr/>
          <p:nvPr/>
        </p:nvCxnSpPr>
        <p:spPr>
          <a:xfrm flipH="1">
            <a:off x="7682865" y="598805"/>
            <a:ext cx="6985" cy="402590"/>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a:endCxn id="68" idx="0"/>
          </p:cNvCxnSpPr>
          <p:nvPr/>
        </p:nvCxnSpPr>
        <p:spPr>
          <a:xfrm>
            <a:off x="4824730" y="603885"/>
            <a:ext cx="8255" cy="467360"/>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p:nvPr/>
        </p:nvCxnSpPr>
        <p:spPr>
          <a:xfrm>
            <a:off x="7999730" y="601345"/>
            <a:ext cx="8255" cy="467360"/>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p:nvPr/>
        </p:nvCxnSpPr>
        <p:spPr>
          <a:xfrm>
            <a:off x="6670040" y="612775"/>
            <a:ext cx="8255" cy="467360"/>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80" name="Straight Arrow Connector 79"/>
          <p:cNvCxnSpPr/>
          <p:nvPr/>
        </p:nvCxnSpPr>
        <p:spPr>
          <a:xfrm>
            <a:off x="9815830" y="600075"/>
            <a:ext cx="8255" cy="467360"/>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784725" y="305435"/>
            <a:ext cx="3940810" cy="466090"/>
          </a:xfrm>
        </p:spPr>
        <p:txBody>
          <a:bodyPr>
            <a:noAutofit/>
          </a:bodyPr>
          <a:p>
            <a:r>
              <a:rPr lang="zh-CN" altLang="en-US" sz="2800"/>
              <a:t>电脑的软硬接口</a:t>
            </a:r>
            <a:endParaRPr lang="en-US" altLang="zh-CN" sz="2800"/>
          </a:p>
        </p:txBody>
      </p:sp>
      <p:sp>
        <p:nvSpPr>
          <p:cNvPr id="4" name="Content Placeholder 3"/>
          <p:cNvSpPr>
            <a:spLocks noGrp="1"/>
          </p:cNvSpPr>
          <p:nvPr>
            <p:ph idx="1"/>
          </p:nvPr>
        </p:nvSpPr>
        <p:spPr>
          <a:xfrm>
            <a:off x="248920" y="782955"/>
            <a:ext cx="11749405" cy="5965190"/>
          </a:xfrm>
        </p:spPr>
        <p:txBody>
          <a:bodyPr>
            <a:normAutofit/>
          </a:bodyPr>
          <a:p>
            <a:r>
              <a:rPr lang="zh-CN" altLang="en-US"/>
              <a:t>主接口：</a:t>
            </a:r>
            <a:endParaRPr lang="zh-CN" altLang="en-US"/>
          </a:p>
          <a:p>
            <a:pPr lvl="1"/>
            <a:r>
              <a:rPr lang="zh-CN" altLang="en-US" sz="1800"/>
              <a:t>主处理类：</a:t>
            </a:r>
            <a:endParaRPr lang="zh-CN" altLang="en-US" sz="1800"/>
          </a:p>
          <a:p>
            <a:pPr lvl="2"/>
            <a:r>
              <a:rPr lang="zh-CN" altLang="en-US" sz="1600"/>
              <a:t>产品：x86_64(*)/aarch64(**)/risc-v/loongarch64/sw_64/PPC64/zArch；x86/aarch32</a:t>
            </a:r>
            <a:endParaRPr lang="zh-CN" altLang="en-US" sz="1600"/>
          </a:p>
          <a:p>
            <a:pPr lvl="2"/>
            <a:r>
              <a:rPr lang="zh-CN" altLang="en-US" sz="1600"/>
              <a:t>多核：SMP/AMP/Hybrid，OS管理调度不同；软件也一定程度上可以选择运行的CPU核</a:t>
            </a:r>
            <a:endParaRPr lang="zh-CN" altLang="en-US" sz="1600"/>
          </a:p>
          <a:p>
            <a:pPr lvl="2"/>
            <a:r>
              <a:rPr lang="zh-CN" altLang="en-US" sz="1600"/>
              <a:t>内容：寄存器，内存模型（软件配合），指令集，调用栈（规则由软件工具链定义并配合实现）</a:t>
            </a:r>
            <a:endParaRPr lang="zh-CN" altLang="en-US" sz="1600"/>
          </a:p>
          <a:p>
            <a:pPr lvl="1"/>
            <a:r>
              <a:rPr lang="zh-CN" altLang="en-US" sz="1800"/>
              <a:t>主协混合：</a:t>
            </a:r>
            <a:endParaRPr lang="zh-CN" altLang="en-US" sz="1800"/>
          </a:p>
          <a:p>
            <a:pPr lvl="2"/>
            <a:r>
              <a:rPr lang="zh-CN" altLang="en-US" sz="1600"/>
              <a:t>类型：CPU/DSP/FPGA/ASIC/CSIC；用VHDL/Verilog进行开发</a:t>
            </a:r>
            <a:endParaRPr lang="zh-CN" altLang="en-US" sz="1600"/>
          </a:p>
          <a:p>
            <a:pPr lvl="2"/>
            <a:r>
              <a:rPr lang="zh-CN" altLang="en-US" sz="1600"/>
              <a:t>产品：显卡为例，各类硬件的协处理（驱动/固件，通用/专用）为例；NVIDA/昇腾的原理</a:t>
            </a:r>
            <a:endParaRPr lang="zh-CN" altLang="en-US" sz="1600"/>
          </a:p>
          <a:p>
            <a:pPr lvl="1"/>
            <a:r>
              <a:rPr lang="zh-CN" altLang="en-US" sz="1800"/>
              <a:t>传输</a:t>
            </a:r>
            <a:r>
              <a:rPr lang="en-US" altLang="zh-CN" sz="1800"/>
              <a:t>IO</a:t>
            </a:r>
            <a:r>
              <a:rPr lang="zh-CN" altLang="en-US" sz="1800"/>
              <a:t>类：</a:t>
            </a:r>
            <a:endParaRPr lang="zh-CN" altLang="en-US" sz="1800"/>
          </a:p>
          <a:p>
            <a:pPr lvl="2"/>
            <a:r>
              <a:rPr lang="zh-CN" altLang="en-US"/>
              <a:t>类型：内存寻址/寄存器映射/DMA映射/MMU/IOMMU/中断异常，时钟/定时器，路由类，GPIO类(管理监控可含串口)</a:t>
            </a:r>
            <a:endParaRPr lang="zh-CN" altLang="en-US"/>
          </a:p>
          <a:p>
            <a:pPr lvl="2"/>
            <a:r>
              <a:rPr lang="zh-CN" altLang="en-US"/>
              <a:t>产品：USB集线器，路由器/交换机，USB无线/有线网卡，USB转串口，中断控制器，串口调试器</a:t>
            </a:r>
            <a:endParaRPr lang="zh-CN" altLang="en-US"/>
          </a:p>
          <a:p>
            <a:r>
              <a:rPr lang="zh-CN" altLang="en-US"/>
              <a:t>虚拟化：</a:t>
            </a:r>
            <a:endParaRPr lang="zh-CN" altLang="en-US"/>
          </a:p>
          <a:p>
            <a:pPr lvl="1"/>
            <a:r>
              <a:rPr lang="zh-CN" altLang="en-US" sz="1800"/>
              <a:t>内容：CPU/协处理(显卡/网卡/内存MMU和IOMMU)/传输(PCIe穿透)，zArch；KVM/VmWare/Hyper-V/Xen</a:t>
            </a:r>
            <a:endParaRPr lang="zh-CN" altLang="en-US" sz="1800"/>
          </a:p>
          <a:p>
            <a:pPr lvl="1"/>
            <a:r>
              <a:rPr lang="zh-CN" altLang="en-US" sz="1800"/>
              <a:t>原理：KVM为例，硬件模式和相关指令，虚拟化迁移寄存器读取</a:t>
            </a:r>
            <a:endParaRPr lang="zh-CN" altLang="en-US" sz="1800"/>
          </a:p>
          <a:p>
            <a:r>
              <a:rPr lang="zh-CN" altLang="en-US"/>
              <a:t>裸机器：</a:t>
            </a:r>
            <a:endParaRPr lang="zh-CN" altLang="en-US"/>
          </a:p>
          <a:p>
            <a:pPr lvl="1"/>
            <a:r>
              <a:rPr lang="zh-CN" altLang="en-US"/>
              <a:t>内容：MCU/SoC/主板</a:t>
            </a:r>
            <a:r>
              <a:rPr lang="en-US" altLang="zh-CN"/>
              <a:t>/</a:t>
            </a:r>
            <a:r>
              <a:rPr lang="zh-CN" altLang="en-US"/>
              <a:t>开发板；热插拔；bios/uboot, IPMI，智能网卡；裸机</a:t>
            </a:r>
            <a:endParaRPr lang="zh-CN" altLang="en-US"/>
          </a:p>
          <a:p>
            <a:pPr lvl="1"/>
            <a:r>
              <a:rPr lang="zh-CN" altLang="en-US"/>
              <a:t>产品：PC服务器/小型机/大型机/台式机/笔记本/手机/路由器/交换机/各类嵌入式设备/智能卡片</a:t>
            </a:r>
            <a:endParaRPr lang="zh-CN" altLang="en-US"/>
          </a:p>
          <a:p>
            <a:pPr lvl="1"/>
            <a:r>
              <a:rPr lang="zh-CN" altLang="en-US"/>
              <a:t>关联：对应的操作系统(Windows/Linux/AIX/zOS)，硬件处理器(含CPU/DSP/FPGA/ASIC/CISC/MCU等)</a:t>
            </a:r>
            <a:endParaRPr lang="zh-CN" alt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784725" y="3175"/>
            <a:ext cx="3940810" cy="466090"/>
          </a:xfrm>
        </p:spPr>
        <p:txBody>
          <a:bodyPr>
            <a:noAutofit/>
          </a:bodyPr>
          <a:p>
            <a:r>
              <a:rPr lang="zh-CN" altLang="en-US"/>
              <a:t>电脑的硬件模型</a:t>
            </a:r>
            <a:endParaRPr lang="en-US" altLang="zh-CN"/>
          </a:p>
        </p:txBody>
      </p:sp>
      <p:sp>
        <p:nvSpPr>
          <p:cNvPr id="4" name="Content Placeholder 3"/>
          <p:cNvSpPr>
            <a:spLocks noGrp="1"/>
          </p:cNvSpPr>
          <p:nvPr>
            <p:ph idx="1"/>
          </p:nvPr>
        </p:nvSpPr>
        <p:spPr>
          <a:xfrm>
            <a:off x="11430" y="279400"/>
            <a:ext cx="12180570" cy="6598920"/>
          </a:xfrm>
        </p:spPr>
        <p:txBody>
          <a:bodyPr>
            <a:normAutofit/>
          </a:bodyPr>
          <a:p>
            <a:r>
              <a:rPr lang="zh-CN" altLang="en-US"/>
              <a:t>数字建模：</a:t>
            </a:r>
            <a:r>
              <a:rPr lang="zh-CN" altLang="en-US" sz="1800"/>
              <a:t>对接传感器，量化存储与传输</a:t>
            </a:r>
            <a:endParaRPr lang="zh-CN" altLang="en-US"/>
          </a:p>
          <a:p>
            <a:pPr lvl="1"/>
            <a:r>
              <a:rPr lang="zh-CN" altLang="en-US"/>
              <a:t>数字化原理：数模转换，模数转换；传感器；传输线路，存储数值；必须量化，因为量化所以计算</a:t>
            </a:r>
            <a:endParaRPr lang="zh-CN" altLang="en-US"/>
          </a:p>
          <a:p>
            <a:pPr lvl="1"/>
            <a:r>
              <a:rPr lang="zh-CN" altLang="en-US"/>
              <a:t>存储的量化：2/16/10进制，8/16/32/64/128/256/512/1024/2048/4096位，小数，字节</a:t>
            </a:r>
            <a:endParaRPr lang="zh-CN" altLang="en-US" sz="1800"/>
          </a:p>
          <a:p>
            <a:pPr lvl="1"/>
            <a:r>
              <a:rPr lang="zh-CN" altLang="en-US"/>
              <a:t>传输的量化：对时间频率进行数字量化，同时基于存储的量化</a:t>
            </a:r>
            <a:endParaRPr lang="zh-CN" altLang="en-US"/>
          </a:p>
          <a:p>
            <a:r>
              <a:rPr lang="zh-CN" altLang="en-US"/>
              <a:t>语言建模：</a:t>
            </a:r>
            <a:r>
              <a:rPr lang="zh-CN" altLang="en-US" sz="1800"/>
              <a:t>基于数字模型，建立处理模型</a:t>
            </a:r>
            <a:endParaRPr lang="zh-CN" altLang="en-US"/>
          </a:p>
          <a:p>
            <a:pPr lvl="1"/>
            <a:r>
              <a:rPr lang="zh-CN" altLang="en-US"/>
              <a:t>词语词性：基于数字建模形成：存储对象，数据/地址/控制</a:t>
            </a:r>
            <a:endParaRPr lang="zh-CN" altLang="en-US" sz="1800"/>
          </a:p>
          <a:p>
            <a:pPr lvl="1"/>
            <a:r>
              <a:rPr lang="zh-CN" altLang="en-US"/>
              <a:t>语法语句：指令结构（集成控制，地址，数据），指令类型（计算、判断、跳转）</a:t>
            </a:r>
            <a:endParaRPr lang="zh-CN" altLang="en-US" sz="1800"/>
          </a:p>
          <a:p>
            <a:pPr lvl="1"/>
            <a:r>
              <a:rPr lang="zh-CN" altLang="en-US"/>
              <a:t>段落</a:t>
            </a:r>
            <a:r>
              <a:rPr lang="zh-CN" altLang="en-US">
                <a:sym typeface="+mn-ea"/>
              </a:rPr>
              <a:t>文章</a:t>
            </a:r>
            <a:r>
              <a:rPr lang="zh-CN" altLang="en-US"/>
              <a:t>：基于传输，形成代码程序</a:t>
            </a:r>
            <a:endParaRPr lang="zh-CN" altLang="en-US"/>
          </a:p>
          <a:p>
            <a:pPr lvl="1"/>
            <a:r>
              <a:rPr lang="zh-CN" altLang="en-US" sz="1800"/>
              <a:t>文字载体：代码程序存储</a:t>
            </a:r>
            <a:endParaRPr lang="zh-CN" altLang="en-US" sz="1800"/>
          </a:p>
          <a:p>
            <a:pPr lvl="1"/>
            <a:r>
              <a:rPr lang="zh-CN" altLang="en-US"/>
              <a:t>记录反馈：各类存储的扩展反馈使用</a:t>
            </a:r>
            <a:endParaRPr lang="zh-CN" altLang="en-US" sz="1800"/>
          </a:p>
          <a:p>
            <a:pPr lvl="1"/>
            <a:r>
              <a:rPr lang="zh-CN" altLang="en-US"/>
              <a:t>虚构比喻：各类硬件虚拟化</a:t>
            </a:r>
            <a:endParaRPr lang="zh-CN" altLang="en-US"/>
          </a:p>
          <a:p>
            <a:r>
              <a:rPr lang="zh-CN" altLang="en-US"/>
              <a:t>模型实现：</a:t>
            </a:r>
            <a:r>
              <a:rPr lang="zh-CN" altLang="en-US" sz="1800"/>
              <a:t>基于两种建模，物理实现模型</a:t>
            </a:r>
            <a:endParaRPr lang="zh-CN" altLang="en-US"/>
          </a:p>
          <a:p>
            <a:pPr lvl="1"/>
            <a:r>
              <a:rPr lang="zh-CN" altLang="en-US">
                <a:sym typeface="+mn-ea"/>
              </a:rPr>
              <a:t>数字模型：实现数字建模，包括：各类传感器对接示例，存储示例，总线示例</a:t>
            </a:r>
            <a:endParaRPr lang="zh-CN" altLang="en-US"/>
          </a:p>
          <a:p>
            <a:pPr lvl="1"/>
            <a:r>
              <a:rPr lang="zh-CN" altLang="en-US">
                <a:sym typeface="+mn-ea"/>
              </a:rPr>
              <a:t>处理模型：实现语言建模，包括：CPU/GPU/?PU，寄存器/123级CACHE/各类内存，相关的传输链接</a:t>
            </a:r>
            <a:endParaRPr lang="zh-CN" altLang="en-US"/>
          </a:p>
          <a:p>
            <a:pPr lvl="1"/>
            <a:r>
              <a:rPr lang="zh-CN" altLang="en-US">
                <a:sym typeface="+mn-ea"/>
              </a:rPr>
              <a:t>传输模型：基于数字模型，对接处理模型，包括：时钟/定时器，寄存器映射，DMA映射，中断异常，路由，维护</a:t>
            </a:r>
            <a:endParaRPr lang="zh-CN" altLang="en-US"/>
          </a:p>
          <a:p>
            <a:pPr lvl="1"/>
            <a:r>
              <a:rPr lang="zh-CN" altLang="en-US" sz="1800">
                <a:sym typeface="+mn-ea"/>
              </a:rPr>
              <a:t>集成模型：功能(交互传感器/处理/工作传感器/存储/总线)，封装(芯片/主板/板卡/机箱)，主机/分布式模型</a:t>
            </a:r>
            <a:endParaRPr lang="zh-CN" altLang="en-US" sz="1800"/>
          </a:p>
          <a:p>
            <a:r>
              <a:rPr lang="zh-CN" altLang="en-US"/>
              <a:t>概述现实：</a:t>
            </a:r>
            <a:endParaRPr lang="zh-CN" altLang="en-US"/>
          </a:p>
          <a:p>
            <a:pPr lvl="1"/>
            <a:r>
              <a:rPr lang="zh-CN" altLang="en-US"/>
              <a:t>产品说明：主机/嵌入式，存储，通讯线路（</a:t>
            </a:r>
            <a:r>
              <a:rPr lang="en-US" altLang="zh-CN"/>
              <a:t>4G/5G</a:t>
            </a:r>
            <a:r>
              <a:rPr lang="zh-CN" altLang="en-US"/>
              <a:t>）</a:t>
            </a:r>
            <a:endParaRPr lang="zh-CN" altLang="en-US"/>
          </a:p>
          <a:p>
            <a:pPr lvl="1"/>
            <a:r>
              <a:rPr lang="zh-CN" altLang="en-US"/>
              <a:t>生产制造：产业链，工具链，专业人员。制造业带动</a:t>
            </a:r>
            <a:endParaRPr lang="zh-CN" altLang="en-US"/>
          </a:p>
          <a:p>
            <a:pPr lvl="1"/>
            <a:r>
              <a:rPr lang="zh-CN" altLang="en-US"/>
              <a:t>发展趋势：硬件软件化/软件硬件化,</a:t>
            </a:r>
            <a:r>
              <a:rPr lang="en-US" altLang="zh-CN"/>
              <a:t> </a:t>
            </a:r>
            <a:r>
              <a:rPr lang="zh-CN" altLang="en-US"/>
              <a:t>产业化反馈(量变/质变),</a:t>
            </a:r>
            <a:r>
              <a:rPr lang="en-US" altLang="zh-CN"/>
              <a:t> </a:t>
            </a:r>
            <a:r>
              <a:rPr lang="zh-CN" altLang="en-US"/>
              <a:t>传感器更新,</a:t>
            </a:r>
            <a:r>
              <a:rPr lang="en-US" altLang="zh-CN"/>
              <a:t> </a:t>
            </a:r>
            <a:r>
              <a:rPr lang="zh-CN" altLang="en-US"/>
              <a:t>新材料/工艺,三进制,</a:t>
            </a:r>
            <a:r>
              <a:rPr lang="en-US" altLang="zh-CN"/>
              <a:t> </a:t>
            </a:r>
            <a:r>
              <a:rPr lang="zh-CN" altLang="en-US"/>
              <a:t>量子通讯/计算</a:t>
            </a:r>
            <a:endParaRPr lang="zh-CN" alt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417695" y="-17145"/>
            <a:ext cx="3477260" cy="443865"/>
          </a:xfrm>
        </p:spPr>
        <p:txBody>
          <a:bodyPr>
            <a:noAutofit/>
          </a:bodyPr>
          <a:p>
            <a:r>
              <a:rPr lang="zh-CN" altLang="en-US"/>
              <a:t>程序员的调试测试</a:t>
            </a:r>
            <a:endParaRPr lang="en-US" altLang="zh-CN"/>
          </a:p>
        </p:txBody>
      </p:sp>
      <p:sp>
        <p:nvSpPr>
          <p:cNvPr id="4" name="Content Placeholder 3"/>
          <p:cNvSpPr>
            <a:spLocks noGrp="1"/>
          </p:cNvSpPr>
          <p:nvPr>
            <p:ph idx="1"/>
          </p:nvPr>
        </p:nvSpPr>
        <p:spPr>
          <a:xfrm>
            <a:off x="11430" y="193040"/>
            <a:ext cx="12180570" cy="6664960"/>
          </a:xfrm>
        </p:spPr>
        <p:txBody>
          <a:bodyPr>
            <a:normAutofit/>
          </a:bodyPr>
          <a:p>
            <a:r>
              <a:rPr lang="zh-CN" altLang="en-US"/>
              <a:t>直接处理：</a:t>
            </a:r>
            <a:endParaRPr lang="zh-CN" altLang="en-US"/>
          </a:p>
          <a:p>
            <a:pPr lvl="1"/>
            <a:r>
              <a:rPr lang="zh-CN" altLang="en-US" sz="1800"/>
              <a:t>全代码：</a:t>
            </a:r>
            <a:endParaRPr lang="zh-CN" altLang="en-US" sz="1800"/>
          </a:p>
          <a:p>
            <a:pPr lvl="2"/>
            <a:r>
              <a:rPr lang="zh-CN" altLang="en-US" sz="1600"/>
              <a:t>需求：通常的功能性需求，主要是业务建模和模型转换</a:t>
            </a:r>
            <a:endParaRPr lang="zh-CN" altLang="en-US" sz="1600"/>
          </a:p>
          <a:p>
            <a:pPr lvl="2"/>
            <a:r>
              <a:rPr lang="zh-CN" altLang="en-US" sz="1600"/>
              <a:t>内容：执行的流程代码和相关变量，调用堆栈，运行线程/进程；单元测试加日志打印；加参数调试器启动或直接运行</a:t>
            </a:r>
            <a:endParaRPr lang="zh-CN" altLang="en-US" sz="1600"/>
          </a:p>
          <a:p>
            <a:pPr lvl="2"/>
            <a:r>
              <a:rPr lang="zh-CN" altLang="en-US" sz="1600"/>
              <a:t>方法：搭建环境复现问题，不断反复逐步推进；与测试人员和售后技术支持人员合作；不断学习了解相关的业务逻辑</a:t>
            </a:r>
            <a:endParaRPr lang="zh-CN" altLang="en-US" sz="1600"/>
          </a:p>
          <a:p>
            <a:pPr lvl="1"/>
            <a:r>
              <a:rPr lang="zh-CN" altLang="en-US" sz="1800"/>
              <a:t>半代码：</a:t>
            </a:r>
            <a:endParaRPr lang="zh-CN" altLang="en-US" sz="1800"/>
          </a:p>
          <a:p>
            <a:pPr lvl="2"/>
            <a:r>
              <a:rPr lang="zh-CN" altLang="en-US" sz="1600"/>
              <a:t>需求：通常的非功能性需求，例如稳定性（死机/崩溃/资源泄漏/死锁/偶尔出错）、性能（bug/调优）、兼容性（API/ABI）</a:t>
            </a:r>
            <a:endParaRPr lang="zh-CN" altLang="en-US" sz="1600"/>
          </a:p>
          <a:p>
            <a:pPr lvl="2"/>
            <a:r>
              <a:rPr lang="zh-CN" altLang="en-US" sz="1600"/>
              <a:t>内容：动态和静态反汇编、寄存器、内存数据；动态挂接，静态分析（被动/主动）；针对性的内部监控</a:t>
            </a:r>
            <a:endParaRPr lang="zh-CN" altLang="en-US" sz="1600"/>
          </a:p>
          <a:p>
            <a:pPr lvl="2"/>
            <a:r>
              <a:rPr lang="zh-CN" altLang="en-US" sz="1600"/>
              <a:t>方法：特有调试环境搭建；反汇编代码（各类流程/运行数据）与源码比对分析；接口模块拦截/替换，内部监控模块</a:t>
            </a:r>
            <a:endParaRPr lang="zh-CN" altLang="en-US" sz="1600"/>
          </a:p>
          <a:p>
            <a:pPr lvl="1"/>
            <a:r>
              <a:rPr lang="zh-CN" altLang="en-US" sz="1800"/>
              <a:t>无代码：</a:t>
            </a:r>
            <a:endParaRPr lang="zh-CN" altLang="en-US" sz="1800"/>
          </a:p>
          <a:p>
            <a:pPr lvl="2"/>
            <a:r>
              <a:rPr lang="zh-CN" altLang="en-US" sz="1600"/>
              <a:t>需求：整体集成（量变到质变）；作战类（逆向分析/调查取证/软硬件攻防）；低级语言处理（虚拟机/低级语言程序）</a:t>
            </a:r>
            <a:endParaRPr lang="zh-CN" altLang="en-US" sz="1600"/>
          </a:p>
          <a:p>
            <a:pPr lvl="2"/>
            <a:r>
              <a:rPr lang="zh-CN" altLang="en-US" sz="1600"/>
              <a:t>内容：整体运行环境，二进制数据，各类低级语言；动态/静态分析；布局获取环境，抓取各类数据（大部分为二进制）</a:t>
            </a:r>
            <a:endParaRPr lang="zh-CN" altLang="en-US" sz="1600"/>
          </a:p>
          <a:p>
            <a:pPr lvl="2"/>
            <a:r>
              <a:rPr lang="zh-CN" altLang="en-US" sz="1600"/>
              <a:t>方法：特有调试环境搭建；分析大量反汇编代码（各类流程/运行数据）；接口拦截/替换，临时改造增加调试器功能</a:t>
            </a:r>
            <a:endParaRPr lang="zh-CN" altLang="en-US" sz="1600"/>
          </a:p>
          <a:p>
            <a:r>
              <a:rPr lang="zh-CN" altLang="en-US"/>
              <a:t>远程规避：</a:t>
            </a:r>
            <a:endParaRPr lang="zh-CN" altLang="en-US"/>
          </a:p>
          <a:p>
            <a:pPr lvl="1"/>
            <a:r>
              <a:rPr lang="zh-CN" altLang="en-US" sz="1800"/>
              <a:t>设计：方案尽量简单并分阶段，满足需求即可；模块高内聚低耦合，接口清晰独立；测试方案系统完整</a:t>
            </a:r>
            <a:endParaRPr lang="zh-CN" altLang="en-US" sz="1800"/>
          </a:p>
          <a:p>
            <a:pPr lvl="1"/>
            <a:r>
              <a:rPr lang="zh-CN" altLang="en-US" sz="1800"/>
              <a:t>实现：尽量提前发现和预期问题，做出准备（方案，进度，环境搭建）；踏实前行，注重质量；版本补丁管理</a:t>
            </a:r>
            <a:endParaRPr lang="zh-CN" altLang="en-US" sz="1800"/>
          </a:p>
          <a:p>
            <a:pPr lvl="1"/>
            <a:r>
              <a:rPr lang="zh-CN" altLang="en-US" sz="1800"/>
              <a:t>测试：QA部门（单元/集成/回归，环境搭建）；售后技术支持部门（配合环境搭建和问题排查）；紧密合作</a:t>
            </a:r>
            <a:endParaRPr lang="zh-CN" altLang="en-US" sz="1800"/>
          </a:p>
          <a:p>
            <a:r>
              <a:rPr lang="zh-CN" altLang="en-US"/>
              <a:t>学习培养：</a:t>
            </a:r>
            <a:endParaRPr lang="zh-CN" altLang="en-US"/>
          </a:p>
          <a:p>
            <a:pPr lvl="1"/>
            <a:r>
              <a:rPr lang="zh-CN" altLang="en-US"/>
              <a:t>主观因素：处于敏感环境中，合作态度（包含危险性）；积极勤奋，严谨宽容；高调做事，低调做人</a:t>
            </a:r>
            <a:endParaRPr lang="zh-CN" altLang="en-US"/>
          </a:p>
          <a:p>
            <a:pPr lvl="1"/>
            <a:r>
              <a:rPr lang="zh-CN" altLang="en-US"/>
              <a:t>专业基础：工具链，汇编指令集参考手册，系统环境，相关业务。方法论（正向逆向，结合设计和测试）</a:t>
            </a:r>
            <a:endParaRPr lang="zh-CN" altLang="en-US"/>
          </a:p>
          <a:p>
            <a:pPr lvl="1"/>
            <a:r>
              <a:rPr lang="zh-CN" altLang="en-US"/>
              <a:t>通用基础：学习(熟悉资源/环境/业务),阅读(源码/汇编代码/文本/二进制数据),处理(模型转换/抽象建模/沟通交流)</a:t>
            </a:r>
            <a:endParaRPr lang="zh-CN" alt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417695" y="-17145"/>
            <a:ext cx="3477260" cy="443865"/>
          </a:xfrm>
        </p:spPr>
        <p:txBody>
          <a:bodyPr>
            <a:noAutofit/>
          </a:bodyPr>
          <a:p>
            <a:r>
              <a:rPr lang="zh-CN" altLang="en-US"/>
              <a:t>程序员的编码实现</a:t>
            </a:r>
            <a:endParaRPr lang="en-US" altLang="zh-CN"/>
          </a:p>
        </p:txBody>
      </p:sp>
      <p:sp>
        <p:nvSpPr>
          <p:cNvPr id="4" name="Content Placeholder 3"/>
          <p:cNvSpPr>
            <a:spLocks noGrp="1"/>
          </p:cNvSpPr>
          <p:nvPr>
            <p:ph idx="1"/>
          </p:nvPr>
        </p:nvSpPr>
        <p:spPr>
          <a:xfrm>
            <a:off x="11430" y="135890"/>
            <a:ext cx="12180570" cy="6797675"/>
          </a:xfrm>
        </p:spPr>
        <p:txBody>
          <a:bodyPr>
            <a:normAutofit lnSpcReduction="10000"/>
          </a:bodyPr>
          <a:p>
            <a:r>
              <a:rPr lang="zh-CN" altLang="en-US"/>
              <a:t>践行者</a:t>
            </a:r>
            <a:endParaRPr lang="zh-CN" altLang="en-US"/>
          </a:p>
          <a:p>
            <a:pPr lvl="1"/>
            <a:r>
              <a:rPr lang="zh-CN" altLang="en-US" sz="1800"/>
              <a:t>内容：</a:t>
            </a:r>
            <a:endParaRPr lang="zh-CN" altLang="en-US" sz="1800"/>
          </a:p>
          <a:p>
            <a:pPr lvl="2"/>
            <a:r>
              <a:rPr lang="zh-CN" altLang="en-US"/>
              <a:t>输入：需求接口，相关资源，所需环境。</a:t>
            </a:r>
            <a:endParaRPr lang="zh-CN" altLang="en-US"/>
          </a:p>
          <a:p>
            <a:pPr lvl="2"/>
            <a:r>
              <a:rPr lang="zh-CN" altLang="en-US" sz="1600"/>
              <a:t>输出：源码（全量）补丁（增量）版本（节点分支），单元测试，使用方法，补充完善概要设计</a:t>
            </a:r>
            <a:endParaRPr lang="zh-CN" altLang="en-US" sz="1600"/>
          </a:p>
          <a:p>
            <a:pPr lvl="2"/>
            <a:r>
              <a:rPr lang="zh-CN" altLang="en-US" sz="1600"/>
              <a:t>处理：</a:t>
            </a:r>
            <a:endParaRPr lang="zh-CN" altLang="en-US" sz="1600"/>
          </a:p>
          <a:p>
            <a:pPr lvl="3"/>
            <a:r>
              <a:rPr lang="zh-CN" altLang="en-US" sz="1600"/>
              <a:t>详细设计，进行模型建立和模型转换</a:t>
            </a:r>
            <a:endParaRPr lang="zh-CN" altLang="en-US"/>
          </a:p>
          <a:p>
            <a:pPr lvl="3"/>
            <a:r>
              <a:rPr lang="zh-CN" altLang="en-US" sz="1600"/>
              <a:t>分层递归建立模型，与概要设计互动</a:t>
            </a:r>
            <a:endParaRPr lang="zh-CN" altLang="en-US" sz="1600"/>
          </a:p>
          <a:p>
            <a:pPr lvl="3"/>
            <a:r>
              <a:rPr lang="zh-CN" altLang="en-US" sz="1600"/>
              <a:t>用各种编程语言把各个建立的模型与开发运行环境进行对接，程序员的四维时空：单线静态，多线静态，多线动态</a:t>
            </a:r>
            <a:endParaRPr lang="zh-CN" altLang="en-US" sz="1600"/>
          </a:p>
          <a:p>
            <a:pPr lvl="1"/>
            <a:r>
              <a:rPr lang="zh-CN" altLang="en-US" sz="1800"/>
              <a:t>方法：</a:t>
            </a:r>
            <a:endParaRPr lang="zh-CN" altLang="en-US" sz="1800"/>
          </a:p>
          <a:p>
            <a:pPr lvl="2"/>
            <a:r>
              <a:rPr lang="zh-CN" altLang="en-US" sz="1600"/>
              <a:t>外部互动：概要设计与实现相互结合，确保单元测试始终整体调通。建立良好的沟通交互</a:t>
            </a:r>
            <a:endParaRPr lang="zh-CN" altLang="en-US" sz="1600"/>
          </a:p>
          <a:p>
            <a:pPr lvl="2"/>
            <a:r>
              <a:rPr lang="zh-CN" altLang="en-US" sz="1600"/>
              <a:t>内部拆分：重视补丁版本和接口定义描述，高内聚低耦合，概要设计和单元测试的二级多级扩展。深入浅出</a:t>
            </a:r>
            <a:endParaRPr lang="zh-CN" altLang="en-US" sz="1600"/>
          </a:p>
          <a:p>
            <a:pPr lvl="2"/>
            <a:r>
              <a:rPr lang="zh-CN" altLang="en-US" sz="1600"/>
              <a:t>工具使用：尽量AI化，尽量重用现有代码和组件。对于新工具持开放态度。工欲善其事，必先利其器</a:t>
            </a:r>
            <a:endParaRPr lang="zh-CN" altLang="en-US" sz="1600"/>
          </a:p>
          <a:p>
            <a:pPr lvl="1"/>
            <a:r>
              <a:rPr lang="zh-CN" altLang="en-US" sz="1800"/>
              <a:t>难点：</a:t>
            </a:r>
            <a:endParaRPr lang="zh-CN" altLang="en-US" sz="1800"/>
          </a:p>
          <a:p>
            <a:pPr lvl="2"/>
            <a:r>
              <a:rPr lang="zh-CN" altLang="en-US"/>
              <a:t>实现：模型转换，表达方法，概要设计和需求变化</a:t>
            </a:r>
            <a:endParaRPr lang="zh-CN" altLang="en-US"/>
          </a:p>
          <a:p>
            <a:pPr lvl="2"/>
            <a:r>
              <a:rPr lang="zh-CN" altLang="en-US"/>
              <a:t>环境：编译环境，运行环境，测试环境，支撑组件。</a:t>
            </a:r>
            <a:endParaRPr lang="zh-CN" altLang="en-US"/>
          </a:p>
          <a:p>
            <a:pPr lvl="2"/>
            <a:r>
              <a:rPr lang="zh-CN" altLang="en-US"/>
              <a:t>管理：进度，时间点，成本。</a:t>
            </a:r>
            <a:endParaRPr lang="zh-CN" altLang="en-US"/>
          </a:p>
          <a:p>
            <a:r>
              <a:rPr lang="zh-CN" altLang="en-US"/>
              <a:t>旁观者</a:t>
            </a:r>
            <a:endParaRPr lang="zh-CN" altLang="en-US"/>
          </a:p>
          <a:p>
            <a:pPr lvl="1"/>
            <a:r>
              <a:rPr lang="zh-CN" altLang="en-US" sz="1800"/>
              <a:t>交付内容：源码与接口，补丁与版本，使用说明与单元测试。</a:t>
            </a:r>
            <a:endParaRPr lang="zh-CN" altLang="en-US" sz="1800"/>
          </a:p>
          <a:p>
            <a:pPr lvl="1"/>
            <a:r>
              <a:rPr lang="zh-CN" altLang="en-US" sz="1800"/>
              <a:t>判断标准：是否满足需求（功能与非功能需求），交付内容本身的可读性，确保可复现。</a:t>
            </a:r>
            <a:endParaRPr lang="zh-CN" altLang="en-US" sz="1800"/>
          </a:p>
          <a:p>
            <a:pPr lvl="1"/>
            <a:r>
              <a:rPr lang="zh-CN" altLang="en-US" sz="1800"/>
              <a:t>使用方法：设计方（补充完善设计</a:t>
            </a:r>
            <a:r>
              <a:rPr lang="en-US" altLang="zh-CN" sz="1800"/>
              <a:t>/</a:t>
            </a:r>
            <a:r>
              <a:rPr lang="zh-CN" altLang="en-US" sz="1800"/>
              <a:t>确认实现质量）、测试方（单元</a:t>
            </a:r>
            <a:r>
              <a:rPr lang="en-US" altLang="zh-CN" sz="1800"/>
              <a:t>/</a:t>
            </a:r>
            <a:r>
              <a:rPr lang="zh-CN" altLang="en-US" sz="1800"/>
              <a:t>集成</a:t>
            </a:r>
            <a:r>
              <a:rPr lang="en-US" altLang="zh-CN" sz="1800"/>
              <a:t>/</a:t>
            </a:r>
            <a:r>
              <a:rPr lang="zh-CN" altLang="en-US" sz="1800"/>
              <a:t>回归测试）、实现方（调试与集成）。</a:t>
            </a:r>
            <a:endParaRPr lang="zh-CN" altLang="en-US"/>
          </a:p>
          <a:p>
            <a:r>
              <a:rPr lang="zh-CN" altLang="en-US"/>
              <a:t>学习者</a:t>
            </a:r>
            <a:endParaRPr lang="zh-CN" altLang="en-US"/>
          </a:p>
          <a:p>
            <a:pPr lvl="1"/>
            <a:r>
              <a:rPr lang="zh-CN" altLang="en-US"/>
              <a:t>主观因素：积极勤奋，直面困难（兜底思维），不断学习。自然进入，逐步成长，渐入佳境。</a:t>
            </a:r>
            <a:endParaRPr lang="zh-CN" altLang="en-US"/>
          </a:p>
          <a:p>
            <a:pPr lvl="1"/>
            <a:r>
              <a:rPr lang="zh-CN" altLang="en-US"/>
              <a:t>专业能力：实践开发，对语言工具和系统环境的理解积累，软件工程。</a:t>
            </a:r>
            <a:endParaRPr lang="zh-CN" altLang="en-US"/>
          </a:p>
          <a:p>
            <a:pPr lvl="1"/>
            <a:r>
              <a:rPr lang="zh-CN" altLang="en-US"/>
              <a:t>通用能力：模型转换，抽象建模，阅读写作。</a:t>
            </a:r>
            <a:endParaRPr lang="zh-CN" alt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823970" y="155575"/>
            <a:ext cx="5072380" cy="443865"/>
          </a:xfrm>
        </p:spPr>
        <p:txBody>
          <a:bodyPr>
            <a:noAutofit/>
          </a:bodyPr>
          <a:p>
            <a:r>
              <a:rPr lang="zh-CN" altLang="en-US"/>
              <a:t>程序员的概要设计</a:t>
            </a:r>
            <a:endParaRPr lang="en-US" altLang="zh-CN"/>
          </a:p>
        </p:txBody>
      </p:sp>
      <p:sp>
        <p:nvSpPr>
          <p:cNvPr id="4" name="Content Placeholder 3"/>
          <p:cNvSpPr>
            <a:spLocks noGrp="1"/>
          </p:cNvSpPr>
          <p:nvPr>
            <p:ph idx="1"/>
          </p:nvPr>
        </p:nvSpPr>
        <p:spPr>
          <a:xfrm>
            <a:off x="11430" y="567690"/>
            <a:ext cx="12180570" cy="6236970"/>
          </a:xfrm>
        </p:spPr>
        <p:txBody>
          <a:bodyPr>
            <a:normAutofit lnSpcReduction="10000"/>
          </a:bodyPr>
          <a:p>
            <a:r>
              <a:rPr lang="zh-CN" altLang="en-US"/>
              <a:t>践行者</a:t>
            </a:r>
            <a:endParaRPr lang="zh-CN" altLang="en-US"/>
          </a:p>
          <a:p>
            <a:pPr lvl="1"/>
            <a:r>
              <a:rPr lang="zh-CN" altLang="en-US" sz="1800"/>
              <a:t>内容：</a:t>
            </a:r>
            <a:endParaRPr lang="zh-CN" altLang="en-US" sz="1800"/>
          </a:p>
          <a:p>
            <a:pPr lvl="2"/>
            <a:r>
              <a:rPr lang="zh-CN" altLang="en-US" sz="1600"/>
              <a:t>需求视角：功能需求和非功能需求整理拆分</a:t>
            </a:r>
            <a:r>
              <a:rPr lang="en-US" altLang="zh-CN" sz="1600"/>
              <a:t>/</a:t>
            </a:r>
            <a:r>
              <a:rPr lang="zh-CN" altLang="en-US" sz="1600"/>
              <a:t>抽象化</a:t>
            </a:r>
            <a:r>
              <a:rPr lang="en-US" altLang="zh-CN" sz="1600"/>
              <a:t>/</a:t>
            </a:r>
            <a:r>
              <a:rPr lang="zh-CN" altLang="en-US" sz="1600"/>
              <a:t>系统化；证明通过使用可达到并覆盖客户的全部预期目标；所需资源</a:t>
            </a:r>
            <a:endParaRPr lang="zh-CN" altLang="en-US" sz="1600"/>
          </a:p>
          <a:p>
            <a:pPr lvl="2"/>
            <a:r>
              <a:rPr lang="zh-CN" altLang="en-US" sz="1600"/>
              <a:t>使用视角：原型</a:t>
            </a:r>
            <a:r>
              <a:rPr lang="en-US" altLang="zh-CN" sz="1600"/>
              <a:t>demo</a:t>
            </a:r>
            <a:r>
              <a:rPr lang="zh-CN" altLang="en-US" sz="1600"/>
              <a:t>，确认验收标准，支撑功能的具体化和可视化，为测试验证（单元和集成）环境搭建提供支撑</a:t>
            </a:r>
            <a:endParaRPr lang="zh-CN" altLang="en-US" sz="1600"/>
          </a:p>
          <a:p>
            <a:pPr lvl="2"/>
            <a:r>
              <a:rPr lang="zh-CN" altLang="en-US" sz="1600"/>
              <a:t>实现视角：</a:t>
            </a:r>
            <a:r>
              <a:rPr lang="zh-CN" altLang="en-US"/>
              <a:t>可行性分析是重点，给出解决方案；抽象业务模型，使用接口</a:t>
            </a:r>
            <a:r>
              <a:rPr lang="zh-CN" altLang="en-US">
                <a:sym typeface="+mn-ea"/>
              </a:rPr>
              <a:t>，整体结构框架</a:t>
            </a:r>
            <a:r>
              <a:rPr lang="zh-CN" altLang="en-US"/>
              <a:t>；递归拆分二级、三级结构。</a:t>
            </a:r>
            <a:endParaRPr lang="zh-CN" altLang="en-US" sz="1600"/>
          </a:p>
          <a:p>
            <a:pPr lvl="1"/>
            <a:r>
              <a:rPr lang="zh-CN" altLang="en-US" sz="1800"/>
              <a:t>方法：</a:t>
            </a:r>
            <a:endParaRPr lang="zh-CN" altLang="en-US" sz="1800"/>
          </a:p>
          <a:p>
            <a:pPr lvl="2"/>
            <a:r>
              <a:rPr lang="zh-CN" altLang="en-US" sz="1600"/>
              <a:t>需求视角：与客户方进行详细沟通（参考用户需求说明书），为需求分析说明书，其全部内容需要同客户确认</a:t>
            </a:r>
            <a:endParaRPr lang="zh-CN" altLang="en-US" sz="1600"/>
          </a:p>
          <a:p>
            <a:pPr lvl="2"/>
            <a:r>
              <a:rPr lang="zh-CN" altLang="en-US" sz="1600"/>
              <a:t>使用视角：重点是通过实际的使用来描述需求（参考用户使用说明书），可以先绕开全部主要问题，先表面上实现。</a:t>
            </a:r>
            <a:endParaRPr lang="zh-CN" altLang="en-US" sz="1600"/>
          </a:p>
          <a:p>
            <a:pPr lvl="2"/>
            <a:r>
              <a:rPr lang="zh-CN" altLang="en-US" sz="1600"/>
              <a:t>实现视角：多次迭代，逐步推进，不断完善；理论指导实践，实践总结理论，</a:t>
            </a:r>
            <a:r>
              <a:rPr lang="zh-CN" altLang="en-US">
                <a:sym typeface="+mn-ea"/>
              </a:rPr>
              <a:t>逐步记录整理</a:t>
            </a:r>
            <a:r>
              <a:rPr lang="zh-CN" altLang="en-US" sz="1600"/>
              <a:t>；一级结构逐步拓展二级</a:t>
            </a:r>
            <a:r>
              <a:rPr lang="en-US" altLang="zh-CN" sz="1600"/>
              <a:t>/</a:t>
            </a:r>
            <a:r>
              <a:rPr lang="zh-CN" altLang="en-US" sz="1600"/>
              <a:t>三级</a:t>
            </a:r>
            <a:endParaRPr lang="zh-CN" altLang="en-US" sz="1600"/>
          </a:p>
          <a:p>
            <a:pPr lvl="1"/>
            <a:r>
              <a:rPr lang="zh-CN" altLang="en-US" sz="1800"/>
              <a:t>难点：</a:t>
            </a:r>
            <a:endParaRPr lang="zh-CN" altLang="en-US" sz="1800"/>
          </a:p>
          <a:p>
            <a:pPr lvl="2"/>
            <a:r>
              <a:rPr lang="zh-CN" altLang="en-US"/>
              <a:t>研究：给出解决方案，并不断尝试论证。是概要设计重点考虑的内容</a:t>
            </a:r>
            <a:endParaRPr lang="zh-CN" altLang="en-US"/>
          </a:p>
          <a:p>
            <a:pPr lvl="2"/>
            <a:r>
              <a:rPr lang="zh-CN" altLang="en-US"/>
              <a:t>运营：成本，进度，效率。是概要设计配合的内容。</a:t>
            </a:r>
            <a:endParaRPr lang="zh-CN" altLang="en-US"/>
          </a:p>
          <a:p>
            <a:pPr lvl="2"/>
            <a:r>
              <a:rPr lang="zh-CN" altLang="en-US"/>
              <a:t>管理：it企业的运行机理，体制环境，运营等都与普通公司不同。是概要设计配合的内容。</a:t>
            </a:r>
            <a:endParaRPr lang="zh-CN" altLang="en-US"/>
          </a:p>
          <a:p>
            <a:r>
              <a:rPr lang="zh-CN" altLang="en-US"/>
              <a:t>旁观者</a:t>
            </a:r>
            <a:endParaRPr lang="zh-CN" altLang="en-US"/>
          </a:p>
          <a:p>
            <a:pPr lvl="1"/>
            <a:r>
              <a:rPr lang="zh-CN" altLang="en-US" sz="1800"/>
              <a:t>交付内容：功能</a:t>
            </a:r>
            <a:r>
              <a:rPr lang="en-US" altLang="zh-CN" sz="1800"/>
              <a:t>/</a:t>
            </a:r>
            <a:r>
              <a:rPr lang="zh-CN" altLang="en-US" sz="1800"/>
              <a:t>使用</a:t>
            </a:r>
            <a:r>
              <a:rPr lang="en-US" altLang="zh-CN" sz="1800"/>
              <a:t>/</a:t>
            </a:r>
            <a:r>
              <a:rPr lang="zh-CN" altLang="en-US" sz="1800"/>
              <a:t>实现视角结构图和说明</a:t>
            </a:r>
            <a:r>
              <a:rPr lang="zh-CN" altLang="en-US">
                <a:sym typeface="+mn-ea"/>
              </a:rPr>
              <a:t>；所需资源</a:t>
            </a:r>
            <a:r>
              <a:rPr lang="zh-CN" altLang="en-US" sz="1800"/>
              <a:t>；业务模型和使用接口；一级逐步拓展二级</a:t>
            </a:r>
            <a:r>
              <a:rPr lang="en-US" altLang="zh-CN" sz="1800"/>
              <a:t>/</a:t>
            </a:r>
            <a:r>
              <a:rPr lang="zh-CN" altLang="en-US" sz="1800"/>
              <a:t>三级</a:t>
            </a:r>
            <a:endParaRPr lang="zh-CN" altLang="en-US" sz="1800"/>
          </a:p>
          <a:p>
            <a:pPr lvl="1"/>
            <a:r>
              <a:rPr lang="zh-CN" altLang="en-US" sz="1800"/>
              <a:t>判断标准：不同阶段，需要的内容和其完整度不同；核心是能够支撑旁观者的后继活动；并据此不断完善文档。</a:t>
            </a:r>
            <a:endParaRPr lang="zh-CN" altLang="en-US" sz="1800"/>
          </a:p>
          <a:p>
            <a:pPr lvl="1"/>
            <a:r>
              <a:rPr lang="zh-CN" altLang="en-US" sz="1800"/>
              <a:t>使用方法：需求方（确认需求的有效性）、测试方（测试方案）、实现方（支撑具体的实现和单元测试）。</a:t>
            </a:r>
            <a:endParaRPr lang="zh-CN" altLang="en-US"/>
          </a:p>
          <a:p>
            <a:r>
              <a:rPr lang="zh-CN" altLang="en-US"/>
              <a:t>学习者</a:t>
            </a:r>
            <a:endParaRPr lang="zh-CN" altLang="en-US"/>
          </a:p>
          <a:p>
            <a:pPr lvl="1"/>
            <a:r>
              <a:rPr lang="zh-CN" altLang="en-US"/>
              <a:t>主观因素：积极勤奋，直面困难（兜底思维），不断学习。自然进入，逐步成长，渐入佳境。</a:t>
            </a:r>
            <a:endParaRPr lang="zh-CN" altLang="en-US"/>
          </a:p>
          <a:p>
            <a:pPr lvl="1"/>
            <a:r>
              <a:rPr lang="zh-CN" altLang="en-US"/>
              <a:t>专业能力：实践开发，对业务需求和系统环境的理解积累，软件工程。</a:t>
            </a:r>
            <a:endParaRPr lang="zh-CN" altLang="en-US"/>
          </a:p>
          <a:p>
            <a:pPr lvl="1"/>
            <a:r>
              <a:rPr lang="zh-CN" altLang="en-US"/>
              <a:t>通用能力：抽象建模，模型转换。表达沟通。</a:t>
            </a:r>
            <a:endParaRPr lang="zh-CN" alt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823970" y="58420"/>
            <a:ext cx="5072380" cy="347345"/>
          </a:xfrm>
        </p:spPr>
        <p:txBody>
          <a:bodyPr>
            <a:noAutofit/>
          </a:bodyPr>
          <a:p>
            <a:r>
              <a:rPr lang="zh-CN" altLang="en-US" sz="2000"/>
              <a:t>程序员的四维时空</a:t>
            </a:r>
            <a:endParaRPr lang="en-US" altLang="zh-CN" sz="2000"/>
          </a:p>
        </p:txBody>
      </p:sp>
      <p:sp>
        <p:nvSpPr>
          <p:cNvPr id="4" name="Content Placeholder 3"/>
          <p:cNvSpPr>
            <a:spLocks noGrp="1"/>
          </p:cNvSpPr>
          <p:nvPr>
            <p:ph idx="1"/>
          </p:nvPr>
        </p:nvSpPr>
        <p:spPr>
          <a:xfrm>
            <a:off x="162560" y="255270"/>
            <a:ext cx="11703685" cy="6743065"/>
          </a:xfrm>
        </p:spPr>
        <p:txBody>
          <a:bodyPr>
            <a:normAutofit/>
          </a:bodyPr>
          <a:p>
            <a:r>
              <a:rPr lang="zh-CN" altLang="en-US"/>
              <a:t>第一维：</a:t>
            </a:r>
            <a:r>
              <a:rPr lang="zh-CN" altLang="en-US" sz="1800"/>
              <a:t>单线静态：</a:t>
            </a:r>
            <a:endParaRPr lang="zh-CN" altLang="en-US"/>
          </a:p>
          <a:p>
            <a:pPr lvl="1"/>
            <a:r>
              <a:rPr lang="zh-CN" altLang="en-US"/>
              <a:t>堆栈/递归/树状：单条思路，能够抽象出来描述大部分独立的基础的业务流程</a:t>
            </a:r>
            <a:endParaRPr lang="zh-CN" altLang="en-US"/>
          </a:p>
          <a:p>
            <a:pPr lvl="1"/>
            <a:r>
              <a:rPr lang="zh-CN" altLang="en-US"/>
              <a:t>数据树状或单向有序图（DAG）：能够抽象出来描述大部分独立的基础的业务对象</a:t>
            </a:r>
            <a:endParaRPr lang="zh-CN" altLang="en-US"/>
          </a:p>
          <a:p>
            <a:pPr lvl="1"/>
            <a:r>
              <a:rPr lang="zh-CN" altLang="en-US"/>
              <a:t>数据与流程独享直接交互：单流程，简单数据，直接简单交互即可。命令行</a:t>
            </a:r>
            <a:endParaRPr lang="zh-CN" altLang="en-US"/>
          </a:p>
          <a:p>
            <a:r>
              <a:rPr lang="zh-CN" altLang="en-US"/>
              <a:t>第二维：</a:t>
            </a:r>
            <a:r>
              <a:rPr lang="zh-CN" altLang="en-US" sz="1800"/>
              <a:t>多线静态：</a:t>
            </a:r>
            <a:endParaRPr lang="zh-CN" altLang="en-US"/>
          </a:p>
          <a:p>
            <a:pPr lvl="1"/>
            <a:r>
              <a:rPr lang="zh-CN" altLang="en-US"/>
              <a:t>流程图化；不仅单条思路思考，需要多个思路，换位多维度思考</a:t>
            </a:r>
            <a:endParaRPr lang="zh-CN" altLang="en-US"/>
          </a:p>
          <a:p>
            <a:pPr lvl="1"/>
            <a:r>
              <a:rPr lang="zh-CN" altLang="en-US"/>
              <a:t>数据图化：数据本身也支持多个维度的换位思考的描述，并能够把各个不同维度的描述融合到一起</a:t>
            </a:r>
            <a:endParaRPr lang="zh-CN" altLang="en-US"/>
          </a:p>
          <a:p>
            <a:pPr lvl="1"/>
            <a:r>
              <a:rPr lang="zh-CN" altLang="en-US"/>
              <a:t>数据与流程独享间接交互：多流程，多数据，但都直接独立交互；使用图形界面，以及多命令行窗口</a:t>
            </a:r>
            <a:endParaRPr lang="zh-CN" altLang="en-US"/>
          </a:p>
          <a:p>
            <a:r>
              <a:rPr lang="zh-CN" altLang="en-US"/>
              <a:t>第三维：</a:t>
            </a:r>
            <a:r>
              <a:rPr lang="zh-CN" altLang="en-US" sz="1800"/>
              <a:t>多线动态： </a:t>
            </a:r>
            <a:endParaRPr lang="zh-CN" altLang="en-US"/>
          </a:p>
          <a:p>
            <a:pPr lvl="1"/>
            <a:r>
              <a:rPr lang="zh-CN" altLang="en-US"/>
              <a:t>流程数据化/数据流程化：函数指针（或类似的功能），二进制数据作为代码执行，构造和人工处理线程栈</a:t>
            </a:r>
            <a:endParaRPr lang="zh-CN" altLang="en-US"/>
          </a:p>
          <a:p>
            <a:pPr lvl="1"/>
            <a:r>
              <a:rPr lang="zh-CN" altLang="en-US"/>
              <a:t>同步/异步/回调：多个流程结合数据相互协调，避免冲突；执行分阶段多点触发，可形成相自动机</a:t>
            </a:r>
            <a:endParaRPr lang="zh-CN" altLang="en-US"/>
          </a:p>
          <a:p>
            <a:pPr lvl="1"/>
            <a:r>
              <a:rPr lang="zh-CN" altLang="en-US"/>
              <a:t>数据与流程共享间接使用：流程间，数据间，流程与数据间都可能有共享内容和关联。进行监控管理</a:t>
            </a:r>
            <a:endParaRPr lang="zh-CN" altLang="en-US"/>
          </a:p>
          <a:p>
            <a:r>
              <a:rPr lang="zh-CN" altLang="en-US"/>
              <a:t>第四维：</a:t>
            </a:r>
            <a:r>
              <a:rPr lang="zh-CN" altLang="en-US" sz="1800"/>
              <a:t>历史总结：</a:t>
            </a:r>
            <a:endParaRPr lang="zh-CN" altLang="en-US"/>
          </a:p>
          <a:p>
            <a:pPr lvl="1"/>
            <a:r>
              <a:rPr lang="zh-CN" altLang="en-US"/>
              <a:t>版本：为历史的枝干，体系框架，主要用于整体处理</a:t>
            </a:r>
            <a:endParaRPr lang="zh-CN" altLang="en-US"/>
          </a:p>
          <a:p>
            <a:pPr lvl="1"/>
            <a:r>
              <a:rPr lang="zh-CN" altLang="en-US"/>
              <a:t>补丁：为历史的树叶，具体内容，主要用于细节处理</a:t>
            </a:r>
            <a:endParaRPr lang="zh-CN" altLang="en-US"/>
          </a:p>
          <a:p>
            <a:pPr lvl="1"/>
            <a:r>
              <a:rPr lang="zh-CN" altLang="en-US"/>
              <a:t>使用场景（读/写/用）：以需求、设计、实现、测试、发布、维护为案例进行说明。开源upstream的价值</a:t>
            </a:r>
            <a:endParaRPr lang="zh-CN" altLang="en-US"/>
          </a:p>
          <a:p>
            <a:r>
              <a:rPr lang="zh-CN" altLang="en-US"/>
              <a:t>培养：</a:t>
            </a:r>
            <a:endParaRPr lang="zh-CN" altLang="en-US"/>
          </a:p>
          <a:p>
            <a:pPr lvl="1"/>
            <a:r>
              <a:rPr lang="zh-CN" altLang="en-US"/>
              <a:t>态度：克服惰性，实践与理论的相互转换衔接，熟练度。总想一蹴而就，没有耐心一步步踏实前行</a:t>
            </a:r>
            <a:endParaRPr lang="zh-CN" altLang="en-US"/>
          </a:p>
          <a:p>
            <a:pPr lvl="1"/>
            <a:r>
              <a:rPr lang="zh-CN" altLang="en-US"/>
              <a:t>实践：从业余的只适合人的行为，转换为专业的平衡人与机器的行为（命令，vim键盘，图形，补丁处理等）</a:t>
            </a:r>
            <a:endParaRPr lang="zh-CN" altLang="en-US"/>
          </a:p>
          <a:p>
            <a:pPr lvl="1"/>
            <a:r>
              <a:rPr lang="zh-CN" altLang="en-US"/>
              <a:t>理论： 总结归纳，记录的重要性，结构图（包括多个视角），接口注释说明，测试方案</a:t>
            </a:r>
            <a:endParaRPr lang="zh-CN" alt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233170" y="36830"/>
            <a:ext cx="7901940" cy="692150"/>
          </a:xfrm>
        </p:spPr>
        <p:txBody>
          <a:bodyPr>
            <a:noAutofit/>
          </a:bodyPr>
          <a:p>
            <a:r>
              <a:rPr lang="zh-CN" altLang="en-US" sz="3200"/>
              <a:t>程序员的核心属性</a:t>
            </a:r>
            <a:endParaRPr lang="en-US" altLang="zh-CN" sz="3200"/>
          </a:p>
        </p:txBody>
      </p:sp>
      <p:sp>
        <p:nvSpPr>
          <p:cNvPr id="4" name="Content Placeholder 3"/>
          <p:cNvSpPr>
            <a:spLocks noGrp="1"/>
          </p:cNvSpPr>
          <p:nvPr>
            <p:ph idx="1"/>
          </p:nvPr>
        </p:nvSpPr>
        <p:spPr>
          <a:xfrm>
            <a:off x="227330" y="643255"/>
            <a:ext cx="11703685" cy="6172835"/>
          </a:xfrm>
        </p:spPr>
        <p:txBody>
          <a:bodyPr>
            <a:normAutofit/>
          </a:bodyPr>
          <a:p>
            <a:r>
              <a:rPr lang="zh-CN" altLang="en-US" sz="2800"/>
              <a:t>职责：</a:t>
            </a:r>
            <a:endParaRPr lang="zh-CN" altLang="en-US" sz="2800"/>
          </a:p>
          <a:p>
            <a:pPr lvl="1"/>
            <a:r>
              <a:rPr lang="zh-CN" altLang="en-US" sz="2520"/>
              <a:t>作为普通人与计算机进行沟通对话的人员（不是简单地使用，而是有语言对话的精细操作，计算机的广义定义）</a:t>
            </a:r>
            <a:endParaRPr lang="zh-CN" altLang="en-US" sz="2520"/>
          </a:p>
          <a:p>
            <a:pPr lvl="1"/>
            <a:r>
              <a:rPr lang="zh-CN" altLang="en-US" sz="2520"/>
              <a:t>编程语言，主要编程语言和辅助编程语言；不区分高级/低级和软件/硬件</a:t>
            </a:r>
            <a:endParaRPr lang="zh-CN" altLang="en-US" sz="2520"/>
          </a:p>
          <a:p>
            <a:pPr lvl="1"/>
            <a:r>
              <a:rPr lang="zh-CN" altLang="en-US" sz="2520"/>
              <a:t>主要是从原理的视角来考虑问题，软件工程，以实现为基础向其他方面拓展</a:t>
            </a:r>
            <a:endParaRPr lang="zh-CN" altLang="en-US" sz="2520"/>
          </a:p>
          <a:p>
            <a:r>
              <a:rPr lang="zh-CN" altLang="en-US" sz="2800"/>
              <a:t>行动：</a:t>
            </a:r>
            <a:endParaRPr lang="zh-CN" altLang="en-US" sz="2800"/>
          </a:p>
          <a:p>
            <a:pPr lvl="1"/>
            <a:r>
              <a:rPr lang="zh-CN" altLang="en-US" sz="2520"/>
              <a:t>实现相关的程序（包括详细设计），处理需求设计（主要概要设计）和测试调试（主要是调试）</a:t>
            </a:r>
            <a:endParaRPr lang="zh-CN" altLang="en-US" sz="2520"/>
          </a:p>
          <a:p>
            <a:pPr lvl="1"/>
            <a:r>
              <a:rPr lang="zh-CN" altLang="en-US" sz="2520"/>
              <a:t>未来趋势是设计和调试，重视需求和测试</a:t>
            </a:r>
            <a:endParaRPr lang="zh-CN" altLang="en-US" sz="2520"/>
          </a:p>
          <a:p>
            <a:pPr lvl="1"/>
            <a:r>
              <a:rPr lang="zh-CN" altLang="en-US" sz="2520"/>
              <a:t>开发方式：图形界面和命令行，各有特色，最好全部掌握</a:t>
            </a:r>
            <a:endParaRPr lang="zh-CN" altLang="en-US" sz="2520"/>
          </a:p>
          <a:p>
            <a:r>
              <a:rPr lang="zh-CN" altLang="en-US" sz="2800"/>
              <a:t>培养：</a:t>
            </a:r>
            <a:endParaRPr lang="zh-CN" altLang="en-US" sz="2800"/>
          </a:p>
          <a:p>
            <a:pPr lvl="1"/>
            <a:r>
              <a:rPr lang="zh-CN" altLang="en-US" sz="2520"/>
              <a:t>编程语言/开发环境/系统原理</a:t>
            </a:r>
            <a:endParaRPr lang="zh-CN" altLang="en-US" sz="2520"/>
          </a:p>
          <a:p>
            <a:pPr lvl="1"/>
            <a:r>
              <a:rPr lang="zh-CN" altLang="en-US" sz="2520"/>
              <a:t>阅读写作/抽象建模/模型转换</a:t>
            </a:r>
            <a:endParaRPr lang="zh-CN" altLang="en-US" sz="2520"/>
          </a:p>
          <a:p>
            <a:pPr lvl="1"/>
            <a:r>
              <a:rPr lang="zh-CN" altLang="en-US" sz="2520"/>
              <a:t>勤奋（大脑/身体/心理）/沟通/合作</a:t>
            </a:r>
            <a:endParaRPr lang="zh-CN" altLang="en-US" sz="252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47700" y="162560"/>
            <a:ext cx="10515600" cy="567690"/>
          </a:xfrm>
        </p:spPr>
        <p:txBody>
          <a:bodyPr/>
          <a:p>
            <a:r>
              <a:rPr lang="zh-CN" altLang="en-US"/>
              <a:t>程序员看</a:t>
            </a:r>
            <a:r>
              <a:rPr lang="en-US" altLang="zh-CN"/>
              <a:t>AI</a:t>
            </a:r>
            <a:endParaRPr lang="en-US" altLang="zh-CN"/>
          </a:p>
        </p:txBody>
      </p:sp>
      <p:sp>
        <p:nvSpPr>
          <p:cNvPr id="3" name="Content Placeholder 2"/>
          <p:cNvSpPr>
            <a:spLocks noGrp="1"/>
          </p:cNvSpPr>
          <p:nvPr>
            <p:ph idx="1"/>
          </p:nvPr>
        </p:nvSpPr>
        <p:spPr>
          <a:xfrm>
            <a:off x="116205" y="908050"/>
            <a:ext cx="11981815" cy="5753100"/>
          </a:xfrm>
        </p:spPr>
        <p:txBody>
          <a:bodyPr>
            <a:normAutofit lnSpcReduction="20000"/>
          </a:bodyPr>
          <a:p>
            <a:r>
              <a:rPr lang="zh-CN" altLang="en-US"/>
              <a:t>行业视角：</a:t>
            </a:r>
            <a:endParaRPr lang="zh-CN" altLang="en-US"/>
          </a:p>
          <a:p>
            <a:pPr lvl="1"/>
            <a:r>
              <a:rPr lang="zh-CN" altLang="en-US"/>
              <a:t>产品层面：</a:t>
            </a:r>
            <a:endParaRPr lang="zh-CN" altLang="en-US"/>
          </a:p>
          <a:p>
            <a:pPr lvl="2"/>
            <a:r>
              <a:rPr lang="zh-CN" altLang="en-US"/>
              <a:t>定义：狭义的，广义的就是电脑，电脑更严谨通用，但不利于吸引眼球。对信息进行输入输出，处理，交互，存储。</a:t>
            </a:r>
            <a:endParaRPr lang="zh-CN" altLang="en-US"/>
          </a:p>
          <a:p>
            <a:pPr lvl="2"/>
            <a:r>
              <a:rPr lang="zh-CN" altLang="en-US"/>
              <a:t>功能分类：</a:t>
            </a:r>
            <a:r>
              <a:rPr lang="en-US" altLang="zh-CN"/>
              <a:t>IO</a:t>
            </a:r>
            <a:r>
              <a:rPr lang="zh-CN" altLang="en-US"/>
              <a:t>（语音，文字，图像视频，各类传感器），交互（各类语言），处理（计算，搜索，推荐，辅助决策）</a:t>
            </a:r>
            <a:endParaRPr lang="zh-CN" altLang="en-US"/>
          </a:p>
          <a:p>
            <a:pPr lvl="2"/>
            <a:r>
              <a:rPr lang="zh-CN" altLang="en-US"/>
              <a:t>应用分类：形象化（机器人，机器动物），个人交互（帮忙，対弈），生产自动化（更广泛）</a:t>
            </a:r>
            <a:endParaRPr lang="zh-CN" altLang="en-US"/>
          </a:p>
          <a:p>
            <a:pPr lvl="1"/>
            <a:r>
              <a:rPr lang="zh-CN" altLang="en-US"/>
              <a:t>技术层面：</a:t>
            </a:r>
            <a:endParaRPr lang="zh-CN" altLang="en-US"/>
          </a:p>
          <a:p>
            <a:pPr lvl="2"/>
            <a:r>
              <a:rPr lang="zh-CN" altLang="en-US"/>
              <a:t>整体结构：异构计算，通用处理器处理一般任务，智能卡处理并行计算任务，二者相互配合。广义来说都是如此。</a:t>
            </a:r>
            <a:endParaRPr lang="zh-CN" altLang="en-US"/>
          </a:p>
          <a:p>
            <a:pPr lvl="2"/>
            <a:r>
              <a:rPr lang="zh-CN" altLang="en-US"/>
              <a:t>功能分类：像人脑（神经网路，深度学习，推理</a:t>
            </a:r>
            <a:r>
              <a:rPr lang="en-US" altLang="zh-CN"/>
              <a:t>/</a:t>
            </a:r>
            <a:r>
              <a:rPr lang="zh-CN" altLang="en-US"/>
              <a:t>训练</a:t>
            </a:r>
            <a:r>
              <a:rPr lang="en-US" altLang="zh-CN"/>
              <a:t>/</a:t>
            </a:r>
            <a:r>
              <a:rPr lang="zh-CN" altLang="en-US"/>
              <a:t>模型），业务关联（各行各业应用领域），基础工具。</a:t>
            </a:r>
            <a:endParaRPr lang="zh-CN" altLang="en-US"/>
          </a:p>
          <a:p>
            <a:pPr lvl="2"/>
            <a:r>
              <a:rPr lang="zh-CN" altLang="en-US"/>
              <a:t>基本原理：可量化（数据和操作都可量化）；基本组件</a:t>
            </a:r>
            <a:r>
              <a:rPr lang="zh-CN" altLang="en-US">
                <a:sym typeface="+mn-ea"/>
              </a:rPr>
              <a:t>（</a:t>
            </a:r>
            <a:r>
              <a:rPr lang="zh-CN" altLang="en-US"/>
              <a:t>计算逻辑，执行流程，输入输出与存储）；叠加累积。</a:t>
            </a:r>
            <a:endParaRPr lang="zh-CN" altLang="en-US"/>
          </a:p>
          <a:p>
            <a:pPr lvl="1"/>
            <a:r>
              <a:rPr lang="zh-CN" altLang="en-US"/>
              <a:t>应用层面：</a:t>
            </a:r>
            <a:endParaRPr lang="zh-CN" altLang="en-US"/>
          </a:p>
          <a:p>
            <a:pPr lvl="2"/>
            <a:r>
              <a:rPr lang="zh-CN" altLang="en-US"/>
              <a:t>分类：行业（</a:t>
            </a:r>
            <a:r>
              <a:rPr lang="zh-CN" altLang="en-US">
                <a:sym typeface="+mn-ea"/>
              </a:rPr>
              <a:t>同各行各业都能有关联</a:t>
            </a:r>
            <a:r>
              <a:rPr lang="zh-CN" altLang="en-US">
                <a:sym typeface="+mn-ea"/>
              </a:rPr>
              <a:t>，</a:t>
            </a:r>
            <a:r>
              <a:rPr lang="zh-CN">
                <a:sym typeface="+mn-ea"/>
              </a:rPr>
              <a:t>相互促进）。</a:t>
            </a:r>
            <a:r>
              <a:rPr lang="zh-CN" altLang="en-US"/>
              <a:t>产品（</a:t>
            </a:r>
            <a:r>
              <a:rPr lang="zh-CN" altLang="en-US">
                <a:sym typeface="+mn-ea"/>
              </a:rPr>
              <a:t>偏应用</a:t>
            </a:r>
            <a:r>
              <a:rPr lang="en-US" altLang="zh-CN">
                <a:sym typeface="+mn-ea"/>
              </a:rPr>
              <a:t>/</a:t>
            </a:r>
            <a:r>
              <a:rPr lang="zh-CN" altLang="en-US">
                <a:sym typeface="+mn-ea"/>
              </a:rPr>
              <a:t>偏系统</a:t>
            </a:r>
            <a:r>
              <a:rPr lang="zh-CN" altLang="en-US"/>
              <a:t>），技术（偏软件</a:t>
            </a:r>
            <a:r>
              <a:rPr lang="en-US" altLang="zh-CN"/>
              <a:t>/</a:t>
            </a:r>
            <a:r>
              <a:rPr lang="zh-CN" altLang="en-US"/>
              <a:t>偏硬件）。</a:t>
            </a:r>
            <a:endParaRPr lang="zh-CN" altLang="en-US"/>
          </a:p>
          <a:p>
            <a:pPr lvl="2"/>
            <a:r>
              <a:rPr lang="zh-CN" altLang="en-US"/>
              <a:t>局限：无法创造新信息；总有问题，离不开人（人工智障）；对人脑理解非常肤浅；没有人的根本属性（善恶担责）</a:t>
            </a:r>
            <a:endParaRPr lang="zh-CN" altLang="en-US"/>
          </a:p>
          <a:p>
            <a:pPr lvl="2"/>
            <a:r>
              <a:rPr lang="zh-CN" altLang="en-US"/>
              <a:t>发展：不断满足人类无休止的不断膨胀的需求；伴随各行业产业，共同发展；科技类产业发展无限（月球</a:t>
            </a:r>
            <a:r>
              <a:rPr lang="en-US" altLang="zh-CN"/>
              <a:t>/</a:t>
            </a:r>
            <a:r>
              <a:rPr lang="zh-CN" altLang="en-US"/>
              <a:t>火星）。</a:t>
            </a:r>
            <a:endParaRPr lang="zh-CN" altLang="en-US"/>
          </a:p>
          <a:p>
            <a:r>
              <a:rPr lang="zh-CN" altLang="en-US"/>
              <a:t>社会视角：</a:t>
            </a:r>
            <a:endParaRPr lang="zh-CN" altLang="en-US"/>
          </a:p>
          <a:p>
            <a:pPr lvl="1"/>
            <a:r>
              <a:rPr lang="zh-CN" altLang="en-US">
                <a:sym typeface="+mn-ea"/>
              </a:rPr>
              <a:t>个人</a:t>
            </a:r>
            <a:r>
              <a:rPr lang="zh-CN" altLang="en-US"/>
              <a:t>就业：程序员（需求设计和调试维护），其他人员（充分使用，管理自己，学习进步）；广义就业</a:t>
            </a:r>
            <a:endParaRPr lang="zh-CN" altLang="en-US"/>
          </a:p>
          <a:p>
            <a:pPr lvl="1"/>
            <a:r>
              <a:rPr lang="zh-CN" altLang="en-US"/>
              <a:t>产业经济：同全行业结合越来越紧密，不断大幅度提升生产效率；明显促进产业生态建设；产业结构调整</a:t>
            </a:r>
            <a:r>
              <a:rPr lang="en-US" altLang="zh-CN"/>
              <a:t>/</a:t>
            </a:r>
            <a:r>
              <a:rPr lang="zh-CN" altLang="en-US"/>
              <a:t>升级。</a:t>
            </a:r>
            <a:endParaRPr lang="zh-CN" altLang="en-US"/>
          </a:p>
          <a:p>
            <a:pPr lvl="1"/>
            <a:r>
              <a:rPr lang="zh-CN" altLang="en-US"/>
              <a:t>治理体系：调节贫富差距（生产力提升的结果），</a:t>
            </a:r>
            <a:r>
              <a:rPr lang="zh-CN" altLang="en-US">
                <a:sym typeface="+mn-ea"/>
              </a:rPr>
              <a:t>法制完善，机会均等</a:t>
            </a:r>
            <a:r>
              <a:rPr lang="zh-CN" altLang="en-US"/>
              <a:t>；加大基础教育，提升全社会学习氛围。</a:t>
            </a:r>
            <a:endParaRPr lang="zh-CN" altLang="en-US"/>
          </a:p>
          <a:p>
            <a:r>
              <a:rPr lang="zh-CN" altLang="en-US"/>
              <a:t>个人视角：</a:t>
            </a:r>
            <a:endParaRPr lang="zh-CN" altLang="en-US"/>
          </a:p>
          <a:p>
            <a:pPr lvl="1"/>
            <a:r>
              <a:rPr lang="zh-CN" altLang="en-US"/>
              <a:t>充分使用：不断在各种恰当的时候选择各种不同的</a:t>
            </a:r>
            <a:r>
              <a:rPr lang="en-US" altLang="zh-CN"/>
              <a:t>AI</a:t>
            </a:r>
            <a:r>
              <a:rPr lang="zh-CN" altLang="en-US"/>
              <a:t>工具，并都给出尽可能精准的需求描述，共同做事。</a:t>
            </a:r>
            <a:endParaRPr lang="zh-CN" altLang="en-US"/>
          </a:p>
          <a:p>
            <a:pPr lvl="1"/>
            <a:r>
              <a:rPr lang="zh-CN" altLang="en-US"/>
              <a:t>管理自己：身体（眼保健操</a:t>
            </a:r>
            <a:r>
              <a:rPr lang="en-US" altLang="zh-CN"/>
              <a:t>/</a:t>
            </a:r>
            <a:r>
              <a:rPr lang="zh-CN" altLang="en-US"/>
              <a:t>体育运动），心里（沉溺</a:t>
            </a:r>
            <a:r>
              <a:rPr lang="en-US" altLang="zh-CN"/>
              <a:t>/</a:t>
            </a:r>
            <a:r>
              <a:rPr lang="zh-CN" altLang="en-US"/>
              <a:t>过度焦虑），人生发展（结婚生子</a:t>
            </a:r>
            <a:r>
              <a:rPr lang="en-US" altLang="zh-CN"/>
              <a:t>/</a:t>
            </a:r>
            <a:r>
              <a:rPr lang="zh-CN" altLang="en-US"/>
              <a:t>机器人女友）。</a:t>
            </a:r>
            <a:endParaRPr lang="zh-CN" altLang="en-US"/>
          </a:p>
          <a:p>
            <a:pPr lvl="1"/>
            <a:r>
              <a:rPr lang="zh-CN" altLang="en-US"/>
              <a:t>学习进步：不断发现新需求，不断提升解决问题的能力（设计和调试维护），不断提升学习理解新信息的能力</a:t>
            </a:r>
            <a:endParaRPr lang="zh-CN" alt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47700" y="169545"/>
            <a:ext cx="10515600" cy="781050"/>
          </a:xfrm>
        </p:spPr>
        <p:txBody>
          <a:bodyPr/>
          <a:p>
            <a:r>
              <a:rPr lang="zh-CN" altLang="en-US"/>
              <a:t>程序员看加班</a:t>
            </a:r>
            <a:endParaRPr lang="zh-CN" altLang="en-US"/>
          </a:p>
        </p:txBody>
      </p:sp>
      <p:sp>
        <p:nvSpPr>
          <p:cNvPr id="3" name="Content Placeholder 2"/>
          <p:cNvSpPr>
            <a:spLocks noGrp="1"/>
          </p:cNvSpPr>
          <p:nvPr>
            <p:ph idx="1"/>
          </p:nvPr>
        </p:nvSpPr>
        <p:spPr>
          <a:xfrm>
            <a:off x="50165" y="1188085"/>
            <a:ext cx="12103100" cy="4963795"/>
          </a:xfrm>
        </p:spPr>
        <p:txBody>
          <a:bodyPr/>
          <a:p>
            <a:r>
              <a:rPr lang="en-US" altLang="zh-CN"/>
              <a:t>1. </a:t>
            </a:r>
            <a:r>
              <a:rPr lang="zh-CN" altLang="en-US"/>
              <a:t>外部环境：</a:t>
            </a:r>
            <a:endParaRPr lang="zh-CN" altLang="en-US"/>
          </a:p>
          <a:p>
            <a:pPr lvl="1"/>
            <a:r>
              <a:rPr lang="zh-CN" altLang="en-US" sz="1800"/>
              <a:t>产业经济：合作与竞争，产业生态与结构（国家战略，成长</a:t>
            </a:r>
            <a:r>
              <a:rPr lang="en-US" altLang="zh-CN" sz="1800"/>
              <a:t>/</a:t>
            </a:r>
            <a:r>
              <a:rPr lang="zh-CN" altLang="en-US" sz="1800"/>
              <a:t>消亡，概念泡沫，资本运作），新技术提升生产力</a:t>
            </a:r>
            <a:endParaRPr lang="zh-CN" altLang="en-US" sz="1800"/>
          </a:p>
          <a:p>
            <a:pPr lvl="1"/>
            <a:r>
              <a:rPr lang="zh-CN" altLang="en-US" sz="1800"/>
              <a:t>组织运作：关键路径，二八理论，加班与失业并存，招人难留人更难</a:t>
            </a:r>
            <a:endParaRPr lang="zh-CN" altLang="en-US" sz="1800"/>
          </a:p>
          <a:p>
            <a:pPr lvl="1"/>
            <a:r>
              <a:rPr lang="zh-CN" altLang="en-US" sz="1800"/>
              <a:t>治理体系：劳动环境，工作时常，教育服务，基础设施建设（地铁，网络等）</a:t>
            </a:r>
            <a:endParaRPr lang="zh-CN" altLang="en-US" sz="1800"/>
          </a:p>
          <a:p>
            <a:pPr lvl="1"/>
            <a:endParaRPr lang="zh-CN" altLang="en-US"/>
          </a:p>
          <a:p>
            <a:r>
              <a:rPr lang="en-US" altLang="zh-CN"/>
              <a:t>2. </a:t>
            </a:r>
            <a:r>
              <a:rPr lang="zh-CN" altLang="en-US"/>
              <a:t>直接分析：</a:t>
            </a:r>
            <a:endParaRPr lang="zh-CN" altLang="en-US"/>
          </a:p>
          <a:p>
            <a:pPr lvl="1"/>
            <a:r>
              <a:rPr lang="zh-CN" altLang="en-US" sz="1800"/>
              <a:t>能力定位：脱产学习，变干边学，舍得平衡；保持定力，不断提升；认清自己的特色偏好，选对行业</a:t>
            </a:r>
            <a:endParaRPr lang="zh-CN" altLang="en-US" sz="1800"/>
          </a:p>
          <a:p>
            <a:pPr lvl="1"/>
            <a:r>
              <a:rPr lang="zh-CN" altLang="en-US" sz="1800"/>
              <a:t>协作分工：软件工程；沟通理解，合作发展，排除成见，放下面子，积极诚实；授权与职责和配合</a:t>
            </a:r>
            <a:endParaRPr lang="zh-CN" altLang="en-US" sz="1800"/>
          </a:p>
          <a:p>
            <a:pPr lvl="1"/>
            <a:r>
              <a:rPr lang="zh-CN" altLang="en-US"/>
              <a:t>自我管理：</a:t>
            </a:r>
            <a:r>
              <a:rPr lang="zh-CN" altLang="en-US">
                <a:sym typeface="+mn-ea"/>
              </a:rPr>
              <a:t>需求管理，预期管理；</a:t>
            </a:r>
            <a:r>
              <a:rPr lang="zh-CN" altLang="en-US"/>
              <a:t>时间管理，任务管理；身心健康管理</a:t>
            </a:r>
            <a:endParaRPr lang="zh-CN" altLang="en-US"/>
          </a:p>
          <a:p>
            <a:pPr lvl="1"/>
            <a:endParaRPr lang="zh-CN" altLang="en-US"/>
          </a:p>
          <a:p>
            <a:r>
              <a:rPr lang="en-US" altLang="zh-CN"/>
              <a:t>3. </a:t>
            </a:r>
            <a:r>
              <a:rPr lang="zh-CN" altLang="en-US"/>
              <a:t>间接分析：</a:t>
            </a:r>
            <a:endParaRPr lang="zh-CN" altLang="en-US"/>
          </a:p>
          <a:p>
            <a:pPr lvl="1"/>
            <a:r>
              <a:rPr lang="zh-CN" altLang="en-US"/>
              <a:t>配合他人：理解与合作的积极态度，尽量降低沟通成本；促进关系，处理机遇与风险，功过处理；去留选择</a:t>
            </a:r>
            <a:endParaRPr lang="zh-CN" altLang="en-US"/>
          </a:p>
          <a:p>
            <a:pPr lvl="1"/>
            <a:r>
              <a:rPr lang="zh-CN" altLang="en-US">
                <a:sym typeface="+mn-ea"/>
              </a:rPr>
              <a:t>交互成本：给予理解；</a:t>
            </a:r>
            <a:r>
              <a:rPr lang="zh-CN" altLang="en-US">
                <a:sym typeface="+mn-ea"/>
              </a:rPr>
              <a:t>充分使用工具；</a:t>
            </a:r>
            <a:r>
              <a:rPr lang="zh-CN" altLang="en-US">
                <a:sym typeface="+mn-ea"/>
              </a:rPr>
              <a:t>提升个人信用；提高寻找合作的效率，需求和能力的表达，对口匹配</a:t>
            </a:r>
            <a:endParaRPr lang="zh-CN" altLang="en-US"/>
          </a:p>
          <a:p>
            <a:pPr lvl="1"/>
            <a:r>
              <a:rPr lang="zh-CN" altLang="en-US">
                <a:sym typeface="+mn-ea"/>
              </a:rPr>
              <a:t>外在表象：</a:t>
            </a:r>
            <a:r>
              <a:rPr lang="zh-CN" altLang="en-US">
                <a:sym typeface="+mn-ea"/>
              </a:rPr>
              <a:t>思考在路上，找到根本原因；</a:t>
            </a:r>
            <a:r>
              <a:rPr lang="zh-CN" altLang="en-US">
                <a:sym typeface="+mn-ea"/>
              </a:rPr>
              <a:t>找到真实的自己，放下心里负担，自知者明；理解学习，积极面对人生</a:t>
            </a:r>
            <a:endParaRPr lang="zh-CN" alt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47700" y="67945"/>
            <a:ext cx="10515600" cy="567690"/>
          </a:xfrm>
        </p:spPr>
        <p:txBody>
          <a:bodyPr/>
          <a:p>
            <a:r>
              <a:rPr lang="zh-CN" altLang="en-US"/>
              <a:t>程序员眼中的学历</a:t>
            </a:r>
            <a:endParaRPr lang="zh-CN" altLang="en-US"/>
          </a:p>
        </p:txBody>
      </p:sp>
      <p:sp>
        <p:nvSpPr>
          <p:cNvPr id="3" name="Content Placeholder 2"/>
          <p:cNvSpPr>
            <a:spLocks noGrp="1"/>
          </p:cNvSpPr>
          <p:nvPr>
            <p:ph idx="1"/>
          </p:nvPr>
        </p:nvSpPr>
        <p:spPr>
          <a:xfrm>
            <a:off x="195580" y="688975"/>
            <a:ext cx="11765915" cy="5969000"/>
          </a:xfrm>
        </p:spPr>
        <p:txBody>
          <a:bodyPr>
            <a:normAutofit lnSpcReduction="10000"/>
          </a:bodyPr>
          <a:p>
            <a:r>
              <a:rPr lang="zh-CN" altLang="en-US"/>
              <a:t>整体介绍</a:t>
            </a:r>
            <a:r>
              <a:rPr lang="en-US" altLang="zh-CN"/>
              <a:t>:</a:t>
            </a:r>
            <a:endParaRPr lang="en-US" altLang="zh-CN"/>
          </a:p>
          <a:p>
            <a:pPr lvl="1"/>
            <a:r>
              <a:rPr lang="zh-CN" altLang="en-US">
                <a:sym typeface="+mn-ea"/>
              </a:rPr>
              <a:t>讨论学历的意义，</a:t>
            </a:r>
            <a:r>
              <a:rPr lang="zh-CN" altLang="en-US"/>
              <a:t>整体结构模板的介绍</a:t>
            </a:r>
            <a:endParaRPr lang="zh-CN" altLang="en-US"/>
          </a:p>
          <a:p>
            <a:pPr lvl="1"/>
            <a:r>
              <a:rPr lang="zh-CN" altLang="en-US"/>
              <a:t>个人当前学历，优劣势和处理方法；当前的工作状态和生活状态；</a:t>
            </a:r>
            <a:endParaRPr lang="zh-CN" altLang="en-US"/>
          </a:p>
          <a:p>
            <a:pPr lvl="1"/>
            <a:r>
              <a:rPr lang="zh-CN" altLang="en-US"/>
              <a:t>录制视频的原因，期待对大家有价值。</a:t>
            </a:r>
            <a:endParaRPr lang="zh-CN" altLang="en-US"/>
          </a:p>
          <a:p>
            <a:r>
              <a:rPr lang="zh-CN" altLang="en-US"/>
              <a:t>个体视角</a:t>
            </a:r>
            <a:endParaRPr lang="zh-CN" altLang="en-US"/>
          </a:p>
          <a:p>
            <a:pPr lvl="1"/>
            <a:r>
              <a:rPr lang="zh-CN" altLang="en-US"/>
              <a:t>实用效果：</a:t>
            </a:r>
            <a:r>
              <a:rPr lang="zh-CN" altLang="en-US">
                <a:sym typeface="+mn-ea"/>
              </a:rPr>
              <a:t>“</a:t>
            </a:r>
            <a:r>
              <a:rPr lang="zh-CN" altLang="en-US"/>
              <a:t>敲门砖”；政府保障（户口，国企评职称）；范围更广（</a:t>
            </a:r>
            <a:r>
              <a:rPr lang="en-US" altLang="zh-CN"/>
              <a:t>IT</a:t>
            </a:r>
            <a:r>
              <a:rPr lang="zh-CN" altLang="en-US"/>
              <a:t>类教师）；如何获取（成人教育）</a:t>
            </a:r>
            <a:endParaRPr lang="zh-CN" altLang="en-US"/>
          </a:p>
          <a:p>
            <a:pPr lvl="1"/>
            <a:r>
              <a:rPr lang="zh-CN" altLang="en-US"/>
              <a:t>心理作用：</a:t>
            </a:r>
            <a:r>
              <a:rPr lang="zh-CN" altLang="en-US">
                <a:sym typeface="+mn-ea"/>
              </a:rPr>
              <a:t>成见的形成，本身的价值；</a:t>
            </a:r>
            <a:r>
              <a:rPr lang="zh-CN" altLang="en-US"/>
              <a:t>哪吒</a:t>
            </a:r>
            <a:r>
              <a:rPr lang="en-US" altLang="zh-CN"/>
              <a:t>/</a:t>
            </a:r>
            <a:r>
              <a:rPr lang="zh-CN" altLang="en-US"/>
              <a:t>申公豹，人生标签；如何解决（做好当下的自己，积极面对人生）</a:t>
            </a:r>
            <a:endParaRPr lang="zh-CN" altLang="en-US"/>
          </a:p>
          <a:p>
            <a:pPr lvl="1"/>
            <a:r>
              <a:rPr lang="zh-CN" altLang="en-US"/>
              <a:t>处理方法：做实事；特色优劣势，推销自己（能力</a:t>
            </a:r>
            <a:r>
              <a:rPr lang="en-US" altLang="zh-CN"/>
              <a:t>+</a:t>
            </a:r>
            <a:r>
              <a:rPr lang="zh-CN" altLang="en-US"/>
              <a:t>信用</a:t>
            </a:r>
            <a:r>
              <a:rPr lang="en-US" altLang="zh-CN"/>
              <a:t>+</a:t>
            </a:r>
            <a:r>
              <a:rPr lang="zh-CN" altLang="en-US"/>
              <a:t>合作态度）；</a:t>
            </a:r>
            <a:r>
              <a:rPr lang="zh-CN" altLang="en-US">
                <a:sym typeface="+mn-ea"/>
              </a:rPr>
              <a:t>管理</a:t>
            </a:r>
            <a:r>
              <a:rPr lang="zh-CN" altLang="en-US"/>
              <a:t>一种</a:t>
            </a:r>
            <a:r>
              <a:rPr lang="zh-CN" altLang="en-US">
                <a:sym typeface="+mn-ea"/>
              </a:rPr>
              <a:t>资源，</a:t>
            </a:r>
            <a:r>
              <a:rPr lang="zh-CN" altLang="en-US"/>
              <a:t>高调做事，低调做人</a:t>
            </a:r>
            <a:endParaRPr lang="zh-CN" altLang="en-US"/>
          </a:p>
          <a:p>
            <a:r>
              <a:rPr lang="zh-CN" altLang="en-US"/>
              <a:t>社会视角</a:t>
            </a:r>
            <a:endParaRPr lang="zh-CN" altLang="en-US"/>
          </a:p>
          <a:p>
            <a:pPr lvl="1"/>
            <a:r>
              <a:rPr lang="zh-CN" altLang="en-US"/>
              <a:t>教育层面：</a:t>
            </a:r>
            <a:r>
              <a:rPr lang="zh-CN" altLang="en-US">
                <a:sym typeface="+mn-ea"/>
              </a:rPr>
              <a:t>容易被误导；</a:t>
            </a:r>
            <a:r>
              <a:rPr lang="zh-CN" altLang="en-US"/>
              <a:t>学历与素质的关系；是一种激励和辅助，本身不是目标；成人教育，终身教育</a:t>
            </a:r>
            <a:endParaRPr lang="zh-CN" altLang="en-US"/>
          </a:p>
          <a:p>
            <a:pPr lvl="1"/>
            <a:r>
              <a:rPr lang="zh-CN" altLang="en-US"/>
              <a:t>管理层面：整体调度和统筹安排的基础；提供更具有公平属性的机会；便于审核管理，但不会由此限制机会</a:t>
            </a:r>
            <a:endParaRPr lang="zh-CN" altLang="en-US"/>
          </a:p>
          <a:p>
            <a:pPr lvl="1"/>
            <a:r>
              <a:rPr lang="zh-CN" altLang="en-US"/>
              <a:t>价值层面：学校的价值意义（</a:t>
            </a:r>
            <a:r>
              <a:rPr lang="en-US" altLang="zh-CN"/>
              <a:t>985/211</a:t>
            </a:r>
            <a:r>
              <a:rPr lang="zh-CN" altLang="en-US"/>
              <a:t>统招本科）；竞争与合作；脱产学习与边干边学；活到老学到老</a:t>
            </a:r>
            <a:endParaRPr lang="zh-CN" altLang="en-US"/>
          </a:p>
          <a:p>
            <a:r>
              <a:rPr lang="zh-CN" altLang="en-US"/>
              <a:t>后继发展</a:t>
            </a:r>
            <a:endParaRPr lang="zh-CN" altLang="en-US"/>
          </a:p>
          <a:p>
            <a:pPr lvl="1"/>
            <a:r>
              <a:rPr lang="zh-CN" altLang="en-US"/>
              <a:t>个体成长：历史</a:t>
            </a:r>
            <a:r>
              <a:rPr lang="en-US" altLang="zh-CN"/>
              <a:t>/</a:t>
            </a:r>
            <a:r>
              <a:rPr lang="zh-CN" altLang="en-US"/>
              <a:t>现在</a:t>
            </a:r>
            <a:r>
              <a:rPr lang="en-US" altLang="zh-CN"/>
              <a:t>/</a:t>
            </a:r>
            <a:r>
              <a:rPr lang="zh-CN" altLang="en-US"/>
              <a:t>未来；做总结；不被误导，努力当下，从现在做起永远不晚；独一无二，产出价值；</a:t>
            </a:r>
            <a:endParaRPr lang="zh-CN" altLang="en-US"/>
          </a:p>
          <a:p>
            <a:pPr lvl="1"/>
            <a:r>
              <a:rPr lang="zh-CN" altLang="en-US"/>
              <a:t>整体改进：整体评价；素质教育，教育体制改革；宣传普及科教；服务全体社会，治大国如烹小鲜。</a:t>
            </a:r>
            <a:endParaRPr lang="zh-CN" altLang="en-US"/>
          </a:p>
          <a:p>
            <a:pPr lvl="1"/>
            <a:r>
              <a:rPr lang="zh-CN" altLang="en-US"/>
              <a:t>学历需求：每个人的不同阶段，不同环境有不同的需求；我们自身；下一代；</a:t>
            </a:r>
            <a:endParaRPr lang="en-US" altLang="zh-CN"/>
          </a:p>
          <a:p>
            <a:pPr lvl="1"/>
            <a:endParaRPr lang="en-US" altLang="zh-CN"/>
          </a:p>
        </p:txBody>
      </p:sp>
      <p:graphicFrame>
        <p:nvGraphicFramePr>
          <p:cNvPr id="6" name="Object 5">
            <a:hlinkClick r:id="" action="ppaction://ole?verb="/>
          </p:cNvPr>
          <p:cNvGraphicFramePr>
            <a:graphicFrameLocks noChangeAspect="1"/>
          </p:cNvGraphicFramePr>
          <p:nvPr/>
        </p:nvGraphicFramePr>
        <p:xfrm>
          <a:off x="5054600" y="5654675"/>
          <a:ext cx="1143000" cy="1143000"/>
        </p:xfrm>
        <a:graphic>
          <a:graphicData uri="http://schemas.openxmlformats.org/presentationml/2006/ole">
            <mc:AlternateContent xmlns:mc="http://schemas.openxmlformats.org/markup-compatibility/2006">
              <mc:Choice xmlns:v="urn:schemas-microsoft-com:vml" Requires="v">
                <p:oleObj spid="_x0000_s1027" name="" showAsIcon="1" r:id="rId1" imgW="1143000" imgH="1143000" progId="Package">
                  <p:embed/>
                </p:oleObj>
              </mc:Choice>
              <mc:Fallback>
                <p:oleObj name="" showAsIcon="1" r:id="rId1" imgW="1143000" imgH="1143000" progId="Package">
                  <p:embed/>
                  <p:pic>
                    <p:nvPicPr>
                      <p:cNvPr id="0" name="Picture 1026"/>
                      <p:cNvPicPr/>
                      <p:nvPr/>
                    </p:nvPicPr>
                    <p:blipFill>
                      <a:blip r:embed="rId2"/>
                      <a:stretch>
                        <a:fillRect/>
                      </a:stretch>
                    </p:blipFill>
                    <p:spPr>
                      <a:xfrm>
                        <a:off x="5054600" y="5654675"/>
                        <a:ext cx="1143000" cy="1143000"/>
                      </a:xfrm>
                      <a:prstGeom prst="rect">
                        <a:avLst/>
                      </a:prstGeom>
                    </p:spPr>
                  </p:pic>
                </p:oleObj>
              </mc:Fallback>
            </mc:AlternateContent>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61035" y="38100"/>
            <a:ext cx="10515600" cy="389255"/>
          </a:xfrm>
        </p:spPr>
        <p:txBody>
          <a:bodyPr>
            <a:normAutofit fontScale="90000"/>
          </a:bodyPr>
          <a:p>
            <a:r>
              <a:rPr lang="zh-CN" altLang="en-US"/>
              <a:t>程序员看学习教育</a:t>
            </a:r>
            <a:endParaRPr lang="zh-CN" altLang="en-US"/>
          </a:p>
        </p:txBody>
      </p:sp>
      <p:sp>
        <p:nvSpPr>
          <p:cNvPr id="3" name="Content Placeholder 2"/>
          <p:cNvSpPr>
            <a:spLocks noGrp="1"/>
          </p:cNvSpPr>
          <p:nvPr>
            <p:ph idx="1"/>
          </p:nvPr>
        </p:nvSpPr>
        <p:spPr>
          <a:xfrm>
            <a:off x="237490" y="369570"/>
            <a:ext cx="11760200" cy="6487795"/>
          </a:xfrm>
        </p:spPr>
        <p:txBody>
          <a:bodyPr/>
          <a:p>
            <a:r>
              <a:rPr lang="zh-CN" altLang="en-US"/>
              <a:t>需求视角</a:t>
            </a:r>
            <a:endParaRPr lang="zh-CN" altLang="en-US"/>
          </a:p>
          <a:p>
            <a:pPr lvl="1"/>
            <a:r>
              <a:rPr lang="zh-CN" altLang="en-US" sz="1800"/>
              <a:t>脱产阶段：思考：计算机原理，熟悉C语言，了解一种高级语言，熟悉一种开发环境；实践：阅读速度和质量，动手能力（环境搭建，动手效率），勤劳；管理：培养自学能力和兴趣，生活习惯（例如不打游戏，正常做休等）</a:t>
            </a:r>
            <a:endParaRPr lang="zh-CN" altLang="en-US" sz="1800"/>
          </a:p>
          <a:p>
            <a:pPr lvl="1"/>
            <a:r>
              <a:rPr lang="zh-CN" altLang="en-US" sz="1800"/>
              <a:t>工作阶段：成长路线：沟通能力，学习能力；软件工程，协作分工；逆向分析，解决问题的能力</a:t>
            </a:r>
            <a:endParaRPr lang="zh-CN" altLang="en-US" sz="1800"/>
          </a:p>
          <a:p>
            <a:pPr lvl="1"/>
            <a:r>
              <a:rPr lang="zh-CN" altLang="en-US" sz="1800"/>
              <a:t>终身学习：思考：多学科了解（管理，经济，政治，文化，历史，地理，数理），融会贯通，正确的人生观价值观；实践：家庭处理，子女培养，找到自己的发展方向；人生：知道自己的使命，最终交上满意的人生答卷</a:t>
            </a:r>
            <a:endParaRPr lang="zh-CN" altLang="en-US" sz="1800"/>
          </a:p>
          <a:p>
            <a:r>
              <a:rPr lang="zh-CN" altLang="en-US"/>
              <a:t>教育视角</a:t>
            </a:r>
            <a:endParaRPr lang="zh-CN" altLang="en-US"/>
          </a:p>
          <a:p>
            <a:pPr lvl="1"/>
            <a:r>
              <a:rPr lang="zh-CN" altLang="en-US" sz="1800"/>
              <a:t>内容层面：基础：语外数计，理化生，史地政，体音术，经济管理；专业：医农，会律金，机械建筑，天文环境地质，军事。。。；终身：哲学宗教文化，通用科普</a:t>
            </a:r>
            <a:endParaRPr lang="zh-CN" altLang="en-US" sz="1800"/>
          </a:p>
          <a:p>
            <a:pPr lvl="1"/>
            <a:r>
              <a:rPr lang="zh-CN" altLang="en-US" sz="1800"/>
              <a:t>管理层面：基础：学科规划，学校管理，教师管理，考试与学历；专业：贴近生产，计划（专科院校，大学研究院所），市场（公司企业市场化，产业生态）；终身：科普宣传，资源共享，成人教育</a:t>
            </a:r>
            <a:endParaRPr lang="zh-CN" altLang="en-US" sz="1800"/>
          </a:p>
          <a:p>
            <a:pPr lvl="1"/>
            <a:r>
              <a:rPr lang="zh-CN" altLang="en-US" sz="1800"/>
              <a:t>发展改进：内容（基础教育更注重信息化，电脑越来越重要；管理学，政治经济学要普及）；管理（处理学历的局限性，学习能力，解决问题的能力）</a:t>
            </a:r>
            <a:endParaRPr lang="zh-CN" altLang="en-US" sz="1800"/>
          </a:p>
          <a:p>
            <a:r>
              <a:rPr lang="zh-CN" altLang="en-US"/>
              <a:t>处理方法</a:t>
            </a:r>
            <a:endParaRPr lang="zh-CN" altLang="en-US"/>
          </a:p>
          <a:p>
            <a:pPr lvl="1"/>
            <a:r>
              <a:rPr lang="zh-CN" altLang="en-US"/>
              <a:t>做好己代：逐步深入： 阶段（脱产、工作、终身），环境资源，个人偏好； 三人行必有我师，自觉和不自觉地受到影响； 警醒辨别，摆正心态，知行合一，喜悲穷达</a:t>
            </a:r>
            <a:endParaRPr lang="zh-CN" altLang="en-US"/>
          </a:p>
          <a:p>
            <a:pPr lvl="1"/>
            <a:r>
              <a:rPr lang="zh-CN" altLang="en-US"/>
              <a:t>关注下代：时间线：基础教育的原因是，表面是让孩子学习，实际是我们学习；以身作则，学习管理；换位思考（下代，上代），总结历史，改进的机会，并被审核（子女越多，改进的机会越多）</a:t>
            </a:r>
            <a:endParaRPr lang="zh-CN" altLang="en-US"/>
          </a:p>
          <a:p>
            <a:pPr lvl="1"/>
            <a:r>
              <a:rPr lang="zh-CN" altLang="en-US"/>
              <a:t>总结展望：基于个人视角：重视当下（专业知识，数学，语文，英语，物理，软件工程）；人生就是学习与考试的结合，最后交卷离开考场； 尊老爱幼，超出个人人生的历史与未来（史地政）</a:t>
            </a:r>
            <a:endParaRPr lang="zh-CN" alt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61035" y="38100"/>
            <a:ext cx="10515600" cy="389255"/>
          </a:xfrm>
        </p:spPr>
        <p:txBody>
          <a:bodyPr>
            <a:normAutofit fontScale="90000"/>
          </a:bodyPr>
          <a:p>
            <a:r>
              <a:rPr lang="zh-CN" altLang="en-US"/>
              <a:t>程序员看招聘创业</a:t>
            </a:r>
            <a:endParaRPr lang="zh-CN" altLang="en-US"/>
          </a:p>
        </p:txBody>
      </p:sp>
      <p:sp>
        <p:nvSpPr>
          <p:cNvPr id="3" name="Content Placeholder 2"/>
          <p:cNvSpPr>
            <a:spLocks noGrp="1"/>
          </p:cNvSpPr>
          <p:nvPr>
            <p:ph idx="1"/>
          </p:nvPr>
        </p:nvSpPr>
        <p:spPr>
          <a:xfrm>
            <a:off x="237490" y="369570"/>
            <a:ext cx="11760200" cy="6487795"/>
          </a:xfrm>
        </p:spPr>
        <p:txBody>
          <a:bodyPr>
            <a:normAutofit fontScale="70000"/>
          </a:bodyPr>
          <a:p>
            <a:r>
              <a:rPr lang="zh-CN" altLang="en-US"/>
              <a:t>个人视角</a:t>
            </a:r>
            <a:endParaRPr lang="zh-CN" altLang="en-US"/>
          </a:p>
          <a:p>
            <a:pPr lvl="1"/>
            <a:r>
              <a:rPr lang="zh-CN" altLang="en-US" sz="1800"/>
              <a:t>看招聘：</a:t>
            </a:r>
            <a:endParaRPr lang="zh-CN" altLang="en-US" sz="1800"/>
          </a:p>
          <a:p>
            <a:pPr lvl="2"/>
            <a:r>
              <a:rPr lang="zh-CN" altLang="en-US" sz="1600"/>
              <a:t>需求：IT的招聘渠道较多，全职为主，兼职也有；IT几乎涉及全行业，涉及不同层次价位，需要各种不同类型的人员，尽量找对口的需求</a:t>
            </a:r>
            <a:endParaRPr lang="zh-CN" altLang="en-US" sz="1600"/>
          </a:p>
          <a:p>
            <a:pPr lvl="2"/>
            <a:r>
              <a:rPr lang="zh-CN" altLang="en-US" sz="1600"/>
              <a:t>沟通：招聘求职，简历注意事项，注重结果（由此体现能力），注重信用，注重积极的态度。技术方面+价格方面+工作时间和地点安排</a:t>
            </a:r>
            <a:endParaRPr lang="zh-CN" altLang="en-US" sz="1600"/>
          </a:p>
          <a:p>
            <a:pPr lvl="2"/>
            <a:r>
              <a:rPr lang="zh-CN" altLang="en-US" sz="1600"/>
              <a:t>处理：换公司，换项目等有始有终，需要平衡更换风险和个人信用，做好交接。骑驴找马是一方面，但如何好聚好散，确保个人信用，使得整体副作用最低，才是最重要的</a:t>
            </a:r>
            <a:endParaRPr lang="zh-CN" altLang="en-US" sz="1600"/>
          </a:p>
          <a:p>
            <a:pPr lvl="1"/>
            <a:r>
              <a:rPr lang="zh-CN" altLang="en-US" sz="1800"/>
              <a:t>看创业：</a:t>
            </a:r>
            <a:endParaRPr lang="zh-CN" altLang="en-US" sz="1800"/>
          </a:p>
          <a:p>
            <a:pPr lvl="2"/>
            <a:r>
              <a:rPr lang="zh-CN" altLang="en-US">
                <a:sym typeface="+mn-ea"/>
              </a:rPr>
              <a:t>创业只是从事社会生产，产出社会价值的方式之一，不是目标</a:t>
            </a:r>
            <a:endParaRPr lang="zh-CN" altLang="en-US">
              <a:sym typeface="+mn-ea"/>
            </a:endParaRPr>
          </a:p>
          <a:p>
            <a:pPr lvl="2"/>
            <a:r>
              <a:rPr lang="zh-CN" altLang="en-US" sz="1600"/>
              <a:t>对于后期（研发），积累技术能力，一般是换公司，较少自己做企业； 对于前期（销售和市场，或者产品），会逐步了解业务，积累资源，换位思考，经常自己做企业</a:t>
            </a:r>
            <a:endParaRPr lang="zh-CN" altLang="en-US" sz="1600"/>
          </a:p>
          <a:p>
            <a:pPr lvl="2"/>
            <a:r>
              <a:rPr lang="zh-CN" altLang="en-US" sz="1600"/>
              <a:t>类型：兼职也为创业的一种，互联网发展（直播，网上开店）；在特定细分领域有自己的独到之处，有一定的资源（关系、特有的核心业务能力等）；有想法，跟着风投配合，需要自己有适合的条件。</a:t>
            </a:r>
            <a:endParaRPr lang="zh-CN" altLang="en-US" sz="1600"/>
          </a:p>
          <a:p>
            <a:pPr lvl="1"/>
            <a:r>
              <a:rPr lang="zh-CN" altLang="en-US"/>
              <a:t>看发展：安居乐业。</a:t>
            </a:r>
            <a:endParaRPr lang="zh-CN" altLang="en-US"/>
          </a:p>
          <a:p>
            <a:pPr lvl="2"/>
            <a:r>
              <a:rPr lang="zh-CN" altLang="en-US">
                <a:sym typeface="+mn-ea"/>
              </a:rPr>
              <a:t>方向：符合道德规范，整体有益处，副作用可以有但要可控（根据自己的资源和环境来行使自己的职责和权利）</a:t>
            </a:r>
            <a:endParaRPr lang="zh-CN" altLang="en-US">
              <a:sym typeface="+mn-ea"/>
            </a:endParaRPr>
          </a:p>
          <a:p>
            <a:pPr lvl="2"/>
            <a:r>
              <a:rPr lang="zh-CN" altLang="en-US"/>
              <a:t>目标：每个人都是独一无二的，不要在意攀比，比对只是为了参考，而不是目标。个人核心是过好自己，完成自己的使命</a:t>
            </a:r>
            <a:endParaRPr lang="zh-CN" altLang="en-US"/>
          </a:p>
          <a:p>
            <a:pPr lvl="2"/>
            <a:r>
              <a:rPr lang="zh-CN" altLang="en-US"/>
              <a:t>处理：一生的果效，由心发出</a:t>
            </a:r>
            <a:endParaRPr lang="zh-CN" altLang="en-US"/>
          </a:p>
          <a:p>
            <a:pPr lvl="3"/>
            <a:r>
              <a:rPr lang="zh-CN" altLang="en-US"/>
              <a:t>需要关注脚下，同时要面向远方。 做好当下。有发展的想法，在任何时候都与做好当下不冲突。 平衡好短期与中长期的关系，要自己把握管理好</a:t>
            </a:r>
            <a:endParaRPr lang="zh-CN" altLang="en-US"/>
          </a:p>
          <a:p>
            <a:pPr lvl="3"/>
            <a:r>
              <a:rPr lang="zh-CN" altLang="en-US"/>
              <a:t>机会运气，职责使命。命运。危机（机会背后是风险，风险背后是机会。祸兮福所倚，福兮祸所伏，塞翁失马焉知非福）</a:t>
            </a:r>
            <a:endParaRPr lang="zh-CN" altLang="en-US"/>
          </a:p>
          <a:p>
            <a:pPr lvl="3"/>
            <a:r>
              <a:rPr lang="zh-CN" altLang="en-US"/>
              <a:t>人生路长，会经历各种各样的环境，来让人不断成长。有长远规划是起作用的，但脚下的路需要认真踏实前行，期间各种变数，各种环境变迁都需要适应处理，过好每个阶段，由此统计上就自然而然地随机性地向着我们自己的规划理想前进。 因果关系，统计。物理学（客观规律），社会经济（人的参与）都由这两方面构成</a:t>
            </a:r>
            <a:endParaRPr lang="zh-CN" altLang="en-US"/>
          </a:p>
          <a:p>
            <a:r>
              <a:rPr lang="zh-CN" altLang="en-US"/>
              <a:t>企业视角</a:t>
            </a:r>
            <a:endParaRPr lang="zh-CN" altLang="en-US"/>
          </a:p>
          <a:p>
            <a:pPr lvl="1"/>
            <a:r>
              <a:rPr lang="zh-CN" altLang="en-US" sz="1800"/>
              <a:t>看待招聘：轻易不招人，尤其是IT行业，除非不得不招人，先兼职或者找公司合作，或者外包，最后才全职；对于招聘到的人员，企业都期望能够中长期合作</a:t>
            </a:r>
            <a:endParaRPr lang="zh-CN" altLang="en-US" sz="1800"/>
          </a:p>
          <a:p>
            <a:pPr lvl="1"/>
            <a:r>
              <a:rPr lang="zh-CN" altLang="en-US" sz="1800"/>
              <a:t>看待创业：永远都在创业路上，资源不停地消耗，经常无路可走，需要自己不断拓展；处理好企业间合作和竞争；处理好与社会的关系</a:t>
            </a:r>
            <a:endParaRPr lang="zh-CN" altLang="en-US" sz="1800"/>
          </a:p>
          <a:p>
            <a:pPr lvl="1"/>
            <a:r>
              <a:rPr lang="zh-CN" altLang="en-US"/>
              <a:t>企业发展：个人阶段（个人能力起到决定性作用），团队阶段（团队人员起到决定性作用），社会阶段（社会起到决定性作用）；安居乐业。</a:t>
            </a:r>
            <a:endParaRPr lang="zh-CN" altLang="en-US"/>
          </a:p>
          <a:p>
            <a:r>
              <a:rPr lang="zh-CN" altLang="en-US"/>
              <a:t>社会视角</a:t>
            </a:r>
            <a:endParaRPr lang="zh-CN" altLang="en-US"/>
          </a:p>
          <a:p>
            <a:pPr lvl="1"/>
            <a:r>
              <a:rPr lang="zh-CN" altLang="en-US"/>
              <a:t>看待招聘：人力资源的高效率分配，同时带有政策倾向处理，不同地域特色不同</a:t>
            </a:r>
            <a:endParaRPr lang="zh-CN" altLang="en-US"/>
          </a:p>
          <a:p>
            <a:pPr lvl="1"/>
            <a:r>
              <a:rPr lang="zh-CN" altLang="en-US"/>
              <a:t>看待创业：小微企业是经济活力的源泉，鼓励扶植，政策引导</a:t>
            </a:r>
            <a:endParaRPr lang="zh-CN" altLang="en-US"/>
          </a:p>
          <a:p>
            <a:pPr lvl="1"/>
            <a:r>
              <a:rPr lang="zh-CN" altLang="en-US"/>
              <a:t>社会发展：安居乐业。处理竞争与合作，以及垄断；巨/大/中/小/微企业类型的均衡发展。更高效地让社会整体产出价值，并尽可能降低副作用</a:t>
            </a:r>
            <a:endParaRPr lang="zh-CN" alt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61035" y="38100"/>
            <a:ext cx="10515600" cy="389255"/>
          </a:xfrm>
        </p:spPr>
        <p:txBody>
          <a:bodyPr>
            <a:normAutofit fontScale="90000"/>
          </a:bodyPr>
          <a:p>
            <a:r>
              <a:rPr lang="zh-CN" altLang="en-US"/>
              <a:t>程序员看行业产业</a:t>
            </a:r>
            <a:endParaRPr lang="en-US" altLang="zh-CN"/>
          </a:p>
        </p:txBody>
      </p:sp>
      <p:sp>
        <p:nvSpPr>
          <p:cNvPr id="3" name="Content Placeholder 2"/>
          <p:cNvSpPr>
            <a:spLocks noGrp="1"/>
          </p:cNvSpPr>
          <p:nvPr>
            <p:ph idx="1"/>
          </p:nvPr>
        </p:nvSpPr>
        <p:spPr>
          <a:xfrm>
            <a:off x="237490" y="369570"/>
            <a:ext cx="11760200" cy="6487795"/>
          </a:xfrm>
        </p:spPr>
        <p:txBody>
          <a:bodyPr>
            <a:normAutofit fontScale="90000" lnSpcReduction="10000"/>
          </a:bodyPr>
          <a:p>
            <a:r>
              <a:rPr lang="zh-CN" altLang="en-US"/>
              <a:t>微观视角</a:t>
            </a:r>
            <a:endParaRPr lang="zh-CN" altLang="en-US"/>
          </a:p>
          <a:p>
            <a:pPr lvl="1"/>
            <a:r>
              <a:rPr lang="zh-CN" altLang="en-US" sz="1800"/>
              <a:t>行业分类：</a:t>
            </a:r>
            <a:endParaRPr lang="zh-CN" altLang="en-US" sz="1800"/>
          </a:p>
          <a:p>
            <a:pPr lvl="2"/>
            <a:r>
              <a:rPr lang="zh-CN" altLang="en-US" sz="1600"/>
              <a:t>纵向：功能视角(应用与系统)； 使用视角(前端，后台，嵌入式)</a:t>
            </a:r>
            <a:endParaRPr lang="zh-CN" altLang="en-US" sz="1600"/>
          </a:p>
          <a:p>
            <a:pPr lvl="2"/>
            <a:r>
              <a:rPr lang="zh-CN" altLang="en-US" sz="1600"/>
              <a:t>横向：医药，汽车/飞机/船舶，科学计算，电子消费，电力基建，军用，各类售票，办公流程（政务类），推广营销，生产加工零售（零部件，产品检测，超市进货零售），支付银行类，基础辅助工具</a:t>
            </a:r>
            <a:endParaRPr lang="zh-CN" altLang="en-US" sz="1600"/>
          </a:p>
          <a:p>
            <a:pPr lvl="2"/>
            <a:r>
              <a:rPr lang="zh-CN" altLang="en-US" sz="1600"/>
              <a:t>技术：图形图像，音视频， 网络处理，通用IO处理，存储处理， 计算能力， 业务逻辑，语言处理（通用的），虚拟化（通用的）。迭代，数量扩展，分工</a:t>
            </a:r>
            <a:endParaRPr lang="zh-CN" altLang="en-US" sz="1600"/>
          </a:p>
          <a:p>
            <a:pPr lvl="2"/>
            <a:r>
              <a:rPr lang="zh-CN" altLang="en-US" sz="1600"/>
              <a:t>营销：AI，大模型，机器人，无人驾驶（自动驾驶），国产化，云（计算/存储/虚拟化），大数据（数据挖掘/分析）</a:t>
            </a:r>
            <a:endParaRPr lang="zh-CN" altLang="en-US" sz="1600"/>
          </a:p>
          <a:p>
            <a:pPr lvl="1"/>
            <a:r>
              <a:rPr lang="zh-CN" altLang="en-US" sz="1800"/>
              <a:t>人员角色：</a:t>
            </a:r>
            <a:endParaRPr lang="zh-CN" altLang="en-US" sz="1800"/>
          </a:p>
          <a:p>
            <a:pPr lvl="2"/>
            <a:r>
              <a:rPr lang="zh-CN" altLang="en-US" sz="1600"/>
              <a:t>按功能分（销售、市场、售后、技术支持、产品经理、项目经理、测试、研发、投资）</a:t>
            </a:r>
            <a:endParaRPr lang="zh-CN" altLang="en-US" sz="1600"/>
          </a:p>
          <a:p>
            <a:pPr lvl="2"/>
            <a:r>
              <a:rPr lang="zh-CN" altLang="en-US" sz="1600"/>
              <a:t>按深度分（使用、测试、发行、专业相关、通用性）</a:t>
            </a:r>
            <a:endParaRPr lang="zh-CN" altLang="en-US" sz="1600"/>
          </a:p>
          <a:p>
            <a:pPr lvl="1"/>
            <a:r>
              <a:rPr lang="zh-CN" altLang="en-US" sz="1800"/>
              <a:t>个人发展：</a:t>
            </a:r>
            <a:endParaRPr lang="zh-CN" altLang="en-US" sz="1800"/>
          </a:p>
          <a:p>
            <a:pPr lvl="2"/>
            <a:r>
              <a:rPr lang="zh-CN" altLang="en-US" sz="1600"/>
              <a:t>关系：个人信用，灵活性，规模化，个性化；</a:t>
            </a:r>
            <a:endParaRPr lang="zh-CN" altLang="en-US" sz="1600"/>
          </a:p>
          <a:p>
            <a:pPr lvl="2"/>
            <a:r>
              <a:rPr lang="zh-CN" altLang="en-US" sz="1600"/>
              <a:t>能力：学习常态化，解决问题的能力越来越重要（也越来越有规律可循）；</a:t>
            </a:r>
            <a:endParaRPr lang="zh-CN" altLang="en-US" sz="1600"/>
          </a:p>
          <a:p>
            <a:pPr lvl="2"/>
            <a:r>
              <a:rPr lang="zh-CN" altLang="en-US" sz="1600"/>
              <a:t>理想：物质生活有一定基础后，个人追求理想的处理</a:t>
            </a:r>
            <a:endParaRPr lang="zh-CN" altLang="en-US" sz="1600"/>
          </a:p>
          <a:p>
            <a:r>
              <a:rPr lang="zh-CN" altLang="en-US"/>
              <a:t>宏观视角</a:t>
            </a:r>
            <a:endParaRPr lang="zh-CN" altLang="en-US"/>
          </a:p>
          <a:p>
            <a:pPr lvl="1"/>
            <a:r>
              <a:rPr lang="zh-CN" altLang="en-US" sz="1800"/>
              <a:t>行业：提升生产力，关注价值产出，调整管理行业，不同区域间的协作，平衡和发展</a:t>
            </a:r>
            <a:endParaRPr lang="zh-CN" altLang="en-US" sz="1800"/>
          </a:p>
          <a:p>
            <a:pPr lvl="1"/>
            <a:r>
              <a:rPr lang="zh-CN" altLang="en-US"/>
              <a:t>产业：定位（属于第三产业，服务促进各个产业，平衡发展，注意泡沫)，宏观管理（国家战略国产化，产业升级，产业结构调整，国家投资)。自身运行（产业链，生态环境)</a:t>
            </a:r>
            <a:endParaRPr lang="zh-CN" altLang="en-US"/>
          </a:p>
          <a:p>
            <a:pPr lvl="1"/>
            <a:r>
              <a:rPr lang="zh-CN" altLang="en-US"/>
              <a:t>发展：行业环境和产业环境，不同地域不同特色，跨地域处理，去中心化。如何结合自身进行选择。跟上整体形势。学习进步常态化。产业大方向和发展趋势会不断影响各个行业</a:t>
            </a:r>
            <a:endParaRPr lang="zh-CN" altLang="en-US"/>
          </a:p>
          <a:p>
            <a:r>
              <a:rPr lang="zh-CN" altLang="en-US"/>
              <a:t>社会治理</a:t>
            </a:r>
            <a:endParaRPr lang="zh-CN" altLang="en-US"/>
          </a:p>
          <a:p>
            <a:pPr lvl="1"/>
            <a:r>
              <a:rPr lang="zh-CN" altLang="en-US"/>
              <a:t>内部：平衡贫富差距（失业再就业），关注生产力和社会价值；大部分都有社会价值并提升生产力，但少部分需要注意对于游戏，区块链，作业帮，作业带做等，需要注意</a:t>
            </a:r>
            <a:endParaRPr lang="zh-CN" altLang="en-US"/>
          </a:p>
          <a:p>
            <a:pPr lvl="1"/>
            <a:r>
              <a:rPr lang="zh-CN" altLang="en-US"/>
              <a:t>外部：竞争方面，关注卡脖子关键技术；合作方面：全球命运共同体(例如网络安全，网络隔离，产品隔离，发展平衡）</a:t>
            </a:r>
            <a:endParaRPr lang="zh-CN" altLang="en-US"/>
          </a:p>
          <a:p>
            <a:pPr lvl="1"/>
            <a:r>
              <a:rPr lang="zh-CN" altLang="en-US"/>
              <a:t>未来：教育（智能化与人的能力的相互结合配合），外太空，新能源, 无人机与个人飞机普及</a:t>
            </a:r>
            <a:endParaRPr lang="zh-CN" alt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61035" y="102870"/>
            <a:ext cx="10515600" cy="389255"/>
          </a:xfrm>
        </p:spPr>
        <p:txBody>
          <a:bodyPr>
            <a:normAutofit fontScale="90000"/>
          </a:bodyPr>
          <a:p>
            <a:r>
              <a:rPr lang="zh-CN" altLang="en-US"/>
              <a:t>程序员看社会治理</a:t>
            </a:r>
            <a:endParaRPr lang="en-US" altLang="zh-CN"/>
          </a:p>
        </p:txBody>
      </p:sp>
      <p:sp>
        <p:nvSpPr>
          <p:cNvPr id="3" name="Content Placeholder 2"/>
          <p:cNvSpPr>
            <a:spLocks noGrp="1"/>
          </p:cNvSpPr>
          <p:nvPr>
            <p:ph idx="1"/>
          </p:nvPr>
        </p:nvSpPr>
        <p:spPr>
          <a:xfrm>
            <a:off x="237490" y="607060"/>
            <a:ext cx="11760200" cy="6078220"/>
          </a:xfrm>
        </p:spPr>
        <p:txBody>
          <a:bodyPr>
            <a:normAutofit fontScale="90000" lnSpcReduction="20000"/>
          </a:bodyPr>
          <a:p>
            <a:r>
              <a:rPr lang="zh-CN" altLang="en-US"/>
              <a:t>个人视角</a:t>
            </a:r>
            <a:endParaRPr lang="zh-CN" altLang="en-US"/>
          </a:p>
          <a:p>
            <a:pPr lvl="1"/>
            <a:r>
              <a:rPr lang="zh-CN" altLang="en-US" sz="1800"/>
              <a:t>看企业</a:t>
            </a:r>
            <a:endParaRPr lang="zh-CN" altLang="en-US" sz="1800"/>
          </a:p>
          <a:p>
            <a:pPr lvl="2"/>
            <a:r>
              <a:rPr lang="zh-CN" altLang="en-US" sz="1600"/>
              <a:t>招聘就业：对于IT，注意信用，注意能力培养，表达能力。选对适合自己的行业，需要摸索实践</a:t>
            </a:r>
            <a:endParaRPr lang="zh-CN" altLang="en-US" sz="1600"/>
          </a:p>
          <a:p>
            <a:pPr lvl="2"/>
            <a:r>
              <a:rPr lang="zh-CN" altLang="en-US" sz="1600"/>
              <a:t>合作共赢：对待企业和其他人员，有正确的态度，处理好合作与竞争，管理好自己的情绪</a:t>
            </a:r>
            <a:endParaRPr lang="zh-CN" altLang="en-US" sz="1600"/>
          </a:p>
          <a:p>
            <a:pPr lvl="2"/>
            <a:r>
              <a:rPr lang="zh-CN" altLang="en-US" sz="1600"/>
              <a:t>个人发展：社会职位/企业/个人相互配合，各自尊重各自的角色，法律法规是防御性的，必要的，但也永远是发展最主要的障碍。树大招风，大树下面好乘凉，树倒猢狲散</a:t>
            </a:r>
            <a:endParaRPr lang="zh-CN" altLang="en-US" sz="1600"/>
          </a:p>
          <a:p>
            <a:pPr lvl="1"/>
            <a:r>
              <a:rPr lang="zh-CN" altLang="en-US" sz="1800"/>
              <a:t>看社会</a:t>
            </a:r>
            <a:endParaRPr lang="zh-CN" altLang="en-US" sz="1800"/>
          </a:p>
          <a:p>
            <a:pPr lvl="2"/>
            <a:r>
              <a:rPr lang="zh-CN" altLang="en-US" sz="1600"/>
              <a:t>基础小康：摆正自己的心态，目前已经有了生活基础</a:t>
            </a:r>
            <a:endParaRPr lang="zh-CN" altLang="en-US" sz="1600"/>
          </a:p>
          <a:p>
            <a:pPr lvl="2"/>
            <a:r>
              <a:rPr lang="zh-CN" altLang="en-US" sz="1600"/>
              <a:t>发展支撑：正确看清自己的现有资源：时间、教育、基本信息、公共基础设施，其他特有资源</a:t>
            </a:r>
            <a:endParaRPr lang="zh-CN" altLang="en-US" sz="1600"/>
          </a:p>
          <a:p>
            <a:pPr lvl="2"/>
            <a:r>
              <a:rPr lang="zh-CN" altLang="en-US" sz="1600"/>
              <a:t>个人发展：尽可能充分高效率地使用自己的资源，来可持续性地产出实际的有效社会价值，并把对外的副作用降到最低。资金和资本不是目标，而是方法和资源</a:t>
            </a:r>
            <a:endParaRPr lang="zh-CN" altLang="en-US" sz="1600"/>
          </a:p>
          <a:p>
            <a:pPr lvl="1"/>
            <a:r>
              <a:rPr lang="zh-CN" altLang="en-US" sz="1800"/>
              <a:t>看发展</a:t>
            </a:r>
            <a:endParaRPr lang="zh-CN" altLang="en-US" sz="1800"/>
          </a:p>
          <a:p>
            <a:pPr lvl="2"/>
            <a:r>
              <a:rPr lang="zh-CN" altLang="en-US" sz="1600"/>
              <a:t>个人能力：不断加深积累自己的专业能力；培养自己的学习能力和解决问题的能力，拓展综合的知识面（参考当前的基础教育学科设置），尽可能配合充分使用电脑（AI）</a:t>
            </a:r>
            <a:endParaRPr lang="zh-CN" altLang="en-US" sz="1600"/>
          </a:p>
          <a:p>
            <a:pPr lvl="2"/>
            <a:r>
              <a:rPr lang="zh-CN" altLang="en-US" sz="1600"/>
              <a:t>外部关系：注重信用，注重合作，同时注意一定程度的竞争。以产出社会价值为方向来定具体目标</a:t>
            </a:r>
            <a:endParaRPr lang="zh-CN" altLang="en-US" sz="1600"/>
          </a:p>
          <a:p>
            <a:pPr lvl="2"/>
            <a:r>
              <a:rPr lang="zh-CN" altLang="en-US" sz="1600"/>
              <a:t>危机使命：因果关系和统计原理，危险的背后是机会，机会的背后是危险。逐步知道自己的使命，来努力前行，处理好运气</a:t>
            </a:r>
            <a:endParaRPr lang="zh-CN" altLang="en-US" sz="1600"/>
          </a:p>
          <a:p>
            <a:r>
              <a:rPr lang="zh-CN" altLang="en-US"/>
              <a:t>企业视角</a:t>
            </a:r>
            <a:endParaRPr lang="zh-CN" altLang="en-US"/>
          </a:p>
          <a:p>
            <a:pPr lvl="1"/>
            <a:r>
              <a:rPr lang="zh-CN" altLang="en-US"/>
              <a:t>看个人：合作化，需要相互尊重；用人不疑，疑人不用。君子重用，小人利用</a:t>
            </a:r>
            <a:endParaRPr lang="zh-CN" altLang="en-US"/>
          </a:p>
          <a:p>
            <a:pPr lvl="1"/>
            <a:r>
              <a:rPr lang="zh-CN" altLang="en-US"/>
              <a:t>看社会：职责化，认清企业社会职责，不同规模和属性的企业，其社会职责不同；同时需要了解微观经济学和政治经济学</a:t>
            </a:r>
            <a:endParaRPr lang="zh-CN" altLang="en-US"/>
          </a:p>
          <a:p>
            <a:pPr lvl="1"/>
            <a:r>
              <a:rPr lang="zh-CN" altLang="en-US"/>
              <a:t>看发展：使命化，通过社会大环境和企业的职责，知道企业的使命，努力前行，处理好运气。发展有起伏，知道自己当下所处阶段，处理好每一次的危机转型</a:t>
            </a:r>
            <a:endParaRPr lang="zh-CN" altLang="en-US"/>
          </a:p>
          <a:p>
            <a:r>
              <a:rPr lang="zh-CN" altLang="en-US"/>
              <a:t>社会视角</a:t>
            </a:r>
            <a:endParaRPr lang="zh-CN" altLang="en-US"/>
          </a:p>
          <a:p>
            <a:pPr lvl="1"/>
            <a:r>
              <a:rPr lang="zh-CN" altLang="en-US"/>
              <a:t>基于人：人性-生物学属性=成仙。 生物学属性+神性=人性。 为人民服务。私利与公利。 管理人的投机性</a:t>
            </a:r>
            <a:endParaRPr lang="zh-CN" altLang="en-US"/>
          </a:p>
          <a:p>
            <a:pPr lvl="1"/>
            <a:r>
              <a:rPr lang="zh-CN" altLang="en-US"/>
              <a:t>看环境：历/地/政/国学/理工科/信息类。 一抓就死，一放就乱。资本主义是衍生自各种不同的社会制度中。不是一个独立制度。资本一旦不去做本职工作，就是资本主义</a:t>
            </a:r>
            <a:endParaRPr lang="zh-CN" altLang="en-US"/>
          </a:p>
          <a:p>
            <a:pPr lvl="1"/>
            <a:r>
              <a:rPr lang="zh-CN" altLang="en-US"/>
              <a:t>迎挑战：货与币相互匹配平衡。货币和资本对个人/企业/社会的意义。谨小慎微如履薄冰。治大国如烹小鲜。 科技是工具双刃剑。社会治理是永恒的最大挑战。 受命于天以德为循</a:t>
            </a:r>
            <a:endParaRPr lang="zh-CN" alt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61035" y="27305"/>
            <a:ext cx="10515600" cy="281305"/>
          </a:xfrm>
        </p:spPr>
        <p:txBody>
          <a:bodyPr>
            <a:normAutofit fontScale="90000"/>
          </a:bodyPr>
          <a:p>
            <a:r>
              <a:rPr lang="zh-CN" altLang="en-US" sz="1780"/>
              <a:t>程序员看代码编写</a:t>
            </a:r>
            <a:endParaRPr lang="zh-CN" altLang="en-US" sz="1780"/>
          </a:p>
        </p:txBody>
      </p:sp>
      <p:sp>
        <p:nvSpPr>
          <p:cNvPr id="3" name="Content Placeholder 2"/>
          <p:cNvSpPr>
            <a:spLocks noGrp="1"/>
          </p:cNvSpPr>
          <p:nvPr>
            <p:ph idx="1"/>
          </p:nvPr>
        </p:nvSpPr>
        <p:spPr>
          <a:xfrm>
            <a:off x="129540" y="276225"/>
            <a:ext cx="11954510" cy="6570345"/>
          </a:xfrm>
        </p:spPr>
        <p:txBody>
          <a:bodyPr>
            <a:noAutofit/>
          </a:bodyPr>
          <a:p>
            <a:r>
              <a:rPr lang="zh-CN" altLang="en-US" sz="800"/>
              <a:t>综述：定位（开发视角，快速</a:t>
            </a:r>
            <a:r>
              <a:rPr lang="en-US" altLang="zh-CN" sz="800"/>
              <a:t>/</a:t>
            </a:r>
            <a:r>
              <a:rPr lang="zh-CN" altLang="en-US" sz="800"/>
              <a:t>扎实），基础（运行</a:t>
            </a:r>
            <a:r>
              <a:rPr lang="en-US" altLang="zh-CN" sz="800"/>
              <a:t>/</a:t>
            </a:r>
            <a:r>
              <a:rPr lang="zh-CN" altLang="en-US" sz="800"/>
              <a:t>开发</a:t>
            </a:r>
            <a:r>
              <a:rPr lang="en-US" altLang="zh-CN" sz="800"/>
              <a:t>/</a:t>
            </a:r>
            <a:r>
              <a:rPr lang="zh-CN" altLang="en-US" sz="800"/>
              <a:t>语言</a:t>
            </a:r>
            <a:r>
              <a:rPr lang="en-US" altLang="zh-CN" sz="800"/>
              <a:t>/</a:t>
            </a:r>
            <a:r>
              <a:rPr lang="zh-CN" altLang="en-US" sz="800"/>
              <a:t>工具链</a:t>
            </a:r>
            <a:r>
              <a:rPr lang="en-US" altLang="zh-CN" sz="800"/>
              <a:t>/</a:t>
            </a:r>
            <a:r>
              <a:rPr lang="zh-CN" altLang="en-US" sz="800"/>
              <a:t>阅读写作</a:t>
            </a:r>
            <a:r>
              <a:rPr lang="en-US" altLang="zh-CN" sz="800"/>
              <a:t>/</a:t>
            </a:r>
            <a:r>
              <a:rPr lang="zh-CN" altLang="en-US" sz="800"/>
              <a:t>建模推理</a:t>
            </a:r>
            <a:r>
              <a:rPr lang="en-US" altLang="zh-CN" sz="800"/>
              <a:t>/</a:t>
            </a:r>
            <a:r>
              <a:rPr lang="zh-CN" altLang="en-US" sz="800"/>
              <a:t>快速学习），内容（分类如下）</a:t>
            </a:r>
            <a:endParaRPr lang="zh-CN" altLang="en-US" sz="800"/>
          </a:p>
          <a:p>
            <a:r>
              <a:rPr lang="zh-CN" altLang="en-US" sz="800"/>
              <a:t>读代码</a:t>
            </a:r>
            <a:endParaRPr lang="zh-CN" altLang="en-US" sz="800"/>
          </a:p>
          <a:p>
            <a:pPr lvl="1"/>
            <a:r>
              <a:rPr lang="zh-CN" altLang="en-US" sz="800"/>
              <a:t>概述：配合写代码、调代码、了解功能配合环境搭建，配合文档和资料查找</a:t>
            </a:r>
            <a:r>
              <a:rPr lang="zh-CN" altLang="en-US" sz="800">
                <a:sym typeface="+mn-ea"/>
              </a:rPr>
              <a:t>，解决实际问题时需要读代码</a:t>
            </a:r>
            <a:r>
              <a:rPr lang="zh-CN" altLang="en-US" sz="800"/>
              <a:t>。0%以上都在读代码，读各种高级语言代码和汇编代码。换位思考，尊重别人的劳动成果，理解别人的思路想法，尊重客观发展规律</a:t>
            </a:r>
            <a:endParaRPr lang="zh-CN" altLang="en-US" sz="800"/>
          </a:p>
          <a:p>
            <a:pPr lvl="1"/>
            <a:r>
              <a:rPr lang="zh-CN" altLang="en-US" sz="800"/>
              <a:t>处理：</a:t>
            </a:r>
            <a:endParaRPr lang="zh-CN" altLang="en-US" sz="800"/>
          </a:p>
          <a:p>
            <a:pPr lvl="2"/>
            <a:r>
              <a:rPr lang="zh-CN" altLang="en-US" sz="800"/>
              <a:t>整体思路， 看代码中的docs和README, 设计文档和使用手册，看实际的编译内容和运行日志，看目录结构，看网上资料， 命令工具搜索整理，接口模块，看注释，补丁提交，差异化读，整体读</a:t>
            </a:r>
            <a:endParaRPr lang="zh-CN" altLang="en-US" sz="800"/>
          </a:p>
          <a:p>
            <a:pPr lvl="2"/>
            <a:r>
              <a:rPr lang="zh-CN" altLang="en-US" sz="800"/>
              <a:t>不一定了解全貌，只了解同目标相关的内容。但需要证明了解的足够（可以不了解全貌，但不能忽略全貌），语文的阅读能力，抽象概括成体系（半成体系），文档记录。</a:t>
            </a:r>
            <a:endParaRPr lang="zh-CN" altLang="en-US" sz="800"/>
          </a:p>
          <a:p>
            <a:pPr lvl="2"/>
            <a:r>
              <a:rPr lang="zh-CN" altLang="en-US" sz="800"/>
              <a:t>对于了解到的内容需要进行论证证明，网上资料证明，运行证明，阅读交叉论证等。数理的严谨思考论证。</a:t>
            </a:r>
            <a:endParaRPr lang="zh-CN" altLang="en-US" sz="800"/>
          </a:p>
          <a:p>
            <a:pPr lvl="1"/>
            <a:r>
              <a:rPr lang="zh-CN" altLang="en-US" sz="800"/>
              <a:t>培养：</a:t>
            </a:r>
            <a:endParaRPr lang="zh-CN" altLang="en-US" sz="800"/>
          </a:p>
          <a:p>
            <a:pPr lvl="2"/>
            <a:r>
              <a:rPr lang="zh-CN" altLang="en-US" sz="800"/>
              <a:t>多种语言，多种开发环境和框架。读中学。相关的工具</a:t>
            </a:r>
            <a:endParaRPr lang="zh-CN" altLang="en-US" sz="800"/>
          </a:p>
          <a:p>
            <a:pPr lvl="2"/>
            <a:r>
              <a:rPr lang="zh-CN" altLang="en-US" sz="800"/>
              <a:t>极其熟练地使用相关的编辑工具和辅助工具，由此不影响干扰思路，代码量上规模</a:t>
            </a:r>
            <a:endParaRPr lang="zh-CN" altLang="en-US" sz="800"/>
          </a:p>
          <a:p>
            <a:pPr lvl="2"/>
            <a:r>
              <a:rPr lang="zh-CN" altLang="en-US" sz="800"/>
              <a:t>语文阅读，基本的英文，数理逻辑（严谨），吃苦耐劳，一步步来</a:t>
            </a:r>
            <a:endParaRPr lang="zh-CN" altLang="en-US" sz="800"/>
          </a:p>
          <a:p>
            <a:r>
              <a:rPr lang="zh-CN" altLang="en-US" sz="800"/>
              <a:t>写代码</a:t>
            </a:r>
            <a:endParaRPr lang="zh-CN" altLang="en-US" sz="800"/>
          </a:p>
          <a:p>
            <a:pPr lvl="1"/>
            <a:r>
              <a:rPr lang="zh-CN" altLang="en-US" sz="800"/>
              <a:t>概述：</a:t>
            </a:r>
            <a:endParaRPr lang="zh-CN" altLang="en-US" sz="800"/>
          </a:p>
          <a:p>
            <a:pPr lvl="2"/>
            <a:r>
              <a:rPr lang="zh-CN" altLang="en-US" sz="800"/>
              <a:t>实现相关功能，解决相关问题。经常要直面需求，时刻重视设计（概要设计要记录下来，详细设计至少用代码的可读性进行记录实现）</a:t>
            </a:r>
            <a:endParaRPr lang="zh-CN" altLang="en-US" sz="800"/>
          </a:p>
          <a:p>
            <a:pPr lvl="2"/>
            <a:r>
              <a:rPr lang="zh-CN" altLang="en-US" sz="800"/>
              <a:t>跨多种语言实现，需要综合考虑，确认清楚后再动手。 写代码的时候，代码风格，注释等需要提及。环境搭建中的写脚本也是写代码；尽量基于现有内容进行定制开发或整体集成。</a:t>
            </a:r>
            <a:endParaRPr lang="zh-CN" altLang="en-US" sz="800"/>
          </a:p>
          <a:p>
            <a:pPr lvl="2"/>
            <a:r>
              <a:rPr lang="zh-CN" altLang="en-US" sz="800"/>
              <a:t>写代码量的意义有，但只是事后的一个参考和统计。有的时候确实也有“字数限制”和各种资源限制，因为资源有限和性能要求，尺寸要求等。</a:t>
            </a:r>
            <a:endParaRPr lang="zh-CN" altLang="en-US" sz="800"/>
          </a:p>
          <a:p>
            <a:pPr lvl="1"/>
            <a:r>
              <a:rPr lang="zh-CN" altLang="en-US" sz="800"/>
              <a:t>处理：</a:t>
            </a:r>
            <a:endParaRPr lang="zh-CN" altLang="en-US" sz="800"/>
          </a:p>
          <a:p>
            <a:pPr lvl="2"/>
            <a:r>
              <a:rPr lang="zh-CN" altLang="en-US" sz="800"/>
              <a:t>可衡量（方便测试和调试），言简意骇，思路清晰，与设计融为一体，不轻易动手，动作干净整洁，时刻注意资源回收，动手都要成体系。接口和算法都要清晰。</a:t>
            </a:r>
            <a:endParaRPr lang="zh-CN" altLang="en-US" sz="800"/>
          </a:p>
          <a:p>
            <a:pPr lvl="2"/>
            <a:r>
              <a:rPr lang="zh-CN" altLang="en-US" sz="800"/>
              <a:t>稳重踏实，一步步来。写之前尽量重用现有内容，尽量不重复造轮子，对于自动生成的代码需要根据情况充分利用。读，写，测，调相结合，设计需求时刻回顾总结，对于发现的问题及时沟通确认</a:t>
            </a:r>
            <a:endParaRPr lang="zh-CN" altLang="en-US" sz="800"/>
          </a:p>
          <a:p>
            <a:pPr lvl="2"/>
            <a:r>
              <a:rPr lang="zh-CN" altLang="en-US" sz="800"/>
              <a:t>从来都不是为了写而写。写代码只是翻译业务逻辑和个人思想，接口处理和业务理解是关键。</a:t>
            </a:r>
            <a:endParaRPr lang="zh-CN" altLang="en-US" sz="800"/>
          </a:p>
          <a:p>
            <a:pPr lvl="1"/>
            <a:r>
              <a:rPr lang="zh-CN" altLang="en-US" sz="800"/>
              <a:t>培养：语文写作，基本的英文，数理逻辑（严谨），吃苦耐劳，一步步来；相关的一种或几种语言，一种或几种开发环境和框架，图形界面和命令行都要逐步熟悉，对于自己主要用的语言要理解的更全面，详细设计和概要设计，测试和调试</a:t>
            </a:r>
            <a:endParaRPr lang="zh-CN" altLang="en-US" sz="800"/>
          </a:p>
          <a:p>
            <a:r>
              <a:rPr lang="zh-CN" altLang="en-US" sz="800"/>
              <a:t>调代码</a:t>
            </a:r>
            <a:endParaRPr lang="zh-CN" altLang="en-US" sz="800"/>
          </a:p>
          <a:p>
            <a:pPr lvl="1"/>
            <a:r>
              <a:rPr lang="zh-CN" altLang="en-US" sz="800"/>
              <a:t>概述：</a:t>
            </a:r>
            <a:endParaRPr lang="zh-CN" altLang="en-US" sz="800"/>
          </a:p>
          <a:p>
            <a:pPr lvl="2"/>
            <a:r>
              <a:rPr lang="zh-CN" altLang="en-US" sz="800"/>
              <a:t>以解决问题为目标：不一定是自己的问题，可能是别人的问题，但也要自己负责处理。贯穿开发、测试、发布、维护多个阶段</a:t>
            </a:r>
            <a:endParaRPr lang="zh-CN" altLang="en-US" sz="800"/>
          </a:p>
          <a:p>
            <a:pPr lvl="2"/>
            <a:r>
              <a:rPr lang="zh-CN" altLang="en-US" sz="800"/>
              <a:t>环境搭建复现问题的能力和资源协调非常重要，也属于调试的范畴</a:t>
            </a:r>
            <a:endParaRPr lang="zh-CN" altLang="en-US" sz="800"/>
          </a:p>
          <a:p>
            <a:pPr lvl="2"/>
            <a:r>
              <a:rPr lang="zh-CN" altLang="en-US" sz="800"/>
              <a:t>调试的时候，正规调试，打印，打堆栈，崩溃转储，内核崩溃转储等需要提及。 带虚拟机的，QEMU和wine需要提及</a:t>
            </a:r>
            <a:endParaRPr lang="zh-CN" altLang="en-US" sz="800"/>
          </a:p>
          <a:p>
            <a:pPr lvl="1"/>
            <a:r>
              <a:rPr lang="zh-CN" altLang="en-US" sz="800"/>
              <a:t>处理：</a:t>
            </a:r>
            <a:endParaRPr lang="zh-CN" altLang="en-US" sz="800"/>
          </a:p>
          <a:p>
            <a:pPr lvl="2"/>
            <a:r>
              <a:rPr lang="zh-CN" altLang="en-US" sz="800"/>
              <a:t>沟通协作要卸下各种同问题同目标无关的负担，例如面子，背锅，心里不平，要有格局，信息差，信息失真（误解），不同角色的沟通误解，文档缺失（有误），类似于读题审题建模。</a:t>
            </a:r>
            <a:endParaRPr lang="zh-CN" altLang="en-US" sz="800"/>
          </a:p>
          <a:p>
            <a:pPr lvl="2"/>
            <a:r>
              <a:rPr lang="zh-CN" altLang="en-US" sz="800"/>
              <a:t>比对分析，二分法逐步逼近都是有效方式，尊重他人原有劳动成果，可量化。 可行性分析，尊重科技工程发展规律，与设计相对应，也需要考虑原始需求</a:t>
            </a:r>
            <a:endParaRPr lang="zh-CN" altLang="en-US" sz="800"/>
          </a:p>
          <a:p>
            <a:pPr lvl="2"/>
            <a:r>
              <a:rPr lang="zh-CN" altLang="en-US" sz="800"/>
              <a:t>现场环境不好：机房、服务器、统计等待，多人协调等</a:t>
            </a:r>
            <a:endParaRPr lang="zh-CN" altLang="en-US" sz="800"/>
          </a:p>
          <a:p>
            <a:pPr lvl="1"/>
            <a:r>
              <a:rPr lang="zh-CN" altLang="en-US" sz="800"/>
              <a:t>培养：</a:t>
            </a:r>
            <a:endParaRPr lang="zh-CN" altLang="en-US" sz="800"/>
          </a:p>
          <a:p>
            <a:pPr lvl="2"/>
            <a:r>
              <a:rPr lang="zh-CN" altLang="en-US" sz="800"/>
              <a:t>沟通协调，多人协作，情绪稳定，有高度和格局（软件工程的思维）</a:t>
            </a:r>
            <a:endParaRPr lang="zh-CN" altLang="en-US" sz="800"/>
          </a:p>
          <a:p>
            <a:pPr lvl="2"/>
            <a:r>
              <a:rPr lang="zh-CN" altLang="en-US" sz="800"/>
              <a:t>多种调试工具和调试方法都有熟悉，逐步深入了解相关的运行环境、开发环境和工具链</a:t>
            </a:r>
            <a:endParaRPr lang="zh-CN" altLang="en-US" sz="800"/>
          </a:p>
          <a:p>
            <a:pPr lvl="2"/>
            <a:r>
              <a:rPr lang="zh-CN" altLang="en-US" sz="800"/>
              <a:t>解决问题的能力，数理能力的培养（逆向思维，物理建模，数学建模，计算表达，换位思考）</a:t>
            </a:r>
            <a:endParaRPr lang="zh-CN" altLang="en-US" sz="800"/>
          </a:p>
          <a:p>
            <a:r>
              <a:rPr lang="zh-CN" altLang="en-US" sz="800"/>
              <a:t>全部：</a:t>
            </a:r>
            <a:endParaRPr lang="zh-CN" altLang="en-US" sz="800"/>
          </a:p>
          <a:p>
            <a:pPr lvl="1"/>
            <a:r>
              <a:rPr lang="zh-CN" altLang="en-US" sz="800"/>
              <a:t>业务熟悉（专业知识），多人协作，文档，搜索，熟练操作，爱好等；快速学习任何新内容，需求和任务拆分。 边做边记录，成体系结构，多任务切换；</a:t>
            </a:r>
            <a:r>
              <a:rPr lang="en-US" altLang="zh-CN" sz="800"/>
              <a:t> </a:t>
            </a:r>
            <a:r>
              <a:rPr lang="zh-CN" altLang="en-US" sz="800"/>
              <a:t>工具的熟练程度，一定是代码规模上量后的工具熟练使用。 版本管理对于读写调都时刻起作用</a:t>
            </a:r>
            <a:endParaRPr lang="zh-CN" altLang="en-US" sz="80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61035" y="27305"/>
            <a:ext cx="10515600" cy="526415"/>
          </a:xfrm>
        </p:spPr>
        <p:txBody>
          <a:bodyPr>
            <a:noAutofit/>
          </a:bodyPr>
          <a:p>
            <a:r>
              <a:rPr lang="zh-CN" altLang="en-US" sz="2800"/>
              <a:t>程序员看编写文档</a:t>
            </a:r>
            <a:endParaRPr lang="zh-CN" altLang="en-US" sz="2800"/>
          </a:p>
        </p:txBody>
      </p:sp>
      <p:sp>
        <p:nvSpPr>
          <p:cNvPr id="4" name="Content Placeholder 3"/>
          <p:cNvSpPr>
            <a:spLocks noGrp="1"/>
          </p:cNvSpPr>
          <p:nvPr>
            <p:ph idx="1"/>
          </p:nvPr>
        </p:nvSpPr>
        <p:spPr>
          <a:xfrm>
            <a:off x="237490" y="673735"/>
            <a:ext cx="11760200" cy="6185535"/>
          </a:xfrm>
        </p:spPr>
        <p:txBody>
          <a:bodyPr>
            <a:normAutofit lnSpcReduction="20000"/>
          </a:bodyPr>
          <a:p>
            <a:r>
              <a:rPr lang="zh-CN" altLang="en-US"/>
              <a:t>综述：目录结构，公共内容，个人目前现状</a:t>
            </a:r>
            <a:endParaRPr lang="zh-CN" altLang="en-US"/>
          </a:p>
          <a:p>
            <a:r>
              <a:rPr lang="zh-CN" altLang="en-US"/>
              <a:t>自己用：</a:t>
            </a:r>
            <a:endParaRPr lang="zh-CN" altLang="en-US"/>
          </a:p>
          <a:p>
            <a:pPr lvl="1"/>
            <a:r>
              <a:rPr lang="zh-CN" altLang="en-US" sz="1800"/>
              <a:t>设计层面：</a:t>
            </a:r>
            <a:endParaRPr lang="zh-CN" altLang="en-US" sz="1800"/>
          </a:p>
          <a:p>
            <a:pPr lvl="2"/>
            <a:r>
              <a:rPr lang="zh-CN" altLang="en-US" sz="1600"/>
              <a:t>主要包含：概要设计，环境搭建，编译运行，部署使用</a:t>
            </a:r>
            <a:endParaRPr lang="zh-CN" altLang="en-US" sz="1600"/>
          </a:p>
          <a:p>
            <a:pPr lvl="2"/>
            <a:r>
              <a:rPr lang="zh-CN" altLang="en-US" sz="1600"/>
              <a:t>概要设计至少要包含：需求概述，实现方案，三个视角（开发视角有可能有递归）。对外接口，核心业务逻辑</a:t>
            </a:r>
            <a:endParaRPr lang="zh-CN" altLang="en-US" sz="1600"/>
          </a:p>
          <a:p>
            <a:pPr lvl="2"/>
            <a:r>
              <a:rPr lang="zh-CN" altLang="en-US" sz="1600"/>
              <a:t>其他文档不是正式的用户手册，但要对自己、测试和其他研发人员提供足够的支撑，这些文档也可合并到概要设计中</a:t>
            </a:r>
            <a:endParaRPr lang="zh-CN" altLang="en-US" sz="1600"/>
          </a:p>
          <a:p>
            <a:pPr lvl="1"/>
            <a:r>
              <a:rPr lang="zh-CN" altLang="en-US" sz="1800"/>
              <a:t>实现层面：</a:t>
            </a:r>
            <a:endParaRPr lang="zh-CN" altLang="en-US" sz="1800"/>
          </a:p>
          <a:p>
            <a:pPr lvl="2"/>
            <a:r>
              <a:rPr lang="zh-CN" altLang="en-US" sz="1600"/>
              <a:t>版本补丁处理：自己用和给人看，以及对外讲完全是不同的方式来处理</a:t>
            </a:r>
            <a:endParaRPr lang="zh-CN" altLang="en-US" sz="1600"/>
          </a:p>
          <a:p>
            <a:pPr lvl="2"/>
            <a:r>
              <a:rPr lang="zh-CN" altLang="en-US" sz="1600"/>
              <a:t>代码注释：内部接口，核心算法，特殊位置</a:t>
            </a:r>
            <a:endParaRPr lang="zh-CN" altLang="en-US" sz="1600"/>
          </a:p>
          <a:p>
            <a:pPr lvl="2"/>
            <a:r>
              <a:rPr lang="zh-CN" altLang="en-US" sz="1600"/>
              <a:t>分析过程记录：代码记录，数据记录，外围记录（资源记录，问题记录，功能记录)</a:t>
            </a:r>
            <a:endParaRPr lang="zh-CN" altLang="en-US" sz="1600"/>
          </a:p>
          <a:p>
            <a:pPr lvl="1"/>
            <a:r>
              <a:rPr lang="zh-CN" altLang="en-US" sz="1800"/>
              <a:t>管理层面：</a:t>
            </a:r>
            <a:endParaRPr lang="zh-CN" altLang="en-US" sz="1800"/>
          </a:p>
          <a:p>
            <a:pPr lvl="2"/>
            <a:r>
              <a:rPr lang="zh-CN" altLang="en-US"/>
              <a:t>任务交互状态记录和资源整理（自己用）</a:t>
            </a:r>
            <a:endParaRPr lang="zh-CN" altLang="en-US" sz="1600"/>
          </a:p>
          <a:p>
            <a:pPr lvl="2"/>
            <a:r>
              <a:rPr lang="zh-CN" altLang="en-US"/>
              <a:t>沟通交流记录（自己用/给人看）</a:t>
            </a:r>
            <a:endParaRPr lang="zh-CN" altLang="en-US" sz="1600"/>
          </a:p>
          <a:p>
            <a:pPr lvl="2"/>
            <a:r>
              <a:rPr lang="zh-CN" altLang="en-US"/>
              <a:t>日周月年总结和计划（自己用/给人看/对外讲）</a:t>
            </a:r>
            <a:endParaRPr lang="zh-CN" altLang="en-US"/>
          </a:p>
          <a:p>
            <a:r>
              <a:rPr lang="zh-CN" altLang="en-US"/>
              <a:t>给人看：</a:t>
            </a:r>
            <a:endParaRPr lang="zh-CN" altLang="en-US"/>
          </a:p>
          <a:p>
            <a:pPr lvl="1"/>
            <a:r>
              <a:rPr lang="zh-CN" altLang="en-US"/>
              <a:t>概述：其他个人会单独花时间进行阅读或参考查找里面的内容；设计细化，实现简化，管理量化</a:t>
            </a:r>
            <a:endParaRPr lang="zh-CN" altLang="en-US"/>
          </a:p>
          <a:p>
            <a:pPr lvl="1"/>
            <a:r>
              <a:rPr lang="zh-CN" altLang="en-US"/>
              <a:t>处理：以看为主，沟通交流，不断完善</a:t>
            </a:r>
            <a:endParaRPr lang="zh-CN" altLang="en-US"/>
          </a:p>
          <a:p>
            <a:pPr lvl="1"/>
            <a:r>
              <a:rPr lang="zh-CN" altLang="en-US"/>
              <a:t>工具：编辑器（看代码补丁和代码文件），Word配合PPT（或其他绘图工具）</a:t>
            </a:r>
            <a:endParaRPr lang="zh-CN" altLang="en-US"/>
          </a:p>
          <a:p>
            <a:r>
              <a:rPr lang="zh-CN" altLang="en-US"/>
              <a:t>对外讲：</a:t>
            </a:r>
            <a:endParaRPr lang="zh-CN" altLang="en-US"/>
          </a:p>
          <a:p>
            <a:pPr lvl="1"/>
            <a:r>
              <a:rPr lang="zh-CN" altLang="en-US"/>
              <a:t>概述：自己对外进行专业讲解，参与者至少对需求了解或可以了解；设计可视化，实现精简化，管理条理化</a:t>
            </a:r>
            <a:endParaRPr lang="zh-CN" altLang="en-US"/>
          </a:p>
          <a:p>
            <a:pPr lvl="1"/>
            <a:r>
              <a:rPr lang="zh-CN" altLang="en-US"/>
              <a:t>处理：以讲为主，配合互动，解答问题</a:t>
            </a:r>
            <a:endParaRPr lang="zh-CN" altLang="en-US"/>
          </a:p>
          <a:p>
            <a:pPr lvl="1"/>
            <a:r>
              <a:rPr lang="zh-CN" altLang="en-US"/>
              <a:t>工具：PPT配合视频</a:t>
            </a:r>
            <a:endParaRPr lang="zh-CN" altLang="en-US"/>
          </a:p>
          <a:p>
            <a:r>
              <a:rPr lang="zh-CN" altLang="en-US"/>
              <a:t>公共内容：文档模板，成体系，充分用工具来协助处理。充分使用工具，例如wps（word/ppt）</a:t>
            </a:r>
            <a:endParaRPr lang="zh-CN" alt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61035" y="69215"/>
            <a:ext cx="10515600" cy="356870"/>
          </a:xfrm>
        </p:spPr>
        <p:txBody>
          <a:bodyPr>
            <a:noAutofit/>
          </a:bodyPr>
          <a:p>
            <a:r>
              <a:rPr lang="zh-CN" altLang="en-US"/>
              <a:t>程序员看软件工程</a:t>
            </a:r>
            <a:endParaRPr lang="en-US" altLang="zh-CN"/>
          </a:p>
        </p:txBody>
      </p:sp>
      <p:sp>
        <p:nvSpPr>
          <p:cNvPr id="4" name="Content Placeholder 3"/>
          <p:cNvSpPr>
            <a:spLocks noGrp="1"/>
          </p:cNvSpPr>
          <p:nvPr>
            <p:ph idx="1"/>
          </p:nvPr>
        </p:nvSpPr>
        <p:spPr>
          <a:xfrm>
            <a:off x="237490" y="436880"/>
            <a:ext cx="11760200" cy="6422390"/>
          </a:xfrm>
        </p:spPr>
        <p:txBody>
          <a:bodyPr>
            <a:normAutofit lnSpcReduction="10000"/>
          </a:bodyPr>
          <a:p>
            <a:r>
              <a:rPr lang="zh-CN" altLang="en-US"/>
              <a:t>绪论：目录结构，个人目前现状</a:t>
            </a:r>
            <a:endParaRPr lang="zh-CN" altLang="en-US"/>
          </a:p>
          <a:p>
            <a:r>
              <a:rPr lang="zh-CN" altLang="en-US"/>
              <a:t>方法视角：</a:t>
            </a:r>
            <a:endParaRPr lang="zh-CN" altLang="en-US"/>
          </a:p>
          <a:p>
            <a:pPr lvl="1"/>
            <a:r>
              <a:rPr lang="zh-CN" altLang="en-US"/>
              <a:t>分类：偏沟通：直观静态；偏原理：抽象动态；偏统计：直观动态</a:t>
            </a:r>
            <a:endParaRPr lang="zh-CN" altLang="en-US" sz="1800"/>
          </a:p>
          <a:p>
            <a:pPr lvl="1"/>
            <a:r>
              <a:rPr lang="zh-CN" altLang="en-US"/>
              <a:t>方法：模型处理（数理），工具语言（数语外计），计算表达</a:t>
            </a:r>
            <a:endParaRPr lang="zh-CN" altLang="en-US" sz="1800"/>
          </a:p>
          <a:p>
            <a:pPr lvl="1"/>
            <a:r>
              <a:rPr lang="zh-CN" altLang="en-US"/>
              <a:t>使用：偏沟通贯穿整体，每个具体节点和模型尽量使用偏原理，节点间和模型转换间经常使用偏统计</a:t>
            </a:r>
            <a:endParaRPr lang="zh-CN" altLang="en-US"/>
          </a:p>
          <a:p>
            <a:r>
              <a:rPr lang="zh-CN" altLang="en-US"/>
              <a:t>主体内容：</a:t>
            </a:r>
            <a:endParaRPr lang="zh-CN" altLang="en-US"/>
          </a:p>
          <a:p>
            <a:pPr lvl="1"/>
            <a:r>
              <a:rPr lang="zh-CN" altLang="en-US" sz="1800"/>
              <a:t>概述：</a:t>
            </a:r>
            <a:endParaRPr lang="zh-CN" altLang="en-US" sz="1800"/>
          </a:p>
          <a:p>
            <a:pPr lvl="2"/>
            <a:r>
              <a:rPr lang="zh-CN" altLang="en-US" sz="1600"/>
              <a:t>节点：需求，设计，实现，测试，发布，维护</a:t>
            </a:r>
            <a:endParaRPr lang="zh-CN" altLang="en-US" sz="1600"/>
          </a:p>
          <a:p>
            <a:pPr lvl="2"/>
            <a:r>
              <a:rPr lang="zh-CN" altLang="en-US" sz="1600"/>
              <a:t>关系：需求对发布，设计对测试，直接内部关联</a:t>
            </a:r>
            <a:endParaRPr lang="zh-CN" altLang="en-US" sz="1600"/>
          </a:p>
          <a:p>
            <a:pPr lvl="2"/>
            <a:r>
              <a:rPr lang="zh-CN" altLang="en-US" sz="1600"/>
              <a:t>扩展：迭代，拆分，省略</a:t>
            </a:r>
            <a:endParaRPr lang="zh-CN" altLang="en-US" sz="1600"/>
          </a:p>
          <a:p>
            <a:pPr lvl="1"/>
            <a:r>
              <a:rPr lang="zh-CN" altLang="en-US" sz="1800"/>
              <a:t>实现：</a:t>
            </a:r>
            <a:endParaRPr lang="zh-CN" altLang="en-US" sz="1800"/>
          </a:p>
          <a:p>
            <a:pPr lvl="2"/>
            <a:r>
              <a:rPr lang="zh-CN" altLang="en-US" sz="1600"/>
              <a:t>资产：</a:t>
            </a:r>
            <a:r>
              <a:rPr lang="zh-CN" altLang="en-US">
                <a:sym typeface="+mn-ea"/>
              </a:rPr>
              <a:t>立项说明书，</a:t>
            </a:r>
            <a:r>
              <a:rPr lang="zh-CN" altLang="en-US" sz="1600"/>
              <a:t>需求说明书，可行性分析，概要设计，版本源码管理，测试方案</a:t>
            </a:r>
            <a:r>
              <a:rPr lang="en-US" altLang="zh-CN" sz="1600"/>
              <a:t>/</a:t>
            </a:r>
            <a:r>
              <a:rPr lang="zh-CN" altLang="en-US" sz="1600"/>
              <a:t>计划</a:t>
            </a:r>
            <a:r>
              <a:rPr lang="en-US" altLang="zh-CN" sz="1600"/>
              <a:t>/</a:t>
            </a:r>
            <a:r>
              <a:rPr lang="zh-CN" altLang="en-US" sz="1600"/>
              <a:t>用例，</a:t>
            </a:r>
            <a:r>
              <a:rPr lang="zh-CN" altLang="en-US">
                <a:sym typeface="+mn-ea"/>
              </a:rPr>
              <a:t>用户使用说明书</a:t>
            </a:r>
            <a:endParaRPr lang="zh-CN" altLang="en-US" sz="1600"/>
          </a:p>
          <a:p>
            <a:pPr lvl="2"/>
            <a:r>
              <a:rPr lang="zh-CN" altLang="en-US" sz="1600"/>
              <a:t>工具：任务管理工具（包含bug管理)，资源管理工具，文档编辑工具</a:t>
            </a:r>
            <a:endParaRPr lang="zh-CN" altLang="en-US" sz="1600"/>
          </a:p>
          <a:p>
            <a:pPr lvl="2"/>
            <a:r>
              <a:rPr lang="zh-CN" altLang="en-US" sz="1600"/>
              <a:t>方法：不断迭代，在过程中不断完善，并起到作用；结合统计和原理一并体现出来；端正态度，摆正位置</a:t>
            </a:r>
            <a:endParaRPr lang="zh-CN" altLang="en-US" sz="1600"/>
          </a:p>
          <a:p>
            <a:pPr lvl="1"/>
            <a:r>
              <a:rPr lang="zh-CN" altLang="en-US" sz="1800"/>
              <a:t>使用：</a:t>
            </a:r>
            <a:endParaRPr lang="zh-CN" altLang="en-US" sz="1800"/>
          </a:p>
          <a:p>
            <a:pPr lvl="2"/>
            <a:r>
              <a:rPr lang="zh-CN" altLang="en-US" sz="1600"/>
              <a:t>实现视角：先偏原理，再偏统计，最后偏沟通（需提升一级）</a:t>
            </a:r>
            <a:endParaRPr lang="zh-CN" altLang="en-US" sz="1600"/>
          </a:p>
          <a:p>
            <a:pPr lvl="2"/>
            <a:r>
              <a:rPr lang="zh-CN" altLang="en-US" sz="1600"/>
              <a:t>旁观视角：先偏统计，再偏沟通，最后偏原理（需提升一级）</a:t>
            </a:r>
            <a:endParaRPr lang="zh-CN" altLang="en-US" sz="1600"/>
          </a:p>
          <a:p>
            <a:pPr lvl="2"/>
            <a:r>
              <a:rPr lang="zh-CN" altLang="en-US" sz="1600"/>
              <a:t>分析视角：先偏沟通，再偏统计，最后偏原理（需提升一级）</a:t>
            </a:r>
            <a:endParaRPr lang="zh-CN" altLang="en-US" sz="1600"/>
          </a:p>
          <a:p>
            <a:r>
              <a:rPr lang="zh-CN" altLang="en-US"/>
              <a:t>学习培养：</a:t>
            </a:r>
            <a:endParaRPr lang="zh-CN" altLang="en-US"/>
          </a:p>
          <a:p>
            <a:pPr lvl="1"/>
            <a:r>
              <a:rPr lang="zh-CN" altLang="en-US"/>
              <a:t>摆清位置：分工协作，尊重理解各自领域内容，没有高低等级贵贱之分；谦虚是本分；知人者智，自知者明</a:t>
            </a:r>
            <a:endParaRPr lang="zh-CN" altLang="en-US"/>
          </a:p>
          <a:p>
            <a:pPr lvl="1"/>
            <a:r>
              <a:rPr lang="zh-CN" altLang="en-US"/>
              <a:t>端正态度：勤劳，诚恳，合作</a:t>
            </a:r>
            <a:endParaRPr lang="zh-CN" altLang="en-US"/>
          </a:p>
          <a:p>
            <a:pPr lvl="1"/>
            <a:r>
              <a:rPr lang="zh-CN" altLang="en-US"/>
              <a:t>认真实践：实践归纳理论，理论指导实践</a:t>
            </a:r>
            <a:endParaRPr lang="zh-CN" alt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
        <p:cNvGrpSpPr/>
        <p:nvPr/>
      </p:nvGrpSpPr>
      <p:grpSpPr/>
      <p:sp>
        <p:nvSpPr>
          <p:cNvPr id="6" name="Rectangles 5"/>
          <p:cNvSpPr/>
          <p:nvPr/>
        </p:nvSpPr>
        <p:spPr>
          <a:xfrm>
            <a:off x="4814570" y="1824355"/>
            <a:ext cx="832485" cy="41021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b="1">
                <a:solidFill>
                  <a:schemeClr val="tx1"/>
                </a:solidFill>
              </a:rPr>
              <a:t>维</a:t>
            </a:r>
            <a:r>
              <a:rPr lang="en-US" altLang="zh-CN" b="1">
                <a:solidFill>
                  <a:schemeClr val="tx1"/>
                </a:solidFill>
              </a:rPr>
              <a:t> </a:t>
            </a:r>
            <a:r>
              <a:rPr lang="zh-CN" altLang="en-US" b="1">
                <a:solidFill>
                  <a:schemeClr val="tx1"/>
                </a:solidFill>
              </a:rPr>
              <a:t>护</a:t>
            </a:r>
            <a:endParaRPr lang="zh-CN" altLang="en-US" b="1">
              <a:solidFill>
                <a:schemeClr val="tx1"/>
              </a:solidFill>
            </a:endParaRPr>
          </a:p>
        </p:txBody>
      </p:sp>
      <p:sp>
        <p:nvSpPr>
          <p:cNvPr id="7" name="Rectangles 6"/>
          <p:cNvSpPr/>
          <p:nvPr/>
        </p:nvSpPr>
        <p:spPr>
          <a:xfrm>
            <a:off x="3937000" y="2567305"/>
            <a:ext cx="833120" cy="41021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b="1">
                <a:solidFill>
                  <a:schemeClr val="tx1"/>
                </a:solidFill>
              </a:rPr>
              <a:t>需</a:t>
            </a:r>
            <a:r>
              <a:rPr lang="en-US" altLang="zh-CN" b="1">
                <a:solidFill>
                  <a:schemeClr val="tx1"/>
                </a:solidFill>
              </a:rPr>
              <a:t> </a:t>
            </a:r>
            <a:r>
              <a:rPr lang="zh-CN" altLang="en-US" b="1">
                <a:solidFill>
                  <a:schemeClr val="tx1"/>
                </a:solidFill>
              </a:rPr>
              <a:t>求</a:t>
            </a:r>
            <a:endParaRPr lang="zh-CN" altLang="en-US" b="1">
              <a:solidFill>
                <a:schemeClr val="tx1"/>
              </a:solidFill>
            </a:endParaRPr>
          </a:p>
        </p:txBody>
      </p:sp>
      <p:sp>
        <p:nvSpPr>
          <p:cNvPr id="10" name="Rectangles 9"/>
          <p:cNvSpPr/>
          <p:nvPr/>
        </p:nvSpPr>
        <p:spPr>
          <a:xfrm>
            <a:off x="5643880" y="3482340"/>
            <a:ext cx="789305" cy="41021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b="1">
                <a:solidFill>
                  <a:schemeClr val="tx1"/>
                </a:solidFill>
              </a:rPr>
              <a:t>测</a:t>
            </a:r>
            <a:r>
              <a:rPr lang="en-US" altLang="zh-CN" b="1">
                <a:solidFill>
                  <a:schemeClr val="tx1"/>
                </a:solidFill>
              </a:rPr>
              <a:t> </a:t>
            </a:r>
            <a:r>
              <a:rPr lang="zh-CN" altLang="en-US" b="1">
                <a:solidFill>
                  <a:schemeClr val="tx1"/>
                </a:solidFill>
              </a:rPr>
              <a:t>试</a:t>
            </a:r>
            <a:endParaRPr lang="zh-CN" altLang="en-US" b="1">
              <a:solidFill>
                <a:schemeClr val="tx1"/>
              </a:solidFill>
            </a:endParaRPr>
          </a:p>
        </p:txBody>
      </p:sp>
      <p:cxnSp>
        <p:nvCxnSpPr>
          <p:cNvPr id="12" name="Straight Arrow Connector 11"/>
          <p:cNvCxnSpPr>
            <a:stCxn id="7" idx="2"/>
            <a:endCxn id="8" idx="0"/>
          </p:cNvCxnSpPr>
          <p:nvPr/>
        </p:nvCxnSpPr>
        <p:spPr>
          <a:xfrm>
            <a:off x="4353560" y="2977515"/>
            <a:ext cx="0" cy="504825"/>
          </a:xfrm>
          <a:prstGeom prst="straightConnector1">
            <a:avLst/>
          </a:prstGeom>
          <a:ln w="28575">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8" idx="2"/>
            <a:endCxn id="9" idx="1"/>
          </p:cNvCxnSpPr>
          <p:nvPr/>
        </p:nvCxnSpPr>
        <p:spPr>
          <a:xfrm>
            <a:off x="4353560" y="3892550"/>
            <a:ext cx="428625" cy="548640"/>
          </a:xfrm>
          <a:prstGeom prst="straightConnector1">
            <a:avLst/>
          </a:prstGeom>
          <a:ln w="28575">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10" idx="2"/>
            <a:endCxn id="9" idx="3"/>
          </p:cNvCxnSpPr>
          <p:nvPr/>
        </p:nvCxnSpPr>
        <p:spPr>
          <a:xfrm flipH="1">
            <a:off x="5647690" y="3892550"/>
            <a:ext cx="391160" cy="548640"/>
          </a:xfrm>
          <a:prstGeom prst="straightConnector1">
            <a:avLst/>
          </a:prstGeom>
          <a:ln w="28575">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11" idx="2"/>
            <a:endCxn id="10" idx="0"/>
          </p:cNvCxnSpPr>
          <p:nvPr/>
        </p:nvCxnSpPr>
        <p:spPr>
          <a:xfrm flipH="1">
            <a:off x="6038850" y="2977515"/>
            <a:ext cx="5080" cy="504825"/>
          </a:xfrm>
          <a:prstGeom prst="straightConnector1">
            <a:avLst/>
          </a:prstGeom>
          <a:ln w="28575">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6" idx="3"/>
            <a:endCxn id="11" idx="0"/>
          </p:cNvCxnSpPr>
          <p:nvPr/>
        </p:nvCxnSpPr>
        <p:spPr>
          <a:xfrm>
            <a:off x="5647055" y="2029460"/>
            <a:ext cx="396875" cy="537845"/>
          </a:xfrm>
          <a:prstGeom prst="straightConnector1">
            <a:avLst/>
          </a:prstGeom>
          <a:ln w="28575">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6" idx="1"/>
            <a:endCxn id="7" idx="0"/>
          </p:cNvCxnSpPr>
          <p:nvPr/>
        </p:nvCxnSpPr>
        <p:spPr>
          <a:xfrm flipH="1">
            <a:off x="4353560" y="2029460"/>
            <a:ext cx="461010" cy="537845"/>
          </a:xfrm>
          <a:prstGeom prst="straightConnector1">
            <a:avLst/>
          </a:prstGeom>
          <a:ln w="28575">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endCxn id="7" idx="1"/>
          </p:cNvCxnSpPr>
          <p:nvPr/>
        </p:nvCxnSpPr>
        <p:spPr>
          <a:xfrm>
            <a:off x="3605530" y="2764155"/>
            <a:ext cx="331470" cy="8255"/>
          </a:xfrm>
          <a:prstGeom prst="straightConnector1">
            <a:avLst/>
          </a:prstGeom>
          <a:ln w="41275">
            <a:solidFill>
              <a:schemeClr val="accent4"/>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11" idx="3"/>
          </p:cNvCxnSpPr>
          <p:nvPr/>
        </p:nvCxnSpPr>
        <p:spPr>
          <a:xfrm flipV="1">
            <a:off x="6443980" y="2764155"/>
            <a:ext cx="304800" cy="8255"/>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8" idx="1"/>
          </p:cNvCxnSpPr>
          <p:nvPr/>
        </p:nvCxnSpPr>
        <p:spPr>
          <a:xfrm flipH="1" flipV="1">
            <a:off x="3637915" y="3681730"/>
            <a:ext cx="299085" cy="5715"/>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6" idx="0"/>
          </p:cNvCxnSpPr>
          <p:nvPr/>
        </p:nvCxnSpPr>
        <p:spPr>
          <a:xfrm flipH="1" flipV="1">
            <a:off x="5026660" y="1673225"/>
            <a:ext cx="204470" cy="15113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9" idx="2"/>
          </p:cNvCxnSpPr>
          <p:nvPr/>
        </p:nvCxnSpPr>
        <p:spPr>
          <a:xfrm flipH="1">
            <a:off x="5205095" y="4646295"/>
            <a:ext cx="10160" cy="27813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11" idx="1"/>
            <a:endCxn id="7" idx="3"/>
          </p:cNvCxnSpPr>
          <p:nvPr/>
        </p:nvCxnSpPr>
        <p:spPr>
          <a:xfrm flipH="1">
            <a:off x="4770120" y="2772410"/>
            <a:ext cx="873760" cy="0"/>
          </a:xfrm>
          <a:prstGeom prst="straightConnector1">
            <a:avLst/>
          </a:prstGeom>
          <a:ln w="28575" cmpd="sng">
            <a:solidFill>
              <a:schemeClr val="tx1"/>
            </a:solidFill>
            <a:prstDash val="sysDash"/>
            <a:headEnd type="arrow"/>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10" idx="1"/>
            <a:endCxn id="8" idx="3"/>
          </p:cNvCxnSpPr>
          <p:nvPr/>
        </p:nvCxnSpPr>
        <p:spPr>
          <a:xfrm flipH="1">
            <a:off x="4770120" y="3687445"/>
            <a:ext cx="873760" cy="0"/>
          </a:xfrm>
          <a:prstGeom prst="straightConnector1">
            <a:avLst/>
          </a:prstGeom>
          <a:ln w="28575" cmpd="sng">
            <a:solidFill>
              <a:schemeClr val="tx1"/>
            </a:solidFill>
            <a:prstDash val="sysDash"/>
            <a:headEnd type="arrow"/>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6" idx="0"/>
          </p:cNvCxnSpPr>
          <p:nvPr/>
        </p:nvCxnSpPr>
        <p:spPr>
          <a:xfrm flipV="1">
            <a:off x="5231130" y="1522095"/>
            <a:ext cx="635" cy="30226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6" idx="0"/>
          </p:cNvCxnSpPr>
          <p:nvPr/>
        </p:nvCxnSpPr>
        <p:spPr>
          <a:xfrm flipV="1">
            <a:off x="5231130" y="1673225"/>
            <a:ext cx="194945" cy="15113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11" idx="3"/>
          </p:cNvCxnSpPr>
          <p:nvPr/>
        </p:nvCxnSpPr>
        <p:spPr>
          <a:xfrm flipV="1">
            <a:off x="6443980" y="2569845"/>
            <a:ext cx="164465" cy="202565"/>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 name="Rectangles 10"/>
          <p:cNvSpPr/>
          <p:nvPr/>
        </p:nvSpPr>
        <p:spPr>
          <a:xfrm>
            <a:off x="5643880" y="2567305"/>
            <a:ext cx="800100" cy="41021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b="1">
                <a:solidFill>
                  <a:schemeClr val="tx1"/>
                </a:solidFill>
              </a:rPr>
              <a:t>发</a:t>
            </a:r>
            <a:r>
              <a:rPr lang="en-US" altLang="zh-CN" b="1">
                <a:solidFill>
                  <a:schemeClr val="tx1"/>
                </a:solidFill>
              </a:rPr>
              <a:t> </a:t>
            </a:r>
            <a:r>
              <a:rPr lang="zh-CN" altLang="en-US" b="1">
                <a:solidFill>
                  <a:schemeClr val="tx1"/>
                </a:solidFill>
              </a:rPr>
              <a:t>布</a:t>
            </a:r>
            <a:endParaRPr lang="zh-CN" altLang="en-US" b="1">
              <a:solidFill>
                <a:schemeClr val="tx1"/>
              </a:solidFill>
            </a:endParaRPr>
          </a:p>
        </p:txBody>
      </p:sp>
      <p:cxnSp>
        <p:nvCxnSpPr>
          <p:cNvPr id="29" name="Straight Arrow Connector 28"/>
          <p:cNvCxnSpPr>
            <a:stCxn id="11" idx="3"/>
          </p:cNvCxnSpPr>
          <p:nvPr/>
        </p:nvCxnSpPr>
        <p:spPr>
          <a:xfrm>
            <a:off x="6443980" y="2772410"/>
            <a:ext cx="153670" cy="207645"/>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flipV="1">
            <a:off x="6452235" y="3679190"/>
            <a:ext cx="304800" cy="8255"/>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flipV="1">
            <a:off x="6452235" y="3484880"/>
            <a:ext cx="164465" cy="202565"/>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6452235" y="3687445"/>
            <a:ext cx="153670" cy="207645"/>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9" idx="2"/>
          </p:cNvCxnSpPr>
          <p:nvPr/>
        </p:nvCxnSpPr>
        <p:spPr>
          <a:xfrm flipH="1">
            <a:off x="5010785" y="4646295"/>
            <a:ext cx="204470" cy="147955"/>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Rectangles 8"/>
          <p:cNvSpPr/>
          <p:nvPr/>
        </p:nvSpPr>
        <p:spPr>
          <a:xfrm>
            <a:off x="4782185" y="4236085"/>
            <a:ext cx="865505" cy="41021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b="1">
                <a:solidFill>
                  <a:schemeClr val="tx1"/>
                </a:solidFill>
              </a:rPr>
              <a:t>实</a:t>
            </a:r>
            <a:r>
              <a:rPr lang="en-US" altLang="zh-CN" b="1">
                <a:solidFill>
                  <a:schemeClr val="tx1"/>
                </a:solidFill>
              </a:rPr>
              <a:t> </a:t>
            </a:r>
            <a:r>
              <a:rPr lang="zh-CN" altLang="en-US" b="1">
                <a:solidFill>
                  <a:schemeClr val="tx1"/>
                </a:solidFill>
              </a:rPr>
              <a:t>现</a:t>
            </a:r>
            <a:endParaRPr lang="zh-CN" altLang="en-US" b="1">
              <a:solidFill>
                <a:schemeClr val="tx1"/>
              </a:solidFill>
            </a:endParaRPr>
          </a:p>
        </p:txBody>
      </p:sp>
      <p:cxnSp>
        <p:nvCxnSpPr>
          <p:cNvPr id="34" name="Straight Arrow Connector 33"/>
          <p:cNvCxnSpPr>
            <a:stCxn id="9" idx="2"/>
          </p:cNvCxnSpPr>
          <p:nvPr/>
        </p:nvCxnSpPr>
        <p:spPr>
          <a:xfrm>
            <a:off x="5215255" y="4646295"/>
            <a:ext cx="205740" cy="15875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8" idx="1"/>
          </p:cNvCxnSpPr>
          <p:nvPr/>
        </p:nvCxnSpPr>
        <p:spPr>
          <a:xfrm flipH="1">
            <a:off x="3768090" y="3687445"/>
            <a:ext cx="168910" cy="21082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 name="Rectangles 7"/>
          <p:cNvSpPr/>
          <p:nvPr/>
        </p:nvSpPr>
        <p:spPr>
          <a:xfrm>
            <a:off x="3937000" y="3482340"/>
            <a:ext cx="833120" cy="41021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b="1">
                <a:solidFill>
                  <a:schemeClr val="tx1"/>
                </a:solidFill>
              </a:rPr>
              <a:t>设</a:t>
            </a:r>
            <a:r>
              <a:rPr lang="en-US" altLang="zh-CN" b="1">
                <a:solidFill>
                  <a:schemeClr val="tx1"/>
                </a:solidFill>
              </a:rPr>
              <a:t> </a:t>
            </a:r>
            <a:r>
              <a:rPr lang="zh-CN" altLang="en-US" b="1">
                <a:solidFill>
                  <a:schemeClr val="tx1"/>
                </a:solidFill>
              </a:rPr>
              <a:t>计</a:t>
            </a:r>
            <a:endParaRPr lang="zh-CN" altLang="en-US" b="1">
              <a:solidFill>
                <a:schemeClr val="tx1"/>
              </a:solidFill>
            </a:endParaRPr>
          </a:p>
        </p:txBody>
      </p:sp>
      <p:cxnSp>
        <p:nvCxnSpPr>
          <p:cNvPr id="36" name="Straight Arrow Connector 35"/>
          <p:cNvCxnSpPr>
            <a:stCxn id="8" idx="1"/>
          </p:cNvCxnSpPr>
          <p:nvPr/>
        </p:nvCxnSpPr>
        <p:spPr>
          <a:xfrm flipH="1" flipV="1">
            <a:off x="3768090" y="3487420"/>
            <a:ext cx="168910" cy="200025"/>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 name="Text Box 1"/>
          <p:cNvSpPr txBox="1"/>
          <p:nvPr/>
        </p:nvSpPr>
        <p:spPr>
          <a:xfrm>
            <a:off x="2418080" y="387350"/>
            <a:ext cx="6123305" cy="521970"/>
          </a:xfrm>
          <a:prstGeom prst="rect">
            <a:avLst/>
          </a:prstGeom>
          <a:noFill/>
        </p:spPr>
        <p:txBody>
          <a:bodyPr wrap="square" rtlCol="0">
            <a:spAutoFit/>
          </a:bodyPr>
          <a:p>
            <a:r>
              <a:rPr lang="en-US" sz="2800" b="1"/>
              <a:t>程序员看软件工程：主体内容：概述：</a:t>
            </a:r>
            <a:endParaRPr lang="en-US" sz="2800" b="1"/>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61035" y="69215"/>
            <a:ext cx="10515600" cy="356870"/>
          </a:xfrm>
        </p:spPr>
        <p:txBody>
          <a:bodyPr>
            <a:noAutofit/>
          </a:bodyPr>
          <a:p>
            <a:r>
              <a:rPr lang="zh-CN" altLang="en-US"/>
              <a:t>程序员看相互协作</a:t>
            </a:r>
            <a:endParaRPr lang="en-US" altLang="zh-CN"/>
          </a:p>
        </p:txBody>
      </p:sp>
      <p:sp>
        <p:nvSpPr>
          <p:cNvPr id="4" name="Content Placeholder 3"/>
          <p:cNvSpPr>
            <a:spLocks noGrp="1"/>
          </p:cNvSpPr>
          <p:nvPr>
            <p:ph idx="1"/>
          </p:nvPr>
        </p:nvSpPr>
        <p:spPr>
          <a:xfrm>
            <a:off x="237490" y="436880"/>
            <a:ext cx="11760200" cy="6422390"/>
          </a:xfrm>
        </p:spPr>
        <p:txBody>
          <a:bodyPr>
            <a:normAutofit/>
          </a:bodyPr>
          <a:p>
            <a:r>
              <a:rPr lang="zh-CN" altLang="en-US"/>
              <a:t>绪论：目录结构，个人目前现状</a:t>
            </a:r>
            <a:endParaRPr lang="zh-CN" altLang="en-US"/>
          </a:p>
          <a:p>
            <a:r>
              <a:rPr lang="zh-CN" altLang="en-US"/>
              <a:t>获取视角：</a:t>
            </a:r>
            <a:endParaRPr lang="zh-CN" altLang="en-US"/>
          </a:p>
          <a:p>
            <a:pPr lvl="1"/>
            <a:r>
              <a:rPr lang="zh-CN" altLang="en-US"/>
              <a:t>总则：完整消化吸收，并尊重对方的劳动成果；尽量降低副作用；明确自己的职责</a:t>
            </a:r>
            <a:endParaRPr lang="zh-CN" altLang="en-US"/>
          </a:p>
          <a:p>
            <a:pPr lvl="1"/>
            <a:r>
              <a:rPr lang="zh-CN" altLang="en-US"/>
              <a:t>内容：上游：(源码、产品、服务)，下游(需求、业务、环境)，同级（资源协调与集成，尽量注意副作用）</a:t>
            </a:r>
            <a:endParaRPr lang="zh-CN" altLang="en-US"/>
          </a:p>
          <a:p>
            <a:pPr lvl="1"/>
            <a:r>
              <a:rPr lang="zh-CN" altLang="en-US"/>
              <a:t>方法：</a:t>
            </a:r>
            <a:endParaRPr lang="zh-CN" altLang="en-US"/>
          </a:p>
          <a:p>
            <a:pPr lvl="2"/>
            <a:r>
              <a:rPr lang="zh-CN" altLang="en-US"/>
              <a:t>偏沟通：相关人员，百度，deepseek-r1，看文档，看接口</a:t>
            </a:r>
            <a:endParaRPr lang="zh-CN" altLang="en-US" sz="1600"/>
          </a:p>
          <a:p>
            <a:pPr lvl="2"/>
            <a:r>
              <a:rPr lang="zh-CN" altLang="en-US"/>
              <a:t>偏原理：继承偏沟通，配置，运行，日志，系统信息，补丁/源码，运行数据，二进制文件，调试反汇编</a:t>
            </a:r>
            <a:endParaRPr lang="zh-CN" altLang="en-US" sz="1600"/>
          </a:p>
          <a:p>
            <a:pPr lvl="2"/>
            <a:r>
              <a:rPr lang="zh-CN" altLang="en-US"/>
              <a:t>偏统计：独立思考，总结归纳，参考经验；决定如何综合使用偏沟通和偏原理，在各种方式间进行切换</a:t>
            </a:r>
            <a:endParaRPr lang="zh-CN" altLang="en-US"/>
          </a:p>
          <a:p>
            <a:r>
              <a:rPr lang="zh-CN" altLang="en-US"/>
              <a:t>付出视角：</a:t>
            </a:r>
            <a:endParaRPr lang="zh-CN" altLang="en-US"/>
          </a:p>
          <a:p>
            <a:pPr lvl="1"/>
            <a:r>
              <a:rPr lang="zh-CN" altLang="en-US"/>
              <a:t>总则：帮助别人的同时也是在提升自己；尽量成体系，清晰明确少重复；尽量降低副作用；明确自己的职责</a:t>
            </a:r>
            <a:endParaRPr lang="zh-CN" altLang="en-US"/>
          </a:p>
          <a:p>
            <a:pPr lvl="1"/>
            <a:r>
              <a:rPr lang="zh-CN" altLang="en-US"/>
              <a:t>内容：上游（需求、业务、环境），下游(源码、产品、服务)，同级(资源协调与集成，尽量降低副作用）</a:t>
            </a:r>
            <a:endParaRPr lang="zh-CN" altLang="en-US"/>
          </a:p>
          <a:p>
            <a:pPr lvl="1"/>
            <a:r>
              <a:rPr lang="zh-CN" altLang="en-US"/>
              <a:t>方法：</a:t>
            </a:r>
            <a:endParaRPr lang="zh-CN" altLang="en-US"/>
          </a:p>
          <a:p>
            <a:pPr lvl="2"/>
            <a:r>
              <a:rPr lang="zh-CN" altLang="en-US"/>
              <a:t>专业：软件工程的过程资产</a:t>
            </a:r>
            <a:endParaRPr lang="zh-CN" altLang="en-US" sz="1600"/>
          </a:p>
          <a:p>
            <a:pPr lvl="2"/>
            <a:r>
              <a:rPr lang="zh-CN" altLang="en-US"/>
              <a:t>探讨：有一定的价值议题，有自己相关的立场和想法，尊重理解不同的立场和想法</a:t>
            </a:r>
            <a:endParaRPr lang="zh-CN" altLang="en-US" sz="1600"/>
          </a:p>
          <a:p>
            <a:pPr lvl="2"/>
            <a:r>
              <a:rPr lang="zh-CN" altLang="en-US"/>
              <a:t>科普：系统完整，深入浅出。有专业基础，再总结归纳，能够自论证</a:t>
            </a:r>
            <a:endParaRPr lang="zh-CN" altLang="en-US"/>
          </a:p>
          <a:p>
            <a:r>
              <a:rPr lang="zh-CN" altLang="en-US"/>
              <a:t>学习培养：</a:t>
            </a:r>
            <a:endParaRPr lang="zh-CN" altLang="en-US"/>
          </a:p>
          <a:p>
            <a:pPr lvl="1"/>
            <a:r>
              <a:rPr lang="zh-CN" altLang="en-US"/>
              <a:t>态度：有合作的态度（促进正作用，尽量降低副作用，相互尊重理解各自角色和边界），不要太在意面子</a:t>
            </a:r>
            <a:endParaRPr lang="zh-CN" altLang="en-US"/>
          </a:p>
          <a:p>
            <a:pPr lvl="1"/>
            <a:r>
              <a:rPr lang="zh-CN" altLang="en-US"/>
              <a:t>工具：面对面</a:t>
            </a:r>
            <a:r>
              <a:rPr lang="en-US" altLang="zh-CN"/>
              <a:t>/</a:t>
            </a:r>
            <a:r>
              <a:rPr lang="zh-CN" altLang="en-US"/>
              <a:t>开会</a:t>
            </a:r>
            <a:r>
              <a:rPr lang="en-US" altLang="zh-CN"/>
              <a:t>/</a:t>
            </a:r>
            <a:r>
              <a:rPr lang="zh-CN" altLang="en-US"/>
              <a:t>画图</a:t>
            </a:r>
            <a:r>
              <a:rPr lang="en-US" altLang="zh-CN"/>
              <a:t>/</a:t>
            </a:r>
            <a:r>
              <a:rPr lang="zh-CN" altLang="en-US"/>
              <a:t>演示，群聊</a:t>
            </a:r>
            <a:r>
              <a:rPr lang="en-US" altLang="zh-CN"/>
              <a:t>/</a:t>
            </a:r>
            <a:r>
              <a:rPr lang="zh-CN" altLang="en-US"/>
              <a:t>单独即时通讯</a:t>
            </a:r>
            <a:r>
              <a:rPr lang="en-US" altLang="zh-CN"/>
              <a:t>/</a:t>
            </a:r>
            <a:r>
              <a:rPr lang="zh-CN" altLang="en-US"/>
              <a:t>电话，文档工具(word/ppt/excel)，代码管理和编辑工具</a:t>
            </a:r>
            <a:endParaRPr lang="zh-CN" altLang="en-US"/>
          </a:p>
          <a:p>
            <a:pPr lvl="1"/>
            <a:r>
              <a:rPr lang="en-US" altLang="zh-CN"/>
              <a:t>能力：建模（含总结归纳）和模型转换（含换位思考），语言（不仅人类语言）表达能力，熟悉软件工程</a:t>
            </a:r>
            <a:endParaRPr lang="en-US" altLang="zh-C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宋体"/>
        <a:font script="Hant" typeface="新細明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28831</Words>
  <Application>WPS Presentation</Application>
  <PresentationFormat>宽屏</PresentationFormat>
  <Paragraphs>1887</Paragraphs>
  <Slides>72</Slides>
  <Notes>0</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7</vt:i4>
      </vt:variant>
      <vt:variant>
        <vt:lpstr>幻灯片标题</vt:lpstr>
      </vt:variant>
      <vt:variant>
        <vt:i4>72</vt:i4>
      </vt:variant>
    </vt:vector>
  </HeadingPairs>
  <TitlesOfParts>
    <vt:vector size="90" baseType="lpstr">
      <vt:lpstr>Arial</vt:lpstr>
      <vt:lpstr>宋体</vt:lpstr>
      <vt:lpstr>Wingdings</vt:lpstr>
      <vt:lpstr>DejaVu Sans</vt:lpstr>
      <vt:lpstr>Arial Black</vt:lpstr>
      <vt:lpstr>Droid Sans Fallback</vt:lpstr>
      <vt:lpstr>微软雅黑</vt:lpstr>
      <vt:lpstr>宋体</vt:lpstr>
      <vt:lpstr>Arial Unicode MS</vt:lpstr>
      <vt:lpstr>OpenSymbol</vt:lpstr>
      <vt:lpstr>Office Theme</vt:lpstr>
      <vt:lpstr>Package</vt:lpstr>
      <vt:lpstr>Package</vt:lpstr>
      <vt:lpstr>Package</vt:lpstr>
      <vt:lpstr>Package</vt:lpstr>
      <vt:lpstr>Package</vt:lpstr>
      <vt:lpstr>Package</vt:lpstr>
      <vt:lpstr>Package</vt:lpstr>
      <vt:lpstr>It-talks 提纲</vt:lpstr>
      <vt:lpstr>整体提纲</vt:lpstr>
      <vt:lpstr>工具链</vt:lpstr>
      <vt:lpstr>程序的加载运行</vt:lpstr>
      <vt:lpstr>程序的编译链接</vt:lpstr>
      <vt:lpstr>程序的编译链接</vt:lpstr>
      <vt:lpstr>程序的编译链接</vt:lpstr>
      <vt:lpstr>程序的编译链接</vt:lpstr>
      <vt:lpstr>我的AI语言</vt:lpstr>
      <vt:lpstr>我的AI语言</vt:lpstr>
      <vt:lpstr>我的AI语言</vt:lpstr>
      <vt:lpstr>我的AI语言</vt:lpstr>
      <vt:lpstr>我的高级语言</vt:lpstr>
      <vt:lpstr>我的高级语言</vt:lpstr>
      <vt:lpstr>我的高级语言</vt:lpstr>
      <vt:lpstr>我的高级语言</vt:lpstr>
      <vt:lpstr>我的高级语言</vt:lpstr>
      <vt:lpstr>我的汇编语言</vt:lpstr>
      <vt:lpstr>我的汇编语言</vt:lpstr>
      <vt:lpstr>我的汇编语言</vt:lpstr>
      <vt:lpstr>我的汇编语言</vt:lpstr>
      <vt:lpstr>我的汇编语言</vt:lpstr>
      <vt:lpstr>我的Shell语言</vt:lpstr>
      <vt:lpstr>我的C语言</vt:lpstr>
      <vt:lpstr>我的编程语言</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编程语言-整体描述</vt:lpstr>
      <vt:lpstr>编程语言-具体语言</vt:lpstr>
      <vt:lpstr>编程语言-学习建议</vt:lpstr>
      <vt:lpstr>业务应用（IT的XXX）</vt:lpstr>
      <vt:lpstr>平台组件（系统的XXX）</vt:lpstr>
      <vt:lpstr>体系原理（电脑的XXX）</vt:lpstr>
      <vt:lpstr>程序员看35岁</vt:lpstr>
      <vt:lpstr>程序员的XXX</vt:lpstr>
      <vt:lpstr>从程序员视角看。。。</vt:lpstr>
      <vt:lpstr>程序员与XXX</vt:lpstr>
      <vt:lpstr>IT的价值产出</vt:lpstr>
      <vt:lpstr>IT的应用模型</vt:lpstr>
      <vt:lpstr>IT的业务模型</vt:lpstr>
      <vt:lpstr>系统的各种组件</vt:lpstr>
      <vt:lpstr>系统的扩展平台</vt:lpstr>
      <vt:lpstr>系统的基础平台</vt:lpstr>
      <vt:lpstr>PowerPoint 演示文稿</vt:lpstr>
      <vt:lpstr>电脑的软件模型</vt:lpstr>
      <vt:lpstr>PowerPoint 演示文稿</vt:lpstr>
      <vt:lpstr>PowerPoint 演示文稿</vt:lpstr>
      <vt:lpstr>PowerPoint 演示文稿</vt:lpstr>
      <vt:lpstr>电脑的软硬接口</vt:lpstr>
      <vt:lpstr>电脑的硬件模型</vt:lpstr>
      <vt:lpstr>程序员的调试测试</vt:lpstr>
      <vt:lpstr>程序员的编码实现</vt:lpstr>
      <vt:lpstr>程序员的概要设计</vt:lpstr>
      <vt:lpstr>程序员的四维时空</vt:lpstr>
      <vt:lpstr>程序员的核心属性</vt:lpstr>
      <vt:lpstr>程序员看AI</vt:lpstr>
      <vt:lpstr>程序员看加班</vt:lpstr>
      <vt:lpstr>程序员眼中的学历</vt:lpstr>
      <vt:lpstr>程序员看学习教育</vt:lpstr>
      <vt:lpstr>程序员看招聘创业</vt:lpstr>
      <vt:lpstr>程序员看行业产业</vt:lpstr>
      <vt:lpstr>程序员看社会治理</vt:lpstr>
      <vt:lpstr>程序员看代码编写</vt:lpstr>
      <vt:lpstr>程序员看编写文档</vt:lpstr>
      <vt:lpstr>程序员看软件工程</vt:lpstr>
      <vt:lpstr>PowerPoint 演示文稿</vt:lpstr>
      <vt:lpstr>程序员看相互协作</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gchen</cp:lastModifiedBy>
  <cp:revision>776</cp:revision>
  <dcterms:created xsi:type="dcterms:W3CDTF">2025-10-02T13:28:40Z</dcterms:created>
  <dcterms:modified xsi:type="dcterms:W3CDTF">2025-10-02T13:28:40Z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1033-11.1.0.11723</vt:lpwstr>
  </property>
  <property fmtid="{D5CDD505-2E9C-101B-9397-08002B2CF9AE}" pid="3" name="ICV">
    <vt:lpwstr/>
  </property>
</Properties>
</file>